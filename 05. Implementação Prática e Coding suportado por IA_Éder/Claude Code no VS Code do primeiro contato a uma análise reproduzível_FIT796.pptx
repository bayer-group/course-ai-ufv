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68" r:id="rId39"/>
    <p:sldId id="369" r:id="rId40"/>
    <p:sldId id="370" r:id="rId41"/>
    <p:sldId id="371" r:id="rId42"/>
    <p:sldId id="372" r:id="rId43"/>
    <p:sldId id="373" r:id="rId44"/>
    <p:sldId id="374" r:id="rId45"/>
    <p:sldId id="375" r:id="rId46"/>
    <p:sldId id="376" r:id="rId47"/>
    <p:sldId id="377" r:id="rId48"/>
    <p:sldId id="378" r:id="rId49"/>
    <p:sldId id="379" r:id="rId50"/>
    <p:sldId id="380" r:id="rId51"/>
    <p:sldId id="381" r:id="rId52"/>
    <p:sldId id="382" r:id="rId53"/>
    <p:sldId id="383" r:id="rId54"/>
    <p:sldId id="384" r:id="rId55"/>
    <p:sldId id="385" r:id="rId56"/>
    <p:sldId id="386" r:id="rId57"/>
    <p:sldId id="387" r:id="rId58"/>
    <p:sldId id="388" r:id="rId59"/>
    <p:sldId id="389" r:id="rId60"/>
    <p:sldId id="390" r:id="rId61"/>
    <p:sldId id="391" r:id="rId62"/>
    <p:sldId id="392" r:id="rId63"/>
    <p:sldId id="393" r:id="rId64"/>
    <p:sldId id="394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81C722-DEF5-4515-B241-02C8EC56E218}" v="11" dt="2026-10-27T20:00:16.362"/>
    <p1510:client id="{E45A2DEC-2261-48AF-B4A8-7B10B1CC645D}" v="1" dt="2026-10-27T15:45:50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6" y="8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r Silva" userId="9b7f41b4-798d-40cf-8f87-8e33ae7a0417" providerId="ADAL" clId="{DFF9E84E-5922-4F26-9EAD-8AB4E668133E}"/>
    <pc:docChg chg="custSel modSld">
      <pc:chgData name="Eder Silva" userId="9b7f41b4-798d-40cf-8f87-8e33ae7a0417" providerId="ADAL" clId="{DFF9E84E-5922-4F26-9EAD-8AB4E668133E}" dt="2026-10-27T20:00:16.362" v="38"/>
      <pc:docMkLst>
        <pc:docMk/>
      </pc:docMkLst>
      <pc:sldChg chg="addSp modSp mod">
        <pc:chgData name="Eder Silva" userId="9b7f41b4-798d-40cf-8f87-8e33ae7a0417" providerId="ADAL" clId="{DFF9E84E-5922-4F26-9EAD-8AB4E668133E}" dt="2026-10-27T20:00:16.362" v="38"/>
        <pc:sldMkLst>
          <pc:docMk/>
          <pc:sldMk cId="1090551597" sldId="347"/>
        </pc:sldMkLst>
        <pc:spChg chg="add mod">
          <ac:chgData name="Eder Silva" userId="9b7f41b4-798d-40cf-8f87-8e33ae7a0417" providerId="ADAL" clId="{DFF9E84E-5922-4F26-9EAD-8AB4E668133E}" dt="2026-10-27T20:00:16.362" v="38"/>
          <ac:spMkLst>
            <pc:docMk/>
            <pc:sldMk cId="1090551597" sldId="347"/>
            <ac:spMk id="4" creationId="{9FAFA227-0C5B-AA98-63C8-5A6140634F2E}"/>
          </ac:spMkLst>
        </pc:spChg>
        <pc:spChg chg="mod">
          <ac:chgData name="Eder Silva" userId="9b7f41b4-798d-40cf-8f87-8e33ae7a0417" providerId="ADAL" clId="{DFF9E84E-5922-4F26-9EAD-8AB4E668133E}" dt="2026-10-27T20:00:15.499" v="0"/>
          <ac:spMkLst>
            <pc:docMk/>
            <pc:sldMk cId="1090551597" sldId="347"/>
            <ac:spMk id="48" creationId="{95489F69-0492-3EFC-776A-ADC74EE59F5B}"/>
          </ac:spMkLst>
        </pc:spChg>
        <pc:spChg chg="mod">
          <ac:chgData name="Eder Silva" userId="9b7f41b4-798d-40cf-8f87-8e33ae7a0417" providerId="ADAL" clId="{DFF9E84E-5922-4F26-9EAD-8AB4E668133E}" dt="2026-10-27T20:00:15.526" v="1"/>
          <ac:spMkLst>
            <pc:docMk/>
            <pc:sldMk cId="1090551597" sldId="347"/>
            <ac:spMk id="49" creationId="{5420B23F-0255-9648-9104-4C81C7612C99}"/>
          </ac:spMkLst>
        </pc:spChg>
        <pc:spChg chg="mod">
          <ac:chgData name="Eder Silva" userId="9b7f41b4-798d-40cf-8f87-8e33ae7a0417" providerId="ADAL" clId="{DFF9E84E-5922-4F26-9EAD-8AB4E668133E}" dt="2026-10-27T20:00:15.534" v="2"/>
          <ac:spMkLst>
            <pc:docMk/>
            <pc:sldMk cId="1090551597" sldId="347"/>
            <ac:spMk id="50" creationId="{52528194-F1D9-8885-AD06-E47EC2BD3EE4}"/>
          </ac:spMkLst>
        </pc:spChg>
        <pc:spChg chg="mod">
          <ac:chgData name="Eder Silva" userId="9b7f41b4-798d-40cf-8f87-8e33ae7a0417" providerId="ADAL" clId="{DFF9E84E-5922-4F26-9EAD-8AB4E668133E}" dt="2026-10-27T20:00:15.544" v="3"/>
          <ac:spMkLst>
            <pc:docMk/>
            <pc:sldMk cId="1090551597" sldId="347"/>
            <ac:spMk id="51" creationId="{8CA371BC-0F43-38C8-B97A-5686DECBF5BA}"/>
          </ac:spMkLst>
        </pc:spChg>
        <pc:spChg chg="mod">
          <ac:chgData name="Eder Silva" userId="9b7f41b4-798d-40cf-8f87-8e33ae7a0417" providerId="ADAL" clId="{DFF9E84E-5922-4F26-9EAD-8AB4E668133E}" dt="2026-10-27T20:00:15.556" v="5"/>
          <ac:spMkLst>
            <pc:docMk/>
            <pc:sldMk cId="1090551597" sldId="347"/>
            <ac:spMk id="52" creationId="{2B5DCFC2-8839-6D22-4168-62E176EC5AC3}"/>
          </ac:spMkLst>
        </pc:spChg>
        <pc:spChg chg="mod">
          <ac:chgData name="Eder Silva" userId="9b7f41b4-798d-40cf-8f87-8e33ae7a0417" providerId="ADAL" clId="{DFF9E84E-5922-4F26-9EAD-8AB4E668133E}" dt="2026-10-27T20:00:15.567" v="6"/>
          <ac:spMkLst>
            <pc:docMk/>
            <pc:sldMk cId="1090551597" sldId="347"/>
            <ac:spMk id="53" creationId="{E6A63C2B-E53D-6CF2-850A-AD68D3FD9257}"/>
          </ac:spMkLst>
        </pc:spChg>
        <pc:spChg chg="mod">
          <ac:chgData name="Eder Silva" userId="9b7f41b4-798d-40cf-8f87-8e33ae7a0417" providerId="ADAL" clId="{DFF9E84E-5922-4F26-9EAD-8AB4E668133E}" dt="2026-10-27T20:00:15.577" v="8"/>
          <ac:spMkLst>
            <pc:docMk/>
            <pc:sldMk cId="1090551597" sldId="347"/>
            <ac:spMk id="54" creationId="{51E17919-1416-657A-7369-9DBAE37A6146}"/>
          </ac:spMkLst>
        </pc:spChg>
        <pc:spChg chg="mod">
          <ac:chgData name="Eder Silva" userId="9b7f41b4-798d-40cf-8f87-8e33ae7a0417" providerId="ADAL" clId="{DFF9E84E-5922-4F26-9EAD-8AB4E668133E}" dt="2026-10-27T20:00:15.617" v="10"/>
          <ac:spMkLst>
            <pc:docMk/>
            <pc:sldMk cId="1090551597" sldId="347"/>
            <ac:spMk id="55" creationId="{7437C6F7-0F28-A5C1-D5CD-AF61702EA8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404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Boas-vindas à sessão de fechamento. Durante o curso vocês usaram IA como ferramenta: escreveram análises com agentes de código, estudaram artigos com LLMs, rodaram seleção genômica e simulação. Hoje a pergunta muda: o que a IA já faz de forma efetiva e que não coube nestes três dias? Três objetivos: (1) recapitular o arco do curso, (2) mostrar a fronteira dentro do melhoramento e, sobretudo, fora dele - moléculas, proteínas, events, agro digital e outras ciências, (3) discutir confiança, ética, propriedade e o que aprender a seguir. Regra do dia: entusiasmo, sempre com evidência. Cada slide tem referência no rodapé; preprints e anúncios de empresa estão marcados.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5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607040" cy="1675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5000" b="1" i="0">
                <a:solidFill>
                  <a:srgbClr val="FFFFFF"/>
                </a:solidFill>
                <a:latin typeface="DejaVu Serif"/>
              </a:rPr>
              <a:t>Claude Code no VS Code: do primeiro contato a uma análise reproduzível</a:t>
            </a:r>
            <a:endParaRPr sz="50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607040" cy="7568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900" b="0" i="0">
                <a:solidFill>
                  <a:srgbClr val="D8E4DA"/>
                </a:solidFill>
                <a:latin typeface="DejaVu Sans"/>
              </a:rPr>
              <a:t>Carga: 4 h · Prática: caderno.md · Instalação: guia_instalacao.md (antes da aula) · Dados: dados/vcu_milho_2025_campo.csv</a:t>
            </a:r>
            <a:endParaRPr sz="19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5181600"/>
            <a:ext cx="106070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i="0">
                <a:solidFill>
                  <a:srgbClr val="4A7C59"/>
                </a:solidFill>
                <a:latin typeface="DejaVu Sans"/>
              </a:rPr>
              <a:t>IA NO MELHORAMENTO GENÉTICO: FUNDAMENTOS E APLICAÇÕES · FIT 796 · UFV · 3 A 5 DE NOVEMBRO DE 2026</a:t>
            </a:r>
            <a:endParaRPr sz="1400" b="1" i="0">
              <a:solidFill>
                <a:srgbClr val="4A7C59"/>
              </a:solidFill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709919"/>
            <a:ext cx="1060704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1400" b="0" i="0">
                <a:solidFill>
                  <a:srgbClr val="6B6B6B"/>
                </a:solidFill>
                <a:latin typeface="DejaVu Sans"/>
              </a:rPr>
              <a:t>Fio condutor: um ensaio de VCU de milho de 2025 (3 locais, 404 genótipos, 2.426 parcelas) chega do campo com erros de digitação. Ao longo da seção, a turma monta a pasta de análise, escreve o contexto, planeja, executa e revisa a análise com o Claude Code, conferindo cada etapa contra uma resposta conhecida.</a:t>
            </a:r>
          </a:p>
          <a:p>
            <a:pPr algn="l">
              <a:lnSpc>
                <a:spcPct val="100000"/>
              </a:lnSpc>
            </a:pPr>
            <a:r>
              <a:rPr lang="pt-BR" sz="1400" b="0" i="0">
                <a:solidFill>
                  <a:srgbClr val="6B6B6B"/>
                </a:solidFill>
                <a:latin typeface="DejaVu Sans"/>
              </a:rPr>
              <a:t>Mensagem: o agente acelera a análise; a pasta organizada, o plano revisado e a verificação independente é que a tornam correta e reproduzível.</a:t>
            </a:r>
            <a:endParaRPr sz="1400" b="0" i="0">
              <a:solidFill>
                <a:srgbClr val="6B6B6B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23728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Roteiro da seção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ROTEIRO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5" name="Fit796Table">
            <a:extLst>
              <a:ext uri="{FF2B5EF4-FFF2-40B4-BE49-F238E27FC236}">
                <a16:creationId xmlns:a16="http://schemas.microsoft.com/office/drawing/2014/main" id="{10D3AE5D-480A-70C6-C7F2-01A6F1330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541360"/>
              </p:ext>
            </p:extLst>
          </p:nvPr>
        </p:nvGraphicFramePr>
        <p:xfrm>
          <a:off x="640080" y="1053211"/>
          <a:ext cx="10909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100">
                  <a:extLst>
                    <a:ext uri="{9D8B030D-6E8A-4147-A177-3AD203B41FA5}">
                      <a16:colId xmlns:a16="http://schemas.microsoft.com/office/drawing/2014/main" val="1346764217"/>
                    </a:ext>
                  </a:extLst>
                </a:gridCol>
                <a:gridCol w="6565900">
                  <a:extLst>
                    <a:ext uri="{9D8B030D-6E8A-4147-A177-3AD203B41FA5}">
                      <a16:colId xmlns:a16="http://schemas.microsoft.com/office/drawing/2014/main" val="248267194"/>
                    </a:ext>
                  </a:extLst>
                </a:gridCol>
                <a:gridCol w="2273300">
                  <a:extLst>
                    <a:ext uri="{9D8B030D-6E8A-4147-A177-3AD203B41FA5}">
                      <a16:colId xmlns:a16="http://schemas.microsoft.com/office/drawing/2014/main" val="85633903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>
                          <a:solidFill>
                            <a:srgbClr val="FFFFFF"/>
                          </a:solidFill>
                          <a:latin typeface="DejaVu Sans"/>
                        </a:rPr>
                        <a:t>Bloco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>
                          <a:solidFill>
                            <a:srgbClr val="FFFFFF"/>
                          </a:solidFill>
                          <a:latin typeface="DejaVu Sans"/>
                        </a:rPr>
                        <a:t>Tema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>
                          <a:solidFill>
                            <a:srgbClr val="FFFFFF"/>
                          </a:solidFill>
                          <a:latin typeface="DejaVu Sans"/>
                        </a:rPr>
                        <a:t>Tempo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9984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Do chat ao agente de código</a:t>
                      </a:r>
                      <a:endParaRPr lang="en-US" sz="16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15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5436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1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Ambiente: editores, instalação e primeiro acesso</a:t>
                      </a:r>
                      <a:endParaRPr lang="en-US" sz="16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20 min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50865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Configuração, permissões e segurança dos dados</a:t>
                      </a:r>
                      <a:endParaRPr lang="en-US" sz="16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20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9247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3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Pasta de projeto, CLAUDE.md e arquivos de contexto</a:t>
                      </a:r>
                      <a:endParaRPr lang="en-US" sz="16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35 min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281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—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Intervalo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10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76588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4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Planejar antes de analisar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25 min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3753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5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Executar e verificar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35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2417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6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Gerenciar o contexto das sessões</a:t>
                      </a:r>
                      <a:endParaRPr lang="en-US" sz="16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15 min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81056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—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Intervalo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10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8659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7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Subagentes: orientando e orientador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35 min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5061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8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Skills e ferramentas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15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83176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9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Síntese: reprodutibilidade e uso responsável</a:t>
                      </a:r>
                      <a:endParaRPr lang="en-US" sz="16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rgbClr val="2E3A2F"/>
                          </a:solidFill>
                          <a:latin typeface="DejaVu Sans"/>
                        </a:rPr>
                        <a:t>5 min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199503"/>
                  </a:ext>
                </a:extLst>
              </a:tr>
            </a:tbl>
          </a:graphicData>
        </a:graphic>
      </p:graphicFrame>
      <p:sp>
        <p:nvSpPr>
          <p:cNvPr id="16" name="FitText">
            <a:extLst>
              <a:ext uri="{FF2B5EF4-FFF2-40B4-BE49-F238E27FC236}">
                <a16:creationId xmlns:a16="http://schemas.microsoft.com/office/drawing/2014/main" id="{4D5C9D0F-ABCE-D0F7-55C2-CB2E2AAA5003}"/>
              </a:ext>
            </a:extLst>
          </p:cNvPr>
          <p:cNvSpPr txBox="1"/>
          <p:nvPr/>
        </p:nvSpPr>
        <p:spPr>
          <a:xfrm>
            <a:off x="640080" y="5112709"/>
            <a:ext cx="10909300" cy="8753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1900">
                <a:solidFill>
                  <a:srgbClr val="2E3A2F"/>
                </a:solidFill>
                <a:latin typeface="DejaVu Sans"/>
              </a:rPr>
              <a:t>⚙️ marca instruções específicas do Claude Code (comandos, atalhos, nomes de arquivos de configuração). Elas mudam com frequência: conferidas em outubro de 2026 em https://code.claude.com/docs.</a:t>
            </a:r>
            <a:endParaRPr lang="en-US" sz="19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55289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4400" b="1" i="0">
                <a:solidFill>
                  <a:srgbClr val="FFFFFF"/>
                </a:solidFill>
                <a:latin typeface="DejaVu Serif"/>
              </a:rPr>
              <a:t>Do chat ao agente de código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0 · 15 min · SEÇÃO 2 · BLOCO 0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94323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0.1  O que muda em relação ao chat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0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F5D87483-EDF9-B2A4-0166-D7B80CABE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036005"/>
              </p:ext>
            </p:extLst>
          </p:nvPr>
        </p:nvGraphicFramePr>
        <p:xfrm>
          <a:off x="640080" y="1053211"/>
          <a:ext cx="109093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1100">
                  <a:extLst>
                    <a:ext uri="{9D8B030D-6E8A-4147-A177-3AD203B41FA5}">
                      <a16:colId xmlns:a16="http://schemas.microsoft.com/office/drawing/2014/main" val="743478714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211310221"/>
                    </a:ext>
                  </a:extLst>
                </a:gridCol>
                <a:gridCol w="5054600">
                  <a:extLst>
                    <a:ext uri="{9D8B030D-6E8A-4147-A177-3AD203B41FA5}">
                      <a16:colId xmlns:a16="http://schemas.microsoft.com/office/drawing/2014/main" val="123873615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700" b="1" i="0">
                        <a:solidFill>
                          <a:srgbClr val="FFFFF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Chat (claude.ai, ChatGPT)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Agente de código (Claude Code)</a:t>
                      </a:r>
                      <a:endParaRPr lang="en-US" sz="1700" b="1" i="0">
                        <a:solidFill>
                          <a:srgbClr val="FFFFF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49079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4A7C59"/>
                          </a:solidFill>
                          <a:latin typeface="DejaVu Sans"/>
                        </a:rPr>
                        <a:t>Onde trabalha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Na janela da conversa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Na pasta do projeto, no seu computador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7052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4A7C59"/>
                          </a:solidFill>
                          <a:latin typeface="DejaVu Sans"/>
                        </a:rPr>
                        <a:t>O que vê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 que você cola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Os arquivos que ele mesmo abre e as saídas dos comandos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7586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4A7C59"/>
                          </a:solidFill>
                          <a:latin typeface="DejaVu Sans"/>
                        </a:rPr>
                        <a:t>O que faz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Sugere código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Escreve arquivos, roda scripts, lê o erro e corrige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78875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4A7C59"/>
                          </a:solidFill>
                          <a:latin typeface="DejaVu Sans"/>
                        </a:rPr>
                        <a:t>Quem executa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Você copia, cola e roda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 agente, com a sua permissão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48441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4A7C59"/>
                          </a:solidFill>
                          <a:latin typeface="DejaVu Sans"/>
                        </a:rPr>
                        <a:t>O que fica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Uma conversa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Arquivos versionados no projeto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539400"/>
                  </a:ext>
                </a:extLst>
              </a:tr>
            </a:tbl>
          </a:graphicData>
        </a:graphic>
      </p:graphicFrame>
      <p:sp>
        <p:nvSpPr>
          <p:cNvPr id="14" name="FitCallout">
            <a:extLst>
              <a:ext uri="{FF2B5EF4-FFF2-40B4-BE49-F238E27FC236}">
                <a16:creationId xmlns:a16="http://schemas.microsoft.com/office/drawing/2014/main" id="{03C437D7-BB25-A782-9E5A-C65900AFEE9D}"/>
              </a:ext>
            </a:extLst>
          </p:cNvPr>
          <p:cNvSpPr/>
          <p:nvPr/>
        </p:nvSpPr>
        <p:spPr>
          <a:xfrm>
            <a:off x="640080" y="3569843"/>
            <a:ext cx="10909300" cy="814832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2E3A2F"/>
                </a:solidFill>
                <a:latin typeface="DejaVu Sans"/>
              </a:rPr>
              <a:t>A pergunta deixa de ser "qual é o código?" e passa a ser "o que o agente precisa saber, o que ele pode fazer e como eu confiro o que ele fez?".</a:t>
            </a:r>
            <a:endParaRPr lang="en-US" sz="2000" b="1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5" name="FitCalloutBar">
            <a:extLst>
              <a:ext uri="{FF2B5EF4-FFF2-40B4-BE49-F238E27FC236}">
                <a16:creationId xmlns:a16="http://schemas.microsoft.com/office/drawing/2014/main" id="{03300E4B-AF00-E69C-B3BC-35AE08C2D6F5}"/>
              </a:ext>
            </a:extLst>
          </p:cNvPr>
          <p:cNvSpPr/>
          <p:nvPr/>
        </p:nvSpPr>
        <p:spPr>
          <a:xfrm>
            <a:off x="640080" y="3569843"/>
            <a:ext cx="63500" cy="814832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3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0.2  O ciclo de um agente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0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42" name="ProcessBox0">
            <a:extLst>
              <a:ext uri="{FF2B5EF4-FFF2-40B4-BE49-F238E27FC236}">
                <a16:creationId xmlns:a16="http://schemas.microsoft.com/office/drawing/2014/main" id="{E3F92A3F-A6C3-D819-8759-2227D37D7DCF}"/>
              </a:ext>
            </a:extLst>
          </p:cNvPr>
          <p:cNvSpPr/>
          <p:nvPr/>
        </p:nvSpPr>
        <p:spPr>
          <a:xfrm>
            <a:off x="381000" y="1053211"/>
            <a:ext cx="1778000" cy="1202182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FFFFFF"/>
                </a:solidFill>
                <a:latin typeface="DejaVu Sans"/>
              </a:rPr>
              <a:t>Pedido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FFFFFF"/>
                </a:solidFill>
                <a:latin typeface="DejaVu Sans"/>
              </a:rPr>
              <a:t>prompt + contexto da pasta</a:t>
            </a:r>
            <a:endParaRPr lang="en-US" sz="1600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3" name="ProcessBox1">
            <a:extLst>
              <a:ext uri="{FF2B5EF4-FFF2-40B4-BE49-F238E27FC236}">
                <a16:creationId xmlns:a16="http://schemas.microsoft.com/office/drawing/2014/main" id="{B1ADB8A5-7E39-19DB-4F2B-8B2701B9638A}"/>
              </a:ext>
            </a:extLst>
          </p:cNvPr>
          <p:cNvSpPr/>
          <p:nvPr/>
        </p:nvSpPr>
        <p:spPr>
          <a:xfrm>
            <a:off x="2311400" y="1053210"/>
            <a:ext cx="1778000" cy="1202182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2E3A2F"/>
                </a:solidFill>
                <a:latin typeface="DejaVu Sans"/>
              </a:rPr>
              <a:t>Explora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2E3A2F"/>
                </a:solidFill>
                <a:latin typeface="DejaVu Sans"/>
              </a:rPr>
              <a:t>lê arquivos, procura padrões</a:t>
            </a:r>
            <a:endParaRPr lang="en-US" sz="16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44" name="ProcessBox2">
            <a:extLst>
              <a:ext uri="{FF2B5EF4-FFF2-40B4-BE49-F238E27FC236}">
                <a16:creationId xmlns:a16="http://schemas.microsoft.com/office/drawing/2014/main" id="{0F28E5EC-9494-4990-53C8-DE6C182F7C06}"/>
              </a:ext>
            </a:extLst>
          </p:cNvPr>
          <p:cNvSpPr/>
          <p:nvPr/>
        </p:nvSpPr>
        <p:spPr>
          <a:xfrm>
            <a:off x="4241800" y="1053210"/>
            <a:ext cx="1778000" cy="1202182"/>
          </a:xfrm>
          <a:prstGeom prst="roundRect">
            <a:avLst>
              <a:gd name="adj" fmla="val 8000"/>
            </a:avLst>
          </a:prstGeom>
          <a:solidFill>
            <a:srgbClr val="F9A62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600" b="1">
                <a:solidFill>
                  <a:srgbClr val="2E3A2F"/>
                </a:solidFill>
                <a:latin typeface="DejaVu Sans"/>
              </a:rPr>
              <a:t>Planeja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600">
                <a:solidFill>
                  <a:srgbClr val="2E3A2F"/>
                </a:solidFill>
                <a:latin typeface="DejaVu Sans"/>
              </a:rPr>
              <a:t>decide os passos</a:t>
            </a:r>
          </a:p>
        </p:txBody>
      </p:sp>
      <p:sp>
        <p:nvSpPr>
          <p:cNvPr id="45" name="ProcessBox3">
            <a:extLst>
              <a:ext uri="{FF2B5EF4-FFF2-40B4-BE49-F238E27FC236}">
                <a16:creationId xmlns:a16="http://schemas.microsoft.com/office/drawing/2014/main" id="{516A91F4-DF35-0F99-77E9-2415C717C970}"/>
              </a:ext>
            </a:extLst>
          </p:cNvPr>
          <p:cNvSpPr/>
          <p:nvPr/>
        </p:nvSpPr>
        <p:spPr>
          <a:xfrm>
            <a:off x="6172200" y="1053210"/>
            <a:ext cx="1778000" cy="1202182"/>
          </a:xfrm>
          <a:prstGeom prst="roundRect">
            <a:avLst>
              <a:gd name="adj" fmla="val 8000"/>
            </a:avLst>
          </a:prstGeom>
          <a:solidFill>
            <a:srgbClr val="B7472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600" b="1">
                <a:solidFill>
                  <a:srgbClr val="FFFFFF"/>
                </a:solidFill>
                <a:latin typeface="DejaVu Sans"/>
              </a:rPr>
              <a:t>Age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600">
                <a:solidFill>
                  <a:srgbClr val="FFFFFF"/>
                </a:solidFill>
                <a:latin typeface="DejaVu Sans"/>
              </a:rPr>
              <a:t>edita, roda comandos</a:t>
            </a:r>
          </a:p>
        </p:txBody>
      </p:sp>
      <p:sp>
        <p:nvSpPr>
          <p:cNvPr id="46" name="ProcessBox4">
            <a:extLst>
              <a:ext uri="{FF2B5EF4-FFF2-40B4-BE49-F238E27FC236}">
                <a16:creationId xmlns:a16="http://schemas.microsoft.com/office/drawing/2014/main" id="{343B21A9-E4CE-41B0-4917-22F91AF520AE}"/>
              </a:ext>
            </a:extLst>
          </p:cNvPr>
          <p:cNvSpPr/>
          <p:nvPr/>
        </p:nvSpPr>
        <p:spPr>
          <a:xfrm>
            <a:off x="8102600" y="1053210"/>
            <a:ext cx="1778000" cy="1202182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FFFFFF"/>
                </a:solidFill>
                <a:latin typeface="DejaVu Sans"/>
              </a:rPr>
              <a:t>Verifica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FFFFFF"/>
                </a:solidFill>
                <a:latin typeface="DejaVu Sans"/>
              </a:rPr>
              <a:t>lê a saída, roda testes</a:t>
            </a:r>
            <a:endParaRPr lang="en-US" sz="1600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7" name="ProcessBox5">
            <a:extLst>
              <a:ext uri="{FF2B5EF4-FFF2-40B4-BE49-F238E27FC236}">
                <a16:creationId xmlns:a16="http://schemas.microsoft.com/office/drawing/2014/main" id="{2041048B-AB32-736E-0EDF-4E15D0ED5E97}"/>
              </a:ext>
            </a:extLst>
          </p:cNvPr>
          <p:cNvSpPr/>
          <p:nvPr/>
        </p:nvSpPr>
        <p:spPr>
          <a:xfrm>
            <a:off x="10033000" y="1053210"/>
            <a:ext cx="1778000" cy="1202182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600" b="1">
                <a:solidFill>
                  <a:srgbClr val="2E3A2F"/>
                </a:solidFill>
                <a:latin typeface="DejaVu Sans"/>
              </a:rPr>
              <a:t>Repete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600">
                <a:solidFill>
                  <a:srgbClr val="2E3A2F"/>
                </a:solidFill>
                <a:latin typeface="DejaVu Sans"/>
              </a:rPr>
              <a:t>até "parecer pronto"</a:t>
            </a:r>
          </a:p>
        </p:txBody>
      </p:sp>
      <p:sp>
        <p:nvSpPr>
          <p:cNvPr id="48" name="ProcessArrow0">
            <a:extLst>
              <a:ext uri="{FF2B5EF4-FFF2-40B4-BE49-F238E27FC236}">
                <a16:creationId xmlns:a16="http://schemas.microsoft.com/office/drawing/2014/main" id="{B84868D6-81D9-9972-21B2-C1354B47027B}"/>
              </a:ext>
            </a:extLst>
          </p:cNvPr>
          <p:cNvSpPr/>
          <p:nvPr/>
        </p:nvSpPr>
        <p:spPr>
          <a:xfrm>
            <a:off x="2197100" y="1565402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rocessArrow1">
            <a:extLst>
              <a:ext uri="{FF2B5EF4-FFF2-40B4-BE49-F238E27FC236}">
                <a16:creationId xmlns:a16="http://schemas.microsoft.com/office/drawing/2014/main" id="{B01B093A-6834-188D-DB2B-1DF162206A6D}"/>
              </a:ext>
            </a:extLst>
          </p:cNvPr>
          <p:cNvSpPr/>
          <p:nvPr/>
        </p:nvSpPr>
        <p:spPr>
          <a:xfrm>
            <a:off x="4127500" y="1565402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ProcessArrow2">
            <a:extLst>
              <a:ext uri="{FF2B5EF4-FFF2-40B4-BE49-F238E27FC236}">
                <a16:creationId xmlns:a16="http://schemas.microsoft.com/office/drawing/2014/main" id="{5B9C71D3-1864-96BE-F291-B654C42C544A}"/>
              </a:ext>
            </a:extLst>
          </p:cNvPr>
          <p:cNvSpPr/>
          <p:nvPr/>
        </p:nvSpPr>
        <p:spPr>
          <a:xfrm>
            <a:off x="6057900" y="1565402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rocessArrow3">
            <a:extLst>
              <a:ext uri="{FF2B5EF4-FFF2-40B4-BE49-F238E27FC236}">
                <a16:creationId xmlns:a16="http://schemas.microsoft.com/office/drawing/2014/main" id="{4D77C3D7-94BD-00C6-8EB4-2897ED223938}"/>
              </a:ext>
            </a:extLst>
          </p:cNvPr>
          <p:cNvSpPr/>
          <p:nvPr/>
        </p:nvSpPr>
        <p:spPr>
          <a:xfrm>
            <a:off x="7988300" y="1565402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ProcessArrow4">
            <a:extLst>
              <a:ext uri="{FF2B5EF4-FFF2-40B4-BE49-F238E27FC236}">
                <a16:creationId xmlns:a16="http://schemas.microsoft.com/office/drawing/2014/main" id="{C35FAC8F-2CA4-9277-B8AF-E9EE8520EC8F}"/>
              </a:ext>
            </a:extLst>
          </p:cNvPr>
          <p:cNvSpPr/>
          <p:nvPr/>
        </p:nvSpPr>
        <p:spPr>
          <a:xfrm>
            <a:off x="9918700" y="1565402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itText">
            <a:extLst>
              <a:ext uri="{FF2B5EF4-FFF2-40B4-BE49-F238E27FC236}">
                <a16:creationId xmlns:a16="http://schemas.microsoft.com/office/drawing/2014/main" id="{5A58871F-C102-CCCE-0A39-DBEA180CF54C}"/>
              </a:ext>
            </a:extLst>
          </p:cNvPr>
          <p:cNvSpPr txBox="1"/>
          <p:nvPr/>
        </p:nvSpPr>
        <p:spPr>
          <a:xfrm>
            <a:off x="640080" y="2458592"/>
            <a:ext cx="10909300" cy="20634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agente para quando o trabalho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parece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pronto. Se não houver uma verificação que ele possa rodar, quem verifica é você.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Cada arquivo lido e cada saída de comando ocupam a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janela de contexto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a memória de trabalho da sessão, que é limitada e se degrada quando enche.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mesmo pedido pode gerar códigos diferentes em sessões diferentes: a reprodutibilidade está no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código versionado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não na conversa.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617160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0.3  O exemplo desta seção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0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8F0E25F1-CFC9-0745-7515-54D269C79416}"/>
              </a:ext>
            </a:extLst>
          </p:cNvPr>
          <p:cNvSpPr txBox="1"/>
          <p:nvPr/>
        </p:nvSpPr>
        <p:spPr>
          <a:xfrm>
            <a:off x="640080" y="1053210"/>
            <a:ext cx="10909300" cy="20634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Ensaio de VCU de milho, safra 2025: linhagens DH em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testcross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3 locais (UDI, SLG, PGO), blocos casualizados com 2 blocos.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arquivo veio do campo com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14 erros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5 identificadores fora do padrão, 2 parcelas duplicadas e 7 valores fora do intervalo (como 104.613 kg/ha).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Os dados são simulados: sabemos o valor genético verdadeiro de cada linhagem e, portanto, se a análise está certa.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graphicFrame>
        <p:nvGraphicFramePr>
          <p:cNvPr id="14" name="Fit796Table">
            <a:extLst>
              <a:ext uri="{FF2B5EF4-FFF2-40B4-BE49-F238E27FC236}">
                <a16:creationId xmlns:a16="http://schemas.microsoft.com/office/drawing/2014/main" id="{459A1691-A15E-926C-5705-411672FBA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661980"/>
              </p:ext>
            </p:extLst>
          </p:nvPr>
        </p:nvGraphicFramePr>
        <p:xfrm>
          <a:off x="640080" y="3269106"/>
          <a:ext cx="109093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410597193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82310034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3596856012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59300249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Análise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CV em PGO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h² de médias em PGO</a:t>
                      </a:r>
                      <a:endParaRPr lang="en-US" sz="1700" b="1" i="0">
                        <a:solidFill>
                          <a:srgbClr val="FFFFF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Acurácia dos BLUPs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3462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Sem QC (o código roda sem erro)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31,9%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0,02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0,24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43602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Com QC e curadoria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4,9%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0,46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0,82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49967"/>
                  </a:ext>
                </a:extLst>
              </a:tr>
            </a:tbl>
          </a:graphicData>
        </a:graphic>
      </p:graphicFrame>
      <p:sp>
        <p:nvSpPr>
          <p:cNvPr id="15" name="FitText">
            <a:extLst>
              <a:ext uri="{FF2B5EF4-FFF2-40B4-BE49-F238E27FC236}">
                <a16:creationId xmlns:a16="http://schemas.microsoft.com/office/drawing/2014/main" id="{EF84E2C0-9C72-297D-8182-A9897839F6B3}"/>
              </a:ext>
            </a:extLst>
          </p:cNvPr>
          <p:cNvSpPr txBox="1"/>
          <p:nvPr/>
        </p:nvSpPr>
        <p:spPr>
          <a:xfrm>
            <a:off x="640080" y="4603621"/>
            <a:ext cx="10909300" cy="9174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Acurácia = correlação entre BLUP e valor genético verdadeiro de testcross das 400 linhagens DH25. Sem QC, a linhagem DH25_0232 (parcela de 104.613 kg/ha) fica em 1º lugar; com QC, em 259º.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166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4400" b="1" i="0">
                <a:solidFill>
                  <a:srgbClr val="FFFFFF"/>
                </a:solidFill>
                <a:latin typeface="DejaVu Serif"/>
              </a:rPr>
              <a:t>Ambiente: editores, instalação e primeiro acesso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1 · 20 min · SEÇÃO 2 · BLOCO 1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35617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1.1  Por que um editor, e não só o terminal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1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3AF6819E-5F1A-01D1-6B33-BE8C39634DB3}"/>
              </a:ext>
            </a:extLst>
          </p:cNvPr>
          <p:cNvSpPr txBox="1"/>
          <p:nvPr/>
        </p:nvSpPr>
        <p:spPr>
          <a:xfrm>
            <a:off x="640080" y="1053210"/>
            <a:ext cx="10909300" cy="178308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agente trabalha em arquivos; o editor mostra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o que mudou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(diff lado a lado), a árvore da pasta e o terminal no mesmo lugar.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No VS Code, o Claude Code roda como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extensão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(painel gráfico) ou no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terminal integrado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(linha de comando). Os dois compartilham configurações e histórico.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Você continua no controle: aprova edições, lê o diff, roda o script.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749191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1.2  Editores possíveis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1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64AA354E-F42B-DEFB-4D4A-6BBC7F2AD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130875"/>
              </p:ext>
            </p:extLst>
          </p:nvPr>
        </p:nvGraphicFramePr>
        <p:xfrm>
          <a:off x="640080" y="1053211"/>
          <a:ext cx="109093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3112723887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3113852168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146665479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Editor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O que é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Para o curso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1221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VS Code (Microsoft)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Editor gratuito; extensões do Visual Studio Marketplace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Padrão da turma: extensão oficial do Claude Code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417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Positron (Posit)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Derivado do VS Code para ciência de dados em R e Python; console, visualizador de dados e gráficos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Ótimo para quem vive no R; extensões vêm do Open VSX, onde a do Claude Code pode atrasar; o terminal sempre funciona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20359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Cursor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Derivado do VS Code com agente de IA próprio; plano gratuito limitado e planos pagos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 extensão do Claude Code tem instalação oficial; cuidado para não usar dois agentes ao mesmo tempo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9792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Antigravity (Google)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Editor "agent-first" derivado do VS Code, lançado em nov/2025, com modelos Gemini e outros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Tem agentes próprios; há relatos de falha da extensão do Claude Code; use o terminal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781910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99877A6D-59B2-2C33-3646-6EA46EA43B71}"/>
              </a:ext>
            </a:extLst>
          </p:cNvPr>
          <p:cNvSpPr txBox="1"/>
          <p:nvPr/>
        </p:nvSpPr>
        <p:spPr>
          <a:xfrm>
            <a:off x="640080" y="4685537"/>
            <a:ext cx="10909300" cy="6370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Positron: positron.posit.co (extensões via Open VSX). Cursor e outros derivados: code.claude.com/docs/en/vs-code. Antigravity: anunciado em 18/11/2025.</a:t>
            </a:r>
          </a:p>
        </p:txBody>
      </p:sp>
    </p:spTree>
    <p:extLst>
      <p:ext uri="{BB962C8B-B14F-4D97-AF65-F5344CB8AC3E}">
        <p14:creationId xmlns:p14="http://schemas.microsoft.com/office/powerpoint/2010/main" val="1441252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1.3  Instalação, na ordem (antes da aula) ⚙️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1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23" name="FitText">
            <a:extLst>
              <a:ext uri="{FF2B5EF4-FFF2-40B4-BE49-F238E27FC236}">
                <a16:creationId xmlns:a16="http://schemas.microsoft.com/office/drawing/2014/main" id="{603B14EC-D317-0D80-7D3E-69E891A88E1B}"/>
              </a:ext>
            </a:extLst>
          </p:cNvPr>
          <p:cNvSpPr txBox="1"/>
          <p:nvPr/>
        </p:nvSpPr>
        <p:spPr>
          <a:xfrm>
            <a:off x="640080" y="1049972"/>
            <a:ext cx="10909300" cy="20474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b="1">
                <a:solidFill>
                  <a:srgbClr val="4A7C59"/>
                </a:solidFill>
                <a:latin typeface="DejaVu Sans"/>
              </a:rPr>
              <a:t>VS Code</a:t>
            </a:r>
            <a:r>
              <a:rPr lang="en-US">
                <a:solidFill>
                  <a:srgbClr val="2E3A2F"/>
                </a:solidFill>
                <a:latin typeface="DejaVu Sans"/>
              </a:rPr>
              <a:t>: code.visualstudio.com → instalador do seu sistema.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b="1">
                <a:solidFill>
                  <a:srgbClr val="4A7C59"/>
                </a:solidFill>
                <a:latin typeface="DejaVu Sans"/>
              </a:rPr>
              <a:t>R</a:t>
            </a:r>
            <a:r>
              <a:rPr lang="en-US">
                <a:solidFill>
                  <a:srgbClr val="2E3A2F"/>
                </a:solidFill>
                <a:latin typeface="DejaVu Sans"/>
              </a:rPr>
              <a:t> (≥ 4.3), </a:t>
            </a:r>
            <a:r>
              <a:rPr lang="en-US" b="1">
                <a:solidFill>
                  <a:srgbClr val="4A7C59"/>
                </a:solidFill>
                <a:latin typeface="DejaVu Sans"/>
              </a:rPr>
              <a:t>Rtools</a:t>
            </a:r>
            <a:r>
              <a:rPr lang="en-US">
                <a:solidFill>
                  <a:srgbClr val="2E3A2F"/>
                </a:solidFill>
                <a:latin typeface="DejaVu Sans"/>
              </a:rPr>
              <a:t> no Windows, e no VS Code a extensão </a:t>
            </a:r>
            <a:r>
              <a:rPr lang="en-US" b="1">
                <a:solidFill>
                  <a:srgbClr val="4A7C59"/>
                </a:solidFill>
                <a:latin typeface="DejaVu Sans"/>
              </a:rPr>
              <a:t>R</a:t>
            </a:r>
            <a:r>
              <a:rPr lang="en-US">
                <a:solidFill>
                  <a:srgbClr val="2E3A2F"/>
                </a:solidFill>
                <a:latin typeface="DejaVu Sans"/>
              </a:rPr>
              <a:t> (</a:t>
            </a:r>
            <a:r>
              <a:rPr lang="en-US" b="1">
                <a:solidFill>
                  <a:srgbClr val="B7472A"/>
                </a:solidFill>
                <a:latin typeface="Consolas" panose="020B0609020204030204" pitchFamily="49" charset="0"/>
              </a:rPr>
              <a:t>REditorSupport.r</a:t>
            </a:r>
            <a:r>
              <a:rPr lang="en-US">
                <a:solidFill>
                  <a:srgbClr val="2E3A2F"/>
                </a:solidFill>
                <a:latin typeface="DejaVu Sans"/>
              </a:rPr>
              <a:t>) com </a:t>
            </a:r>
            <a:r>
              <a:rPr lang="en-US" b="1">
                <a:solidFill>
                  <a:srgbClr val="B7472A"/>
                </a:solidFill>
                <a:latin typeface="Consolas" panose="020B0609020204030204" pitchFamily="49" charset="0"/>
              </a:rPr>
              <a:t>install.packages(c("languageserver", "httpgd"))</a:t>
            </a:r>
            <a:r>
              <a:rPr lang="en-US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b="1">
                <a:solidFill>
                  <a:srgbClr val="4A7C59"/>
                </a:solidFill>
                <a:latin typeface="DejaVu Sans"/>
              </a:rPr>
              <a:t>Git</a:t>
            </a:r>
            <a:r>
              <a:rPr lang="en-US">
                <a:solidFill>
                  <a:srgbClr val="2E3A2F"/>
                </a:solidFill>
                <a:latin typeface="DejaVu Sans"/>
              </a:rPr>
              <a:t> (no Windows, o Git for Windows, que também fornece o Git Bash usado pelo Claude Code).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b="1">
                <a:solidFill>
                  <a:srgbClr val="4A7C59"/>
                </a:solidFill>
                <a:latin typeface="DejaVu Sans"/>
              </a:rPr>
              <a:t>Claude Code (linha de comando)</a:t>
            </a:r>
            <a:r>
              <a:rPr lang="en-US">
                <a:solidFill>
                  <a:srgbClr val="2E3A2F"/>
                </a:solidFill>
                <a:latin typeface="DejaVu Sans"/>
              </a:rPr>
              <a:t>, no terminal:</a:t>
            </a:r>
          </a:p>
        </p:txBody>
      </p:sp>
      <p:sp>
        <p:nvSpPr>
          <p:cNvPr id="24" name="CodeBox">
            <a:extLst>
              <a:ext uri="{FF2B5EF4-FFF2-40B4-BE49-F238E27FC236}">
                <a16:creationId xmlns:a16="http://schemas.microsoft.com/office/drawing/2014/main" id="{D4706EE0-FF97-FC19-05FF-D6B335D3D21F}"/>
              </a:ext>
            </a:extLst>
          </p:cNvPr>
          <p:cNvSpPr/>
          <p:nvPr/>
        </p:nvSpPr>
        <p:spPr>
          <a:xfrm>
            <a:off x="640080" y="3249866"/>
            <a:ext cx="10909300" cy="109728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en-US" sz="1300">
                <a:solidFill>
                  <a:srgbClr val="D8E4DA"/>
                </a:solidFill>
                <a:latin typeface="Consolas" panose="020B0609020204030204" pitchFamily="49" charset="0"/>
              </a:rPr>
              <a:t># macOS, Linux, WSL</a:t>
            </a:r>
          </a:p>
          <a:p>
            <a:r>
              <a:rPr lang="en-US" sz="1300">
                <a:solidFill>
                  <a:srgbClr val="F5F3ED"/>
                </a:solidFill>
                <a:latin typeface="Consolas" panose="020B0609020204030204" pitchFamily="49" charset="0"/>
              </a:rPr>
              <a:t>curl -fsSL https://claude.ai/install.sh | bash</a:t>
            </a:r>
          </a:p>
          <a:p>
            <a:r>
              <a:rPr lang="en-US" sz="1300">
                <a:solidFill>
                  <a:srgbClr val="D8E4DA"/>
                </a:solidFill>
                <a:latin typeface="Consolas" panose="020B0609020204030204" pitchFamily="49" charset="0"/>
              </a:rPr>
              <a:t># Windows PowerShell</a:t>
            </a:r>
          </a:p>
          <a:p>
            <a:r>
              <a:rPr lang="en-US" sz="1300">
                <a:solidFill>
                  <a:srgbClr val="F5F3ED"/>
                </a:solidFill>
                <a:latin typeface="Consolas" panose="020B0609020204030204" pitchFamily="49" charset="0"/>
              </a:rPr>
              <a:t>irm https://claude.ai/install.ps1 | iex</a:t>
            </a:r>
          </a:p>
        </p:txBody>
      </p:sp>
      <p:sp>
        <p:nvSpPr>
          <p:cNvPr id="25" name="CodeBoxAccent">
            <a:extLst>
              <a:ext uri="{FF2B5EF4-FFF2-40B4-BE49-F238E27FC236}">
                <a16:creationId xmlns:a16="http://schemas.microsoft.com/office/drawing/2014/main" id="{EC1C6E17-8327-9B2A-8E3C-4826512D0E4C}"/>
              </a:ext>
            </a:extLst>
          </p:cNvPr>
          <p:cNvSpPr/>
          <p:nvPr/>
        </p:nvSpPr>
        <p:spPr>
          <a:xfrm>
            <a:off x="640080" y="3249866"/>
            <a:ext cx="76200" cy="109728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itText">
            <a:extLst>
              <a:ext uri="{FF2B5EF4-FFF2-40B4-BE49-F238E27FC236}">
                <a16:creationId xmlns:a16="http://schemas.microsoft.com/office/drawing/2014/main" id="{47EEFF1C-43A1-32B1-7637-967EE825C7EB}"/>
              </a:ext>
            </a:extLst>
          </p:cNvPr>
          <p:cNvSpPr txBox="1"/>
          <p:nvPr/>
        </p:nvSpPr>
        <p:spPr>
          <a:xfrm>
            <a:off x="640080" y="4499545"/>
            <a:ext cx="10909300" cy="58089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b="1">
                <a:solidFill>
                  <a:srgbClr val="4A7C59"/>
                </a:solidFill>
                <a:latin typeface="DejaVu Sans"/>
              </a:rPr>
              <a:t>Extensão Claude Code</a:t>
            </a:r>
            <a:r>
              <a:rPr lang="en-US">
                <a:solidFill>
                  <a:srgbClr val="2E3A2F"/>
                </a:solidFill>
                <a:latin typeface="DejaVu Sans"/>
              </a:rPr>
              <a:t> no VS Code: </a:t>
            </a:r>
            <a:r>
              <a:rPr lang="en-US" b="1">
                <a:solidFill>
                  <a:srgbClr val="B7472A"/>
                </a:solidFill>
                <a:latin typeface="Consolas" panose="020B0609020204030204" pitchFamily="49" charset="0"/>
              </a:rPr>
              <a:t>Ctrl+Shift+X</a:t>
            </a:r>
            <a:r>
              <a:rPr lang="en-US">
                <a:solidFill>
                  <a:srgbClr val="2E3A2F"/>
                </a:solidFill>
                <a:latin typeface="DejaVu Sans"/>
              </a:rPr>
              <a:t> (</a:t>
            </a:r>
            <a:r>
              <a:rPr lang="en-US" b="1">
                <a:solidFill>
                  <a:srgbClr val="B7472A"/>
                </a:solidFill>
                <a:latin typeface="Consolas" panose="020B0609020204030204" pitchFamily="49" charset="0"/>
              </a:rPr>
              <a:t>Cmd+Shift+X</a:t>
            </a:r>
            <a:r>
              <a:rPr lang="en-US">
                <a:solidFill>
                  <a:srgbClr val="2E3A2F"/>
                </a:solidFill>
                <a:latin typeface="DejaVu Sans"/>
              </a:rPr>
              <a:t> no Mac) → "Claude Code" (publicada pela Anthropic) → Install.</a:t>
            </a:r>
          </a:p>
        </p:txBody>
      </p:sp>
      <p:sp>
        <p:nvSpPr>
          <p:cNvPr id="27" name="FitText">
            <a:extLst>
              <a:ext uri="{FF2B5EF4-FFF2-40B4-BE49-F238E27FC236}">
                <a16:creationId xmlns:a16="http://schemas.microsoft.com/office/drawing/2014/main" id="{FC8EFB28-564A-60FE-8C50-8829F4923A20}"/>
              </a:ext>
            </a:extLst>
          </p:cNvPr>
          <p:cNvSpPr txBox="1"/>
          <p:nvPr/>
        </p:nvSpPr>
        <p:spPr>
          <a:xfrm>
            <a:off x="640080" y="5232842"/>
            <a:ext cx="10909300" cy="58089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>
                <a:solidFill>
                  <a:srgbClr val="2E3A2F"/>
                </a:solidFill>
                <a:latin typeface="DejaVu Sans"/>
              </a:rPr>
              <a:t>Passo a passo por sistema operacional, alternativas (Homebrew, WinGet) e solução de problemas: guia_instalacao.md.</a:t>
            </a:r>
            <a:endParaRPr lang="en-US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959909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1.4  Verificar e entrar ⚙️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1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84A0D570-4D4B-0A38-C971-038F66DDBC7F}"/>
              </a:ext>
            </a:extLst>
          </p:cNvPr>
          <p:cNvSpPr/>
          <p:nvPr/>
        </p:nvSpPr>
        <p:spPr>
          <a:xfrm>
            <a:off x="640080" y="1049973"/>
            <a:ext cx="10909300" cy="9906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claude </a:t>
            </a:r>
            <a:r>
              <a:rPr lang="pt-BR" sz="1500">
                <a:solidFill>
                  <a:srgbClr val="D8E4DA"/>
                </a:solidFill>
                <a:latin typeface="Consolas" panose="020B0609020204030204" pitchFamily="49" charset="0"/>
              </a:rPr>
              <a:t>--version     # imprime a versão: a instalação funcionou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claude doctor        # diagnóstico da instalação e das configurações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claude               # primeira execução: abre o navegador para login</a:t>
            </a:r>
            <a:endParaRPr lang="en-US" sz="1500">
              <a:solidFill>
                <a:srgbClr val="F5F3ED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BBBCEB01-D26A-DC19-F07B-EC1ED1FE9EDB}"/>
              </a:ext>
            </a:extLst>
          </p:cNvPr>
          <p:cNvSpPr/>
          <p:nvPr/>
        </p:nvSpPr>
        <p:spPr>
          <a:xfrm>
            <a:off x="640080" y="1049973"/>
            <a:ext cx="76200" cy="9906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E0BAB8AF-626B-6F14-4865-9A2A395710E8}"/>
              </a:ext>
            </a:extLst>
          </p:cNvPr>
          <p:cNvSpPr txBox="1"/>
          <p:nvPr/>
        </p:nvSpPr>
        <p:spPr>
          <a:xfrm>
            <a:off x="640080" y="2192973"/>
            <a:ext cx="10909300" cy="249631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Claude Code exige conta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Pro, Max, Team, Enterprise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ou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Console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(API). O plano gratuito do claude.ai não inclui o Claude Code.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No VS Code: ícone ✻ (Spark) no canto superior direito do editor ou na barra lateral →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Sign in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/status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mostra versão, conta e modelo em uso;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/logout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troca de conta.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 extensão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não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coloca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claude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no PATH: comandos de terminal (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claude mcp add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claude plugin install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) exigem a instalação do passo 4.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954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1.5  Um tour pelo painel ⚙️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1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CB8841E5-98D2-850B-A8B9-164A92B12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48806"/>
              </p:ext>
            </p:extLst>
          </p:nvPr>
        </p:nvGraphicFramePr>
        <p:xfrm>
          <a:off x="640080" y="1049973"/>
          <a:ext cx="109093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900">
                  <a:extLst>
                    <a:ext uri="{9D8B030D-6E8A-4147-A177-3AD203B41FA5}">
                      <a16:colId xmlns:a16="http://schemas.microsoft.com/office/drawing/2014/main" val="4240894260"/>
                    </a:ext>
                  </a:extLst>
                </a:gridCol>
                <a:gridCol w="7137400">
                  <a:extLst>
                    <a:ext uri="{9D8B030D-6E8A-4147-A177-3AD203B41FA5}">
                      <a16:colId xmlns:a16="http://schemas.microsoft.com/office/drawing/2014/main" val="325012761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Elemento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Para que serve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69331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Caixa de prompt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Pedido em linguagem natural; @arquivo anexa um arquivo; texto selecionado no editor vai junto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99105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Indicador de modo (rodapé)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Modo de permissão: Manual, Edit automatically, Plan, Auto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42515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Menu de comandos: modelo, memória, permissões, plugins, skills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646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Indicador de contexto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Quanto da janela de contexto já foi usada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5545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Diff lado a lado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Mostra a edição proposta; aceitar, rejeitar ou corrigir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179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Botão de voltar (rewind)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Desfaz o código e/ou a conversa até um ponto anterior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28622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6D468B3D-3B27-FAD8-9B65-A940917FB597}"/>
              </a:ext>
            </a:extLst>
          </p:cNvPr>
          <p:cNvSpPr txBox="1"/>
          <p:nvPr/>
        </p:nvSpPr>
        <p:spPr>
          <a:xfrm>
            <a:off x="640080" y="3881183"/>
            <a:ext cx="10909300" cy="6370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Atalhos: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Ctrl+Esc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Cmd+Esc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) alterna o foco entre editor e Claude;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Alt+K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Option+K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) insere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@arquivo#linhas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da seleção.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675447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4400" b="1" i="0">
                <a:solidFill>
                  <a:srgbClr val="FFFFFF"/>
                </a:solidFill>
                <a:latin typeface="DejaVu Serif"/>
              </a:rPr>
              <a:t>Configuração, permissões e segurança dos dados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2 · 20 min · SEÇÃO 2 · BLOCO 2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90171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2.1  Onde ficam as configurações ⚙️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8B796012-95D3-9E9B-CF66-7255920E6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671516"/>
              </p:ext>
            </p:extLst>
          </p:nvPr>
        </p:nvGraphicFramePr>
        <p:xfrm>
          <a:off x="640080" y="1049973"/>
          <a:ext cx="109093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292798791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050588371"/>
                    </a:ext>
                  </a:extLst>
                </a:gridCol>
                <a:gridCol w="3340100">
                  <a:extLst>
                    <a:ext uri="{9D8B030D-6E8A-4147-A177-3AD203B41FA5}">
                      <a16:colId xmlns:a16="http://schemas.microsoft.com/office/drawing/2014/main" val="2887302048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357332278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Escopo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Arquivo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Vale para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Vai para o Git?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21066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Usuário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~/.claude/settings.json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Todos os seus projetos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Não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5850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Projeto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.claude/settings.json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Todos que trabalham no projeto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Sim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2216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Local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.claude/settings.local.json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Só você, neste projeto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Não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00863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Organização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arquivo gerenciado pela TI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Todos da instituição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—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2262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48091DA1-F0DE-7E57-A103-3DD96B90D543}"/>
              </a:ext>
            </a:extLst>
          </p:cNvPr>
          <p:cNvSpPr txBox="1"/>
          <p:nvPr/>
        </p:nvSpPr>
        <p:spPr>
          <a:xfrm>
            <a:off x="640080" y="3252025"/>
            <a:ext cx="10909300" cy="178308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Precedência: organização &gt; linha de comando &gt; local &gt; projeto &gt; usuário.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As mesmas pastas guardam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CLAUDE.md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subagentes (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agents/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) e skills (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skills/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): no nível do usuário em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~/.claude/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 no nível do projeto em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.claude/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Regra prática: o que o projeto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exige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vai no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.claude/settings.json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versionado; preferências pessoais, no nível do usuário.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597869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2.2  Modos de permissão ⚙️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9CF53637-1006-1060-42DB-041319EBD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210104"/>
              </p:ext>
            </p:extLst>
          </p:nvPr>
        </p:nvGraphicFramePr>
        <p:xfrm>
          <a:off x="640080" y="1049973"/>
          <a:ext cx="109093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400">
                  <a:extLst>
                    <a:ext uri="{9D8B030D-6E8A-4147-A177-3AD203B41FA5}">
                      <a16:colId xmlns:a16="http://schemas.microsoft.com/office/drawing/2014/main" val="1723095159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1088060515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129341969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Modo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O que roda sem perguntar</a:t>
                      </a:r>
                      <a:endParaRPr lang="en-US" sz="1700" b="1" i="0">
                        <a:solidFill>
                          <a:srgbClr val="FFFFF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Quando usar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5320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Manual (default)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Só leituras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Primeiro contato; dados sensíveis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284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Edit automatically (acceptEdits)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Leituras e edições de arquivos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Quando já está revisando o diff com atenção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7642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Plan (plan)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Leituras; nenhuma edição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Explorar e planejar antes de mudar algo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22151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Auto (auto)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Quase tudo; um classificador barra ações arriscadas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Tarefas longas, com Git e regras de negação já configurados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78437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bypassPermissions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Tudo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Só em contêiner ou máquina virtual isolada; nunca no seu computador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6400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94BA5632-F1E0-D3DF-A648-ECF1589F0201}"/>
              </a:ext>
            </a:extLst>
          </p:cNvPr>
          <p:cNvSpPr txBox="1"/>
          <p:nvPr/>
        </p:nvSpPr>
        <p:spPr>
          <a:xfrm>
            <a:off x="640080" y="4043363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Alternar: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Shift+Tab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no terminal; indicador de modo no rodapé do painel no VS Code.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Nas versões recentes, a sessão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começa em Auto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 Nesta seção, comece em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Manual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ou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Plan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o objetivo é ver cada ação.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87113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2.3  Regras de permissão: o que o projeto permite e proíbe ⚙️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ED56A3BD-054F-F5EA-EC60-54D014237B8F}"/>
              </a:ext>
            </a:extLst>
          </p:cNvPr>
          <p:cNvSpPr txBox="1"/>
          <p:nvPr/>
        </p:nvSpPr>
        <p:spPr>
          <a:xfrm>
            <a:off x="640080" y="1049972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.claude/settings.json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 da pasta de análise:</a:t>
            </a:r>
            <a:endParaRPr lang="en-US" sz="2000" b="1">
              <a:solidFill>
                <a:srgbClr val="4A7C59"/>
              </a:solidFill>
              <a:latin typeface="DejaVu Sans"/>
            </a:endParaRPr>
          </a:p>
        </p:txBody>
      </p:sp>
      <p:sp>
        <p:nvSpPr>
          <p:cNvPr id="14" name="CodeBox">
            <a:extLst>
              <a:ext uri="{FF2B5EF4-FFF2-40B4-BE49-F238E27FC236}">
                <a16:creationId xmlns:a16="http://schemas.microsoft.com/office/drawing/2014/main" id="{638A4C18-5926-264C-70AC-A75904B5E5BD}"/>
              </a:ext>
            </a:extLst>
          </p:cNvPr>
          <p:cNvSpPr/>
          <p:nvPr/>
        </p:nvSpPr>
        <p:spPr>
          <a:xfrm>
            <a:off x="640080" y="1558988"/>
            <a:ext cx="10909300" cy="19050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  "permissions": {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    "allow": ["Bash(Rscript *)", "Bash(git status)", "Bash(git diff *)", "Bash(git log *)"],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    "ask":   ["Bash(git commit *)"],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    "deny":  ["Edit(/data/bruto/**)", "Bash(rm *)", "Bash(git push *)"]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CodeBoxAccent">
            <a:extLst>
              <a:ext uri="{FF2B5EF4-FFF2-40B4-BE49-F238E27FC236}">
                <a16:creationId xmlns:a16="http://schemas.microsoft.com/office/drawing/2014/main" id="{97234AFC-988A-0945-9AD1-B4E40ABBA767}"/>
              </a:ext>
            </a:extLst>
          </p:cNvPr>
          <p:cNvSpPr/>
          <p:nvPr/>
        </p:nvSpPr>
        <p:spPr>
          <a:xfrm>
            <a:off x="640080" y="1558988"/>
            <a:ext cx="76200" cy="19050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itText">
            <a:extLst>
              <a:ext uri="{FF2B5EF4-FFF2-40B4-BE49-F238E27FC236}">
                <a16:creationId xmlns:a16="http://schemas.microsoft.com/office/drawing/2014/main" id="{2101EF16-8789-92E8-760D-99B288081100}"/>
              </a:ext>
            </a:extLst>
          </p:cNvPr>
          <p:cNvSpPr txBox="1"/>
          <p:nvPr/>
        </p:nvSpPr>
        <p:spPr>
          <a:xfrm>
            <a:off x="640080" y="3616387"/>
            <a:ext cx="10909300" cy="20634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Ordem de avaliação: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deny → ask → allow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 Uma regra de negação vale em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todos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os modos, inclusive no Auto.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/data/bruto/**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é relativo à pasta do projeto;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//caminho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é absoluto;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~/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é a pasta pessoal.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/permissions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(ou Customize → Permissions no VS Code) mostra as regras ativas e de onde vieram.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880897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2.4  Limites das regras e camadas de proteção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48" name="ProcessBox0">
            <a:extLst>
              <a:ext uri="{FF2B5EF4-FFF2-40B4-BE49-F238E27FC236}">
                <a16:creationId xmlns:a16="http://schemas.microsoft.com/office/drawing/2014/main" id="{95489F69-0492-3EFC-776A-ADC74EE59F5B}"/>
              </a:ext>
            </a:extLst>
          </p:cNvPr>
          <p:cNvSpPr/>
          <p:nvPr/>
        </p:nvSpPr>
        <p:spPr>
          <a:xfrm>
            <a:off x="381000" y="2450211"/>
            <a:ext cx="2810933" cy="1650873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FFFFFF"/>
                </a:solidFill>
                <a:latin typeface="DejaVu Sans"/>
              </a:rPr>
              <a:t>Sistema operacional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FFFFFF"/>
                </a:solidFill>
                <a:latin typeface="DejaVu Sans"/>
              </a:rPr>
              <a:t>data/bruto/ somente leitura (chmod -R a-w no Linux/macOS; atributo "Somente leitura" no Windows)</a:t>
            </a:r>
            <a:endParaRPr lang="en-US" sz="1600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9" name="ProcessBox1">
            <a:extLst>
              <a:ext uri="{FF2B5EF4-FFF2-40B4-BE49-F238E27FC236}">
                <a16:creationId xmlns:a16="http://schemas.microsoft.com/office/drawing/2014/main" id="{5420B23F-0255-9648-9104-4C81C7612C99}"/>
              </a:ext>
            </a:extLst>
          </p:cNvPr>
          <p:cNvSpPr/>
          <p:nvPr/>
        </p:nvSpPr>
        <p:spPr>
          <a:xfrm>
            <a:off x="4690533" y="2450211"/>
            <a:ext cx="2810934" cy="1650873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2E3A2F"/>
                </a:solidFill>
                <a:latin typeface="DejaVu Sans"/>
              </a:rPr>
              <a:t>Regras do agente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2E3A2F"/>
                </a:solidFill>
                <a:latin typeface="DejaVu Sans"/>
              </a:rPr>
              <a:t>deny para Edit e comandos perigosos; ask para commit</a:t>
            </a:r>
            <a:endParaRPr lang="en-US" sz="16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50" name="ProcessBox2">
            <a:extLst>
              <a:ext uri="{FF2B5EF4-FFF2-40B4-BE49-F238E27FC236}">
                <a16:creationId xmlns:a16="http://schemas.microsoft.com/office/drawing/2014/main" id="{52528194-F1D9-8885-AD06-E47EC2BD3EE4}"/>
              </a:ext>
            </a:extLst>
          </p:cNvPr>
          <p:cNvSpPr/>
          <p:nvPr/>
        </p:nvSpPr>
        <p:spPr>
          <a:xfrm>
            <a:off x="9000067" y="2450211"/>
            <a:ext cx="2810933" cy="1650873"/>
          </a:xfrm>
          <a:prstGeom prst="roundRect">
            <a:avLst>
              <a:gd name="adj" fmla="val 8000"/>
            </a:avLst>
          </a:prstGeom>
          <a:solidFill>
            <a:srgbClr val="F9A62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2E3A2F"/>
                </a:solidFill>
                <a:latin typeface="DejaVu Sans"/>
              </a:rPr>
              <a:t>Git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2E3A2F"/>
                </a:solidFill>
                <a:latin typeface="DejaVu Sans"/>
              </a:rPr>
              <a:t>qualquer alteração aparece no git status e pode ser desfeita</a:t>
            </a:r>
            <a:endParaRPr lang="en-US" sz="16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51" name="ProcessArrow0">
            <a:extLst>
              <a:ext uri="{FF2B5EF4-FFF2-40B4-BE49-F238E27FC236}">
                <a16:creationId xmlns:a16="http://schemas.microsoft.com/office/drawing/2014/main" id="{8CA371BC-0F43-38C8-B97A-5686DECBF5BA}"/>
              </a:ext>
            </a:extLst>
          </p:cNvPr>
          <p:cNvSpPr/>
          <p:nvPr/>
        </p:nvSpPr>
        <p:spPr>
          <a:xfrm>
            <a:off x="3293533" y="3186748"/>
            <a:ext cx="12954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ProcessLabel0">
            <a:extLst>
              <a:ext uri="{FF2B5EF4-FFF2-40B4-BE49-F238E27FC236}">
                <a16:creationId xmlns:a16="http://schemas.microsoft.com/office/drawing/2014/main" id="{2B5DCFC2-8839-6D22-4168-62E176EC5AC3}"/>
              </a:ext>
            </a:extLst>
          </p:cNvPr>
          <p:cNvSpPr txBox="1"/>
          <p:nvPr/>
        </p:nvSpPr>
        <p:spPr>
          <a:xfrm>
            <a:off x="3217333" y="2952369"/>
            <a:ext cx="1447800" cy="196279"/>
          </a:xfrm>
          <a:prstGeom prst="rect">
            <a:avLst/>
          </a:prstGeom>
          <a:noFill/>
        </p:spPr>
        <p:txBody>
          <a:bodyPr vert="horz" wrap="square" lIns="12700" tIns="0" rIns="12700" bIns="0" rtlCol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400" b="1">
                <a:solidFill>
                  <a:srgbClr val="4A7C59"/>
                </a:solidFill>
                <a:latin typeface="DejaVu Sans"/>
              </a:rPr>
              <a:t>e</a:t>
            </a:r>
          </a:p>
        </p:txBody>
      </p:sp>
      <p:sp>
        <p:nvSpPr>
          <p:cNvPr id="53" name="ProcessArrow1">
            <a:extLst>
              <a:ext uri="{FF2B5EF4-FFF2-40B4-BE49-F238E27FC236}">
                <a16:creationId xmlns:a16="http://schemas.microsoft.com/office/drawing/2014/main" id="{E6A63C2B-E53D-6CF2-850A-AD68D3FD9257}"/>
              </a:ext>
            </a:extLst>
          </p:cNvPr>
          <p:cNvSpPr/>
          <p:nvPr/>
        </p:nvSpPr>
        <p:spPr>
          <a:xfrm>
            <a:off x="7603067" y="3186748"/>
            <a:ext cx="12954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ProcessLabel1">
            <a:extLst>
              <a:ext uri="{FF2B5EF4-FFF2-40B4-BE49-F238E27FC236}">
                <a16:creationId xmlns:a16="http://schemas.microsoft.com/office/drawing/2014/main" id="{51E17919-1416-657A-7369-9DBAE37A6146}"/>
              </a:ext>
            </a:extLst>
          </p:cNvPr>
          <p:cNvSpPr txBox="1"/>
          <p:nvPr/>
        </p:nvSpPr>
        <p:spPr>
          <a:xfrm>
            <a:off x="7526867" y="2952369"/>
            <a:ext cx="1447800" cy="196279"/>
          </a:xfrm>
          <a:prstGeom prst="rect">
            <a:avLst/>
          </a:prstGeom>
          <a:noFill/>
        </p:spPr>
        <p:txBody>
          <a:bodyPr vert="horz" wrap="square" lIns="12700" tIns="0" rIns="12700" bIns="0" rtlCol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400" b="1">
                <a:solidFill>
                  <a:srgbClr val="4A7C59"/>
                </a:solidFill>
                <a:latin typeface="DejaVu Sans"/>
              </a:rPr>
              <a:t>e</a:t>
            </a:r>
          </a:p>
        </p:txBody>
      </p:sp>
      <p:sp>
        <p:nvSpPr>
          <p:cNvPr id="55" name="FitText">
            <a:extLst>
              <a:ext uri="{FF2B5EF4-FFF2-40B4-BE49-F238E27FC236}">
                <a16:creationId xmlns:a16="http://schemas.microsoft.com/office/drawing/2014/main" id="{7437C6F7-0F28-A5C1-D5CD-AF61702EA8FD}"/>
              </a:ext>
            </a:extLst>
          </p:cNvPr>
          <p:cNvSpPr txBox="1"/>
          <p:nvPr/>
        </p:nvSpPr>
        <p:spPr>
          <a:xfrm>
            <a:off x="640080" y="4304283"/>
            <a:ext cx="10909300" cy="6370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Isolamento no nível do sistema para todos os processos: sandbox do Claude Code (/sandbox), disponível em macOS, Linux e WSL2.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4" name="FitIntroBullets">
            <a:extLst>
              <a:ext uri="{FF2B5EF4-FFF2-40B4-BE49-F238E27FC236}">
                <a16:creationId xmlns:a16="http://schemas.microsoft.com/office/drawing/2014/main" id="{9FAFA227-0C5B-AA98-63C8-5A6140634F2E}"/>
              </a:ext>
            </a:extLst>
          </p:cNvPr>
          <p:cNvSpPr txBox="1"/>
          <p:nvPr/>
        </p:nvSpPr>
        <p:spPr>
          <a:xfrm>
            <a:off x="640080" y="1041400"/>
            <a:ext cx="10909300" cy="13623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400">
                <a:solidFill>
                  <a:srgbClr val="2E3A2F"/>
                </a:solidFill>
                <a:latin typeface="DejaVu Sans"/>
              </a:rPr>
              <a:t>Edit(...) e Read(...) valem para as ferramentas de arquivo do agente e para comandos de shell que ele reconhece (cat, sed, redirecionamento &gt;).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400">
                <a:solidFill>
                  <a:srgbClr val="2E3A2F"/>
                </a:solidFill>
                <a:latin typeface="DejaVu Sans"/>
              </a:rPr>
              <a:t>Não valem para um script que abre arquivos por conta própria: um Rscript que grava em data/bruto/ passa pela regra.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400">
                <a:solidFill>
                  <a:srgbClr val="2E3A2F"/>
                </a:solidFill>
                <a:latin typeface="DejaVu Sans"/>
              </a:rPr>
              <a:t>Por isso, proteja em camadas:</a:t>
            </a:r>
            <a:endParaRPr lang="en-US" sz="14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090551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2.5  Segurança e governança dos dados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7076C174-64DC-763C-4DCE-BF56E101CEA6}"/>
              </a:ext>
            </a:extLst>
          </p:cNvPr>
          <p:cNvSpPr txBox="1"/>
          <p:nvPr/>
        </p:nvSpPr>
        <p:spPr>
          <a:xfrm>
            <a:off x="640080" y="1053211"/>
            <a:ext cx="10909300" cy="422757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Tudo o que o agente lê (arquivos, saídas de comandos) é enviado ao serviço do modelo para ser processado.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Antes de abrir o agente em uma pasta com dados reais: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Confira a política da instituição, os contratos e os termos de transferência de material (germoplasma, pedigree, marcadores de parceiros).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Confira os termos de uso do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seu plano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(individual, institucional ou API).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Minimize: subconjuntos, IDs codificados, sem dados pessoais.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Bloqueie pastas sensíveis com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Read(...)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em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deny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Nunca coloque senhas ou chaves em arquivos do projeto ou em prompts.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Arquivos versionados de terceiros (um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.claude/settings.json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um plugin) podem rodar comandos: leia antes de confiar.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4" name="FitText">
            <a:extLst>
              <a:ext uri="{FF2B5EF4-FFF2-40B4-BE49-F238E27FC236}">
                <a16:creationId xmlns:a16="http://schemas.microsoft.com/office/drawing/2014/main" id="{773DD7BA-7252-A311-45A5-2A5EC05250FC}"/>
              </a:ext>
            </a:extLst>
          </p:cNvPr>
          <p:cNvSpPr txBox="1"/>
          <p:nvPr/>
        </p:nvSpPr>
        <p:spPr>
          <a:xfrm>
            <a:off x="640080" y="5433186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Ver docs/governanca_dados.md do curso.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907301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2.6  Modelo, esforço e limites de uso ⚙️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B929F89D-AD4D-41DA-7223-F063848A0AFA}"/>
              </a:ext>
            </a:extLst>
          </p:cNvPr>
          <p:cNvSpPr txBox="1"/>
          <p:nvPr/>
        </p:nvSpPr>
        <p:spPr>
          <a:xfrm>
            <a:off x="640080" y="1049973"/>
            <a:ext cx="10909300" cy="27767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/model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escolhe o modelo e o nível de esforço de raciocínio: mais esforço = respostas melhores em problemas difíceis, mais tempo e mais uso.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Os planos têm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limites de uso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por período;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/usage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mostra o consumo. Sessões longas e arquivos grandes consomem mais.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que mais gasta: ler arquivos grandes inteiros, saídas extensas de comandos, conversas que nunca são limpas.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Boa prática: tarefas focadas,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/clear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entre tarefas, resultados grandes gravados em arquivo e resumidos.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098363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4400" b="1" i="0">
                <a:solidFill>
                  <a:srgbClr val="FFFFFF"/>
                </a:solidFill>
                <a:latin typeface="DejaVu Serif"/>
              </a:rPr>
              <a:t>Pasta de projeto, CLAUDE.md e arquivos de contexto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3 · 35 min · SEÇÃO 2 · BLOCO 3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91328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3.1  A pasta da análise (retomando a Seção 1)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031F6F37-9D94-F44B-C033-A226D56A4946}"/>
              </a:ext>
            </a:extLst>
          </p:cNvPr>
          <p:cNvSpPr/>
          <p:nvPr/>
        </p:nvSpPr>
        <p:spPr>
          <a:xfrm>
            <a:off x="640080" y="1053211"/>
            <a:ext cx="10909300" cy="25908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vcu-milho-2025/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CLAUDE.md              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contexto e regras para o agente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README.md  PLANO.md    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pergunta, como reproduzir, etapas e critérios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config/parametros.yaml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data/bruto/            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vcu_milho_2025_campo.csv (somente leitura) + LEIA-ME.md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data/intermediario/  data/processado/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docs/                  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dicionário, registro de correções, decisões, etapas/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R/                     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01_importar … 05_figuras_tabelas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output/  tests/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└── .claude/               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settings.json, agents/, skills/</a:t>
            </a: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80D7B426-BA90-2BE4-F705-9B748FF65953}"/>
              </a:ext>
            </a:extLst>
          </p:cNvPr>
          <p:cNvSpPr/>
          <p:nvPr/>
        </p:nvSpPr>
        <p:spPr>
          <a:xfrm>
            <a:off x="640080" y="1053211"/>
            <a:ext cx="76200" cy="25908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A51A68AA-8023-4B89-C5E4-EE93009DF949}"/>
              </a:ext>
            </a:extLst>
          </p:cNvPr>
          <p:cNvSpPr txBox="1"/>
          <p:nvPr/>
        </p:nvSpPr>
        <p:spPr>
          <a:xfrm>
            <a:off x="640080" y="3796411"/>
            <a:ext cx="10909300" cy="10698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Ponto de partida: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modelos/projeto-analise/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do repositório do curso.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Abra a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pasta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no VS Code (File → Open Folder): o Claude Code trabalha a partir dela.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785343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3.2  Criar a pasta, passo a passo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56EF189C-8C0B-18E3-0327-84D1AA42AC91}"/>
              </a:ext>
            </a:extLst>
          </p:cNvPr>
          <p:cNvSpPr/>
          <p:nvPr/>
        </p:nvSpPr>
        <p:spPr>
          <a:xfrm>
            <a:off x="640080" y="1053211"/>
            <a:ext cx="10909300" cy="19050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cp -r curso-ia-melhoramento/modelos/projeto-analise ~/analises/2026-11_vcu-milho-2025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cd ~/analises/2026-11_vcu-milho-2025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cp &lt;curso&gt;/secoes/02_claude_code_vscode/dados/vcu_milho_2025_campo.csv data/bruto/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cp &lt;curso&gt;/secoes/02_claude_code_vscode/dados/dicionario_de_dados.csv docs/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chmod -R a-w data/bruto                     # somente leitura (Linux/macOS)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git init &amp;&amp; git add . &amp;&amp; git commit -m "Estrutura inicial e dados brutos"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code .                                       # abre a pasta no VS Code</a:t>
            </a: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FD73DA5A-80DF-1C44-3B83-45DF8A4071A8}"/>
              </a:ext>
            </a:extLst>
          </p:cNvPr>
          <p:cNvSpPr/>
          <p:nvPr/>
        </p:nvSpPr>
        <p:spPr>
          <a:xfrm>
            <a:off x="640080" y="1053211"/>
            <a:ext cx="76200" cy="19050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0EDEF53C-6FF8-8651-E4F5-34CE75FD7E85}"/>
              </a:ext>
            </a:extLst>
          </p:cNvPr>
          <p:cNvSpPr txBox="1"/>
          <p:nvPr/>
        </p:nvSpPr>
        <p:spPr>
          <a:xfrm>
            <a:off x="640080" y="3110611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commit inicial é 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ponto zero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qualquer mudança do agente aparece no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git diff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No Windows: botão direito em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data\bruto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→ Propriedades → Somente leitura; os demais comandos rodam no Git Bash.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287778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3.3  O que é o </a:t>
            </a:r>
            <a:r>
              <a:rPr lang="pt-BR" sz="3200" b="1" i="0">
                <a:solidFill>
                  <a:srgbClr val="B7472A"/>
                </a:solidFill>
                <a:latin typeface="Consolas" panose="020B0609020204030204" pitchFamily="49" charset="0"/>
              </a:rPr>
              <a:t>CLAUDE.md</a:t>
            </a:r>
            <a:endParaRPr sz="3200" b="1" i="0">
              <a:solidFill>
                <a:srgbClr val="B7472A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C61271EB-459E-EF5C-6AED-DA3F5DFF876D}"/>
              </a:ext>
            </a:extLst>
          </p:cNvPr>
          <p:cNvSpPr txBox="1"/>
          <p:nvPr/>
        </p:nvSpPr>
        <p:spPr>
          <a:xfrm>
            <a:off x="640080" y="1052576"/>
            <a:ext cx="10909300" cy="10698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Arquivo de instruções que o Claude Code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lê no início de toda sessão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 É o "prompt permanente" do projeto.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Hierarquia (todos são somados, não substituídos): ⚙️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graphicFrame>
        <p:nvGraphicFramePr>
          <p:cNvPr id="14" name="Fit796Table">
            <a:extLst>
              <a:ext uri="{FF2B5EF4-FFF2-40B4-BE49-F238E27FC236}">
                <a16:creationId xmlns:a16="http://schemas.microsoft.com/office/drawing/2014/main" id="{08B0D24D-0460-F01C-2BAA-43EED00B6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38724"/>
              </p:ext>
            </p:extLst>
          </p:nvPr>
        </p:nvGraphicFramePr>
        <p:xfrm>
          <a:off x="640080" y="2274824"/>
          <a:ext cx="109093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2200">
                  <a:extLst>
                    <a:ext uri="{9D8B030D-6E8A-4147-A177-3AD203B41FA5}">
                      <a16:colId xmlns:a16="http://schemas.microsoft.com/office/drawing/2014/main" val="3060414780"/>
                    </a:ext>
                  </a:extLst>
                </a:gridCol>
                <a:gridCol w="6007100">
                  <a:extLst>
                    <a:ext uri="{9D8B030D-6E8A-4147-A177-3AD203B41FA5}">
                      <a16:colId xmlns:a16="http://schemas.microsoft.com/office/drawing/2014/main" val="82732010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Arquivo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Escopo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9927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~/.claude/CLAUDE.md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Suas preferências em todos os projetos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7267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./CLAUDE.md ou ./.claude/CLAUDE.md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 projeto; versionado no Git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4219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./CLAUDE.local.md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Suas notas pessoais neste projeto; fora do Git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39379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subpasta/CLAUDE.md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Carregado quando o agente trabalha naquela subpasta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045419"/>
                  </a:ext>
                </a:extLst>
              </a:tr>
            </a:tbl>
          </a:graphicData>
        </a:graphic>
      </p:graphicFrame>
      <p:sp>
        <p:nvSpPr>
          <p:cNvPr id="15" name="FitText">
            <a:extLst>
              <a:ext uri="{FF2B5EF4-FFF2-40B4-BE49-F238E27FC236}">
                <a16:creationId xmlns:a16="http://schemas.microsoft.com/office/drawing/2014/main" id="{40457F24-5A27-000E-ACBF-3D616209B384}"/>
              </a:ext>
            </a:extLst>
          </p:cNvPr>
          <p:cNvSpPr txBox="1"/>
          <p:nvPr/>
        </p:nvSpPr>
        <p:spPr>
          <a:xfrm>
            <a:off x="640080" y="4238498"/>
            <a:ext cx="10909300" cy="10698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/init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gera um rascunho analisando a pasta. Numa análise que ainda não tem código, ele vê pouco: parta do modelo do curso e refine.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/memory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(Customize → Instructions no VS Code) abre os arquivos carregados.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491579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3.4  Boas práticas para o </a:t>
            </a:r>
            <a:r>
              <a:rPr lang="pt-BR" sz="3200" b="1" i="0">
                <a:solidFill>
                  <a:srgbClr val="B7472A"/>
                </a:solidFill>
                <a:latin typeface="Consolas" panose="020B0609020204030204" pitchFamily="49" charset="0"/>
              </a:rPr>
              <a:t>CLAUDE.md</a:t>
            </a:r>
            <a:endParaRPr sz="3200" b="1" i="0">
              <a:solidFill>
                <a:srgbClr val="B7472A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399E1D57-468A-29F8-B999-0ECC395AC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330380"/>
              </p:ext>
            </p:extLst>
          </p:nvPr>
        </p:nvGraphicFramePr>
        <p:xfrm>
          <a:off x="640080" y="1052576"/>
          <a:ext cx="109093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3800">
                  <a:extLst>
                    <a:ext uri="{9D8B030D-6E8A-4147-A177-3AD203B41FA5}">
                      <a16:colId xmlns:a16="http://schemas.microsoft.com/office/drawing/2014/main" val="1549365934"/>
                    </a:ext>
                  </a:extLst>
                </a:gridCol>
                <a:gridCol w="4635500">
                  <a:extLst>
                    <a:ext uri="{9D8B030D-6E8A-4147-A177-3AD203B41FA5}">
                      <a16:colId xmlns:a16="http://schemas.microsoft.com/office/drawing/2014/main" val="25029965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✅ Incluir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❌ Deixar de fora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335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Pergunta da análise e para quem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 que o agente descobre lendo o código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8238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Regras de dados: o que é somente leitura, como corrigir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Convenções que o R já impõe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94163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Comandos para rodar e testar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Tutoriais e explicações longas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4516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Decisões científicas: modelo de referência, como tratar ausentes e outliers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Informação que muda toda semana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8198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Armadilhas não óbvias do projeto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Generalidades como "escreva código limpo"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71082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7BCA5B1A-E319-ABDB-622B-8C7ADA74E712}"/>
              </a:ext>
            </a:extLst>
          </p:cNvPr>
          <p:cNvSpPr txBox="1"/>
          <p:nvPr/>
        </p:nvSpPr>
        <p:spPr>
          <a:xfrm>
            <a:off x="640080" y="3807587"/>
            <a:ext cx="10909300" cy="15026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Curto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menos de 200 linhas. Para cada linha: "se eu apagar, o agente erra?". Se não, apague.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Arquivo longo demais faz o agente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ignorar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regras importantes.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Trate como código: versione, revise quando o agente errar, pode e corte.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738E1983-5F35-4341-D8DF-BFE87B08C636}"/>
              </a:ext>
            </a:extLst>
          </p:cNvPr>
          <p:cNvSpPr txBox="1"/>
          <p:nvPr/>
        </p:nvSpPr>
        <p:spPr>
          <a:xfrm>
            <a:off x="640080" y="5462650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code.claude.com/docs/en/best-practices e /memory.</a:t>
            </a:r>
          </a:p>
        </p:txBody>
      </p:sp>
    </p:spTree>
    <p:extLst>
      <p:ext uri="{BB962C8B-B14F-4D97-AF65-F5344CB8AC3E}">
        <p14:creationId xmlns:p14="http://schemas.microsoft.com/office/powerpoint/2010/main" val="4163340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3.5  Um </a:t>
            </a:r>
            <a:r>
              <a:rPr lang="pt-BR" sz="3200" b="1" i="0">
                <a:solidFill>
                  <a:srgbClr val="B7472A"/>
                </a:solidFill>
                <a:latin typeface="Consolas" panose="020B0609020204030204" pitchFamily="49" charset="0"/>
              </a:rPr>
              <a:t>CLAUDE.md</a:t>
            </a:r>
            <a:r>
              <a:rPr lang="pt-BR" sz="3200" b="1" i="0">
                <a:solidFill>
                  <a:srgbClr val="4A7C59"/>
                </a:solidFill>
                <a:latin typeface="DejaVu Serif"/>
              </a:rPr>
              <a:t> de análise: cada linha elimina uma decisão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59C36FEB-30DD-0668-CF42-4A541CDF54FC}"/>
              </a:ext>
            </a:extLst>
          </p:cNvPr>
          <p:cNvSpPr/>
          <p:nvPr/>
        </p:nvSpPr>
        <p:spPr>
          <a:xfrm>
            <a:off x="640080" y="1052576"/>
            <a:ext cx="10909300" cy="33909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pt-BR" sz="1350" b="1">
                <a:solidFill>
                  <a:srgbClr val="F9A620"/>
                </a:solidFill>
                <a:latin typeface="Consolas" panose="020B0609020204030204" pitchFamily="49" charset="0"/>
              </a:rPr>
              <a:t>## Pergunta</a:t>
            </a:r>
          </a:p>
          <a:p>
            <a:r>
              <a:rPr lang="pt-BR" sz="1350">
                <a:solidFill>
                  <a:srgbClr val="F5F3ED"/>
                </a:solidFill>
                <a:latin typeface="Consolas" panose="020B0609020204030204" pitchFamily="49" charset="0"/>
              </a:rPr>
              <a:t>Ranking das linhagens DH25 por valor de testcross para PROD (kg/ha) nos 3 ambientes de 2025.</a:t>
            </a:r>
          </a:p>
          <a:p>
            <a:r>
              <a:rPr lang="pt-BR" sz="1350">
                <a:solidFill>
                  <a:srgbClr val="F5F3ED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pt-BR" sz="1350" b="1">
                <a:solidFill>
                  <a:srgbClr val="F9A620"/>
                </a:solidFill>
                <a:latin typeface="Consolas" panose="020B0609020204030204" pitchFamily="49" charset="0"/>
              </a:rPr>
              <a:t>## Dados</a:t>
            </a:r>
          </a:p>
          <a:p>
            <a:r>
              <a:rPr lang="pt-BR" sz="1350">
                <a:solidFill>
                  <a:srgbClr val="F5F3ED"/>
                </a:solidFill>
                <a:latin typeface="Consolas" panose="020B0609020204030204" pitchFamily="49" charset="0"/>
              </a:rPr>
              <a:t>- data/bruto/ é SOMENTE LEITURA. Correções só via docs/registro_de_correcoes.csv (R/03_curar.R).</a:t>
            </a:r>
          </a:p>
          <a:p>
            <a:r>
              <a:rPr lang="pt-BR" sz="1350">
                <a:solidFill>
                  <a:srgbClr val="F5F3ED"/>
                </a:solidFill>
                <a:latin typeface="Consolas" panose="020B0609020204030204" pitchFamily="49" charset="0"/>
              </a:rPr>
              <a:t>- Dicionário em docs/dicionario_de_dados.csv: intervalos, unidades e padrão de IDs.</a:t>
            </a:r>
          </a:p>
          <a:p>
            <a:r>
              <a:rPr lang="pt-BR" sz="1350">
                <a:solidFill>
                  <a:srgbClr val="F5F3ED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pt-BR" sz="1350" b="1">
                <a:solidFill>
                  <a:srgbClr val="F9A620"/>
                </a:solidFill>
                <a:latin typeface="Consolas" panose="020B0609020204030204" pitchFamily="49" charset="0"/>
              </a:rPr>
              <a:t>## Regras de análise</a:t>
            </a:r>
          </a:p>
          <a:p>
            <a:r>
              <a:rPr lang="pt-BR" sz="1350">
                <a:solidFill>
                  <a:srgbClr val="F5F3ED"/>
                </a:solidFill>
                <a:latin typeface="Consolas" panose="020B0609020204030204" pitchFamily="49" charset="0"/>
              </a:rPr>
              <a:t>- Dados de parcela, nunca médias. Valor fora do intervalo vira NA com registro; não "corrija" sem evidência.</a:t>
            </a:r>
          </a:p>
          <a:p>
            <a:r>
              <a:rPr lang="pt-BR" sz="1350">
                <a:solidFill>
                  <a:srgbClr val="F5F3ED"/>
                </a:solidFill>
                <a:latin typeface="Consolas" panose="020B0609020204030204" pitchFamily="49" charset="0"/>
              </a:rPr>
              <a:t>- Modelo conjunto: PROD ~ ambiente + (1|ambiente:bloco) + (1|genotipo) + (1|genotipo:ambiente).</a:t>
            </a:r>
          </a:p>
          <a:p>
            <a:r>
              <a:rPr lang="pt-BR" sz="1350">
                <a:solidFill>
                  <a:srgbClr val="F5F3ED"/>
                </a:solidFill>
                <a:latin typeface="Consolas" panose="020B0609020204030204" pitchFamily="49" charset="0"/>
              </a:rPr>
              <a:t>- h² de médias por ambiente: s2g / (s2g + s2e/r).</a:t>
            </a:r>
          </a:p>
          <a:p>
            <a:r>
              <a:rPr lang="pt-BR" sz="1350">
                <a:solidFill>
                  <a:srgbClr val="F5F3ED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pt-BR" sz="1350" b="1">
                <a:solidFill>
                  <a:srgbClr val="F9A620"/>
                </a:solidFill>
                <a:latin typeface="Consolas" panose="020B0609020204030204" pitchFamily="49" charset="0"/>
              </a:rPr>
              <a:t>## Forma de trabalho</a:t>
            </a:r>
          </a:p>
          <a:p>
            <a:r>
              <a:rPr lang="pt-BR" sz="1350">
                <a:solidFill>
                  <a:srgbClr val="F5F3ED"/>
                </a:solidFill>
                <a:latin typeface="Consolas" panose="020B0609020204030204" pitchFamily="49" charset="0"/>
              </a:rPr>
              <a:t>- Plano antes de código. Cada script com cabeçalho e teste em tests/. Rode com Rscript.</a:t>
            </a:r>
          </a:p>
          <a:p>
            <a:r>
              <a:rPr lang="pt-BR" sz="1350">
                <a:solidFill>
                  <a:srgbClr val="F5F3ED"/>
                </a:solidFill>
                <a:latin typeface="Consolas" panose="020B0609020204030204" pitchFamily="49" charset="0"/>
              </a:rPr>
              <a:t>- Ao fim de cada etapa, relatório em docs/etapas/ (skill /relatorio-etapa).</a:t>
            </a:r>
            <a:endParaRPr lang="en-US" sz="1350">
              <a:solidFill>
                <a:srgbClr val="F5F3ED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93D60672-3178-CBDB-7356-C33D232EF61B}"/>
              </a:ext>
            </a:extLst>
          </p:cNvPr>
          <p:cNvSpPr/>
          <p:nvPr/>
        </p:nvSpPr>
        <p:spPr>
          <a:xfrm>
            <a:off x="640080" y="1052576"/>
            <a:ext cx="76200" cy="33909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63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3.6  Arquivos de contexto: o que o agente precisa e quando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1212AD0E-A126-438F-EECA-3716579AE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303842"/>
              </p:ext>
            </p:extLst>
          </p:nvPr>
        </p:nvGraphicFramePr>
        <p:xfrm>
          <a:off x="640080" y="1053211"/>
          <a:ext cx="109093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363240804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48663197"/>
                    </a:ext>
                  </a:extLst>
                </a:gridCol>
                <a:gridCol w="4127500">
                  <a:extLst>
                    <a:ext uri="{9D8B030D-6E8A-4147-A177-3AD203B41FA5}">
                      <a16:colId xmlns:a16="http://schemas.microsoft.com/office/drawing/2014/main" val="39982604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Arquivo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Quando entra no contexto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Para quê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4209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CLAUDE.md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Sempre, no início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Regras que valem em toda sessão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58066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README.md, PLANO.md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Quando citado (@PLANO.md) ou lido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Pergunta, etapas e critérios de aceitação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73328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docs/dicionario_de_dados.csv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Quando a tarefa envolve os dados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Unidades, intervalos, padrão de IDs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34168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docs/decisoes.md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Antes de decidir algo de novo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Não refazer nem contradizer decisões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29656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docs/etapas/NN.md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No início da etapa seguinte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Passar o estado entre sessões sem depender da conversa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2129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Cabeçalhos dos scripts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Quando o script é lido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Entradas, saídas e premissas de cada etapa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9216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Skills (.claude/skills/)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Só a descrição sempre; o conteúdo quando usado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Procedimentos que só valem às vezes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964667"/>
                  </a:ext>
                </a:extLst>
              </a:tr>
            </a:tbl>
          </a:graphicData>
        </a:graphic>
      </p:graphicFrame>
      <p:sp>
        <p:nvSpPr>
          <p:cNvPr id="14" name="CodeBox">
            <a:extLst>
              <a:ext uri="{FF2B5EF4-FFF2-40B4-BE49-F238E27FC236}">
                <a16:creationId xmlns:a16="http://schemas.microsoft.com/office/drawing/2014/main" id="{1343074D-BD8B-8291-D3BC-8E58E9B93573}"/>
              </a:ext>
            </a:extLst>
          </p:cNvPr>
          <p:cNvSpPr/>
          <p:nvPr/>
        </p:nvSpPr>
        <p:spPr>
          <a:xfrm>
            <a:off x="640080" y="5152517"/>
            <a:ext cx="10909300" cy="50292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pt-BR" sz="1300">
                <a:solidFill>
                  <a:srgbClr val="F5F3ED"/>
                </a:solidFill>
                <a:latin typeface="Consolas" panose="020B0609020204030204" pitchFamily="49" charset="0"/>
              </a:rPr>
              <a:t>O CLAUDE.md diz como trabalhar; os demais arquivos dizem o que existe. A conversa é descartável; os arquivos ficam.</a:t>
            </a:r>
            <a:endParaRPr lang="en-US" sz="1300">
              <a:solidFill>
                <a:srgbClr val="F5F3ED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CodeBoxAccent">
            <a:extLst>
              <a:ext uri="{FF2B5EF4-FFF2-40B4-BE49-F238E27FC236}">
                <a16:creationId xmlns:a16="http://schemas.microsoft.com/office/drawing/2014/main" id="{1F298121-A1B0-8B4E-F673-42670DD819DB}"/>
              </a:ext>
            </a:extLst>
          </p:cNvPr>
          <p:cNvSpPr/>
          <p:nvPr/>
        </p:nvSpPr>
        <p:spPr>
          <a:xfrm>
            <a:off x="640080" y="5152517"/>
            <a:ext cx="76200" cy="50292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92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3.7  Por que contexto escrito vale mais que um prompt longo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4EE104F5-47CE-04FB-B851-E06D5B52B1B1}"/>
              </a:ext>
            </a:extLst>
          </p:cNvPr>
          <p:cNvSpPr txBox="1"/>
          <p:nvPr/>
        </p:nvSpPr>
        <p:spPr>
          <a:xfrm>
            <a:off x="640080" y="1053210"/>
            <a:ext cx="10909300" cy="178308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prompt vale para uma conversa; o arquivo vale para todas as sessões, para todos os colegas e para você daqui a seis meses.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Um arquivo é revisável e versionado: se o agente errou por falta de contexto, a correção fica registrada.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Prompt com contexto mínimo e arquivos certos: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4" name="CodeBox">
            <a:extLst>
              <a:ext uri="{FF2B5EF4-FFF2-40B4-BE49-F238E27FC236}">
                <a16:creationId xmlns:a16="http://schemas.microsoft.com/office/drawing/2014/main" id="{5F8421F3-6FE5-3774-131A-34508457DEFD}"/>
              </a:ext>
            </a:extLst>
          </p:cNvPr>
          <p:cNvSpPr/>
          <p:nvPr/>
        </p:nvSpPr>
        <p:spPr>
          <a:xfrm>
            <a:off x="640080" y="2988690"/>
            <a:ext cx="10909300" cy="5334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@PLANO.md Etapa 02. Siga o CLAUDE.md e o dicionário. Plano primeiro.</a:t>
            </a:r>
            <a:endParaRPr lang="en-US" sz="1500">
              <a:solidFill>
                <a:srgbClr val="F5F3ED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CodeBoxAccent">
            <a:extLst>
              <a:ext uri="{FF2B5EF4-FFF2-40B4-BE49-F238E27FC236}">
                <a16:creationId xmlns:a16="http://schemas.microsoft.com/office/drawing/2014/main" id="{9ED44E79-456B-9462-BDF6-2246BD53E8B0}"/>
              </a:ext>
            </a:extLst>
          </p:cNvPr>
          <p:cNvSpPr/>
          <p:nvPr/>
        </p:nvSpPr>
        <p:spPr>
          <a:xfrm>
            <a:off x="640080" y="2988690"/>
            <a:ext cx="76200" cy="5334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itText">
            <a:extLst>
              <a:ext uri="{FF2B5EF4-FFF2-40B4-BE49-F238E27FC236}">
                <a16:creationId xmlns:a16="http://schemas.microsoft.com/office/drawing/2014/main" id="{1B917762-85EC-7FF5-EC9B-0588B008E2D6}"/>
              </a:ext>
            </a:extLst>
          </p:cNvPr>
          <p:cNvSpPr txBox="1"/>
          <p:nvPr/>
        </p:nvSpPr>
        <p:spPr>
          <a:xfrm>
            <a:off x="640080" y="3674489"/>
            <a:ext cx="10909300" cy="6370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Prompt longo, sem arquivos: o agente decide sozinho unidade, intervalos, modelo e onde gravar, e cada sessão decide diferente.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046306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3.8  Primeira sessão: só leitura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938664DD-D8E3-1A8A-5A1F-C7AFE8CF8BF4}"/>
              </a:ext>
            </a:extLst>
          </p:cNvPr>
          <p:cNvSpPr txBox="1"/>
          <p:nvPr/>
        </p:nvSpPr>
        <p:spPr>
          <a:xfrm>
            <a:off x="640080" y="1053210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No modo Plan ou Manual:</a:t>
            </a:r>
            <a:endParaRPr lang="en-US" sz="2000" b="1">
              <a:solidFill>
                <a:srgbClr val="4A7C59"/>
              </a:solidFill>
              <a:latin typeface="DejaVu Sans"/>
            </a:endParaRPr>
          </a:p>
        </p:txBody>
      </p:sp>
      <p:sp>
        <p:nvSpPr>
          <p:cNvPr id="14" name="CodeBox">
            <a:extLst>
              <a:ext uri="{FF2B5EF4-FFF2-40B4-BE49-F238E27FC236}">
                <a16:creationId xmlns:a16="http://schemas.microsoft.com/office/drawing/2014/main" id="{AD9AB91C-71AB-8EB0-C402-29321B07EA90}"/>
              </a:ext>
            </a:extLst>
          </p:cNvPr>
          <p:cNvSpPr/>
          <p:nvPr/>
        </p:nvSpPr>
        <p:spPr>
          <a:xfrm>
            <a:off x="640080" y="1562226"/>
            <a:ext cx="10909300" cy="9906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Leia CLAUDE.md, README.md, data/bruto/LEIA-ME.md e docs/dicionario_de_dados.csv.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Em até 10 linhas: o que você entendeu sobre os dados, o que é proibido fazer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e o que ainda está ambíguo. Não altere nenhum arquivo.</a:t>
            </a:r>
            <a:endParaRPr lang="en-US" sz="1500">
              <a:solidFill>
                <a:srgbClr val="F5F3ED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CodeBoxAccent">
            <a:extLst>
              <a:ext uri="{FF2B5EF4-FFF2-40B4-BE49-F238E27FC236}">
                <a16:creationId xmlns:a16="http://schemas.microsoft.com/office/drawing/2014/main" id="{13B7A3BE-FD40-3B22-BD82-8253B59B2A79}"/>
              </a:ext>
            </a:extLst>
          </p:cNvPr>
          <p:cNvSpPr/>
          <p:nvPr/>
        </p:nvSpPr>
        <p:spPr>
          <a:xfrm>
            <a:off x="640080" y="1562226"/>
            <a:ext cx="76200" cy="9906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itText">
            <a:extLst>
              <a:ext uri="{FF2B5EF4-FFF2-40B4-BE49-F238E27FC236}">
                <a16:creationId xmlns:a16="http://schemas.microsoft.com/office/drawing/2014/main" id="{61077919-06C9-0491-A46C-75FA80923F90}"/>
              </a:ext>
            </a:extLst>
          </p:cNvPr>
          <p:cNvSpPr txBox="1"/>
          <p:nvPr/>
        </p:nvSpPr>
        <p:spPr>
          <a:xfrm>
            <a:off x="640080" y="2705226"/>
            <a:ext cx="10909300" cy="10698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Se a resposta errar a unidade, o delineamento ou a proibição do bruto, o problema está no contexto, não no agente.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que ficou ambíguo vai para o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CLAUDE.md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ou para o dicionário. Commit.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700802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Planejar antes de analisar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4 · 25 min · SEÇÃO 2 · BLOCO 4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99600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4.1  Explorar, planejar, executar, registrar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4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39" name="ProcessBox0">
            <a:extLst>
              <a:ext uri="{FF2B5EF4-FFF2-40B4-BE49-F238E27FC236}">
                <a16:creationId xmlns:a16="http://schemas.microsoft.com/office/drawing/2014/main" id="{664A04EC-00DE-5628-8A24-3B58B052704A}"/>
              </a:ext>
            </a:extLst>
          </p:cNvPr>
          <p:cNvSpPr/>
          <p:nvPr/>
        </p:nvSpPr>
        <p:spPr>
          <a:xfrm>
            <a:off x="381000" y="1053211"/>
            <a:ext cx="2164080" cy="977837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FFFFFF"/>
                </a:solidFill>
                <a:latin typeface="DejaVu Sans"/>
              </a:rPr>
              <a:t>Explorar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FFFFFF"/>
                </a:solidFill>
                <a:latin typeface="DejaVu Sans"/>
              </a:rPr>
              <a:t>modo Plan: ler, perguntar</a:t>
            </a:r>
            <a:endParaRPr lang="en-US" sz="1600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0" name="ProcessBox1">
            <a:extLst>
              <a:ext uri="{FF2B5EF4-FFF2-40B4-BE49-F238E27FC236}">
                <a16:creationId xmlns:a16="http://schemas.microsoft.com/office/drawing/2014/main" id="{1CB521D8-AE91-169B-4433-07A423E0F86C}"/>
              </a:ext>
            </a:extLst>
          </p:cNvPr>
          <p:cNvSpPr/>
          <p:nvPr/>
        </p:nvSpPr>
        <p:spPr>
          <a:xfrm>
            <a:off x="2697480" y="1053211"/>
            <a:ext cx="2164080" cy="977837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2E3A2F"/>
                </a:solidFill>
                <a:latin typeface="DejaVu Sans"/>
              </a:rPr>
              <a:t>Planejar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2E3A2F"/>
                </a:solidFill>
                <a:latin typeface="DejaVu Sans"/>
              </a:rPr>
              <a:t>plano escrito, revisado por você</a:t>
            </a:r>
            <a:endParaRPr lang="en-US" sz="16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41" name="ProcessBox2">
            <a:extLst>
              <a:ext uri="{FF2B5EF4-FFF2-40B4-BE49-F238E27FC236}">
                <a16:creationId xmlns:a16="http://schemas.microsoft.com/office/drawing/2014/main" id="{C7F77C3F-28A0-7A2D-0AAC-94A046F2955D}"/>
              </a:ext>
            </a:extLst>
          </p:cNvPr>
          <p:cNvSpPr/>
          <p:nvPr/>
        </p:nvSpPr>
        <p:spPr>
          <a:xfrm>
            <a:off x="5013960" y="1053212"/>
            <a:ext cx="2164079" cy="977837"/>
          </a:xfrm>
          <a:prstGeom prst="roundRect">
            <a:avLst>
              <a:gd name="adj" fmla="val 8000"/>
            </a:avLst>
          </a:prstGeom>
          <a:solidFill>
            <a:srgbClr val="F9A62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2E3A2F"/>
                </a:solidFill>
                <a:latin typeface="DejaVu Sans"/>
              </a:rPr>
              <a:t>Executar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2E3A2F"/>
                </a:solidFill>
                <a:latin typeface="DejaVu Sans"/>
              </a:rPr>
              <a:t>uma etapa por vez</a:t>
            </a:r>
            <a:endParaRPr lang="en-US" sz="16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42" name="ProcessBox3">
            <a:extLst>
              <a:ext uri="{FF2B5EF4-FFF2-40B4-BE49-F238E27FC236}">
                <a16:creationId xmlns:a16="http://schemas.microsoft.com/office/drawing/2014/main" id="{8E4B5D1B-9FCF-E2A0-0EC0-BED1AEB0311F}"/>
              </a:ext>
            </a:extLst>
          </p:cNvPr>
          <p:cNvSpPr/>
          <p:nvPr/>
        </p:nvSpPr>
        <p:spPr>
          <a:xfrm>
            <a:off x="7330440" y="1053212"/>
            <a:ext cx="2164080" cy="977837"/>
          </a:xfrm>
          <a:prstGeom prst="roundRect">
            <a:avLst>
              <a:gd name="adj" fmla="val 8000"/>
            </a:avLst>
          </a:prstGeom>
          <a:solidFill>
            <a:srgbClr val="B7472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600" b="1">
                <a:solidFill>
                  <a:srgbClr val="FFFFFF"/>
                </a:solidFill>
                <a:latin typeface="DejaVu Sans"/>
              </a:rPr>
              <a:t>Verificar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600">
                <a:solidFill>
                  <a:srgbClr val="FFFFFF"/>
                </a:solidFill>
                <a:latin typeface="DejaVu Sans"/>
              </a:rPr>
              <a:t>teste e evidência</a:t>
            </a:r>
          </a:p>
        </p:txBody>
      </p:sp>
      <p:sp>
        <p:nvSpPr>
          <p:cNvPr id="43" name="ProcessBox4">
            <a:extLst>
              <a:ext uri="{FF2B5EF4-FFF2-40B4-BE49-F238E27FC236}">
                <a16:creationId xmlns:a16="http://schemas.microsoft.com/office/drawing/2014/main" id="{7DCEEE89-0F25-1185-8C56-E78E2D39BAC0}"/>
              </a:ext>
            </a:extLst>
          </p:cNvPr>
          <p:cNvSpPr/>
          <p:nvPr/>
        </p:nvSpPr>
        <p:spPr>
          <a:xfrm>
            <a:off x="9646920" y="1053211"/>
            <a:ext cx="2164080" cy="977837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FFFFFF"/>
                </a:solidFill>
                <a:latin typeface="DejaVu Sans"/>
              </a:rPr>
              <a:t>Registrar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FFFFFF"/>
                </a:solidFill>
                <a:latin typeface="DejaVu Sans"/>
              </a:rPr>
              <a:t>relatório da etapa e commit</a:t>
            </a:r>
            <a:endParaRPr lang="en-US" sz="1600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4" name="ProcessArrow0">
            <a:extLst>
              <a:ext uri="{FF2B5EF4-FFF2-40B4-BE49-F238E27FC236}">
                <a16:creationId xmlns:a16="http://schemas.microsoft.com/office/drawing/2014/main" id="{AE8529F8-33EC-D888-2C9B-8CDCE17A09B1}"/>
              </a:ext>
            </a:extLst>
          </p:cNvPr>
          <p:cNvSpPr/>
          <p:nvPr/>
        </p:nvSpPr>
        <p:spPr>
          <a:xfrm>
            <a:off x="2583180" y="1453230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ProcessArrow1">
            <a:extLst>
              <a:ext uri="{FF2B5EF4-FFF2-40B4-BE49-F238E27FC236}">
                <a16:creationId xmlns:a16="http://schemas.microsoft.com/office/drawing/2014/main" id="{89E87355-FADB-EAEC-889B-354F8F597E63}"/>
              </a:ext>
            </a:extLst>
          </p:cNvPr>
          <p:cNvSpPr/>
          <p:nvPr/>
        </p:nvSpPr>
        <p:spPr>
          <a:xfrm>
            <a:off x="4899660" y="1453230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rocessArrow2">
            <a:extLst>
              <a:ext uri="{FF2B5EF4-FFF2-40B4-BE49-F238E27FC236}">
                <a16:creationId xmlns:a16="http://schemas.microsoft.com/office/drawing/2014/main" id="{8DDD159C-8723-B8FA-9A50-7C1D5A382B44}"/>
              </a:ext>
            </a:extLst>
          </p:cNvPr>
          <p:cNvSpPr/>
          <p:nvPr/>
        </p:nvSpPr>
        <p:spPr>
          <a:xfrm>
            <a:off x="7216140" y="1453230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rocessArrow3">
            <a:extLst>
              <a:ext uri="{FF2B5EF4-FFF2-40B4-BE49-F238E27FC236}">
                <a16:creationId xmlns:a16="http://schemas.microsoft.com/office/drawing/2014/main" id="{29B65B72-1339-A019-A6E8-EA4130D30374}"/>
              </a:ext>
            </a:extLst>
          </p:cNvPr>
          <p:cNvSpPr/>
          <p:nvPr/>
        </p:nvSpPr>
        <p:spPr>
          <a:xfrm>
            <a:off x="9532620" y="1453230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itText">
            <a:extLst>
              <a:ext uri="{FF2B5EF4-FFF2-40B4-BE49-F238E27FC236}">
                <a16:creationId xmlns:a16="http://schemas.microsoft.com/office/drawing/2014/main" id="{8EDA825F-BCD6-1453-3362-E626B9EAA4E7}"/>
              </a:ext>
            </a:extLst>
          </p:cNvPr>
          <p:cNvSpPr txBox="1"/>
          <p:nvPr/>
        </p:nvSpPr>
        <p:spPr>
          <a:xfrm>
            <a:off x="640080" y="2234248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plano separa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o que fazer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de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como fazer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é muito mais barato corrigir um plano do que um código.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Pule o plano só quando a mudança cabe em uma frase (renomear uma variável, corrigir um rótulo).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7323787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4.2  Modo de planejamento ⚙️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4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42890CFA-06E4-0A3D-1E53-4193D6A462DE}"/>
              </a:ext>
            </a:extLst>
          </p:cNvPr>
          <p:cNvSpPr txBox="1"/>
          <p:nvPr/>
        </p:nvSpPr>
        <p:spPr>
          <a:xfrm>
            <a:off x="640080" y="1049973"/>
            <a:ext cx="10909300" cy="29291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VS Code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indicador de modo →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Plan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ou digite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/plan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seguido da tarefa.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Terminal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Shift+Tab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até aparecer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plan mode on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ou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claude --permission-mode plan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No modo Plan o agente lê, pesquisa e pergunta, mas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não edita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No VS Code, o plano abre como documento Markdown: você pode comentar trechos antes de aprovar. No terminal,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Ctrl+G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abre o plano no editor.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Aprovar o plano libera a execução; rejeitar com comentários gera uma nova versão.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3941531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4.3  Pedir um plano bom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4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4CA24D8F-660E-E222-C4C7-E29ACFCABD1B}"/>
              </a:ext>
            </a:extLst>
          </p:cNvPr>
          <p:cNvSpPr/>
          <p:nvPr/>
        </p:nvSpPr>
        <p:spPr>
          <a:xfrm>
            <a:off x="640080" y="1053211"/>
            <a:ext cx="10909300" cy="12192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/plan @PLANO.md Etapas 01 a 03 (importar, QC, curar).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Siga o CLAUDE.md e docs/dicionario_de_dados.csv. Para cada etapa diga: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arquivos lidos e gravados; regras de QC; o que vira NA e o que é corrigido;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como vamos testar (incluindo um teste com erros injetados); e o que está ambíguo.</a:t>
            </a:r>
            <a:endParaRPr lang="en-US" sz="1500">
              <a:solidFill>
                <a:srgbClr val="F5F3ED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F623D896-A7EF-D810-5183-11C81E459A82}"/>
              </a:ext>
            </a:extLst>
          </p:cNvPr>
          <p:cNvSpPr/>
          <p:nvPr/>
        </p:nvSpPr>
        <p:spPr>
          <a:xfrm>
            <a:off x="640080" y="1053211"/>
            <a:ext cx="76200" cy="12192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513E5C81-67D8-281F-CEAA-6C30921E501C}"/>
              </a:ext>
            </a:extLst>
          </p:cNvPr>
          <p:cNvSpPr txBox="1"/>
          <p:nvPr/>
        </p:nvSpPr>
        <p:spPr>
          <a:xfrm>
            <a:off x="640080" y="2424811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Peça explicitamente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como verificar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o que está em aberto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Para análises novas e mal definidas: peça que o agente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entreviste você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antes de escrever o plano ("faça perguntas até cobrir modelo, dados, casos especiais e critérios; depois escreva o plano").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911122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4.4  Como avaliar se o plano está bom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4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77AF3EF4-4FE0-9987-ADED-B815394A5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665999"/>
              </p:ext>
            </p:extLst>
          </p:nvPr>
        </p:nvGraphicFramePr>
        <p:xfrm>
          <a:off x="640080" y="1053211"/>
          <a:ext cx="109093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000">
                  <a:extLst>
                    <a:ext uri="{9D8B030D-6E8A-4147-A177-3AD203B41FA5}">
                      <a16:colId xmlns:a16="http://schemas.microsoft.com/office/drawing/2014/main" val="387703178"/>
                    </a:ext>
                  </a:extLst>
                </a:gridCol>
                <a:gridCol w="5067300">
                  <a:extLst>
                    <a:ext uri="{9D8B030D-6E8A-4147-A177-3AD203B41FA5}">
                      <a16:colId xmlns:a16="http://schemas.microsoft.com/office/drawing/2014/main" val="285362559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Pergunta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Sinal de plano fraco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17026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Responde à pergunta do README e diz o que fica fora?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Escopo aberto, "e outras análises"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2203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Nomeia arquivos lidos e gravados?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"Vou processar os dados"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6443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Explicita as decisões científicas?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"Vou ajustar o modelo adequado"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829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Bate com CLAUDE.md, dicionário e decisões?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Contradiz uma regra escrita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3998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Diz como saber que está certo antes de rodar?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Nenhum teste, nenhum número esperado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91959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Passos pequenos e verificáveis?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Uma etapa que faz tudo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615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Lista premissas e perguntas em aberto?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Decide em silêncio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8777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Usa funções que existem e parâmetros do YAML?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Pacote inventado, número fixo no código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08500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29F4A291-0B92-3A57-1C12-A43E7FF0B63B}"/>
              </a:ext>
            </a:extLst>
          </p:cNvPr>
          <p:cNvSpPr txBox="1"/>
          <p:nvPr/>
        </p:nvSpPr>
        <p:spPr>
          <a:xfrm>
            <a:off x="640080" y="4275200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Checklist completo: exemplos/docs/checklist_plano.md.</a:t>
            </a:r>
          </a:p>
        </p:txBody>
      </p:sp>
    </p:spTree>
    <p:extLst>
      <p:ext uri="{BB962C8B-B14F-4D97-AF65-F5344CB8AC3E}">
        <p14:creationId xmlns:p14="http://schemas.microsoft.com/office/powerpoint/2010/main" val="142699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4.5  Exemplo: corrigir um plano antes de aprovar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4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20" name="FitText">
            <a:extLst>
              <a:ext uri="{FF2B5EF4-FFF2-40B4-BE49-F238E27FC236}">
                <a16:creationId xmlns:a16="http://schemas.microsoft.com/office/drawing/2014/main" id="{703114ED-8153-FB6A-935C-C396A4FF5DB2}"/>
              </a:ext>
            </a:extLst>
          </p:cNvPr>
          <p:cNvSpPr txBox="1"/>
          <p:nvPr/>
        </p:nvSpPr>
        <p:spPr>
          <a:xfrm>
            <a:off x="640080" y="1053211"/>
            <a:ext cx="5308600" cy="3425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1900" b="1">
                <a:solidFill>
                  <a:srgbClr val="4A7C59"/>
                </a:solidFill>
                <a:latin typeface="DejaVu Sans"/>
              </a:rPr>
              <a:t>Trecho do plano proposto:</a:t>
            </a:r>
          </a:p>
        </p:txBody>
      </p:sp>
      <p:sp>
        <p:nvSpPr>
          <p:cNvPr id="21" name="FitCallout">
            <a:extLst>
              <a:ext uri="{FF2B5EF4-FFF2-40B4-BE49-F238E27FC236}">
                <a16:creationId xmlns:a16="http://schemas.microsoft.com/office/drawing/2014/main" id="{151AF5C9-4173-CA1E-D334-476882D3D581}"/>
              </a:ext>
            </a:extLst>
          </p:cNvPr>
          <p:cNvSpPr/>
          <p:nvPr/>
        </p:nvSpPr>
        <p:spPr>
          <a:xfrm>
            <a:off x="640080" y="1548194"/>
            <a:ext cx="5308600" cy="1053148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</a:pPr>
            <a:r>
              <a:rPr lang="pt-BR" sz="1900" b="1">
                <a:solidFill>
                  <a:srgbClr val="2E3A2F"/>
                </a:solidFill>
                <a:latin typeface="DejaVu Sans"/>
              </a:rPr>
              <a:t>"Remover outliers acima de 3 desvios-padrão e converter valores abaixo de 100 de t/ha para kg/ha."</a:t>
            </a:r>
            <a:endParaRPr lang="en-US" sz="1900" b="1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22" name="FitCalloutBar">
            <a:extLst>
              <a:ext uri="{FF2B5EF4-FFF2-40B4-BE49-F238E27FC236}">
                <a16:creationId xmlns:a16="http://schemas.microsoft.com/office/drawing/2014/main" id="{0D7A83AE-65EF-033D-08BE-D448B2F3E2DF}"/>
              </a:ext>
            </a:extLst>
          </p:cNvPr>
          <p:cNvSpPr/>
          <p:nvPr/>
        </p:nvSpPr>
        <p:spPr>
          <a:xfrm>
            <a:off x="640080" y="1548194"/>
            <a:ext cx="63500" cy="1053148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itText">
            <a:extLst>
              <a:ext uri="{FF2B5EF4-FFF2-40B4-BE49-F238E27FC236}">
                <a16:creationId xmlns:a16="http://schemas.microsoft.com/office/drawing/2014/main" id="{5CD36487-CCF1-A6AC-EC94-8BCBEFA44894}"/>
              </a:ext>
            </a:extLst>
          </p:cNvPr>
          <p:cNvSpPr txBox="1"/>
          <p:nvPr/>
        </p:nvSpPr>
        <p:spPr>
          <a:xfrm>
            <a:off x="6240780" y="1053211"/>
            <a:ext cx="5308600" cy="3425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1900" b="1">
                <a:solidFill>
                  <a:srgbClr val="4A7C59"/>
                </a:solidFill>
                <a:latin typeface="DejaVu Sans"/>
              </a:rPr>
              <a:t>Comentário do pesquisador:</a:t>
            </a:r>
          </a:p>
        </p:txBody>
      </p:sp>
      <p:sp>
        <p:nvSpPr>
          <p:cNvPr id="24" name="FitText">
            <a:extLst>
              <a:ext uri="{FF2B5EF4-FFF2-40B4-BE49-F238E27FC236}">
                <a16:creationId xmlns:a16="http://schemas.microsoft.com/office/drawing/2014/main" id="{B1D2D1BD-28D4-9669-E945-599AB89862C9}"/>
              </a:ext>
            </a:extLst>
          </p:cNvPr>
          <p:cNvSpPr txBox="1"/>
          <p:nvPr/>
        </p:nvSpPr>
        <p:spPr>
          <a:xfrm>
            <a:off x="6240780" y="1548194"/>
            <a:ext cx="5308600" cy="25120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/>
              </a:rPr>
              <a:t>Outlier estatístico não é erro (Seção 1): sinalize, não remova.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/>
              </a:rPr>
              <a:t>9,01 "em t/ha" vira 9.010, mas o valor verdadeiro era 9.012,1: a conversão é um palpite. Regra do </a:t>
            </a:r>
            <a:r>
              <a:rPr lang="pt-BR" sz="1900" b="1">
                <a:solidFill>
                  <a:srgbClr val="B7472A"/>
                </a:solidFill>
                <a:latin typeface="Consolas" panose="020B0609020204030204" pitchFamily="49" charset="0"/>
              </a:rPr>
              <a:t>CLAUDE.md</a:t>
            </a:r>
            <a:r>
              <a:rPr lang="pt-BR" sz="1900">
                <a:solidFill>
                  <a:srgbClr val="2E3A2F"/>
                </a:solidFill>
                <a:latin typeface="DejaVu Sans"/>
              </a:rPr>
              <a:t>: valor fora do intervalo vira NA, com registro.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/>
              </a:rPr>
              <a:t>Antes de aprovar: o plano diz quantos casos espera encontrar?</a:t>
            </a:r>
            <a:endParaRPr lang="en-US" sz="19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25" name="FitCallout">
            <a:extLst>
              <a:ext uri="{FF2B5EF4-FFF2-40B4-BE49-F238E27FC236}">
                <a16:creationId xmlns:a16="http://schemas.microsoft.com/office/drawing/2014/main" id="{C8799960-64D4-2ED8-C22E-F42A38E052F7}"/>
              </a:ext>
            </a:extLst>
          </p:cNvPr>
          <p:cNvSpPr/>
          <p:nvPr/>
        </p:nvSpPr>
        <p:spPr>
          <a:xfrm>
            <a:off x="6240780" y="4212654"/>
            <a:ext cx="5308600" cy="1319530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</a:pPr>
            <a:r>
              <a:rPr lang="pt-BR" sz="1900" b="1">
                <a:solidFill>
                  <a:srgbClr val="2E3A2F"/>
                </a:solidFill>
                <a:latin typeface="DejaVu Sans"/>
              </a:rPr>
              <a:t>Revisar o plano é onde o conhecimento de melhoramento entra. O agente não sabe o que o seu programa considera erro.</a:t>
            </a:r>
            <a:endParaRPr lang="en-US" sz="1900" b="1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26" name="FitCalloutBar">
            <a:extLst>
              <a:ext uri="{FF2B5EF4-FFF2-40B4-BE49-F238E27FC236}">
                <a16:creationId xmlns:a16="http://schemas.microsoft.com/office/drawing/2014/main" id="{3B928591-B460-068E-F405-94CC2E6C0FAC}"/>
              </a:ext>
            </a:extLst>
          </p:cNvPr>
          <p:cNvSpPr/>
          <p:nvPr/>
        </p:nvSpPr>
        <p:spPr>
          <a:xfrm>
            <a:off x="6240780" y="4212654"/>
            <a:ext cx="63500" cy="1319530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84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Executar e verificar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5 · 35 min · SEÇÃO 2 · BLOCO 5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63771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5.1  Executar uma etapa por vez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1E788894-D97D-D3CC-DC85-11509FB169EA}"/>
              </a:ext>
            </a:extLst>
          </p:cNvPr>
          <p:cNvSpPr txBox="1"/>
          <p:nvPr/>
        </p:nvSpPr>
        <p:spPr>
          <a:xfrm>
            <a:off x="640080" y="1053211"/>
            <a:ext cx="10909300" cy="27767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Aprovado o plano, peça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uma etapa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"Execute a Etapa 01 do plano. Rode o teste e mostre a saída."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No modo Manual, cada edição aparece como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diff lado a lado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aceite, rejeite ou edite antes de aceitar.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Quando o agente sair do rumo: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Esc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interrompe e permite redirecionar; não espere ele terminar.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Corrigiu duas vezes e o erro persiste?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/clear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 um prompt melhor, que já inclua o que você aprendeu.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9380229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5.2  Git e checkpoints: como desfazer ⚙️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6B542780-66A4-0A21-3B77-40186372C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680303"/>
              </p:ext>
            </p:extLst>
          </p:nvPr>
        </p:nvGraphicFramePr>
        <p:xfrm>
          <a:off x="640080" y="1049973"/>
          <a:ext cx="109093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19139664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392491529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3197867106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Ferramenta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Desfaz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Limite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30465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Rewind (botão ao passar o mouse sobre uma mensagem; Esc Esc ou /rewind no terminal)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Código e/ou conversa até aquele ponto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Só edições feitas pelas ferramentas do agente; não desfaz o que um script gravou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72789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Git (git diff, git restore, git revert)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Qualquer mudança em arquivos versionados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Precisa de commits frequentes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3600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26EBE7E6-B8EC-DF6E-0F70-3A033402E6B9}"/>
              </a:ext>
            </a:extLst>
          </p:cNvPr>
          <p:cNvSpPr txBox="1"/>
          <p:nvPr/>
        </p:nvSpPr>
        <p:spPr>
          <a:xfrm>
            <a:off x="640080" y="2861247"/>
            <a:ext cx="10909300" cy="10698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Commit ao fim de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cada etapa verificada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o histórico vira o caderno de laboratório da análise.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"Desfaça o que você fez" também funciona, mas o Git é a garantia.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2001897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5.3  A pergunta central: o agente fez o que foi pedido?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451CE719-161F-77F7-D1B4-6152E8668067}"/>
              </a:ext>
            </a:extLst>
          </p:cNvPr>
          <p:cNvSpPr txBox="1"/>
          <p:nvPr/>
        </p:nvSpPr>
        <p:spPr>
          <a:xfrm>
            <a:off x="640080" y="1053211"/>
            <a:ext cx="10909300" cy="32339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agente diz "pronto" quando o código roda.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Rodar não é estar certo.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No exemplo: sem QC, o script roda sem erro e entrega h² = 0,02 em PGO e SLG.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Peça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evidência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não afirmação: o comando executado, a saída, o teste que passou.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Verifique contra algo que você sabe: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erros injetados que o QC tem de achar;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contagens que você confere de forma independente;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um caso calculado à mão ou um dado simulado com resposta conhecida.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7784221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5.4  Checklist de verificação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AFB56DC5-9C53-E94B-8070-AB6E01A85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279837"/>
              </p:ext>
            </p:extLst>
          </p:nvPr>
        </p:nvGraphicFramePr>
        <p:xfrm>
          <a:off x="640080" y="1053211"/>
          <a:ext cx="109093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2200">
                  <a:extLst>
                    <a:ext uri="{9D8B030D-6E8A-4147-A177-3AD203B41FA5}">
                      <a16:colId xmlns:a16="http://schemas.microsoft.com/office/drawing/2014/main" val="2281133629"/>
                    </a:ext>
                  </a:extLst>
                </a:gridCol>
                <a:gridCol w="6007100">
                  <a:extLst>
                    <a:ext uri="{9D8B030D-6E8A-4147-A177-3AD203B41FA5}">
                      <a16:colId xmlns:a16="http://schemas.microsoft.com/office/drawing/2014/main" val="837120486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Verificação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Como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984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 que mudou? Algo além do pedido?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git status, git diff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0311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 plano foi cumprido item a item?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Releia a etapa no PLANO.md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7358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Há evidência?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Comando + saída do teste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99122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 teste tem resposta conhecida?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Erros injetados, dado simulado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975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Os números-chave batem?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Conferência independente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5461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É geneticamente plausível?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 ≤ h² ≤ 1, CV do caráter, variâncias positivas, unidades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2780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Roda do zero?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Apague o que é gerado e rode na ordem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26876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Você explica cada linha e cada número?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Se não, não está pronto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051573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A82EAD23-FDED-66B3-3121-CFB37587EBF7}"/>
              </a:ext>
            </a:extLst>
          </p:cNvPr>
          <p:cNvSpPr txBox="1"/>
          <p:nvPr/>
        </p:nvSpPr>
        <p:spPr>
          <a:xfrm>
            <a:off x="640080" y="4275200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exemplos/docs/checklist_verificacao.md.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210780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5.5  Resultado de referência das etapas 01 a 03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020450EC-5904-695C-0D61-F893125E6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927927"/>
              </p:ext>
            </p:extLst>
          </p:nvPr>
        </p:nvGraphicFramePr>
        <p:xfrm>
          <a:off x="640080" y="1053211"/>
          <a:ext cx="109093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8100">
                  <a:extLst>
                    <a:ext uri="{9D8B030D-6E8A-4147-A177-3AD203B41FA5}">
                      <a16:colId xmlns:a16="http://schemas.microsoft.com/office/drawing/2014/main" val="1284544013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710080182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98556616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Verificação do QC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Casos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Tratamento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5523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ID fora do padrão (dh25_0266, DH25-0287, DH25 0138, DH25_0279…)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5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Normalizar (maiúsculas, sem espaços, _) e registrar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1816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Duplicata por posição (ensaio, linha, coluna)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Manter uma ocorrência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3314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Fora do intervalo 2.000–20.000 kg/ha (104.613; 92.241; 86.200; 9,01; 8,87…)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7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NA com registro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65553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Total encontrado / injetado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14 / 14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968131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82160036-FB03-31EC-B2A2-8A45B4B1C52B}"/>
              </a:ext>
            </a:extLst>
          </p:cNvPr>
          <p:cNvSpPr txBox="1"/>
          <p:nvPr/>
        </p:nvSpPr>
        <p:spPr>
          <a:xfrm>
            <a:off x="640080" y="3255264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Depois da curadoria: 2.424 parcelas, 7 valores ausentes, 404 genótipos, todos os IDs no padrão.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número de genótipos é uma verificação barata: sem normalizar, o modelo vê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409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"genótipos".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2827202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5.6  Resultado de referência da Etapa 04 (análise individual)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35674AD5-4BB2-7A32-0AAB-332FBC649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177593"/>
              </p:ext>
            </p:extLst>
          </p:nvPr>
        </p:nvGraphicFramePr>
        <p:xfrm>
          <a:off x="640080" y="1053211"/>
          <a:ext cx="109093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159533810"/>
                    </a:ext>
                  </a:extLst>
                </a:gridCol>
                <a:gridCol w="2146300">
                  <a:extLst>
                    <a:ext uri="{9D8B030D-6E8A-4147-A177-3AD203B41FA5}">
                      <a16:colId xmlns:a16="http://schemas.microsoft.com/office/drawing/2014/main" val="10561667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168998287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37718961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84673602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7057266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Ambiente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Média (kg/ha)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CV (%)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h² de médias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CV sem QC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h² sem QC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2506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PGO 2025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10.381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4,9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0,46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31,9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0,02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9231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SLG 2025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9.205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5,4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0,51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43,4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0,01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4861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UDI 2025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12.152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5,2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0,42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5,2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0,43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289248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46158F15-E602-F63B-2718-4505993B7998}"/>
              </a:ext>
            </a:extLst>
          </p:cNvPr>
          <p:cNvSpPr txBox="1"/>
          <p:nvPr/>
        </p:nvSpPr>
        <p:spPr>
          <a:xfrm>
            <a:off x="640080" y="2463927"/>
            <a:ext cx="10909300" cy="12222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Modelo por ambiente: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PROD ~ bloco + (1|genotipo)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; h² = s2g / (s2g + s2e/2).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UDI não tinha valor fora do intervalo: por isso quase não muda.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Uma única parcela de 104.613 kg/ha destrói a herdabilidade do ensaio inteiro.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5209383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4400" b="1" i="0">
                <a:solidFill>
                  <a:srgbClr val="FFFFFF"/>
                </a:solidFill>
                <a:latin typeface="DejaVu Serif"/>
              </a:rPr>
              <a:t>Gerenciar o contexto das sessões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6 · 15 min · SEÇÃO 2 · BLOCO 6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162573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6.1  A janela de contexto é o recurso mais escasso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6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C74E7E86-8609-FF82-7639-E490B08D23B9}"/>
              </a:ext>
            </a:extLst>
          </p:cNvPr>
          <p:cNvSpPr txBox="1"/>
          <p:nvPr/>
        </p:nvSpPr>
        <p:spPr>
          <a:xfrm>
            <a:off x="640080" y="1053211"/>
            <a:ext cx="10909300" cy="27767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Tudo entra nela: instruções,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CLAUDE.md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cada arquivo lido, cada saída de comando, cada mensagem.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Quando enche, o desempenho cai: o agente "esquece" instruções do início e erra mais.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Claude Code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compacta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automaticamente (resume a conversa) perto do limite, mas o resumo perde detalhes.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/context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mostra o que está ocupando a janela; no VS Code, o indicador fica na caixa de prompt. ⚙️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9093189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6.2  Comandos para gerenciar o contexto ⚙️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6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280E20F7-E5A4-1EBC-5CDF-708A81881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9473"/>
              </p:ext>
            </p:extLst>
          </p:nvPr>
        </p:nvGraphicFramePr>
        <p:xfrm>
          <a:off x="640080" y="1049973"/>
          <a:ext cx="109093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5500">
                  <a:extLst>
                    <a:ext uri="{9D8B030D-6E8A-4147-A177-3AD203B41FA5}">
                      <a16:colId xmlns:a16="http://schemas.microsoft.com/office/drawing/2014/main" val="2064040676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2123845818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88349671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Comando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Efeito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Quando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0469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/clear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Começa uma conversa nova (o CLAUDE.md é relido)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Entre tarefas ou etapas diferentes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7314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/compact &lt;foco&gt;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Resume a conversa preservando o foco indicado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Etapa longa que precisa continuar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30538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/rewind → resumir a partir daqui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Condensa só parte da conversa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Uma tentativa longa que deu errado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1120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/btw &lt;pergunta&gt;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Pergunta paralela que não entra no histórico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Tirar uma dúvida rápida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2607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/rename, claude --resume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Nomear e retomar sessões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Trabalho em vários dias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10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5400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6.3  Estratégia para uma análise em várias sessões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6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03F5E172-2FF7-0F95-9781-46D43488EFE5}"/>
              </a:ext>
            </a:extLst>
          </p:cNvPr>
          <p:cNvSpPr txBox="1"/>
          <p:nvPr/>
        </p:nvSpPr>
        <p:spPr>
          <a:xfrm>
            <a:off x="640080" y="1053211"/>
            <a:ext cx="10909300" cy="34899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Uma etapa por conversa.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No fim da etapa: relatório em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docs/etapas/NN.md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→ commit →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/clear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 próxima sessão começa pelos arquivos, não pela memória: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@docs/etapas/03.md @PLANO.md Etapa 04.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Investigações amplas ("onde está o problema?") vão para um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subagente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ele lê muitos arquivos no contexto dele e devolve só o resumo.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Não cole saídas enormes: peça que o resultado vá para um arquivo e que o agente resuma.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Falhas típicas: a sessão "pia de cozinha" (muitos assuntos misturados), correções repetidas que poluem o contexto, exploração sem escopo.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9784512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Subagentes: orientando e orientador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7 · 35 min · SEÇÃO 2 · BLOCO 7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29162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7.1  O que é um subagente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7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F592A625-CAF4-6222-BE77-86B454038D7E}"/>
              </a:ext>
            </a:extLst>
          </p:cNvPr>
          <p:cNvSpPr txBox="1"/>
          <p:nvPr/>
        </p:nvSpPr>
        <p:spPr>
          <a:xfrm>
            <a:off x="640080" y="1053211"/>
            <a:ext cx="10909300" cy="422757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Um assistente especializado, com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contexto próprio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instruções próprias, ferramentas limitadas e, se quiser, outro modelo.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agente principal delega uma tarefa; o subagente trabalha isolado e devolve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só o resultado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Para que serve: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proteger o contexto principal (exploração e leitura volumosa);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impor limites (um revisor sem permissão de editar);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reutilizar uma função (o mesmo revisor em todos os projetos);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revisar com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contexto limpo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sem o viés de quem escreveu.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Já vêm prontos: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Explore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(busca somente leitura),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Plan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(pesquisa no modo de plano) e um de uso geral.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4436887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7.2  Criar um subagente ⚙️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7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7" name="FitText">
            <a:extLst>
              <a:ext uri="{FF2B5EF4-FFF2-40B4-BE49-F238E27FC236}">
                <a16:creationId xmlns:a16="http://schemas.microsoft.com/office/drawing/2014/main" id="{BDBDFC09-083F-5265-1548-CF3F8601EA4C}"/>
              </a:ext>
            </a:extLst>
          </p:cNvPr>
          <p:cNvSpPr txBox="1"/>
          <p:nvPr/>
        </p:nvSpPr>
        <p:spPr>
          <a:xfrm>
            <a:off x="640080" y="1049973"/>
            <a:ext cx="10909300" cy="129413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/>
              </a:rPr>
              <a:t>É um arquivo Markdown com cabeçalho YAML em </a:t>
            </a:r>
            <a:r>
              <a:rPr lang="pt-BR" sz="1900" b="1">
                <a:solidFill>
                  <a:srgbClr val="B7472A"/>
                </a:solidFill>
                <a:latin typeface="Consolas" panose="020B0609020204030204" pitchFamily="49" charset="0"/>
              </a:rPr>
              <a:t>.claude/agents/</a:t>
            </a:r>
            <a:r>
              <a:rPr lang="pt-BR" sz="1900">
                <a:solidFill>
                  <a:srgbClr val="2E3A2F"/>
                </a:solidFill>
                <a:latin typeface="DejaVu Sans"/>
              </a:rPr>
              <a:t> (projeto) ou </a:t>
            </a:r>
            <a:r>
              <a:rPr lang="pt-BR" sz="1900" b="1">
                <a:solidFill>
                  <a:srgbClr val="B7472A"/>
                </a:solidFill>
                <a:latin typeface="Consolas" panose="020B0609020204030204" pitchFamily="49" charset="0"/>
              </a:rPr>
              <a:t>~/.claude/agents/</a:t>
            </a:r>
            <a:r>
              <a:rPr lang="pt-BR" sz="1900">
                <a:solidFill>
                  <a:srgbClr val="2E3A2F"/>
                </a:solidFill>
                <a:latin typeface="DejaVu Sans"/>
              </a:rPr>
              <a:t> (todos os projetos).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/>
              </a:rPr>
              <a:t>Duas formas: escrever o arquivo, ou pedir: "Crie um subagente em .claude/agents/orientador.md que revise etapas da análise sem editar arquivos".</a:t>
            </a:r>
            <a:endParaRPr lang="en-US" sz="19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8" name="CodeBox">
            <a:extLst>
              <a:ext uri="{FF2B5EF4-FFF2-40B4-BE49-F238E27FC236}">
                <a16:creationId xmlns:a16="http://schemas.microsoft.com/office/drawing/2014/main" id="{D0AC9430-76DB-6C83-49E5-D3CBB5A125CA}"/>
              </a:ext>
            </a:extLst>
          </p:cNvPr>
          <p:cNvSpPr/>
          <p:nvPr/>
        </p:nvSpPr>
        <p:spPr>
          <a:xfrm>
            <a:off x="640080" y="2496503"/>
            <a:ext cx="10909300" cy="201168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pt-BR" sz="1400">
                <a:solidFill>
                  <a:srgbClr val="D8E4DA"/>
                </a:solidFill>
                <a:latin typeface="Consolas" panose="020B0609020204030204" pitchFamily="49" charset="0"/>
              </a:rPr>
              <a:t>---</a:t>
            </a:r>
          </a:p>
          <a:p>
            <a:r>
              <a:rPr lang="pt-BR" sz="1400">
                <a:solidFill>
                  <a:srgbClr val="F5F3ED"/>
                </a:solidFill>
                <a:latin typeface="Consolas" panose="020B0609020204030204" pitchFamily="49" charset="0"/>
              </a:rPr>
              <a:t>name: orientador</a:t>
            </a:r>
          </a:p>
          <a:p>
            <a:r>
              <a:rPr lang="pt-BR" sz="1400">
                <a:solidFill>
                  <a:srgbClr val="F5F3ED"/>
                </a:solidFill>
                <a:latin typeface="Consolas" panose="020B0609020204030204" pitchFamily="49" charset="0"/>
              </a:rPr>
              <a:t>description: Revisa criticamente, com contexto limpo, uma etapa implementada</a:t>
            </a:r>
          </a:p>
          <a:p>
            <a:r>
              <a:rPr lang="pt-BR" sz="1400">
                <a:solidFill>
                  <a:srgbClr val="F5F3ED"/>
                </a:solidFill>
                <a:latin typeface="Consolas" panose="020B0609020204030204" pitchFamily="49" charset="0"/>
              </a:rPr>
              <a:t>  contra o PLANO.md, o CLAUDE.md e o dicionário. Use depois de cada etapa.</a:t>
            </a:r>
          </a:p>
          <a:p>
            <a:r>
              <a:rPr lang="pt-BR" sz="1400">
                <a:solidFill>
                  <a:srgbClr val="F5F3ED"/>
                </a:solidFill>
                <a:latin typeface="Consolas" panose="020B0609020204030204" pitchFamily="49" charset="0"/>
              </a:rPr>
              <a:t>tools: Read, Grep, Glob, Bash</a:t>
            </a:r>
          </a:p>
          <a:p>
            <a:r>
              <a:rPr lang="pt-BR" sz="1400">
                <a:solidFill>
                  <a:srgbClr val="F5F3ED"/>
                </a:solidFill>
                <a:latin typeface="Consolas" panose="020B0609020204030204" pitchFamily="49" charset="0"/>
              </a:rPr>
              <a:t>model: inherit</a:t>
            </a:r>
          </a:p>
          <a:p>
            <a:r>
              <a:rPr lang="pt-BR" sz="1400">
                <a:solidFill>
                  <a:srgbClr val="D8E4DA"/>
                </a:solidFill>
                <a:latin typeface="Consolas" panose="020B0609020204030204" pitchFamily="49" charset="0"/>
              </a:rPr>
              <a:t>---</a:t>
            </a:r>
          </a:p>
          <a:p>
            <a:r>
              <a:rPr lang="pt-BR" sz="1400">
                <a:solidFill>
                  <a:srgbClr val="F5F3ED"/>
                </a:solidFill>
                <a:latin typeface="Consolas" panose="020B0609020204030204" pitchFamily="49" charset="0"/>
              </a:rPr>
              <a:t>Você é o orientador de uma dissertação em genética quantitativa...</a:t>
            </a:r>
            <a:endParaRPr lang="en-US" sz="1400">
              <a:solidFill>
                <a:srgbClr val="F5F3ED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CodeBoxAccent">
            <a:extLst>
              <a:ext uri="{FF2B5EF4-FFF2-40B4-BE49-F238E27FC236}">
                <a16:creationId xmlns:a16="http://schemas.microsoft.com/office/drawing/2014/main" id="{4CB80173-604F-0832-20B1-D4A7E87A42CA}"/>
              </a:ext>
            </a:extLst>
          </p:cNvPr>
          <p:cNvSpPr/>
          <p:nvPr/>
        </p:nvSpPr>
        <p:spPr>
          <a:xfrm>
            <a:off x="640080" y="2496503"/>
            <a:ext cx="76200" cy="201168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itText">
            <a:extLst>
              <a:ext uri="{FF2B5EF4-FFF2-40B4-BE49-F238E27FC236}">
                <a16:creationId xmlns:a16="http://schemas.microsoft.com/office/drawing/2014/main" id="{4289D776-69DB-18E9-0BBE-D7635E6C60C1}"/>
              </a:ext>
            </a:extLst>
          </p:cNvPr>
          <p:cNvSpPr txBox="1"/>
          <p:nvPr/>
        </p:nvSpPr>
        <p:spPr>
          <a:xfrm>
            <a:off x="640080" y="4660583"/>
            <a:ext cx="10909300" cy="129413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/>
              </a:rPr>
              <a:t>Campos principais: </a:t>
            </a:r>
            <a:r>
              <a:rPr lang="pt-BR" sz="1900" b="1">
                <a:solidFill>
                  <a:srgbClr val="B7472A"/>
                </a:solidFill>
                <a:latin typeface="Consolas" panose="020B0609020204030204" pitchFamily="49" charset="0"/>
              </a:rPr>
              <a:t>name</a:t>
            </a:r>
            <a:r>
              <a:rPr lang="pt-BR" sz="1900">
                <a:solidFill>
                  <a:srgbClr val="2E3A2F"/>
                </a:solidFill>
                <a:latin typeface="DejaVu Sans"/>
              </a:rPr>
              <a:t> e </a:t>
            </a:r>
            <a:r>
              <a:rPr lang="pt-BR" sz="1900" b="1">
                <a:solidFill>
                  <a:srgbClr val="B7472A"/>
                </a:solidFill>
                <a:latin typeface="Consolas" panose="020B0609020204030204" pitchFamily="49" charset="0"/>
              </a:rPr>
              <a:t>description</a:t>
            </a:r>
            <a:r>
              <a:rPr lang="pt-BR" sz="1900">
                <a:solidFill>
                  <a:srgbClr val="2E3A2F"/>
                </a:solidFill>
                <a:latin typeface="DejaVu Sans"/>
              </a:rPr>
              <a:t> (obrigatórios), </a:t>
            </a:r>
            <a:r>
              <a:rPr lang="pt-BR" sz="1900" b="1">
                <a:solidFill>
                  <a:srgbClr val="B7472A"/>
                </a:solidFill>
                <a:latin typeface="Consolas" panose="020B0609020204030204" pitchFamily="49" charset="0"/>
              </a:rPr>
              <a:t>tools</a:t>
            </a:r>
            <a:r>
              <a:rPr lang="pt-BR" sz="1900">
                <a:solidFill>
                  <a:srgbClr val="2E3A2F"/>
                </a:solidFill>
                <a:latin typeface="DejaVu Sans"/>
              </a:rPr>
              <a:t>, </a:t>
            </a:r>
            <a:r>
              <a:rPr lang="pt-BR" sz="1900" b="1">
                <a:solidFill>
                  <a:srgbClr val="B7472A"/>
                </a:solidFill>
                <a:latin typeface="Consolas" panose="020B0609020204030204" pitchFamily="49" charset="0"/>
              </a:rPr>
              <a:t>disallowedTools</a:t>
            </a:r>
            <a:r>
              <a:rPr lang="pt-BR" sz="1900">
                <a:solidFill>
                  <a:srgbClr val="2E3A2F"/>
                </a:solidFill>
                <a:latin typeface="DejaVu Sans"/>
              </a:rPr>
              <a:t>, </a:t>
            </a:r>
            <a:r>
              <a:rPr lang="pt-BR" sz="1900" b="1">
                <a:solidFill>
                  <a:srgbClr val="B7472A"/>
                </a:solidFill>
                <a:latin typeface="Consolas" panose="020B0609020204030204" pitchFamily="49" charset="0"/>
              </a:rPr>
              <a:t>model</a:t>
            </a:r>
            <a:r>
              <a:rPr lang="pt-BR" sz="1900">
                <a:solidFill>
                  <a:srgbClr val="2E3A2F"/>
                </a:solidFill>
                <a:latin typeface="DejaVu Sans"/>
              </a:rPr>
              <a:t>, </a:t>
            </a:r>
            <a:r>
              <a:rPr lang="pt-BR" sz="1900" b="1">
                <a:solidFill>
                  <a:srgbClr val="B7472A"/>
                </a:solidFill>
                <a:latin typeface="Consolas" panose="020B0609020204030204" pitchFamily="49" charset="0"/>
              </a:rPr>
              <a:t>permissionMode</a:t>
            </a:r>
            <a:r>
              <a:rPr lang="pt-BR" sz="19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/>
              </a:rPr>
              <a:t>Chamar: em linguagem natural ("use o subagente orientador para…") ou com </a:t>
            </a:r>
            <a:r>
              <a:rPr lang="pt-BR" sz="1900" b="1">
                <a:solidFill>
                  <a:srgbClr val="B7472A"/>
                </a:solidFill>
                <a:latin typeface="Consolas" panose="020B0609020204030204" pitchFamily="49" charset="0"/>
              </a:rPr>
              <a:t>@</a:t>
            </a:r>
            <a:r>
              <a:rPr lang="pt-BR" sz="1900">
                <a:solidFill>
                  <a:srgbClr val="2E3A2F"/>
                </a:solidFill>
                <a:latin typeface="DejaVu Sans"/>
              </a:rPr>
              <a:t> no prompt.</a:t>
            </a:r>
            <a:endParaRPr lang="en-US" sz="19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6296396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7.3  Boas práticas para subagentes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7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6722D0C0-2219-B79F-5BE7-A30385916EAA}"/>
              </a:ext>
            </a:extLst>
          </p:cNvPr>
          <p:cNvSpPr txBox="1"/>
          <p:nvPr/>
        </p:nvSpPr>
        <p:spPr>
          <a:xfrm>
            <a:off x="640080" y="1053211"/>
            <a:ext cx="10909300" cy="36423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Uma função por agente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descrita na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description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é ela que o agente principal lê para decidir quando delegar.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Ferramentas mínimas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o revisor não precisa de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Edit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nem de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Write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Entrega definida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diga exatamente o que devolver (arquivos alterados, comandos e saídas, números-chave, pendências).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Contexto explícito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o subagente não vê a conversa; diga quais arquivos ler.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Proibido inventar problema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um revisor instruído a achar falhas sempre acha alguma. Peça para separar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bloqueantes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de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sugestões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 para dizer "sem bloqueantes" quando for o caso.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Versione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os agentes do projeto em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.claude/agents/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fazem parte do método.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1904323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7.4  A metáfora: orientando, orientador e banca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7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45" name="ProcessBox0">
            <a:extLst>
              <a:ext uri="{FF2B5EF4-FFF2-40B4-BE49-F238E27FC236}">
                <a16:creationId xmlns:a16="http://schemas.microsoft.com/office/drawing/2014/main" id="{CF4F20FF-A4D6-E9A2-1235-DA2935D350CB}"/>
              </a:ext>
            </a:extLst>
          </p:cNvPr>
          <p:cNvSpPr/>
          <p:nvPr/>
        </p:nvSpPr>
        <p:spPr>
          <a:xfrm>
            <a:off x="381000" y="1053210"/>
            <a:ext cx="2164080" cy="1202182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FFFFFF"/>
                </a:solidFill>
                <a:latin typeface="DejaVu Sans"/>
              </a:rPr>
              <a:t>Você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FFFFFF"/>
                </a:solidFill>
                <a:latin typeface="DejaVu Sans"/>
              </a:rPr>
              <a:t>coordena e decide; aprova o plano</a:t>
            </a:r>
            <a:endParaRPr lang="en-US" sz="1600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6" name="ProcessBox1">
            <a:extLst>
              <a:ext uri="{FF2B5EF4-FFF2-40B4-BE49-F238E27FC236}">
                <a16:creationId xmlns:a16="http://schemas.microsoft.com/office/drawing/2014/main" id="{42196518-2D8B-2AA9-F721-B63B4123AACC}"/>
              </a:ext>
            </a:extLst>
          </p:cNvPr>
          <p:cNvSpPr/>
          <p:nvPr/>
        </p:nvSpPr>
        <p:spPr>
          <a:xfrm>
            <a:off x="2697480" y="1053211"/>
            <a:ext cx="2164080" cy="1202182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2E3A2F"/>
                </a:solidFill>
                <a:latin typeface="DejaVu Sans"/>
              </a:rPr>
              <a:t>Orientando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2E3A2F"/>
                </a:solidFill>
                <a:latin typeface="DejaVu Sans"/>
              </a:rPr>
              <a:t>implementa a etapa; relata com evidência</a:t>
            </a:r>
            <a:endParaRPr lang="en-US" sz="16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47" name="ProcessBox2">
            <a:extLst>
              <a:ext uri="{FF2B5EF4-FFF2-40B4-BE49-F238E27FC236}">
                <a16:creationId xmlns:a16="http://schemas.microsoft.com/office/drawing/2014/main" id="{626DAB51-8D58-21DD-7710-701ACE3BE87A}"/>
              </a:ext>
            </a:extLst>
          </p:cNvPr>
          <p:cNvSpPr/>
          <p:nvPr/>
        </p:nvSpPr>
        <p:spPr>
          <a:xfrm>
            <a:off x="5013960" y="1053211"/>
            <a:ext cx="2164079" cy="1202182"/>
          </a:xfrm>
          <a:prstGeom prst="roundRect">
            <a:avLst>
              <a:gd name="adj" fmla="val 8000"/>
            </a:avLst>
          </a:prstGeom>
          <a:solidFill>
            <a:srgbClr val="F9A62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2E3A2F"/>
                </a:solidFill>
                <a:latin typeface="DejaVu Sans"/>
              </a:rPr>
              <a:t>Orientador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2E3A2F"/>
                </a:solidFill>
                <a:latin typeface="DejaVu Sans"/>
              </a:rPr>
              <a:t>revisa com contexto limpo; parecer</a:t>
            </a:r>
            <a:endParaRPr lang="en-US" sz="16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48" name="ProcessBox3">
            <a:extLst>
              <a:ext uri="{FF2B5EF4-FFF2-40B4-BE49-F238E27FC236}">
                <a16:creationId xmlns:a16="http://schemas.microsoft.com/office/drawing/2014/main" id="{3620EC2E-AF60-2076-9271-02C292BFDDA6}"/>
              </a:ext>
            </a:extLst>
          </p:cNvPr>
          <p:cNvSpPr/>
          <p:nvPr/>
        </p:nvSpPr>
        <p:spPr>
          <a:xfrm>
            <a:off x="7330440" y="1053211"/>
            <a:ext cx="2164080" cy="1202182"/>
          </a:xfrm>
          <a:prstGeom prst="roundRect">
            <a:avLst>
              <a:gd name="adj" fmla="val 8000"/>
            </a:avLst>
          </a:prstGeom>
          <a:solidFill>
            <a:srgbClr val="B7472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FFFFFF"/>
                </a:solidFill>
                <a:latin typeface="DejaVu Sans"/>
              </a:rPr>
              <a:t>Orientando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FFFFFF"/>
                </a:solidFill>
                <a:latin typeface="DejaVu Sans"/>
              </a:rPr>
              <a:t>responde às pendências bloqueantes</a:t>
            </a:r>
            <a:endParaRPr lang="en-US" sz="1600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9" name="ProcessBox4">
            <a:extLst>
              <a:ext uri="{FF2B5EF4-FFF2-40B4-BE49-F238E27FC236}">
                <a16:creationId xmlns:a16="http://schemas.microsoft.com/office/drawing/2014/main" id="{153E0DE9-8798-9492-6A0F-D9FF35BA8854}"/>
              </a:ext>
            </a:extLst>
          </p:cNvPr>
          <p:cNvSpPr/>
          <p:nvPr/>
        </p:nvSpPr>
        <p:spPr>
          <a:xfrm>
            <a:off x="9646920" y="1053210"/>
            <a:ext cx="2164080" cy="1202182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FFFFFF"/>
                </a:solidFill>
                <a:latin typeface="DejaVu Sans"/>
              </a:rPr>
              <a:t>Banca: você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FFFFFF"/>
                </a:solidFill>
                <a:latin typeface="DejaVu Sans"/>
              </a:rPr>
              <a:t>confere números e aceita (ou não)</a:t>
            </a:r>
            <a:endParaRPr lang="en-US" sz="1600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50" name="ProcessArrow0">
            <a:extLst>
              <a:ext uri="{FF2B5EF4-FFF2-40B4-BE49-F238E27FC236}">
                <a16:creationId xmlns:a16="http://schemas.microsoft.com/office/drawing/2014/main" id="{00E08726-D74D-E072-871E-CEA64ADAA2D3}"/>
              </a:ext>
            </a:extLst>
          </p:cNvPr>
          <p:cNvSpPr/>
          <p:nvPr/>
        </p:nvSpPr>
        <p:spPr>
          <a:xfrm>
            <a:off x="2583180" y="1565402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rocessArrow1">
            <a:extLst>
              <a:ext uri="{FF2B5EF4-FFF2-40B4-BE49-F238E27FC236}">
                <a16:creationId xmlns:a16="http://schemas.microsoft.com/office/drawing/2014/main" id="{578406CC-524C-73BD-D404-DD5679C27FA6}"/>
              </a:ext>
            </a:extLst>
          </p:cNvPr>
          <p:cNvSpPr/>
          <p:nvPr/>
        </p:nvSpPr>
        <p:spPr>
          <a:xfrm>
            <a:off x="4899660" y="1565402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ProcessArrow2">
            <a:extLst>
              <a:ext uri="{FF2B5EF4-FFF2-40B4-BE49-F238E27FC236}">
                <a16:creationId xmlns:a16="http://schemas.microsoft.com/office/drawing/2014/main" id="{0BD86BA5-D20E-9DCC-8E53-A14C4AF0A1FF}"/>
              </a:ext>
            </a:extLst>
          </p:cNvPr>
          <p:cNvSpPr/>
          <p:nvPr/>
        </p:nvSpPr>
        <p:spPr>
          <a:xfrm>
            <a:off x="7216140" y="1565402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rocessArrow3">
            <a:extLst>
              <a:ext uri="{FF2B5EF4-FFF2-40B4-BE49-F238E27FC236}">
                <a16:creationId xmlns:a16="http://schemas.microsoft.com/office/drawing/2014/main" id="{E5989BA6-02ED-642A-9FE4-DD713109C28C}"/>
              </a:ext>
            </a:extLst>
          </p:cNvPr>
          <p:cNvSpPr/>
          <p:nvPr/>
        </p:nvSpPr>
        <p:spPr>
          <a:xfrm>
            <a:off x="9532620" y="1565402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itText">
            <a:extLst>
              <a:ext uri="{FF2B5EF4-FFF2-40B4-BE49-F238E27FC236}">
                <a16:creationId xmlns:a16="http://schemas.microsoft.com/office/drawing/2014/main" id="{38AE3A59-2AFA-23A3-731A-1738F888858C}"/>
              </a:ext>
            </a:extLst>
          </p:cNvPr>
          <p:cNvSpPr txBox="1"/>
          <p:nvPr/>
        </p:nvSpPr>
        <p:spPr>
          <a:xfrm>
            <a:off x="640080" y="2458593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agente principal faz o papel da secretaria do programa: passa a tarefa, guarda o parecer em arquivo, devolve ao orientando.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Os subagentes não conversam entre si diretamente: a comunicação passa pelo agente principal e pelos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arquivos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docs/revisoes/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).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3214666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7.5  O prompt que orquestra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7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CA3D963D-CE4E-8EDB-AE48-E148D9125D57}"/>
              </a:ext>
            </a:extLst>
          </p:cNvPr>
          <p:cNvSpPr/>
          <p:nvPr/>
        </p:nvSpPr>
        <p:spPr>
          <a:xfrm>
            <a:off x="640080" y="1053211"/>
            <a:ext cx="10909300" cy="21336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Etapa 04 do PLANO.md (análise individual e conjunta).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1. Use o subagente orientando para implementar a etapa.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2. Use o subagente orientador para revisá-la. Salve o parecer em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   docs/revisoes/04_parecer_r1.md.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3. Se houver pendências BLOQUEANTES, devolva o parecer ao orientando e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   repita a revisão. No máximo 2 rodadas.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4. Ao final, mostre: parecer final, git diff </a:t>
            </a:r>
            <a:r>
              <a:rPr lang="pt-BR" sz="1500">
                <a:solidFill>
                  <a:srgbClr val="D8E4DA"/>
                </a:solidFill>
                <a:latin typeface="Consolas" panose="020B0609020204030204" pitchFamily="49" charset="0"/>
              </a:rPr>
              <a:t>--stat e os números-chave.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Não faça commit.</a:t>
            </a:r>
            <a:endParaRPr lang="en-US" sz="1500">
              <a:solidFill>
                <a:srgbClr val="F5F3ED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BA06EFE4-A8FD-92D2-8F0D-AAED3D8810D4}"/>
              </a:ext>
            </a:extLst>
          </p:cNvPr>
          <p:cNvSpPr/>
          <p:nvPr/>
        </p:nvSpPr>
        <p:spPr>
          <a:xfrm>
            <a:off x="640080" y="1053211"/>
            <a:ext cx="76200" cy="21336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D0EF95D4-36B7-133C-F487-C4F1EDBF292A}"/>
              </a:ext>
            </a:extLst>
          </p:cNvPr>
          <p:cNvSpPr txBox="1"/>
          <p:nvPr/>
        </p:nvSpPr>
        <p:spPr>
          <a:xfrm>
            <a:off x="640080" y="3339210"/>
            <a:ext cx="10909300" cy="7894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Limite de rodadas: sem ele, os dois podem ficar "polindo" indefinidamente.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parecer em arquivo é auditável e vai para o Git junto com o código.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4098566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7.6  Limites do arranjo orientando–orientador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7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4D3523B5-59C2-FCD1-FBB9-218B6D0AC934}"/>
              </a:ext>
            </a:extLst>
          </p:cNvPr>
          <p:cNvSpPr txBox="1"/>
          <p:nvPr/>
        </p:nvSpPr>
        <p:spPr>
          <a:xfrm>
            <a:off x="640080" y="1053211"/>
            <a:ext cx="10909300" cy="320954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Os dois são 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mesmo modelo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compartilham pontos cegos. Contexto limpo reduz o viés de confirmação, mas não substitui conhecimento de domínio.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orientador só cobra o que está escrito (plano,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CLAUDE.md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dicionário): regra que não está escrita não é cobrada.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Revisões sucessivas tendem a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complicar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o código; aceite apenas o que afeta correção ou o plano.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 palavra final é da banca: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você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confere os números-chave contra a referência.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Equipes de agentes que conversam diretamente entre si existem (</a:t>
            </a:r>
            <a:r>
              <a:rPr lang="pt-BR" sz="2000" i="1">
                <a:solidFill>
                  <a:srgbClr val="2E3A2F"/>
                </a:solidFill>
                <a:latin typeface="DejaVu Sans"/>
              </a:rPr>
              <a:t>agent teams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), mas são experimentais e consomem muito mais uso. ⚙️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4" name="FitText">
            <a:extLst>
              <a:ext uri="{FF2B5EF4-FFF2-40B4-BE49-F238E27FC236}">
                <a16:creationId xmlns:a16="http://schemas.microsoft.com/office/drawing/2014/main" id="{2059D258-F94E-B1F1-2896-CFA69D93CFE3}"/>
              </a:ext>
            </a:extLst>
          </p:cNvPr>
          <p:cNvSpPr txBox="1"/>
          <p:nvPr/>
        </p:nvSpPr>
        <p:spPr>
          <a:xfrm>
            <a:off x="640080" y="4415154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code.claude.com/docs/en/sub-agents e /agent-teams (desativado por padrão).</a:t>
            </a:r>
          </a:p>
        </p:txBody>
      </p:sp>
    </p:spTree>
    <p:extLst>
      <p:ext uri="{BB962C8B-B14F-4D97-AF65-F5344CB8AC3E}">
        <p14:creationId xmlns:p14="http://schemas.microsoft.com/office/powerpoint/2010/main" val="31928637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7.7  Resultado de referência da análise conjunta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7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65BD22B3-1141-B97B-AD0A-85FE00F65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926887"/>
              </p:ext>
            </p:extLst>
          </p:nvPr>
        </p:nvGraphicFramePr>
        <p:xfrm>
          <a:off x="640080" y="1053211"/>
          <a:ext cx="109093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8900">
                  <a:extLst>
                    <a:ext uri="{9D8B030D-6E8A-4147-A177-3AD203B41FA5}">
                      <a16:colId xmlns:a16="http://schemas.microsoft.com/office/drawing/2014/main" val="373859504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106648207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43980307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Quantidade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Com QC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Sem QC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6105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Genótipos no modelo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404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409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50797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Acurácia (BLUP × valor verdadeiro, 400 DH25)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0,82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0,24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85034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Posição de DH25_0232 no ranking (verdadeira: 138ª)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259ª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1ª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385563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826C5449-F197-DAF2-E59D-BECA82F68206}"/>
              </a:ext>
            </a:extLst>
          </p:cNvPr>
          <p:cNvSpPr txBox="1"/>
          <p:nvPr/>
        </p:nvSpPr>
        <p:spPr>
          <a:xfrm>
            <a:off x="640080" y="2463927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Modelo: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PROD ~ ambiente + (1|ambiente:bloco) + (1|genotipo) + (1|genotipo:ambiente)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dados de parcela.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orientador que só lê o código não vê esse problema; o que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roda e confere números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vê.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4970077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Skills e ferramentas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8 · 15 min · SEÇÃO 2 · BLOCO 8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4047759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543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000" b="1" i="0">
                <a:solidFill>
                  <a:srgbClr val="4A7C59"/>
                </a:solidFill>
                <a:latin typeface="DejaVu Serif"/>
              </a:rPr>
              <a:t>8.1  Skills: procedimentos que o agente carrega quando precisa ⚙️</a:t>
            </a:r>
            <a:endParaRPr sz="30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8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1DE3FC91-8ED8-E5AF-8FC3-C72223310442}"/>
              </a:ext>
            </a:extLst>
          </p:cNvPr>
          <p:cNvSpPr txBox="1"/>
          <p:nvPr/>
        </p:nvSpPr>
        <p:spPr>
          <a:xfrm>
            <a:off x="640080" y="1019429"/>
            <a:ext cx="10909300" cy="392277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Uma skill é uma pasta com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SKILL.md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descrição + instruções (+ scripts e modelos, se quiser).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Só a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descrição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fica sempre no contexto; o conteúdo entra quando a skill é usada. Ideal para procedimentos que valem às vezes.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Onde ficam: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.claude/skills/&lt;nome&gt;/SKILL.md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(projeto) ou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~/.claude/skills/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(todos os projetos).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Chamar: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/nome-da-skill [argumentos]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ou o agente usa sozinho quando o pedido combina com a descrição.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Já vêm com o Claude Code, por exemplo: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/code-review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(revisão do diff em contexto limpo) e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/batch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Skills seguem um padrão aberto (Agent Skills, agentskills.io).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2427314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8.2  Transformar um procedimento validado em skill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8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71F86752-8EB3-7E2E-1C7D-ED3DEFBD17B2}"/>
              </a:ext>
            </a:extLst>
          </p:cNvPr>
          <p:cNvSpPr/>
          <p:nvPr/>
        </p:nvSpPr>
        <p:spPr>
          <a:xfrm>
            <a:off x="640080" y="1053211"/>
            <a:ext cx="10909300" cy="21336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pt-BR" sz="1500">
                <a:solidFill>
                  <a:srgbClr val="D8E4DA"/>
                </a:solidFill>
                <a:latin typeface="Consolas" panose="020B0609020204030204" pitchFamily="49" charset="0"/>
              </a:rPr>
              <a:t>---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name: relatorio-etapa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description: Escreve o relatório de passagem de uma etapa concluída em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  docs/etapas/. Use ao final de cada etapa, antes de /clear.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disable-model-invocation: true</a:t>
            </a:r>
          </a:p>
          <a:p>
            <a:r>
              <a:rPr lang="pt-BR" sz="1500">
                <a:solidFill>
                  <a:srgbClr val="D8E4DA"/>
                </a:solidFill>
                <a:latin typeface="Consolas" panose="020B0609020204030204" pitchFamily="49" charset="0"/>
              </a:rPr>
              <a:t>---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Escreva docs/etapas/$ARGUMENTS.md com: o que foi feito; como reproduzir;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números-chave; decisões; pendências. Até 40 linhas. Não faça o commit.</a:t>
            </a:r>
            <a:endParaRPr lang="en-US" sz="1500">
              <a:solidFill>
                <a:srgbClr val="F5F3ED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01AFDE90-7356-C214-2378-5120C5C60BF8}"/>
              </a:ext>
            </a:extLst>
          </p:cNvPr>
          <p:cNvSpPr/>
          <p:nvPr/>
        </p:nvSpPr>
        <p:spPr>
          <a:xfrm>
            <a:off x="640080" y="1053211"/>
            <a:ext cx="76200" cy="21336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9F6780AF-9EE6-93CD-9BE3-8F9595DBDC75}"/>
              </a:ext>
            </a:extLst>
          </p:cNvPr>
          <p:cNvSpPr txBox="1"/>
          <p:nvPr/>
        </p:nvSpPr>
        <p:spPr>
          <a:xfrm>
            <a:off x="640080" y="3339211"/>
            <a:ext cx="10909300" cy="12222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Uso: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/relatorio-etapa 03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disable-model-invocation: true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só roda quando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você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chama.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Primeiro faça o procedimento à mão e valide; depois transforme em skill.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9707184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8.3  Procurar e instalar skills (plugins) ⚙️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8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6D5DAC00-E83A-A179-12F5-2E3B0995B035}"/>
              </a:ext>
            </a:extLst>
          </p:cNvPr>
          <p:cNvSpPr txBox="1"/>
          <p:nvPr/>
        </p:nvSpPr>
        <p:spPr>
          <a:xfrm>
            <a:off x="640080" y="1049973"/>
            <a:ext cx="10909300" cy="10698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Skills de terceiros chegam em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plugins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(pacotes com skills, subagentes, hooks e servidores MCP), distribuídos em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marketplaces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marketplace oficial da Anthropic (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claude-plugins-official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) vem configurado.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graphicFrame>
        <p:nvGraphicFramePr>
          <p:cNvPr id="14" name="Fit796Table">
            <a:extLst>
              <a:ext uri="{FF2B5EF4-FFF2-40B4-BE49-F238E27FC236}">
                <a16:creationId xmlns:a16="http://schemas.microsoft.com/office/drawing/2014/main" id="{451C18E1-F0C9-618F-9B53-1D37ECE9B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658142"/>
              </p:ext>
            </p:extLst>
          </p:nvPr>
        </p:nvGraphicFramePr>
        <p:xfrm>
          <a:off x="640080" y="2272221"/>
          <a:ext cx="109093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1159890098"/>
                    </a:ext>
                  </a:extLst>
                </a:gridCol>
                <a:gridCol w="7353300">
                  <a:extLst>
                    <a:ext uri="{9D8B030D-6E8A-4147-A177-3AD203B41FA5}">
                      <a16:colId xmlns:a16="http://schemas.microsoft.com/office/drawing/2014/main" val="2839186418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Onde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Como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4520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VS Code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/plugins → aba Plugins → buscar → Install → escolher o escopo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55309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Terminal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/plugin → aba Discover; ou /plugin install &lt;nome&gt;@claude-plugins-official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3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Outro marketplace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/plugin marketplace add &lt;dono&gt;/&lt;repositório&gt;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734584"/>
                  </a:ext>
                </a:extLst>
              </a:tr>
            </a:tbl>
          </a:graphicData>
        </a:graphic>
      </p:graphicFrame>
      <p:sp>
        <p:nvSpPr>
          <p:cNvPr id="15" name="FitText">
            <a:extLst>
              <a:ext uri="{FF2B5EF4-FFF2-40B4-BE49-F238E27FC236}">
                <a16:creationId xmlns:a16="http://schemas.microsoft.com/office/drawing/2014/main" id="{DB9F2419-812E-5A79-7B36-045A8328CF32}"/>
              </a:ext>
            </a:extLst>
          </p:cNvPr>
          <p:cNvSpPr txBox="1"/>
          <p:nvPr/>
        </p:nvSpPr>
        <p:spPr>
          <a:xfrm>
            <a:off x="640080" y="3921315"/>
            <a:ext cx="10909300" cy="178308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Escopos: só você (usuário), todos do projeto (projeto, versionado) ou só você neste projeto (local).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Antes de instalar, leia o que o plugin adiciona: plugins podem rodar comandos e conectar serviços. Prefira fontes conhecidas.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Cada plugin ocupa contexto: desative o que não usa.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2737217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8.4  Dar ferramentas ao agente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8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0721176A-BB77-972A-A6F8-5F2982483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845261"/>
              </p:ext>
            </p:extLst>
          </p:nvPr>
        </p:nvGraphicFramePr>
        <p:xfrm>
          <a:off x="640080" y="1053211"/>
          <a:ext cx="109093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366441649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933712292"/>
                    </a:ext>
                  </a:extLst>
                </a:gridCol>
                <a:gridCol w="4546600">
                  <a:extLst>
                    <a:ext uri="{9D8B030D-6E8A-4147-A177-3AD203B41FA5}">
                      <a16:colId xmlns:a16="http://schemas.microsoft.com/office/drawing/2014/main" val="909612918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Ferramenta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O que dá ao agente</a:t>
                      </a:r>
                      <a:endParaRPr lang="en-US" sz="1700" b="1" i="0">
                        <a:solidFill>
                          <a:srgbClr val="FFFFF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Exemplo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24830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Comandos de terminal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Usar programas já instalados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Rscript, git, duckdb, quarto; "use ferramenta --help para aprender"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2867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Servidores MCP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Acesso padronizado a serviços e dados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Documentação dos pacotes R instalados; banco de dados; GitHub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1117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Hooks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Ações automáticas e garantidas em pontos do fluxo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Rodar os testes a cada edição (Seção 3)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55537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Permissões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 que pode rodar sem perguntar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Bash(Rscript *) em allow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902719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5A6038FB-711C-6448-8966-8F89CEA07200}"/>
              </a:ext>
            </a:extLst>
          </p:cNvPr>
          <p:cNvSpPr txBox="1"/>
          <p:nvPr/>
        </p:nvSpPr>
        <p:spPr>
          <a:xfrm>
            <a:off x="640080" y="3493642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Instruções no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CLAUDE.md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são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conselhos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; hooks e permissões são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garantias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6050975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8.5  MCP na prática: o agente consultando o seu R ⚙️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8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3A197DA1-E0D9-3007-05B1-40755A52B32A}"/>
              </a:ext>
            </a:extLst>
          </p:cNvPr>
          <p:cNvSpPr/>
          <p:nvPr/>
        </p:nvSpPr>
        <p:spPr>
          <a:xfrm>
            <a:off x="640080" y="1049973"/>
            <a:ext cx="10909300" cy="9906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# no R: install.packages("btw")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claude mcp add -s user r-btw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-- \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  Rscript -e "btw::btw_mcp_server(list('docs','pkg','env','sessioninfo','cran'))"</a:t>
            </a: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6761A01E-1D9C-37AB-D9E4-1458986255AD}"/>
              </a:ext>
            </a:extLst>
          </p:cNvPr>
          <p:cNvSpPr/>
          <p:nvPr/>
        </p:nvSpPr>
        <p:spPr>
          <a:xfrm>
            <a:off x="640080" y="1049973"/>
            <a:ext cx="76200" cy="9906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EA08243C-E565-E99B-3C9F-5A9DD6E4A0BF}"/>
              </a:ext>
            </a:extLst>
          </p:cNvPr>
          <p:cNvSpPr txBox="1"/>
          <p:nvPr/>
        </p:nvSpPr>
        <p:spPr>
          <a:xfrm>
            <a:off x="640080" y="2192973"/>
            <a:ext cx="10909300" cy="27767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pacote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btw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(Posit) expõe ao agente a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documentação dos pacotes na versão instalada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o ambiente e o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sessionInfo()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menos funções inventadas, menos argumentos de outra versão.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claude mcp list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lista os servidores;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/mcp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mostra o estado na sessão.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Escopos: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local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(padrão, só você neste projeto),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project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(arquivo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.mcp.json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versionado),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user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(todos os seus projetos).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Servidores de terceiros podem trazer conteúdo malicioso para o contexto: conecte só o que você conhece.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6" name="FitText">
            <a:extLst>
              <a:ext uri="{FF2B5EF4-FFF2-40B4-BE49-F238E27FC236}">
                <a16:creationId xmlns:a16="http://schemas.microsoft.com/office/drawing/2014/main" id="{F81BD423-CAB6-FC58-A7EB-1C2CDD32DEFB}"/>
              </a:ext>
            </a:extLst>
          </p:cNvPr>
          <p:cNvSpPr txBox="1"/>
          <p:nvPr/>
        </p:nvSpPr>
        <p:spPr>
          <a:xfrm>
            <a:off x="640080" y="5122100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posit-dev.github.io/btw/reference/mcp.html; code.claude.com/docs/en/mcp.</a:t>
            </a:r>
          </a:p>
        </p:txBody>
      </p:sp>
    </p:spTree>
    <p:extLst>
      <p:ext uri="{BB962C8B-B14F-4D97-AF65-F5344CB8AC3E}">
        <p14:creationId xmlns:p14="http://schemas.microsoft.com/office/powerpoint/2010/main" val="41080738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4400" b="1" i="0">
                <a:solidFill>
                  <a:srgbClr val="FFFFFF"/>
                </a:solidFill>
                <a:latin typeface="DejaVu Serif"/>
              </a:rPr>
              <a:t>Síntese: reprodutibilidade e uso responsável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9 · 5 min · SEÇÃO 2 · BLOCO 9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773050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9.1  O que tornou a análise reproduzível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9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DD707CCA-1F7E-F8FE-0620-9BBA1CA2F495}"/>
              </a:ext>
            </a:extLst>
          </p:cNvPr>
          <p:cNvSpPr/>
          <p:nvPr/>
        </p:nvSpPr>
        <p:spPr>
          <a:xfrm>
            <a:off x="640080" y="1053211"/>
            <a:ext cx="10909300" cy="16764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Pasta organizada        dado bruto somente leitura; scripts numerados; resultados regeneráveis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Contexto escrito        CLAUDE.md curto; dicionário; PLANO.md com critérios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Plano revisado          modo Plan + checklist; decisões científicas explícitas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Verificação             testes com resposta conhecida; números-chave; git diff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Revisão independente    orientador com contexto limpo; a banca é você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Registro                relatórios de etapa; decisões; commits por etapa</a:t>
            </a:r>
            <a:endParaRPr lang="en-US" sz="1500">
              <a:solidFill>
                <a:srgbClr val="F5F3ED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8FE0453E-D44A-21CF-31FC-9B4188732917}"/>
              </a:ext>
            </a:extLst>
          </p:cNvPr>
          <p:cNvSpPr/>
          <p:nvPr/>
        </p:nvSpPr>
        <p:spPr>
          <a:xfrm>
            <a:off x="640080" y="1053211"/>
            <a:ext cx="76200" cy="16764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Callout">
            <a:extLst>
              <a:ext uri="{FF2B5EF4-FFF2-40B4-BE49-F238E27FC236}">
                <a16:creationId xmlns:a16="http://schemas.microsoft.com/office/drawing/2014/main" id="{CFA4B371-6B69-53C2-B1B8-46FB56705589}"/>
              </a:ext>
            </a:extLst>
          </p:cNvPr>
          <p:cNvSpPr/>
          <p:nvPr/>
        </p:nvSpPr>
        <p:spPr>
          <a:xfrm>
            <a:off x="640080" y="2882011"/>
            <a:ext cx="10909300" cy="814832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2E3A2F"/>
                </a:solidFill>
                <a:latin typeface="DejaVu Sans"/>
              </a:rPr>
              <a:t>Teste final: outra pessoa clona a pasta, roda os scripts na ordem e obtém os mesmos números, sem abrir o Claude Code.</a:t>
            </a:r>
            <a:endParaRPr lang="en-US" sz="2000" b="1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6" name="FitCalloutBar">
            <a:extLst>
              <a:ext uri="{FF2B5EF4-FFF2-40B4-BE49-F238E27FC236}">
                <a16:creationId xmlns:a16="http://schemas.microsoft.com/office/drawing/2014/main" id="{F34C5507-226F-3AA2-EB42-85FEAA2EEDAC}"/>
              </a:ext>
            </a:extLst>
          </p:cNvPr>
          <p:cNvSpPr/>
          <p:nvPr/>
        </p:nvSpPr>
        <p:spPr>
          <a:xfrm>
            <a:off x="640080" y="2882011"/>
            <a:ext cx="63500" cy="814832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321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9.2  Uso responsável na pós-graduação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9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335B16DE-467C-B26C-ADDE-3AEAFA8D5A01}"/>
              </a:ext>
            </a:extLst>
          </p:cNvPr>
          <p:cNvSpPr txBox="1"/>
          <p:nvPr/>
        </p:nvSpPr>
        <p:spPr>
          <a:xfrm>
            <a:off x="640080" y="1053211"/>
            <a:ext cx="10909300" cy="249631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Você é autor e responsável por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cada linha de código e cada número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precisa conseguir explicá-los.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Declare o uso de IA conforme as normas do programa e do periódico.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Registre as falhas do agente no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diário de falhas da IA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(modelo em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docs/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): é material de aprendizado e de avaliação.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agente acelera o trabalho; a pergunta científica, o delineamento e o julgamento continuam sendo seus.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9427552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9.3  Tarefa e próxima seção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9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01DE4D31-9A6F-997A-E3D2-9EE3515AF4AB}"/>
              </a:ext>
            </a:extLst>
          </p:cNvPr>
          <p:cNvSpPr txBox="1"/>
          <p:nvPr/>
        </p:nvSpPr>
        <p:spPr>
          <a:xfrm>
            <a:off x="640080" y="1053211"/>
            <a:ext cx="10909300" cy="249631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Conclua as etapas 04 e 05 da análise do VCU e faça o teste do clone limpo.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Compare os seus números com os de referência (Slides 5.5, 5.6 e 7.7) e explique qualquer diferença.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Registre no diário de falhas pelo menos um erro do agente e o contexto que o teria evitado.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Seção 3: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o mesmo método aplicado a um ciclo completo de seleção genômica (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ciclo-gs-milho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).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8417474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9.4  Referências e documentação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2 · BLOCO 9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8E1DEB88-64FD-7DE8-D3E9-4DF853BF6526}"/>
              </a:ext>
            </a:extLst>
          </p:cNvPr>
          <p:cNvSpPr txBox="1"/>
          <p:nvPr/>
        </p:nvSpPr>
        <p:spPr>
          <a:xfrm>
            <a:off x="640080" y="1053211"/>
            <a:ext cx="10909300" cy="27767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Documentação do Claude Code: https://code.claude.com/docs (instalação, VS Code, memória, permissões, subagentes, skills, plugins, MCP, boas práticas).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Wilson, G. et al. (2017). Good enough practices in scientific computing. </a:t>
            </a:r>
            <a:r>
              <a:rPr lang="en-US" sz="2000" i="1">
                <a:solidFill>
                  <a:srgbClr val="2E3A2F"/>
                </a:solidFill>
                <a:latin typeface="DejaVu Sans"/>
              </a:rPr>
              <a:t>PLOS Computational Biology</a:t>
            </a:r>
            <a:r>
              <a:rPr lang="en-US" sz="2000">
                <a:solidFill>
                  <a:srgbClr val="2E3A2F"/>
                </a:solidFill>
                <a:latin typeface="DejaVu Sans"/>
              </a:rPr>
              <a:t>, 13(6), e1005510.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Positron: https://positron.posit.co · VS Code e R: https://code.visualstudio.com/docs/languages/r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Pacote </a:t>
            </a:r>
            <a:r>
              <a:rPr lang="en-US" sz="2000" b="1">
                <a:solidFill>
                  <a:srgbClr val="B7472A"/>
                </a:solidFill>
                <a:latin typeface="Consolas" panose="020B0609020204030204" pitchFamily="49" charset="0"/>
              </a:rPr>
              <a:t>btw</a:t>
            </a:r>
            <a:r>
              <a:rPr lang="en-US" sz="2000">
                <a:solidFill>
                  <a:srgbClr val="2E3A2F"/>
                </a:solidFill>
                <a:latin typeface="DejaVu Sans"/>
              </a:rPr>
              <a:t>: https://posit-dev.github.io/btw · Padrão Agent Skills: https://agentskills.io</a:t>
            </a:r>
          </a:p>
        </p:txBody>
      </p:sp>
    </p:spTree>
    <p:extLst>
      <p:ext uri="{BB962C8B-B14F-4D97-AF65-F5344CB8AC3E}">
        <p14:creationId xmlns:p14="http://schemas.microsoft.com/office/powerpoint/2010/main" val="223997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16780</Words>
  <Application>Microsoft Office PowerPoint</Application>
  <PresentationFormat>Widescreen</PresentationFormat>
  <Paragraphs>1082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Arial</vt:lpstr>
      <vt:lpstr>Calibri</vt:lpstr>
      <vt:lpstr>Consolas</vt:lpstr>
      <vt:lpstr>DejaVu Sans</vt:lpstr>
      <vt:lpstr>DejaVu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Eder Silva</cp:lastModifiedBy>
  <cp:revision>2</cp:revision>
  <dcterms:created xsi:type="dcterms:W3CDTF">2013-01-27T09:14:16Z</dcterms:created>
  <dcterms:modified xsi:type="dcterms:W3CDTF">2026-10-27T20:00:16Z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etDate">
    <vt:lpwstr>2026-10-27T14:37:50Z</vt:lpwstr>
  </property>
  <property fmtid="{D5CDD505-2E9C-101B-9397-08002B2CF9AE}" pid="4" name="MSIP_Label_2c76c141-ac86-40e5-abf2-c6f60e474cee_Method">
    <vt:lpwstr>Standard</vt:lpwstr>
  </property>
  <property fmtid="{D5CDD505-2E9C-101B-9397-08002B2CF9AE}" pid="5" name="MSIP_Label_2c76c141-ac86-40e5-abf2-c6f60e474cee_Name">
    <vt:lpwstr>2c76c141-ac86-40e5-abf2-c6f60e474cee</vt:lpwstr>
  </property>
  <property fmtid="{D5CDD505-2E9C-101B-9397-08002B2CF9AE}" pid="6" name="MSIP_Label_2c76c141-ac86-40e5-abf2-c6f60e474cee_SiteId">
    <vt:lpwstr>fcb2b37b-5da0-466b-9b83-0014b67a7c78</vt:lpwstr>
  </property>
  <property fmtid="{D5CDD505-2E9C-101B-9397-08002B2CF9AE}" pid="7" name="MSIP_Label_2c76c141-ac86-40e5-abf2-c6f60e474cee_ActionId">
    <vt:lpwstr>7e58aa73-7a3a-42f7-8135-f8ee99152278</vt:lpwstr>
  </property>
  <property fmtid="{D5CDD505-2E9C-101B-9397-08002B2CF9AE}" pid="8" name="MSIP_Label_2c76c141-ac86-40e5-abf2-c6f60e474cee_ContentBits">
    <vt:lpwstr>2</vt:lpwstr>
  </property>
  <property fmtid="{D5CDD505-2E9C-101B-9397-08002B2CF9AE}" pid="9" name="MSIP_Label_2c76c141-ac86-40e5-abf2-c6f60e474cee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RESTRICTED</vt:lpwstr>
  </property>
</Properties>
</file>