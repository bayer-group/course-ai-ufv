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5484475" cy="870743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DA3C0-5141-434F-873E-5D28F5AABC7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E6886-3D35-4C8E-9435-98CD9DBF0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Abra dizendo que esta seção estende a sessão 05: lá havia orientando e orientador em código; aqui o mesmo padrão serve a uma revisão bibliográfica curta. Deixe claro em 20 segundos: não vamos entregar 4 páginas publicáveis. Vamos mostrar papéis, gate humano e loop de veredito. Avise que o deck tem notas de apresentador e que a prática vive em projeto-revisao-gs.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2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o relógio. Na prática ao vivo o instrutor cola prompts do roteiro_aula.md. Se a turma for grande, faça a demo no projetor e peça que cada aluno acompanhe a decisão do gate (enviar ou não).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Leia os cinco objetivos sem aprofundar. O quarto é o mais importante pedagogicamente: multi-agent não remove a responsabilidade do aluno.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0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Gerencie expectativa. Quem quiser framework Python, diga que o curso prioriza Claude Code com agents em markdown — alinhado às sessões 05, 08 e 09.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55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Divider de bloco. Tempo: ~8 minutos. Conecte à sessão 05: lá o orientador lia com contexto limpo e devolvia bloqueantes. O mesmo padrão vale para texto científico.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77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Pergunte à turma: já pediram ao mesmo chat 'revise o que você escreveu'? Quase sempre o modelo é generoso consigo. Multi-agent força separação de papéis e de arquivos de entrega.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9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mentalmente a pasta .claude/agents/. Enfatize: multi-agent aqui é organização de trabalho, não magia. O custo é mais prompts e mais leitura; o ganho é rastreabilidade.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23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 a turma fez a sessão 05, use 30 segundos. Se não, diga só: já praticamos dois agentes em análise de VCU; agora cinco agentes em texto.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98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Divider. Desenhe no ar ou no quadro o fluxo aluno → escritor → orientador → gate → três revisores.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71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três revisores cobrem ângulos complementares: modelo e acurácia; desenho de programa; marcadores e conservação. Não peça profundidade de monografia — peçam veredito curto.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3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Este é o slide de governança. Multi-agent sem gate humano vira automação opaca. Na aula, o instrutor pode narrar a decisão em voz alta na primeira rodada.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14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Leia como checklist operacional. Na prática, os nomes de arquivo importam: rodada_1, rodada_2, rodada_3.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24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Divider. Deixe a regra de maioria explícita para evitar discussão procedural no meio da prática.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24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Se os três discordarem em 1–1–1, conta como não aprovado (precisa ≥2). Na demo, o instrutor pode forçar um REPROVADO didático na rodada 1.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21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Evite a tentação de 'só mais uma rodada' no projetor. O fechamento didático importa mais que o texto perfeito.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82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Mostre a árvore docs/ no explorador se possível. Auditoria é o argumento a favor de multi-agent neste curso.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68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Divider curto antes da prática. Abra MISSAO.md e referencias/README.md na tela se der tempo.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49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Âncora à sessão 06 (GBLUP) e 08 (paper 2001). Peça narrativa histórica + cautela, não tutorial de implementação.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29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Repita a sessão 08: alucinação de citação é o erro que o painel deve pegar. Se o escritor inventar, o gate do aluno deve barrar o envio.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95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Transição para a prática. Confirme que a pasta aberta é projeto-revisao-gs. Depois disso, saia do modo slides e use o roteiro.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904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Feche em um minuto. Se sobrar tempo, pergunte: onde mais no programa de melhoramento um painel de agentes faria sentido (QC, OCS, decisão de avanço)?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31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Agradeça. Lembre que o material é demonstração didática. Encaminhe dúvidas de instalação Claude Code ao guia da sessão 05.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E6886-3D35-4C8E-9435-98CD9DBF01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1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256A-442F-5473-3B21-BE6B66D72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560" y="1425038"/>
            <a:ext cx="11613356" cy="303147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0AD0B-93E2-4974-A502-65DC9445A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5560" y="4573421"/>
            <a:ext cx="11613356" cy="21022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43147-5675-01C8-2E78-0E453F7C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DAB6-9D41-20BB-ED7A-71120E11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E1189-DD39-9C1B-5601-4DB78A0C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6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DDA1-EABE-1E3F-F588-D85C865A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FC12-AAB9-329F-19ED-E2643B45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50B2A-1605-7AC9-6D7F-14073DA4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1BDDC-223A-423A-A79E-F8E88754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04579-19C8-F781-71CC-4A2EB725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5C56-DE5E-2BB9-762D-27D86F18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93" y="2170815"/>
            <a:ext cx="13355360" cy="362205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D5444-900C-F5EB-79D7-F2DBAE612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493" y="5827133"/>
            <a:ext cx="13355360" cy="19047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35FFA-8A76-A40A-4160-85BCCBE8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719C1-C07E-FBCD-F515-455A6E67A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C4641-6E7A-50A1-7804-B055B357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A00B-13ED-718D-AC6F-EAE111109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C208-6058-74BA-C348-743BE389C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4558" y="2317952"/>
            <a:ext cx="6580902" cy="5524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B4811-2504-A48C-C845-0D40C6724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9015" y="2317952"/>
            <a:ext cx="6580902" cy="5524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9A3BF-8CA6-91B8-8F07-8206FC61D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9C1D2-326A-DC4F-FE11-B9812B2B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146-B9FE-4725-F3E8-EF592B0B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4588-70FB-761C-9B13-951994B9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4" y="463592"/>
            <a:ext cx="13355360" cy="16830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7EA93-51D7-E675-6949-C0634BF8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575" y="2134532"/>
            <a:ext cx="6550658" cy="1046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14246-9D77-E6A4-C44C-C5F2F4100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575" y="3180634"/>
            <a:ext cx="6550658" cy="46782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404E5-DF17-3B5A-1292-5CFB523A0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39016" y="2134532"/>
            <a:ext cx="6582919" cy="1046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E98FE-3BAA-5E2B-4C30-103023734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39016" y="3180634"/>
            <a:ext cx="6582919" cy="46782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17867-3279-235E-C971-BABDA07A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D9532-805D-764E-7AD6-DFBC64E5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F48B3-5826-4606-6E5F-BC671756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C856-FE6A-EC10-712C-6E5961D2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8642-00FD-33ED-A570-25AA8A74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92D1D-D7F7-39D1-6B15-53085657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187E3-8617-6DA7-5DA5-400ADE4E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58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8CC4D-06A7-C0B6-81D7-953877DF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573E0-EB79-C4D4-6606-E7BB4F6F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58364-9BA1-B209-0137-E8C6C94F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4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DDB5-17B3-F67E-031C-A309B856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5" y="580496"/>
            <a:ext cx="4994146" cy="2031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2D7DF-3FBC-65BB-EB9F-08DBE55DE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920" y="1253712"/>
            <a:ext cx="7839015" cy="61879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E60E4-10C3-38F0-CEE6-9C3B86C53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575" y="2612231"/>
            <a:ext cx="4994146" cy="48394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7CF4F-B655-3CAE-8A30-9E830EC4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C2FA3-FDA7-AC36-4B82-0B7D3B2D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5BB38-7AA0-B020-7C45-DD3FBF4E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4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9F37-34E2-D940-692B-6B94AD65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5" y="580496"/>
            <a:ext cx="4994146" cy="2031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F13A24-1D87-4DC5-7FF1-4F8FA18EE22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582920" y="1253712"/>
            <a:ext cx="7839015" cy="61879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E2E63-9349-634C-4447-5AF0B8C57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575" y="2612231"/>
            <a:ext cx="4994146" cy="48394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FAB29-EDFD-AC22-0B91-4C0795B6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CCB6E-7BBF-8BBB-CCBC-9A65E840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63581-5BAB-DB10-BB85-B061E696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2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6AFD-29D6-C083-4D52-62792D9B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A9F13-3AB9-065E-30A8-5336CCCD0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1589-57E2-DEB9-BAF5-3398B8AA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7575-E050-5EBE-74C0-82618EF6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59ED5-6C8A-F4FE-D159-BF38E666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5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27474-5085-D490-E670-B9B684A44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81077" y="463591"/>
            <a:ext cx="3338840" cy="73791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BA5AB-01A7-45E8-DC22-5FD89E568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4558" y="463591"/>
            <a:ext cx="9822964" cy="73791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9D9FE-4498-1306-7652-CCD457BE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1F78E-AFE6-17CE-7227-3910A8C7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049CF-A802-B18B-3F33-F49DCD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42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E187-D9F3-82F5-63F5-1D041FF80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0F1E3-4A3B-C3E1-640C-29F2F1E5A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34EF0-E212-0F99-6091-8AA32BD9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696D-2B9B-B12A-D75F-C754BB3B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31647-0597-B4B2-68A3-B772DB8B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9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51AD4-ACC0-9930-9049-6DDFFDAF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558" y="463592"/>
            <a:ext cx="13355360" cy="1683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B9C0-9C19-F4EB-7E8B-53B534361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4558" y="2317952"/>
            <a:ext cx="13355360" cy="5524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B79CC-75D5-15C4-EF6C-7684E226F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59" y="8070507"/>
            <a:ext cx="3484007" cy="463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6EBB7-81BF-4832-BFEB-F67996E9C4E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2BD82-DD46-F9F2-116B-AE58EA02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29233" y="8070507"/>
            <a:ext cx="5226010" cy="463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830F-2F37-D47E-F0A9-9BC8C75B8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5911" y="8070507"/>
            <a:ext cx="3484007" cy="463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9B0D3-B778-4F2D-819E-1DD84AAEA5B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A7D17-8FF8-3741-8A1D-5D57756CF0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885863" y="8308658"/>
            <a:ext cx="1592262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84764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ADF1-794E-B510-0D8B-56C77DD2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Multi Agents — revisão sob papéis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D6423-03A6-CBED-76D8-1FF4CA316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FIT 796 · IA no melhoramento de plantas · UFV × Bayer × IDATA</a:t>
            </a:r>
          </a:p>
          <a:p>
            <a:r>
              <a:rPr lang="pt-BR" sz="1600"/>
              <a:t>• Demonstração ~60 min · Claude Code / Cursor agents</a:t>
            </a:r>
          </a:p>
          <a:p>
            <a:r>
              <a:rPr lang="pt-BR" sz="1600"/>
              <a:t>• Missão: mini-revisão sobre evolução da seleção genômica</a:t>
            </a:r>
          </a:p>
          <a:p>
            <a:r>
              <a:rPr lang="pt-BR" sz="1600"/>
              <a:t>• Não é paper real: o objetivo é a dinâmica multi-agente</a:t>
            </a:r>
          </a:p>
          <a:p>
            <a:r>
              <a:rPr lang="pt-BR" sz="1600"/>
              <a:t>• Prática em projeto-revisao-gs/ (abrir só essa pasta)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5529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E920-69F6-ABBB-7220-C840625E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Roteiro da seção (~60 min)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ADC00-A83C-97E9-87E6-C624499C9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0–12 min · Bloco 1 — O que é multi-agent</a:t>
            </a:r>
          </a:p>
          <a:p>
            <a:r>
              <a:rPr lang="pt-BR" sz="1600"/>
              <a:t>• 12–20 min · Blocos 2–3 — Arquitetura e loop</a:t>
            </a:r>
          </a:p>
          <a:p>
            <a:r>
              <a:rPr lang="pt-BR" sz="1600"/>
              <a:t>• 20–55 min · Bloco 4 + prática ao vivo</a:t>
            </a:r>
          </a:p>
          <a:p>
            <a:r>
              <a:rPr lang="pt-BR" sz="1600"/>
              <a:t>• 55–60 min · Fechamento e takeaways</a:t>
            </a:r>
          </a:p>
          <a:p>
            <a:r>
              <a:rPr lang="pt-BR" sz="1600"/>
              <a:t>• Se apertar: uma rodada completa; rodadas 2–3 em casa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52615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BD02-E27F-E833-3908-021B3B78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Objetivos de aprendizagem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2D55-D92D-2C5E-ABCE-CB4FE56CB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Distinguir um chat único de um sistema com papéis</a:t>
            </a:r>
          </a:p>
          <a:p>
            <a:r>
              <a:rPr lang="pt-BR" sz="1600"/>
              <a:t>• Descrever escritor → orientador → gate do aluno → 3 revisores</a:t>
            </a:r>
          </a:p>
          <a:p>
            <a:r>
              <a:rPr lang="pt-BR" sz="1600"/>
              <a:t>• Aplicar loop com veredito e limite de rodadas</a:t>
            </a:r>
          </a:p>
          <a:p>
            <a:r>
              <a:rPr lang="pt-BR" sz="1600"/>
              <a:t>• Registrar a decisão humana fora do agente (docs/decisoes.md)</a:t>
            </a:r>
          </a:p>
          <a:p>
            <a:r>
              <a:rPr lang="pt-BR" sz="1600"/>
              <a:t>• Criticar alucinação de citação com lista fechada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1596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1E11-050A-A33D-8C95-B1BB2FAC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O que esta seção não é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91B4C-7750-CFB5-962B-F85B7CFBA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Não é lab de GBLUP (sessão 06)</a:t>
            </a:r>
          </a:p>
          <a:p>
            <a:r>
              <a:rPr lang="pt-BR" sz="1600"/>
              <a:t>• Não é estudo de paper com um só LLM (sessão 08)</a:t>
            </a:r>
          </a:p>
          <a:p>
            <a:r>
              <a:rPr lang="pt-BR" sz="1600"/>
              <a:t>• Não é CrewAI, LangGraph nem API Python</a:t>
            </a:r>
          </a:p>
          <a:p>
            <a:r>
              <a:rPr lang="pt-BR" sz="1600"/>
              <a:t>• Não exige PDF completo nem 4 páginas finais em aula</a:t>
            </a:r>
          </a:p>
          <a:p>
            <a:r>
              <a:rPr lang="pt-BR" sz="1600"/>
              <a:t>• É demonstração: esboço de 600–900 palavras + pareceres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29244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C892-DE92-76B8-B883-D38B5C69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Bloco 1 — O que é multi-agent (8 min)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0C75D-1652-64AF-E881-B6F126751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SEÇÃO 12 — BLOCO 1</a:t>
            </a:r>
          </a:p>
          <a:p>
            <a:r>
              <a:rPr lang="pt-BR" sz="1600"/>
              <a:t>• Um LLM vs vários agentes com missão e ferramentas distintas</a:t>
            </a:r>
          </a:p>
          <a:p>
            <a:r>
              <a:rPr lang="pt-BR" sz="1600"/>
              <a:t>• Contexto limpo: o revisor não 'lembra' de ter escrito o texto</a:t>
            </a:r>
          </a:p>
          <a:p>
            <a:r>
              <a:rPr lang="pt-BR" sz="1600"/>
              <a:t>• Âncora: sessão 05 (orientando / orientador)</a:t>
            </a:r>
          </a:p>
          <a:p>
            <a:r>
              <a:rPr lang="pt-BR" sz="1600"/>
              <a:t>• Aqui: revisão bibliográfica, não código 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2055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A293-298C-1DAF-410D-9C3D5743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1.1 Um chat só: o que quebra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422EF-E82F-2678-9287-2A0DDA9E3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O mesmo modelo escreve e 'revisa' sem adversário real</a:t>
            </a:r>
          </a:p>
          <a:p>
            <a:r>
              <a:rPr lang="pt-BR" sz="1600"/>
              <a:t>• Contexto misturado: elogia o próprio rascunho</a:t>
            </a:r>
          </a:p>
          <a:p>
            <a:r>
              <a:rPr lang="pt-BR" sz="1600"/>
              <a:t>• Difícil auditar quem decidiu o quê</a:t>
            </a:r>
          </a:p>
          <a:p>
            <a:r>
              <a:rPr lang="pt-BR" sz="1600"/>
              <a:t>• Alucinação de DOI parece consenso interno</a:t>
            </a:r>
          </a:p>
          <a:p>
            <a:r>
              <a:rPr lang="pt-BR" sz="1600"/>
              <a:t>• Bom para rascunho; fraco para governança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5111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2EA5-11BE-5744-AE80-8732135B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1.2 Multi-agent: ideia mínima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E48AD-A07B-12D1-A668-565385672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Cada agente = perfil + missão + tools + formato de entrega</a:t>
            </a:r>
          </a:p>
          <a:p>
            <a:r>
              <a:rPr lang="pt-BR" sz="1600"/>
              <a:t>• Arquivos em .claude/agents/ (como na sessão 05)</a:t>
            </a:r>
          </a:p>
          <a:p>
            <a:r>
              <a:rPr lang="pt-BR" sz="1600"/>
              <a:t>• Artefactos em docs/: rascunhos e pareceres separados</a:t>
            </a:r>
          </a:p>
          <a:p>
            <a:r>
              <a:rPr lang="pt-BR" sz="1600"/>
              <a:t>• O humano orquestra: quem chama, quando, e se avança</a:t>
            </a:r>
          </a:p>
          <a:p>
            <a:r>
              <a:rPr lang="pt-BR" sz="1600"/>
              <a:t>• Não precisa de framework novo no curso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9574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7421-03ED-0B07-6C54-4902DE7D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1.3 Âncora sessão 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0CF0F-3DE6-AFFD-F5EA-B76DCF392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orientando.md implementava uma etapa do PLANO.md</a:t>
            </a:r>
          </a:p>
          <a:p>
            <a:r>
              <a:rPr lang="pt-BR" sz="1600"/>
              <a:t>• orientador.md lia com contexto limpo e listava bloqueantes</a:t>
            </a:r>
          </a:p>
          <a:p>
            <a:r>
              <a:rPr lang="pt-BR" sz="1600"/>
              <a:t>• Entrega em docs/etapas/ e docs/revisoes/</a:t>
            </a:r>
          </a:p>
          <a:p>
            <a:r>
              <a:rPr lang="pt-BR" sz="1600"/>
              <a:t>• Mesma filo: plano → agente sob regra → parecer → humano</a:t>
            </a:r>
          </a:p>
          <a:p>
            <a:r>
              <a:rPr lang="pt-BR" sz="1600"/>
              <a:t>• Sessão 12 troca código R por texto de revisão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25416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8607-E408-63CA-D566-EC89FA9A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Bloco 2 — Papéis e arquitetura (5 min)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49600-F1BC-A76B-9806-001E34AA0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SEÇÃO 12 — BLOCO 2</a:t>
            </a:r>
          </a:p>
          <a:p>
            <a:r>
              <a:rPr lang="pt-BR" sz="1600"/>
              <a:t>• Cinco agentes + o aluno no gate</a:t>
            </a:r>
          </a:p>
          <a:p>
            <a:r>
              <a:rPr lang="pt-BR" sz="1600"/>
              <a:t>• Escritor redige; orientador não edita o texto</a:t>
            </a:r>
          </a:p>
          <a:p>
            <a:r>
              <a:rPr lang="pt-BR" sz="1600"/>
              <a:t>• Três revisores finais com lentes distintas</a:t>
            </a:r>
          </a:p>
          <a:p>
            <a:r>
              <a:rPr lang="pt-BR" sz="1600"/>
              <a:t>• Decisão de envio ao painel: só o aluno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4094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E1AE-8655-09C6-77D3-F69390F7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2.1 Os cinco agentes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3992-8529-0072-F4FD-B694AE9BC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escritor — PhD em melhoramento; redige o esboço</a:t>
            </a:r>
          </a:p>
          <a:p>
            <a:r>
              <a:rPr lang="pt-BR" sz="1600"/>
              <a:t>• orientador — professor sênior; parecer Bloqueantes/Sugestões</a:t>
            </a:r>
          </a:p>
          <a:p>
            <a:r>
              <a:rPr lang="pt-BR" sz="1600"/>
              <a:t>• revisor-gq — genética quantitativa</a:t>
            </a:r>
          </a:p>
          <a:p>
            <a:r>
              <a:rPr lang="pt-BR" sz="1600"/>
              <a:t>• revisor-melhoramento — métodos de melhoramento</a:t>
            </a:r>
          </a:p>
          <a:p>
            <a:r>
              <a:rPr lang="pt-BR" sz="1600"/>
              <a:t>• revisor-molecular — genética molecular / germoplasma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1443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EEB2-D796-CFB2-2678-33FE634D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2.2 O aluno é o escritor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6A950-84A6-8EB4-6340-E8EC01EF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Você dirige o agente escritor (prompts + missão)</a:t>
            </a:r>
          </a:p>
          <a:p>
            <a:r>
              <a:rPr lang="pt-BR" sz="1600"/>
              <a:t>• Lê o parecer do orientador</a:t>
            </a:r>
          </a:p>
          <a:p>
            <a:r>
              <a:rPr lang="pt-BR" sz="1600"/>
              <a:t>• Decide: reescrever OU enviar ao painel</a:t>
            </a:r>
          </a:p>
          <a:p>
            <a:r>
              <a:rPr lang="pt-BR" sz="1600"/>
              <a:t>• Anota a decisão em docs/decisoes.md</a:t>
            </a:r>
          </a:p>
          <a:p>
            <a:r>
              <a:rPr lang="pt-BR" sz="1600"/>
              <a:t>• Sem o seu 'sim', os três revisores não entram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1449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54EE-7F68-C4E0-553B-497D26BF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2.3 Diagrama do fluxo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09BC-FE26-713A-249F-734B9E697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en-US" sz="1600"/>
              <a:t>• Aluno + /escritor → docs/rascunhos/rodada_N.md</a:t>
            </a:r>
          </a:p>
          <a:p>
            <a:r>
              <a:rPr lang="en-US" sz="1600"/>
              <a:t>• /orientador → docs/pareceres_orientador/rodada_N.md</a:t>
            </a:r>
          </a:p>
          <a:p>
            <a:r>
              <a:rPr lang="en-US" sz="1600"/>
              <a:t>• Gate do aluno (sim/não) → docs/decisoes.md</a:t>
            </a:r>
          </a:p>
          <a:p>
            <a:r>
              <a:rPr lang="en-US" sz="1600"/>
              <a:t>• Se sim: /revisor-gq + /revisor-melhoramento + /revisor-molecular</a:t>
            </a:r>
          </a:p>
          <a:p>
            <a:r>
              <a:rPr lang="en-US" sz="1600"/>
              <a:t>• Vereditos → docs/pareceres_revisores/</a:t>
            </a:r>
          </a:p>
        </p:txBody>
      </p:sp>
    </p:spTree>
    <p:extLst>
      <p:ext uri="{BB962C8B-B14F-4D97-AF65-F5344CB8AC3E}">
        <p14:creationId xmlns:p14="http://schemas.microsoft.com/office/powerpoint/2010/main" val="5641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8707-6197-9C9D-CC71-62428BDC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/>
              <a:t>Bloco 3 — Dinâmica e loop (5 min)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282FD-82B5-B805-2FC2-A0A1A77B2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SEÇÃO 12 — BLOCO 3</a:t>
            </a:r>
          </a:p>
          <a:p>
            <a:r>
              <a:rPr lang="pt-BR" sz="1600"/>
              <a:t>• Até 3 rodadas por sessão didática</a:t>
            </a:r>
          </a:p>
          <a:p>
            <a:r>
              <a:rPr lang="pt-BR" sz="1600"/>
              <a:t>• Veredito do painel: maioria (≥ 2 de 3 APROVADO)</a:t>
            </a:r>
          </a:p>
          <a:p>
            <a:r>
              <a:rPr lang="pt-BR" sz="1600"/>
              <a:t>• Se reprovado e N &lt; 3: volta ao escritor</a:t>
            </a:r>
          </a:p>
          <a:p>
            <a:r>
              <a:rPr lang="pt-BR" sz="1600"/>
              <a:t>• Se N = 3: encerra com versão final com ressalvas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87156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5C814-A252-D2F8-2894-71B283E9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3.1 Regra de veredito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605F4-60FB-459D-4BF8-E54E3EBCD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Cada revisor: APROVADO ou REPROVADO + bloqueantes</a:t>
            </a:r>
          </a:p>
          <a:p>
            <a:r>
              <a:rPr lang="pt-BR" sz="1600"/>
              <a:t>• Comitê aprova se ≥ 2 de 3 APROVADO</a:t>
            </a:r>
          </a:p>
          <a:p>
            <a:r>
              <a:rPr lang="pt-BR" sz="1600"/>
              <a:t>• Bloqueante = erro factual, citação inventada, lacuna grave</a:t>
            </a:r>
          </a:p>
          <a:p>
            <a:r>
              <a:rPr lang="pt-BR" sz="1600"/>
              <a:t>• Sugestão ≠ bloqueante (não impede sozinha)</a:t>
            </a:r>
          </a:p>
          <a:p>
            <a:r>
              <a:rPr lang="pt-BR" sz="1600"/>
              <a:t>• Consolide os três pareceres antes da próxima rodada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1170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0C09-E881-EE8E-BF69-26A4A3AF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3.2 Por que limitar a 3 rodadas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9B493-0431-5A55-5921-6867B37EC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Aula de 60 min: uma rodada completa já ensina o padrão</a:t>
            </a:r>
          </a:p>
          <a:p>
            <a:r>
              <a:rPr lang="pt-BR" sz="1600"/>
              <a:t>• Loop infinito esconde o custo de orquestração</a:t>
            </a:r>
          </a:p>
          <a:p>
            <a:r>
              <a:rPr lang="pt-BR" sz="1600"/>
              <a:t>• Na pesquisa real: prazo e escopo também limitam</a:t>
            </a:r>
          </a:p>
          <a:p>
            <a:r>
              <a:rPr lang="pt-BR" sz="1600"/>
              <a:t>• Rodadas 2–3 = homework opcional</a:t>
            </a:r>
          </a:p>
          <a:p>
            <a:r>
              <a:rPr lang="pt-BR" sz="1600"/>
              <a:t>• Ao parar: declare 'versão final com ressalvas'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8781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A8C8-6862-DD3B-F9E2-0ABD873E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3.3 Artefactos que importam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C6E9F-E4E0-68E7-538E-3AE240F5A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docs/rascunhos/rodada_N.md — texto do escritor</a:t>
            </a:r>
          </a:p>
          <a:p>
            <a:r>
              <a:rPr lang="pt-BR" sz="1600"/>
              <a:t>• docs/pareceres_orientador/rodada_N.md — gate pré-painel</a:t>
            </a:r>
          </a:p>
          <a:p>
            <a:r>
              <a:rPr lang="pt-BR" sz="1600"/>
              <a:t>• docs/decisoes.md — sim/não do aluno com data</a:t>
            </a:r>
          </a:p>
          <a:p>
            <a:r>
              <a:rPr lang="pt-BR" sz="1600"/>
              <a:t>• docs/pareceres_revisores/rodada_N_*.md — três vereditos</a:t>
            </a:r>
          </a:p>
          <a:p>
            <a:r>
              <a:rPr lang="pt-BR" sz="1600"/>
              <a:t>• Sem esses arquivos, a demo não é auditável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8856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3CA5-C710-6039-C15D-F41B7E9F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Bloco 4 — Missão e regras (4 min)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F44C2-5D98-28C9-9F6E-31A40CF07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SEÇÃO 12 — BLOCO 4</a:t>
            </a:r>
          </a:p>
          <a:p>
            <a:r>
              <a:rPr lang="pt-BR" sz="1600"/>
              <a:t>• Tema: evolução da seleção genômica</a:t>
            </a:r>
          </a:p>
          <a:p>
            <a:r>
              <a:rPr lang="pt-BR" sz="1600"/>
              <a:t>• Estrutura de ≤ 4 páginas; na aula: 600–900 palavras</a:t>
            </a:r>
          </a:p>
          <a:p>
            <a:r>
              <a:rPr lang="pt-BR" sz="1600"/>
              <a:t>• Só referências da lista fechada em referencias/</a:t>
            </a:r>
          </a:p>
          <a:p>
            <a:r>
              <a:rPr lang="pt-BR" sz="1600"/>
              <a:t>• Rótulos: [LISTA] [INFERÊNCIA] [CONHECIMENTO GERAL]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36564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DAF0-3BE4-5FD4-C218-4B1087A8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/>
              <a:t>4.1 Arco do texto (quatro partes)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D6DE2-882F-CEEA-8BEE-BB0DF8881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1 Antecedentes: MAS e limite de poucos marcadores</a:t>
            </a:r>
          </a:p>
          <a:p>
            <a:r>
              <a:rPr lang="pt-BR" sz="1600"/>
              <a:t>• 2 Marco: Meuwissen, Hayes &amp; Goddard (2001) e GBLUP</a:t>
            </a:r>
          </a:p>
          <a:p>
            <a:r>
              <a:rPr lang="pt-BR" sz="1600"/>
              <a:t>• 3 Ampliação: Bayes*, G×E, multi-ômicas (alto nível)</a:t>
            </a:r>
          </a:p>
          <a:p>
            <a:r>
              <a:rPr lang="pt-BR" sz="1600"/>
              <a:t>• 4 Limites: validação, viés, diversidade</a:t>
            </a:r>
          </a:p>
          <a:p>
            <a:r>
              <a:rPr lang="pt-BR" sz="1600"/>
              <a:t>• Não precisa de equações na demo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8243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DFB1-5350-3854-83CB-914CE719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4.2 Anti-alucinação (regras duras)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24EC1-19DB-1808-375E-DD82B8D51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Proibido inventar DOI, ano ou título</a:t>
            </a:r>
          </a:p>
          <a:p>
            <a:r>
              <a:rPr lang="pt-BR" sz="1600"/>
              <a:t>• Citar só o que está em referencias/README.md → [LISTA]</a:t>
            </a:r>
          </a:p>
          <a:p>
            <a:r>
              <a:rPr lang="pt-BR" sz="1600"/>
              <a:t>• Se generalizar sem item da lista → [CONHECIMENTO GERAL]</a:t>
            </a:r>
          </a:p>
          <a:p>
            <a:r>
              <a:rPr lang="pt-BR" sz="1600"/>
              <a:t>• Se deduzir a partir do texto → [INFERÊNCIA]</a:t>
            </a:r>
          </a:p>
          <a:p>
            <a:r>
              <a:rPr lang="pt-BR" sz="1600"/>
              <a:t>• Orientador e revisores tratam citação inventada como bloqueante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19238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3AF9-ABE3-4EAC-0B5F-3A58A4E5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4.3 Abrir a prática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F4650-648C-5673-F711-358FF01B0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No Cursor/Claude Code: File → Open Folder</a:t>
            </a:r>
          </a:p>
          <a:p>
            <a:r>
              <a:rPr lang="pt-BR" sz="1600"/>
              <a:t>• Escolha 12. Multi Agents/projeto-revisao-gs</a:t>
            </a:r>
          </a:p>
          <a:p>
            <a:r>
              <a:rPr lang="pt-BR" sz="1600"/>
              <a:t>• Não abra a pasta da seção inteira</a:t>
            </a:r>
          </a:p>
          <a:p>
            <a:r>
              <a:rPr lang="pt-BR" sz="1600"/>
              <a:t>• Siga roteiro_aula.md (prompts copy-paste)</a:t>
            </a:r>
          </a:p>
          <a:p>
            <a:r>
              <a:rPr lang="pt-BR" sz="1600"/>
              <a:t>• Comece pela rodada 1 com /escritor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330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278F-D606-2012-9066-B8A2157A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77E38-DD3D-BCE9-E94A-AC383F96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Multi-agent = papéis + entregas + contexto limpo</a:t>
            </a:r>
          </a:p>
          <a:p>
            <a:r>
              <a:rPr lang="pt-BR" sz="1600"/>
              <a:t>• O aluno no gate é parte do sistema, não ruído</a:t>
            </a:r>
          </a:p>
          <a:p>
            <a:r>
              <a:rPr lang="pt-BR" sz="1600"/>
              <a:t>• Veredito e limite de rodadas evitam loop infinito</a:t>
            </a:r>
          </a:p>
          <a:p>
            <a:r>
              <a:rPr lang="pt-BR" sz="1600"/>
              <a:t>• Lista fechada e rótulos reduzem citação inventada</a:t>
            </a:r>
          </a:p>
          <a:p>
            <a:r>
              <a:rPr lang="pt-BR" sz="1600"/>
              <a:t>• Mesma filo da sessão 05, agora em texto científico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8303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AA5F-53E1-A330-C297-FCD6C6AA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O que fazer depois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6B596-AADD-74F6-8C6F-4027DE985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rPr lang="pt-BR" sz="1600"/>
              <a:t>• Completar rodadas 2–3 em casa (opcional)</a:t>
            </a:r>
          </a:p>
          <a:p>
            <a:r>
              <a:rPr lang="pt-BR" sz="1600"/>
              <a:t>• Comparar um único chat vs esta pasta docs/</a:t>
            </a:r>
          </a:p>
          <a:p>
            <a:r>
              <a:rPr lang="pt-BR" sz="1600"/>
              <a:t>• Relacionar com sessão 11 (agentes sob regra e responsabilidade)</a:t>
            </a:r>
          </a:p>
          <a:p>
            <a:r>
              <a:rPr lang="pt-BR" sz="1600"/>
              <a:t>• Não publicar o esboço como revisão formal</a:t>
            </a:r>
          </a:p>
          <a:p>
            <a:r>
              <a:rPr lang="pt-BR" sz="1600"/>
              <a:t>• Rebuild do deck: _build_pptx.ps1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4681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1934</Words>
  <Application>Microsoft Office PowerPoint</Application>
  <PresentationFormat>Custom</PresentationFormat>
  <Paragraphs>176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Multi Agents — revisão sob papéis</vt:lpstr>
      <vt:lpstr>Roteiro da seção (~60 min)</vt:lpstr>
      <vt:lpstr>Objetivos de aprendizagem</vt:lpstr>
      <vt:lpstr>O que esta seção não é</vt:lpstr>
      <vt:lpstr>Bloco 1 — O que é multi-agent (8 min)</vt:lpstr>
      <vt:lpstr>1.1 Um chat só: o que quebra</vt:lpstr>
      <vt:lpstr>1.2 Multi-agent: ideia mínima</vt:lpstr>
      <vt:lpstr>1.3 Âncora sessão 05</vt:lpstr>
      <vt:lpstr>Bloco 2 — Papéis e arquitetura (5 min)</vt:lpstr>
      <vt:lpstr>2.1 Os cinco agentes</vt:lpstr>
      <vt:lpstr>2.2 O aluno é o escritor</vt:lpstr>
      <vt:lpstr>2.3 Diagrama do fluxo</vt:lpstr>
      <vt:lpstr>Bloco 3 — Dinâmica e loop (5 min)</vt:lpstr>
      <vt:lpstr>3.1 Regra de veredito</vt:lpstr>
      <vt:lpstr>3.2 Por que limitar a 3 rodadas</vt:lpstr>
      <vt:lpstr>3.3 Artefactos que importam</vt:lpstr>
      <vt:lpstr>Bloco 4 — Missão e regras (4 min)</vt:lpstr>
      <vt:lpstr>4.1 Arco do texto (quatro partes)</vt:lpstr>
      <vt:lpstr>4.2 Anti-alucinação (regras duras)</vt:lpstr>
      <vt:lpstr>4.3 Abrir a prática</vt:lpstr>
      <vt:lpstr>Takeaways</vt:lpstr>
      <vt:lpstr>O que fazer depois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Eder Silva</dc:creator>
  <cp:lastModifiedBy>Eder Silva</cp:lastModifiedBy>
  <cp:revision>1</cp:revision>
  <dcterms:created xsi:type="dcterms:W3CDTF">2026-10-26T18:45:30Z</dcterms:created>
  <dcterms:modified xsi:type="dcterms:W3CDTF">2026-10-26T18:45:32Z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2026-10-26T18:45:30Z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56025f21-cb57-497a-b291-017efae0843b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</Properties>
</file>