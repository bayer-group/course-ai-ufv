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84" r:id="rId24"/>
    <p:sldId id="282" r:id="rId25"/>
    <p:sldId id="283" r:id="rId26"/>
    <p:sldId id="285" r:id="rId27"/>
    <p:sldId id="286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4CF04CB-F1EA-693F-B2D4-EF19BF90BCEC}">
          <p14:sldIdLst>
            <p14:sldId id="256"/>
            <p14:sldId id="257"/>
          </p14:sldIdLst>
        </p14:section>
        <p14:section name="Etapa 0 — Estudar, não terceirizar" id="{E798615F-262F-3E22-55DC-DCB1E71904A6}">
          <p14:sldIdLst>
            <p14:sldId id="258"/>
            <p14:sldId id="259"/>
            <p14:sldId id="260"/>
            <p14:sldId id="261"/>
          </p14:sldIdLst>
        </p14:section>
        <p14:section name="Etapa 1 — Projeto de estudo" id="{90BF9B0F-79C0-70AA-8889-C0547A917656}">
          <p14:sldIdLst>
            <p14:sldId id="262"/>
            <p14:sldId id="263"/>
            <p14:sldId id="264"/>
          </p14:sldIdLst>
        </p14:section>
        <p14:section name="Etapa 2 — Leitura em camadas" id="{8B317E01-794E-26A2-091E-7F98A0072E79}">
          <p14:sldIdLst>
            <p14:sldId id="265"/>
            <p14:sldId id="266"/>
            <p14:sldId id="267"/>
            <p14:sldId id="268"/>
          </p14:sldIdLst>
        </p14:section>
        <p14:section name="Etapa 3 — Perguntas e crítica" id="{52B0FC2D-53D2-308D-0815-2E704387C154}">
          <p14:sldIdLst>
            <p14:sldId id="272"/>
            <p14:sldId id="269"/>
            <p14:sldId id="270"/>
            <p14:sldId id="271"/>
          </p14:sldIdLst>
        </p14:section>
        <p14:section name="Etapa 4 — Modelo mínimo" id="{91215918-D7E9-937E-A274-8F8BEEB9372B}">
          <p14:sldIdLst>
            <p14:sldId id="273"/>
            <p14:sldId id="274"/>
            <p14:sldId id="275"/>
            <p14:sldId id="276"/>
            <p14:sldId id="277"/>
            <p14:sldId id="284"/>
          </p14:sldIdLst>
        </p14:section>
        <p14:section name="Etapa 5 — Reprodução de um painel" id="{07DBD382-894A-5345-30CA-9305D0048FB1}">
          <p14:sldIdLst/>
        </p14:section>
        <p14:section name="Etapa 6 — Relatório" id="{2D4497F2-52B2-6D55-2510-B77A1BAE4BFA}">
          <p14:sldIdLst>
            <p14:sldId id="282"/>
            <p14:sldId id="283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9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90" y="3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r Silva" userId="9b7f41b4-798d-40cf-8f87-8e33ae7a0417" providerId="ADAL" clId="{DFF9E84E-5922-4F26-9EAD-8AB4E668133E}"/>
    <pc:docChg chg="undo custSel modSld">
      <pc:chgData name="Eder Silva" userId="9b7f41b4-798d-40cf-8f87-8e33ae7a0417" providerId="ADAL" clId="{DFF9E84E-5922-4F26-9EAD-8AB4E668133E}" dt="2026-10-26T14:08:01.647" v="11" actId="6549"/>
      <pc:docMkLst>
        <pc:docMk/>
      </pc:docMkLst>
      <pc:sldChg chg="modSp mod">
        <pc:chgData name="Eder Silva" userId="9b7f41b4-798d-40cf-8f87-8e33ae7a0417" providerId="ADAL" clId="{DFF9E84E-5922-4F26-9EAD-8AB4E668133E}" dt="2026-10-26T14:08:01.647" v="11" actId="6549"/>
        <pc:sldMkLst>
          <pc:docMk/>
          <pc:sldMk cId="0" sldId="263"/>
        </pc:sldMkLst>
        <pc:spChg chg="mod">
          <ac:chgData name="Eder Silva" userId="9b7f41b4-798d-40cf-8f87-8e33ae7a0417" providerId="ADAL" clId="{DFF9E84E-5922-4F26-9EAD-8AB4E668133E}" dt="2026-10-26T14:08:01.647" v="11" actId="6549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Eder Silva" userId="9b7f41b4-798d-40cf-8f87-8e33ae7a0417" providerId="ADAL" clId="{DFF9E84E-5922-4F26-9EAD-8AB4E668133E}" dt="2026-10-26T14:07:34.072" v="0" actId="14100"/>
        <pc:sldMkLst>
          <pc:docMk/>
          <pc:sldMk cId="0" sldId="266"/>
        </pc:sldMkLst>
        <pc:spChg chg="mod">
          <ac:chgData name="Eder Silva" userId="9b7f41b4-798d-40cf-8f87-8e33ae7a0417" providerId="ADAL" clId="{DFF9E84E-5922-4F26-9EAD-8AB4E668133E}" dt="2026-10-26T14:07:34.072" v="0" actId="14100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mod">
        <pc:chgData name="Eder Silva" userId="9b7f41b4-798d-40cf-8f87-8e33ae7a0417" providerId="ADAL" clId="{DFF9E84E-5922-4F26-9EAD-8AB4E668133E}" dt="2026-10-26T14:07:52.902" v="5" actId="1076"/>
        <pc:sldMkLst>
          <pc:docMk/>
          <pc:sldMk cId="0" sldId="284"/>
        </pc:sldMkLst>
        <pc:spChg chg="del">
          <ac:chgData name="Eder Silva" userId="9b7f41b4-798d-40cf-8f87-8e33ae7a0417" providerId="ADAL" clId="{DFF9E84E-5922-4F26-9EAD-8AB4E668133E}" dt="2026-10-26T14:07:50.656" v="4" actId="478"/>
          <ac:spMkLst>
            <pc:docMk/>
            <pc:sldMk cId="0" sldId="284"/>
            <ac:spMk id="2" creationId="{00000000-0000-0000-0000-000000000000}"/>
          </ac:spMkLst>
        </pc:spChg>
        <pc:spChg chg="add del mod">
          <ac:chgData name="Eder Silva" userId="9b7f41b4-798d-40cf-8f87-8e33ae7a0417" providerId="ADAL" clId="{DFF9E84E-5922-4F26-9EAD-8AB4E668133E}" dt="2026-10-26T14:07:52.902" v="5" actId="1076"/>
          <ac:spMkLst>
            <pc:docMk/>
            <pc:sldMk cId="0" sldId="284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363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Estudar e reproduzir um artigo científico com Claude Code</a:t>
            </a:r>
            <a:endParaRPr lang="en-US" sz="4000" dirty="0"/>
          </a:p>
        </p:txBody>
      </p:sp>
      <p:sp>
        <p:nvSpPr>
          <p:cNvPr id="3" name="texto-0"/>
          <p:cNvSpPr txBox="1"/>
          <p:nvPr/>
        </p:nvSpPr>
        <p:spPr>
          <a:xfrm>
            <a:off x="658368" y="502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t>IA NO MELHORAMENTO GENETICO: FUNDAMENTOS E APLICACOES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t>FIT 796 . UFV . Novembro 2026</a:t>
            </a:r>
            <a:endParaRPr lang="en-US" sz="1200" dirty="0"/>
          </a:p>
        </p:txBody>
      </p:sp>
      <p:sp>
        <p:nvSpPr>
          <p:cNvPr id="4" name="texto-1"/>
          <p:cNvSpPr txBox="1"/>
          <p:nvPr/>
        </p:nvSpPr>
        <p:spPr>
          <a:xfrm>
            <a:off x="9974275" y="502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</a:t>
            </a:r>
            <a:endParaRPr lang="en-US" sz="800" dirty="0"/>
          </a:p>
        </p:txBody>
      </p:sp>
      <p:sp>
        <p:nvSpPr>
          <p:cNvPr id="5" name="ret-2"/>
          <p:cNvSpPr/>
          <p:nvPr/>
        </p:nvSpPr>
        <p:spPr>
          <a:xfrm>
            <a:off x="99742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ret-3"/>
          <p:cNvSpPr/>
          <p:nvPr/>
        </p:nvSpPr>
        <p:spPr>
          <a:xfrm>
            <a:off x="101342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ret-4"/>
          <p:cNvSpPr/>
          <p:nvPr/>
        </p:nvSpPr>
        <p:spPr>
          <a:xfrm>
            <a:off x="102943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ret-5"/>
          <p:cNvSpPr/>
          <p:nvPr/>
        </p:nvSpPr>
        <p:spPr>
          <a:xfrm>
            <a:off x="104543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ret-6"/>
          <p:cNvSpPr/>
          <p:nvPr/>
        </p:nvSpPr>
        <p:spPr>
          <a:xfrm>
            <a:off x="106143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ret-7"/>
          <p:cNvSpPr/>
          <p:nvPr/>
        </p:nvSpPr>
        <p:spPr>
          <a:xfrm>
            <a:off x="107743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ret-8"/>
          <p:cNvSpPr/>
          <p:nvPr/>
        </p:nvSpPr>
        <p:spPr>
          <a:xfrm>
            <a:off x="109343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ret-9"/>
          <p:cNvSpPr/>
          <p:nvPr/>
        </p:nvSpPr>
        <p:spPr>
          <a:xfrm>
            <a:off x="110944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ret-10"/>
          <p:cNvSpPr/>
          <p:nvPr/>
        </p:nvSpPr>
        <p:spPr>
          <a:xfrm>
            <a:off x="112544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ret-11"/>
          <p:cNvSpPr/>
          <p:nvPr/>
        </p:nvSpPr>
        <p:spPr>
          <a:xfrm>
            <a:off x="114144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ret-12"/>
          <p:cNvSpPr/>
          <p:nvPr/>
        </p:nvSpPr>
        <p:spPr>
          <a:xfrm>
            <a:off x="99742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ret-13"/>
          <p:cNvSpPr/>
          <p:nvPr/>
        </p:nvSpPr>
        <p:spPr>
          <a:xfrm>
            <a:off x="101342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ret-14"/>
          <p:cNvSpPr/>
          <p:nvPr/>
        </p:nvSpPr>
        <p:spPr>
          <a:xfrm>
            <a:off x="102943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ret-15"/>
          <p:cNvSpPr/>
          <p:nvPr/>
        </p:nvSpPr>
        <p:spPr>
          <a:xfrm>
            <a:off x="104543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ret-16"/>
          <p:cNvSpPr/>
          <p:nvPr/>
        </p:nvSpPr>
        <p:spPr>
          <a:xfrm>
            <a:off x="106143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ret-17"/>
          <p:cNvSpPr/>
          <p:nvPr/>
        </p:nvSpPr>
        <p:spPr>
          <a:xfrm>
            <a:off x="107743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ret-18"/>
          <p:cNvSpPr/>
          <p:nvPr/>
        </p:nvSpPr>
        <p:spPr>
          <a:xfrm>
            <a:off x="109343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ret-19"/>
          <p:cNvSpPr/>
          <p:nvPr/>
        </p:nvSpPr>
        <p:spPr>
          <a:xfrm>
            <a:off x="110944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ret-20"/>
          <p:cNvSpPr/>
          <p:nvPr/>
        </p:nvSpPr>
        <p:spPr>
          <a:xfrm>
            <a:off x="112544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ret-21"/>
          <p:cNvSpPr/>
          <p:nvPr/>
        </p:nvSpPr>
        <p:spPr>
          <a:xfrm>
            <a:off x="114144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ret-22"/>
          <p:cNvSpPr/>
          <p:nvPr/>
        </p:nvSpPr>
        <p:spPr>
          <a:xfrm>
            <a:off x="99742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ret-23"/>
          <p:cNvSpPr/>
          <p:nvPr/>
        </p:nvSpPr>
        <p:spPr>
          <a:xfrm>
            <a:off x="101342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ret-24"/>
          <p:cNvSpPr/>
          <p:nvPr/>
        </p:nvSpPr>
        <p:spPr>
          <a:xfrm>
            <a:off x="102943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ret-25"/>
          <p:cNvSpPr/>
          <p:nvPr/>
        </p:nvSpPr>
        <p:spPr>
          <a:xfrm>
            <a:off x="104543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ret-26"/>
          <p:cNvSpPr/>
          <p:nvPr/>
        </p:nvSpPr>
        <p:spPr>
          <a:xfrm>
            <a:off x="106143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ret-27"/>
          <p:cNvSpPr/>
          <p:nvPr/>
        </p:nvSpPr>
        <p:spPr>
          <a:xfrm>
            <a:off x="107743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ret-28"/>
          <p:cNvSpPr/>
          <p:nvPr/>
        </p:nvSpPr>
        <p:spPr>
          <a:xfrm>
            <a:off x="109343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ret-29"/>
          <p:cNvSpPr/>
          <p:nvPr/>
        </p:nvSpPr>
        <p:spPr>
          <a:xfrm>
            <a:off x="110944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ret-30"/>
          <p:cNvSpPr/>
          <p:nvPr/>
        </p:nvSpPr>
        <p:spPr>
          <a:xfrm>
            <a:off x="112544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ret-31"/>
          <p:cNvSpPr/>
          <p:nvPr/>
        </p:nvSpPr>
        <p:spPr>
          <a:xfrm>
            <a:off x="114144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ret-32"/>
          <p:cNvSpPr/>
          <p:nvPr/>
        </p:nvSpPr>
        <p:spPr>
          <a:xfrm>
            <a:off x="99742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ret-33"/>
          <p:cNvSpPr/>
          <p:nvPr/>
        </p:nvSpPr>
        <p:spPr>
          <a:xfrm>
            <a:off x="101342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ret-34"/>
          <p:cNvSpPr/>
          <p:nvPr/>
        </p:nvSpPr>
        <p:spPr>
          <a:xfrm>
            <a:off x="102943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ret-35"/>
          <p:cNvSpPr/>
          <p:nvPr/>
        </p:nvSpPr>
        <p:spPr>
          <a:xfrm>
            <a:off x="104543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ret-36"/>
          <p:cNvSpPr/>
          <p:nvPr/>
        </p:nvSpPr>
        <p:spPr>
          <a:xfrm>
            <a:off x="106143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ret-37"/>
          <p:cNvSpPr/>
          <p:nvPr/>
        </p:nvSpPr>
        <p:spPr>
          <a:xfrm>
            <a:off x="107743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ret-38"/>
          <p:cNvSpPr/>
          <p:nvPr/>
        </p:nvSpPr>
        <p:spPr>
          <a:xfrm>
            <a:off x="109343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ret-39"/>
          <p:cNvSpPr/>
          <p:nvPr/>
        </p:nvSpPr>
        <p:spPr>
          <a:xfrm>
            <a:off x="110944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ret-40"/>
          <p:cNvSpPr/>
          <p:nvPr/>
        </p:nvSpPr>
        <p:spPr>
          <a:xfrm>
            <a:off x="112544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ret-41"/>
          <p:cNvSpPr/>
          <p:nvPr/>
        </p:nvSpPr>
        <p:spPr>
          <a:xfrm>
            <a:off x="114144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" name="texto-42"/>
          <p:cNvSpPr txBox="1"/>
          <p:nvPr/>
        </p:nvSpPr>
        <p:spPr>
          <a:xfrm>
            <a:off x="9974275" y="1435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</a:t>
            </a:r>
            <a:endParaRPr lang="en-US" sz="800" dirty="0"/>
          </a:p>
        </p:txBody>
      </p:sp>
      <p:sp>
        <p:nvSpPr>
          <p:cNvPr id="46" name="ret-43"/>
          <p:cNvSpPr/>
          <p:nvPr/>
        </p:nvSpPr>
        <p:spPr>
          <a:xfrm>
            <a:off x="99742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ret-44"/>
          <p:cNvSpPr/>
          <p:nvPr/>
        </p:nvSpPr>
        <p:spPr>
          <a:xfrm>
            <a:off x="101342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ret-45"/>
          <p:cNvSpPr/>
          <p:nvPr/>
        </p:nvSpPr>
        <p:spPr>
          <a:xfrm>
            <a:off x="102943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ret-46"/>
          <p:cNvSpPr/>
          <p:nvPr/>
        </p:nvSpPr>
        <p:spPr>
          <a:xfrm>
            <a:off x="104543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ret-47"/>
          <p:cNvSpPr/>
          <p:nvPr/>
        </p:nvSpPr>
        <p:spPr>
          <a:xfrm>
            <a:off x="106143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ret-48"/>
          <p:cNvSpPr/>
          <p:nvPr/>
        </p:nvSpPr>
        <p:spPr>
          <a:xfrm>
            <a:off x="107743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ret-49"/>
          <p:cNvSpPr/>
          <p:nvPr/>
        </p:nvSpPr>
        <p:spPr>
          <a:xfrm>
            <a:off x="109343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ret-50"/>
          <p:cNvSpPr/>
          <p:nvPr/>
        </p:nvSpPr>
        <p:spPr>
          <a:xfrm>
            <a:off x="110944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ret-51"/>
          <p:cNvSpPr/>
          <p:nvPr/>
        </p:nvSpPr>
        <p:spPr>
          <a:xfrm>
            <a:off x="112544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ret-52"/>
          <p:cNvSpPr/>
          <p:nvPr/>
        </p:nvSpPr>
        <p:spPr>
          <a:xfrm>
            <a:off x="114144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ret-53"/>
          <p:cNvSpPr/>
          <p:nvPr/>
        </p:nvSpPr>
        <p:spPr>
          <a:xfrm>
            <a:off x="99742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ret-54"/>
          <p:cNvSpPr/>
          <p:nvPr/>
        </p:nvSpPr>
        <p:spPr>
          <a:xfrm>
            <a:off x="101342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ret-55"/>
          <p:cNvSpPr/>
          <p:nvPr/>
        </p:nvSpPr>
        <p:spPr>
          <a:xfrm>
            <a:off x="102943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ret-56"/>
          <p:cNvSpPr/>
          <p:nvPr/>
        </p:nvSpPr>
        <p:spPr>
          <a:xfrm>
            <a:off x="104543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ret-57"/>
          <p:cNvSpPr/>
          <p:nvPr/>
        </p:nvSpPr>
        <p:spPr>
          <a:xfrm>
            <a:off x="106143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ret-58"/>
          <p:cNvSpPr/>
          <p:nvPr/>
        </p:nvSpPr>
        <p:spPr>
          <a:xfrm>
            <a:off x="107743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ret-59"/>
          <p:cNvSpPr/>
          <p:nvPr/>
        </p:nvSpPr>
        <p:spPr>
          <a:xfrm>
            <a:off x="109343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ret-60"/>
          <p:cNvSpPr/>
          <p:nvPr/>
        </p:nvSpPr>
        <p:spPr>
          <a:xfrm>
            <a:off x="110944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" name="ret-61"/>
          <p:cNvSpPr/>
          <p:nvPr/>
        </p:nvSpPr>
        <p:spPr>
          <a:xfrm>
            <a:off x="112544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ret-62"/>
          <p:cNvSpPr/>
          <p:nvPr/>
        </p:nvSpPr>
        <p:spPr>
          <a:xfrm>
            <a:off x="114144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" name="ret-63"/>
          <p:cNvSpPr/>
          <p:nvPr/>
        </p:nvSpPr>
        <p:spPr>
          <a:xfrm>
            <a:off x="99742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ret-64"/>
          <p:cNvSpPr/>
          <p:nvPr/>
        </p:nvSpPr>
        <p:spPr>
          <a:xfrm>
            <a:off x="101342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" name="ret-65"/>
          <p:cNvSpPr/>
          <p:nvPr/>
        </p:nvSpPr>
        <p:spPr>
          <a:xfrm>
            <a:off x="102943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ret-66"/>
          <p:cNvSpPr/>
          <p:nvPr/>
        </p:nvSpPr>
        <p:spPr>
          <a:xfrm>
            <a:off x="104543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" name="ret-67"/>
          <p:cNvSpPr/>
          <p:nvPr/>
        </p:nvSpPr>
        <p:spPr>
          <a:xfrm>
            <a:off x="106143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" name="ret-68"/>
          <p:cNvSpPr/>
          <p:nvPr/>
        </p:nvSpPr>
        <p:spPr>
          <a:xfrm>
            <a:off x="107743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" name="ret-69"/>
          <p:cNvSpPr/>
          <p:nvPr/>
        </p:nvSpPr>
        <p:spPr>
          <a:xfrm>
            <a:off x="109343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ret-70"/>
          <p:cNvSpPr/>
          <p:nvPr/>
        </p:nvSpPr>
        <p:spPr>
          <a:xfrm>
            <a:off x="110944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" name="ret-71"/>
          <p:cNvSpPr/>
          <p:nvPr/>
        </p:nvSpPr>
        <p:spPr>
          <a:xfrm>
            <a:off x="112544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ret-72"/>
          <p:cNvSpPr/>
          <p:nvPr/>
        </p:nvSpPr>
        <p:spPr>
          <a:xfrm>
            <a:off x="114144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6" name="ret-73"/>
          <p:cNvSpPr/>
          <p:nvPr/>
        </p:nvSpPr>
        <p:spPr>
          <a:xfrm>
            <a:off x="99742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ret-74"/>
          <p:cNvSpPr/>
          <p:nvPr/>
        </p:nvSpPr>
        <p:spPr>
          <a:xfrm>
            <a:off x="101342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8" name="ret-75"/>
          <p:cNvSpPr/>
          <p:nvPr/>
        </p:nvSpPr>
        <p:spPr>
          <a:xfrm>
            <a:off x="102943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ret-76"/>
          <p:cNvSpPr/>
          <p:nvPr/>
        </p:nvSpPr>
        <p:spPr>
          <a:xfrm>
            <a:off x="104543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" name="ret-77"/>
          <p:cNvSpPr/>
          <p:nvPr/>
        </p:nvSpPr>
        <p:spPr>
          <a:xfrm>
            <a:off x="106143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" name="ret-78"/>
          <p:cNvSpPr/>
          <p:nvPr/>
        </p:nvSpPr>
        <p:spPr>
          <a:xfrm>
            <a:off x="107743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" name="ret-79"/>
          <p:cNvSpPr/>
          <p:nvPr/>
        </p:nvSpPr>
        <p:spPr>
          <a:xfrm>
            <a:off x="109343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ret-80"/>
          <p:cNvSpPr/>
          <p:nvPr/>
        </p:nvSpPr>
        <p:spPr>
          <a:xfrm>
            <a:off x="110944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ret-81"/>
          <p:cNvSpPr/>
          <p:nvPr/>
        </p:nvSpPr>
        <p:spPr>
          <a:xfrm>
            <a:off x="112544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5" name="ret-82"/>
          <p:cNvSpPr/>
          <p:nvPr/>
        </p:nvSpPr>
        <p:spPr>
          <a:xfrm>
            <a:off x="114144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" name="texto-83"/>
          <p:cNvSpPr txBox="1"/>
          <p:nvPr/>
        </p:nvSpPr>
        <p:spPr>
          <a:xfrm>
            <a:off x="658368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t>PRATICA 01</a:t>
            </a:r>
            <a:endParaRPr lang="en-US" sz="1800" dirty="0"/>
          </a:p>
        </p:txBody>
      </p:sp>
      <p:sp>
        <p:nvSpPr>
          <p:cNvPr id="87" name="texto-84"/>
          <p:cNvSpPr txBox="1"/>
          <p:nvPr/>
        </p:nvSpPr>
        <p:spPr>
          <a:xfrm>
            <a:off x="658368" y="3727704"/>
            <a:ext cx="10515600" cy="26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t>Carga: 2 h . Roteiro: roteiro_aula.Rmd . Repositorio: estudo-artigo</a:t>
            </a:r>
            <a:endParaRPr lang="en-US" sz="1500" dirty="0"/>
          </a:p>
        </p:txBody>
      </p:sp>
      <p:sp>
        <p:nvSpPr>
          <p:cNvPr id="88" name="ret-85"/>
          <p:cNvSpPr/>
          <p:nvPr/>
        </p:nvSpPr>
        <p:spPr>
          <a:xfrm>
            <a:off x="658368" y="4522485"/>
            <a:ext cx="10515600" cy="1649715"/>
          </a:xfrm>
          <a:prstGeom prst="roundRect">
            <a:avLst>
              <a:gd name="adj" fmla="val 4434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o-86"/>
          <p:cNvSpPr txBox="1"/>
          <p:nvPr/>
        </p:nvSpPr>
        <p:spPr>
          <a:xfrm>
            <a:off x="886968" y="4659645"/>
            <a:ext cx="10104120" cy="1396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t>Objetivo: usar o Claude Code como parceiro de estudo do artigo de Meuwissen, Hayes &amp; Goddard (2001) sobre selecao genomica. O aluno sai capaz de explicar o artigo, reproduzir o padrao LS &lt; RR-BLUP e ter um repositorio auditavel.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t>Mensagem: a IA acelera a compreensao quando e obrigada a citar a fonte, a separar o que o artigo diz do que ela infere e a testar o entendimento com numeros.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Roteiro da seção</a:t>
            </a:r>
            <a:endParaRPr lang="en-US" sz="2800" dirty="0"/>
          </a:p>
        </p:txBody>
      </p:sp>
      <p:graphicFrame>
        <p:nvGraphicFramePr>
          <p:cNvPr id="3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3225600"/>
        </p:xfrm>
        <a:graphic>
          <a:graphicData uri="http://schemas.openxmlformats.org/drawingml/2006/table">
            <a:tbl>
              <a:tblPr/>
              <a:tblGrid>
                <a:gridCol w="886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2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3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5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r>
                        <a:t>Etapa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Tema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Conceito de Claude Code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Tempo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Estudar, nao terceirizar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Riscos do resumo sem fonte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 min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Projeto de estudo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CLAUDE.md em modo estudo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 min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Leitura em camadas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Extracao com citacao de pagina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30 min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Perguntas e critica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Modo socratico; aluno pergunta e e perguntado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 min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Modelo minimo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LS vs RR-BLUP; equacao do melhorista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30 min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Fechamento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Relatorio e checklist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 min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4470858"/>
            <a:ext cx="11057839" cy="1043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Artigo-guia: Meuwissen, T.H.E., Hayes, B.J. &amp; Goddard, M.E. (2001). Prediction of Total Genetic Value Using Genome-Wide Dense Marker Maps. Genetics, 157, 1819-1829.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PRATICA 01 . ROTEIRO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Estudar, nao terceirizar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t>10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t>ETAPA 0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/>
              <a:t>0.1   </a:t>
            </a:r>
            <a:r>
              <a:rPr sz="2800" b="1"/>
              <a:t>O experimento de abertura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64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sz="2100"/>
              <a:t>Sem o PDF na pasta: Resuma o artigo de Meuwissen, Hayes e Goddard sobre predicao de valor genetico com mapas de marcadores densos.</a:t>
            </a:r>
            <a:endParaRPr lang="en-US" sz="2100" dirty="0"/>
          </a:p>
          <a:p>
            <a:pPr algn="l"/>
            <a:r>
              <a:rPr sz="2100"/>
              <a:t>O agente leu o artigo ou reconstruiu o tema com base no treinamento?</a:t>
            </a:r>
          </a:p>
          <a:p>
            <a:pPr algn="l"/>
            <a:r>
              <a:rPr sz="2100"/>
              <a:t>Os numeros citados (acuracias, tamanho do genoma, Ne) estao no artigo? Em qual pagina?</a:t>
            </a:r>
          </a:p>
          <a:p>
            <a:pPr algn="l"/>
            <a:r>
              <a:rPr sz="2100"/>
              <a:t>Ele confundiu com outros trabalhos dos mesmos autores sobre selecao genomica?</a:t>
            </a:r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   </a:t>
            </a:r>
            <a:r>
              <a:rPr lang="en-US" sz="2800" b="1" dirty="0">
                <a:solidFill>
                  <a:schemeClr val="tx1"/>
                </a:solidFill>
              </a:rPr>
              <a:t>Três modos de uso</a:t>
            </a:r>
            <a:endParaRPr lang="en-US" sz="2800" dirty="0"/>
          </a:p>
        </p:txBody>
      </p:sp>
      <p:graphicFrame>
        <p:nvGraphicFramePr>
          <p:cNvPr id="6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1433600"/>
        </p:xfrm>
        <a:graphic>
          <a:graphicData uri="http://schemas.openxmlformats.org/drawingml/2006/table">
            <a:tbl>
              <a:tblPr/>
              <a:tblGrid>
                <a:gridCol w="1348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8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0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Modo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Pedido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Resultado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Terceirizar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"Resuma o artigo"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Repete frases; não explica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Consultar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 que e BayesB?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Entende pedaços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Estudar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Faca perguntas ate eu explicar a Tabela 2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Constrói entendimento e expõe lacunas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   </a:t>
            </a:r>
            <a:r>
              <a:rPr lang="en-US" sz="2800" b="1" dirty="0">
                <a:solidFill>
                  <a:schemeClr val="tx1"/>
                </a:solidFill>
              </a:rPr>
              <a:t>Regras do estudo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64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Toda afirmação tem seção, página, figura ou tabela.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Rótulos: </a:t>
            </a:r>
            <a:r>
              <a:rPr lang="en-US" sz="2100" b="1" dirty="0">
                <a:solidFill>
                  <a:schemeClr val="tx1"/>
                </a:solidFill>
              </a:rPr>
              <a:t>[ARTIGO]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2100" b="1" dirty="0">
                <a:solidFill>
                  <a:schemeClr val="tx1"/>
                </a:solidFill>
              </a:rPr>
              <a:t>[INFERÊNCIA]</a:t>
            </a:r>
            <a:r>
              <a:rPr lang="en-US" sz="2100" dirty="0">
                <a:solidFill>
                  <a:schemeClr val="tx1"/>
                </a:solidFill>
              </a:rPr>
              <a:t>, </a:t>
            </a:r>
            <a:r>
              <a:rPr lang="en-US" sz="2100" b="1" dirty="0">
                <a:solidFill>
                  <a:schemeClr val="tx1"/>
                </a:solidFill>
              </a:rPr>
              <a:t>[CONHECIMENTO GERAL]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spcAft>
                <a:spcPts val="672"/>
              </a:spcAft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Informação ausente → "NÃO CONSTA NO ARTIGO".</a:t>
            </a:r>
            <a:endParaRPr lang="en-US" sz="2100" dirty="0"/>
          </a:p>
          <a:p>
            <a:pPr marL="381000" indent="-381000" algn="l">
              <a:lnSpc>
                <a:spcPct val="105000"/>
              </a:lnSpc>
              <a:buSzPct val="100000"/>
              <a:buFont typeface="+mj-lt"/>
              <a:buAutoNum type="arabicPeriod"/>
            </a:pPr>
            <a:r>
              <a:rPr lang="en-US" sz="2100" dirty="0">
                <a:solidFill>
                  <a:schemeClr val="tx1"/>
                </a:solidFill>
              </a:rPr>
              <a:t>Entendimento só é aceito quando reproduz um número.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0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Projeto de estudo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t>ETAPA 1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  </a:t>
            </a:r>
            <a:r>
              <a:rPr lang="en-US" sz="2800" b="1" dirty="0">
                <a:solidFill>
                  <a:schemeClr val="tx1"/>
                </a:solidFill>
              </a:rPr>
              <a:t>Estrutura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661465"/>
          </a:xfrm>
          <a:prstGeom prst="roundRect">
            <a:avLst>
              <a:gd name="adj" fmla="val 3302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496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err="1"/>
              <a:t>estudo-artigo</a:t>
            </a:r>
            <a:r>
              <a:t>/</a:t>
            </a:r>
            <a:endParaRPr lang="en-US" sz="1386" dirty="0"/>
          </a:p>
          <a:p>
            <a:pPr algn="l"/>
            <a:r>
              <a:rPr sz="1400" dirty="0"/>
              <a:t>  CLAUDE.md, PLANO.md</a:t>
            </a:r>
          </a:p>
          <a:p>
            <a:pPr algn="l"/>
            <a:r>
              <a:rPr sz="1400" dirty="0"/>
              <a:t>  </a:t>
            </a:r>
            <a:r>
              <a:rPr sz="1400" dirty="0" err="1"/>
              <a:t>artigo</a:t>
            </a:r>
            <a:r>
              <a:rPr sz="1400" dirty="0"/>
              <a:t>/Meuwissen_Hayes_Goddard_GS.pdf</a:t>
            </a:r>
          </a:p>
          <a:p>
            <a:pPr algn="l"/>
            <a:r>
              <a:rPr sz="1400" dirty="0"/>
              <a:t>  </a:t>
            </a:r>
            <a:r>
              <a:rPr sz="1400" dirty="0" err="1"/>
              <a:t>notas</a:t>
            </a:r>
            <a:r>
              <a:rPr sz="1400" dirty="0"/>
              <a:t>/ (</a:t>
            </a:r>
            <a:r>
              <a:rPr sz="1400" dirty="0" err="1"/>
              <a:t>mapa</a:t>
            </a:r>
            <a:r>
              <a:rPr sz="1400" dirty="0"/>
              <a:t>, </a:t>
            </a:r>
            <a:r>
              <a:rPr sz="1400" dirty="0" err="1"/>
              <a:t>glossario</a:t>
            </a:r>
            <a:r>
              <a:rPr sz="1400" dirty="0"/>
              <a:t>, </a:t>
            </a:r>
            <a:r>
              <a:rPr sz="1400" dirty="0" err="1"/>
              <a:t>perguntas</a:t>
            </a:r>
            <a:r>
              <a:rPr sz="1400" dirty="0"/>
              <a:t>)</a:t>
            </a:r>
          </a:p>
          <a:p>
            <a:pPr algn="l"/>
            <a:r>
              <a:rPr sz="1400" dirty="0"/>
              <a:t>  config/</a:t>
            </a:r>
            <a:r>
              <a:rPr sz="1400" dirty="0" err="1"/>
              <a:t>parametros_artigo.yaml</a:t>
            </a:r>
            <a:endParaRPr sz="1400" dirty="0"/>
          </a:p>
          <a:p>
            <a:pPr algn="l"/>
            <a:r>
              <a:rPr sz="1400" dirty="0"/>
              <a:t>  R/10_modelo_minimo.R</a:t>
            </a:r>
          </a:p>
          <a:p>
            <a:pPr algn="l"/>
            <a:r>
              <a:rPr sz="1400" dirty="0"/>
              <a:t>  DESVIOS.md, REPRODUTIBILIDADE.md</a:t>
            </a:r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/>
              <a:t>1.2   </a:t>
            </a:r>
            <a:r>
              <a:rPr sz="2800" b="1"/>
              <a:t>CLAUDE.md: contrato de comportamento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sz="2100"/>
              <a:t>Regras que o agente segue durante toda a sessao:</a:t>
            </a:r>
            <a:endParaRPr lang="en-US" sz="2100" dirty="0"/>
          </a:p>
          <a:p>
            <a:pPr algn="l"/>
            <a:r>
              <a:rPr sz="2100"/>
              <a:t>1. Origem: toda afirmacao com (Secao X, p. Y) ou (Tab. N)</a:t>
            </a:r>
          </a:p>
          <a:p>
            <a:pPr algn="l"/>
            <a:r>
              <a:rPr sz="2100"/>
              <a:t>2. Rotulos: [ARTIGO], [INFERENCIA], [CONHECIMENTO GERAL]</a:t>
            </a:r>
          </a:p>
          <a:p>
            <a:pPr algn="l"/>
            <a:r>
              <a:rPr sz="2100"/>
              <a:t>3. Ausente -&gt; "NAO CONSTA NO ARTIGO" (nunca inventar)</a:t>
            </a:r>
          </a:p>
          <a:p>
            <a:pPr algn="l"/>
            <a:r>
              <a:rPr sz="2100"/>
              <a:t>4. Nao confundir com outros artigos dos mesmos autores</a:t>
            </a:r>
          </a:p>
          <a:p>
            <a:pPr algn="l"/>
            <a:r>
              <a:rPr sz="2100"/>
              <a:t>5. Todo parametro de config/ com campo fonte e status</a:t>
            </a:r>
          </a:p>
          <a:p>
            <a:pPr algn="l"/>
            <a:r>
              <a:rPr sz="2100"/>
              <a:t>Verifique que o CLAUDE.md esta correto antes de continuar.</a:t>
            </a:r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Leitura em camadas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t>30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t>ETAPA 2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/>
              <a:t>2.1   </a:t>
            </a:r>
            <a:r>
              <a:rPr sz="2800" b="1"/>
              <a:t>Camada 1: Mapa do artigo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39"/>
            <a:ext cx="11057839" cy="2122655"/>
          </a:xfrm>
          <a:prstGeom prst="roundRect">
            <a:avLst>
              <a:gd name="adj" fmla="val 5338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863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sz="1400"/>
              <a:t>Prompt: Leia artigo/...pdf. Escreva notas/01_mapa_do_artigo.md:</a:t>
            </a:r>
            <a:endParaRPr lang="en-US" sz="1386" dirty="0"/>
          </a:p>
          <a:p>
            <a:pPr algn="l"/>
            <a:r>
              <a:rPr sz="1400"/>
              <a:t>  1. Pergunta cientifica central, em uma frase</a:t>
            </a:r>
          </a:p>
          <a:p>
            <a:pPr algn="l"/>
            <a:r>
              <a:rPr sz="1400"/>
              <a:t>  2. Problema tecnico (graus de liberdade)</a:t>
            </a:r>
          </a:p>
          <a:p>
            <a:pPr algn="l"/>
            <a:r>
              <a:rPr sz="1400"/>
              <a:t>  3. Os 4 metodos comparados (nomes exatos)</a:t>
            </a:r>
          </a:p>
          <a:p>
            <a:pPr algn="l"/>
            <a:r>
              <a:rPr sz="1400"/>
              <a:t>  4. Metrica principal e como e calculada</a:t>
            </a:r>
          </a:p>
          <a:p>
            <a:pPr algn="l"/>
            <a:r>
              <a:rPr sz="1400"/>
              <a:t>  5. As 4 conclusoes com figura/tabela de suporte</a:t>
            </a:r>
          </a:p>
          <a:p>
            <a:pPr algn="l"/>
            <a:r>
              <a:rPr sz="1400"/>
              <a:t>Use rotulos [ARTIGO] e [INFERENCIA] com paginas.</a:t>
            </a:r>
          </a:p>
          <a:p>
            <a:pPr algn="l"/>
            <a:endParaRPr sz="1400"/>
          </a:p>
          <a:p>
            <a:pPr algn="l"/>
            <a:r>
              <a:rPr sz="1400"/>
              <a:t>VERIFICACAO: abra o PDF e confira pelo menos 3 afirmacoes.</a:t>
            </a:r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/>
              <a:t>2.2   </a:t>
            </a:r>
            <a:r>
              <a:rPr sz="2800" b="1"/>
              <a:t>Camada 2: Glossario operacional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214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sz="2100"/>
              <a:t>Prompt: Crie notas/02_glossario.md com definicao do artigo</a:t>
            </a:r>
            <a:endParaRPr lang="en-US" sz="2100" dirty="0"/>
          </a:p>
          <a:p>
            <a:pPr algn="l"/>
            <a:r>
              <a:rPr sz="2100"/>
              <a:t>(com pagina), definicao usual e diferencas quando houver.</a:t>
            </a:r>
          </a:p>
          <a:p>
            <a:pPr algn="l"/>
            <a:endParaRPr sz="2100"/>
          </a:p>
          <a:p>
            <a:pPr algn="l"/>
            <a:r>
              <a:rPr sz="2100"/>
              <a:t>Termos obrigatorios:</a:t>
            </a:r>
          </a:p>
          <a:p>
            <a:pPr algn="l"/>
            <a:r>
              <a:rPr sz="2100"/>
              <a:t>  haplotipo de marcadores . desequilibrio de ligacao (LD)</a:t>
            </a:r>
          </a:p>
          <a:p>
            <a:pPr algn="l"/>
            <a:r>
              <a:rPr sz="2100"/>
              <a:t>  acuracia r_TBV,EBV (como difere de h2) . shrinkage</a:t>
            </a:r>
          </a:p>
          <a:p>
            <a:pPr algn="l"/>
            <a:r>
              <a:rPr sz="2100"/>
              <a:t>  BayesA vs BayesB (diferenca na priori) . Gibbs sampling</a:t>
            </a:r>
          </a:p>
          <a:p>
            <a:pPr algn="l"/>
            <a:r>
              <a:rPr sz="2100"/>
              <a:t>  coeficiente de regressao b (por que b &lt; 1 = inflacao)</a:t>
            </a:r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/>
              <a:t>2.3   </a:t>
            </a:r>
            <a:r>
              <a:rPr sz="2800" b="1"/>
              <a:t>Camada 3: Parametros em YAML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sz="2100"/>
              <a:t>Prompt: Extraia para config/parametros_artigo.yaml TODOS os</a:t>
            </a:r>
            <a:endParaRPr lang="en-US" sz="2100" dirty="0"/>
          </a:p>
          <a:p>
            <a:pPr algn="l"/>
            <a:r>
              <a:rPr sz="2100"/>
              <a:t>parametros da simulacao (p. 1820-1823). Cada um com:</a:t>
            </a:r>
          </a:p>
          <a:p>
            <a:pPr algn="l"/>
            <a:r>
              <a:rPr sz="2100"/>
              <a:t>  valor, unidade, fonte (pagina/tabela), status.</a:t>
            </a:r>
          </a:p>
          <a:p>
            <a:pPr algn="l"/>
            <a:endParaRPr sz="2100"/>
          </a:p>
          <a:p>
            <a:pPr algn="l"/>
            <a:r>
              <a:rPr sz="2100"/>
              <a:t>Exemplo de saida esperada:</a:t>
            </a:r>
          </a:p>
          <a:p>
            <a:pPr algn="l"/>
            <a:r>
              <a:rPr sz="2100"/>
              <a:t>  h2:</a:t>
            </a:r>
          </a:p>
          <a:p>
            <a:pPr algn="l"/>
            <a:r>
              <a:rPr sz="2100"/>
              <a:t>    valor: 0.5</a:t>
            </a:r>
          </a:p>
          <a:p>
            <a:pPr algn="l"/>
            <a:r>
              <a:rPr sz="2100"/>
              <a:t>    fonte: "Metodos, p. 1821"</a:t>
            </a:r>
          </a:p>
          <a:p>
            <a:pPr algn="l"/>
            <a:r>
              <a:rPr sz="2100"/>
              <a:t>    status: informado</a:t>
            </a:r>
          </a:p>
          <a:p>
            <a:pPr algn="l"/>
            <a:endParaRPr sz="2100"/>
          </a:p>
          <a:p>
            <a:pPr algn="l"/>
            <a:r>
              <a:rPr sz="2100"/>
              <a:t>E a etapa com mais parametros "inventados" pelo agente.</a:t>
            </a:r>
          </a:p>
          <a:p>
            <a:pPr algn="l"/>
            <a:r>
              <a:rPr sz="2100"/>
              <a:t>O YAML com fonte em cada linha torna a invencao visivel.</a:t>
            </a:r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/>
              <a:t>2.4   </a:t>
            </a:r>
            <a:r>
              <a:rPr sz="2800" b="1"/>
              <a:t>Camada 4: Tabela 2 em detalhe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70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sz="2100"/>
              <a:t>Prompt: Para a Tabela 2 (p. 1824):</a:t>
            </a:r>
            <a:endParaRPr lang="en-US" sz="2100" dirty="0"/>
          </a:p>
          <a:p>
            <a:pPr algn="l"/>
            <a:r>
              <a:rPr sz="2100"/>
              <a:t>  O que sao as colunas b e r? Diferenca entre elas?</a:t>
            </a:r>
          </a:p>
          <a:p>
            <a:pPr algn="l"/>
            <a:r>
              <a:rPr sz="2100"/>
              <a:t>  Por que b &lt;&lt; 1 para LS e b ~ 1 para BayesB?</a:t>
            </a:r>
          </a:p>
          <a:p>
            <a:pPr algn="l"/>
            <a:r>
              <a:rPr sz="2100"/>
              <a:t>  Que numero devo reproduzir a partir desta tabela?</a:t>
            </a:r>
          </a:p>
          <a:p>
            <a:pPr algn="l"/>
            <a:endParaRPr sz="2100"/>
          </a:p>
          <a:p>
            <a:pPr algn="l"/>
            <a:r>
              <a:rPr sz="2100"/>
              <a:t>Valores de referencia (Tabela 2, geracao 1003):</a:t>
            </a:r>
          </a:p>
          <a:p>
            <a:pPr algn="l"/>
            <a:r>
              <a:rPr sz="2100"/>
              <a:t>  LS:     r = 0,318   b = 0,285</a:t>
            </a:r>
          </a:p>
          <a:p>
            <a:pPr algn="l"/>
            <a:r>
              <a:rPr sz="2100"/>
              <a:t>  BLUP:   r = 0,732   b = 0,896</a:t>
            </a:r>
          </a:p>
          <a:p>
            <a:pPr algn="l"/>
            <a:r>
              <a:rPr sz="2100"/>
              <a:t>  BayesA: r = 0,798   b = 0,827</a:t>
            </a:r>
          </a:p>
          <a:p>
            <a:pPr algn="l"/>
            <a:r>
              <a:rPr sz="2100"/>
              <a:t>  BayesB: r = 0,848   b = 0,946</a:t>
            </a:r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Perguntas e modo socratico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t>20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t>ETAPA 3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/>
              <a:t>3.1   </a:t>
            </a:r>
            <a:r>
              <a:rPr sz="2800" b="1"/>
              <a:t>O aluno pergunta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64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sz="2100"/>
              <a:t>Por que LS e insoluvel com ~50.000 haplotipos e 2.200 fenotipos?</a:t>
            </a:r>
            <a:endParaRPr lang="en-US" sz="2100" dirty="0"/>
          </a:p>
          <a:p>
            <a:pPr algn="l"/>
            <a:r>
              <a:rPr sz="2100"/>
              <a:t>Como o BLUP contorna o problema? Qual premissa ele impoe?</a:t>
            </a:r>
          </a:p>
          <a:p>
            <a:pPr algn="l"/>
            <a:r>
              <a:rPr sz="2100"/>
              <a:t>Qual a diferenca entre BayesA e BayesB? Por que BayesB e mais preciso?</a:t>
            </a:r>
          </a:p>
          <a:p>
            <a:pPr algn="l"/>
            <a:r>
              <a:rPr sz="2100"/>
              <a:t>O que a diferenca r = 0,32 (LS) vs 0,85 (BayesB) significa na pratica?</a:t>
            </a:r>
          </a:p>
          <a:p>
            <a:pPr algn="l"/>
            <a:r>
              <a:rPr sz="2100"/>
              <a:t>Por que a acuracia cai ao longo das geracoes (Tabela 5)?</a:t>
            </a:r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/>
              <a:t>3.2   </a:t>
            </a:r>
            <a:r>
              <a:rPr sz="2800" b="1"/>
              <a:t>O agente pergunta (modo socratico)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sz="2100"/>
              <a:t>Prompt:</a:t>
            </a:r>
            <a:endParaRPr lang="en-US" sz="2100" dirty="0"/>
          </a:p>
          <a:p>
            <a:pPr algn="l"/>
            <a:r>
              <a:rPr sz="2100"/>
              <a:t>Aja como examinador de qualificacao em genetica quantitativa.</a:t>
            </a:r>
          </a:p>
          <a:p>
            <a:pPr algn="l"/>
            <a:r>
              <a:rPr sz="2100"/>
              <a:t>Faca-me uma pergunta por vez sobre Meuwissen et al. (2001),</a:t>
            </a:r>
          </a:p>
          <a:p>
            <a:pPr algn="l"/>
            <a:r>
              <a:rPr sz="2100"/>
              <a:t>comecando pelo problema dos graus de liberdade e aumentando</a:t>
            </a:r>
          </a:p>
          <a:p>
            <a:pPr algn="l"/>
            <a:r>
              <a:rPr sz="2100"/>
              <a:t>a dificuldade. Espere minha resposta, avalie-a com base no</a:t>
            </a:r>
          </a:p>
          <a:p>
            <a:pPr algn="l"/>
            <a:r>
              <a:rPr sz="2100"/>
              <a:t>artigo (com pagina) e so entao avance.</a:t>
            </a:r>
          </a:p>
          <a:p>
            <a:pPr algn="l"/>
            <a:r>
              <a:rPr sz="2100"/>
              <a:t>Registre as perguntas em notas/03_perguntas.md.</a:t>
            </a:r>
          </a:p>
          <a:p>
            <a:pPr algn="l"/>
            <a:endParaRPr sz="2100"/>
          </a:p>
          <a:p>
            <a:pPr algn="l"/>
            <a:r>
              <a:rPr sz="2100"/>
              <a:t>Explicar e a forma mais rapida de descobrir o que nao se entendeu.</a:t>
            </a:r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Modelo minimo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t>30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t>ETAPA 4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/>
              <a:t>4.1   </a:t>
            </a:r>
            <a:r>
              <a:rPr sz="2800" b="1"/>
              <a:t>Gabarito teorico antes do codigo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sz="2100"/>
              <a:t>deltaG/ano = i . r . sigma_g / L</a:t>
            </a:r>
            <a:endParaRPr lang="en-US" sz="2100" dirty="0"/>
          </a:p>
          <a:p>
            <a:pPr algn="l"/>
            <a:endParaRPr lang="en-US" sz="2100" dirty="0"/>
          </a:p>
          <a:p>
            <a:pPr algn="l"/>
            <a:r>
              <a:rPr sz="2100"/>
              <a:t>Convencional (progenies): r = 0,70; L = 5 anos -&gt; deltaG = 0,20</a:t>
            </a:r>
          </a:p>
          <a:p>
            <a:pPr algn="l"/>
            <a:r>
              <a:rPr sz="2100"/>
              <a:t>Genomica (BayesB):        r = 0,85; L = 1 ano  -&gt; deltaG = 1,19</a:t>
            </a:r>
          </a:p>
          <a:p>
            <a:pPr algn="l"/>
            <a:r>
              <a:rPr sz="2100"/>
              <a:t>i = 1,4 (20% selecionados), sigma_g = 1,0 (Vg = 1, Metodos p.1821)</a:t>
            </a:r>
          </a:p>
          <a:p>
            <a:pPr algn="l"/>
            <a:endParaRPr sz="2100"/>
          </a:p>
          <a:p>
            <a:pPr algn="l"/>
            <a:r>
              <a:rPr sz="2100"/>
              <a:t>Razao de ganho esperada: ~6x a favor da selecao genomica.</a:t>
            </a:r>
          </a:p>
          <a:p>
            <a:pPr algn="l"/>
            <a:r>
              <a:rPr sz="2100"/>
              <a:t>Confira na p. 1821 e Tabela 2 antes de continuar.</a:t>
            </a:r>
          </a:p>
        </p:txBody>
      </p:sp>
      <p:sp>
        <p:nvSpPr>
          <p:cNvPr id="4" name="texto-1"/>
          <p:cNvSpPr txBox="1"/>
          <p:nvPr/>
        </p:nvSpPr>
        <p:spPr>
          <a:xfrm>
            <a:off x="566928" y="1587099"/>
            <a:ext cx="11057839" cy="1214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/>
              <a:t>4.2   </a:t>
            </a:r>
            <a:r>
              <a:rPr sz="2800" b="1"/>
              <a:t>Simulacao minima: LS vs RR-BLUP</a:t>
            </a:r>
            <a:endParaRPr lang="en-US" sz="2800" dirty="0"/>
          </a:p>
        </p:txBody>
      </p:sp>
      <p:graphicFrame>
        <p:nvGraphicFramePr>
          <p:cNvPr id="21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1700560"/>
        </p:xfrm>
        <a:graphic>
          <a:graphicData uri="http://schemas.openxmlformats.org/drawingml/2006/table">
            <a:tbl>
              <a:tblPr/>
              <a:tblGrid>
                <a:gridCol w="1951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5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55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35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5360">
                <a:tc>
                  <a:txBody>
                    <a:bodyPr/>
                    <a:lstStyle/>
                    <a:p>
                      <a:r>
                        <a:t>Parametro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Modelo minimo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Artigo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Fonte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r>
                        <a:t>n_ind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2.200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p. 1821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r>
                        <a:t>n_markers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~50.000 haplotipos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Abstract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r>
                        <a:t>n_qtl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~1.000 posicoes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p. 1820</a:t>
                      </a:r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26" name="texto-prompt"/>
          <p:cNvSpPr txBox="1"/>
          <p:nvPr/>
        </p:nvSpPr>
        <p:spPr>
          <a:xfrm>
            <a:off x="566928" y="3200000"/>
            <a:ext cx="11057839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/>
              <a:t>Prompt: Crie R/10_modelo_minimo.R com set.seed(2001):</a:t>
            </a:r>
          </a:p>
          <a:p>
            <a:pPr algn="l"/>
            <a:r>
              <a:rPr sz="1800"/>
              <a:t>  n_ind=200, n_markers=100, n_qtl=5, h2=0.5</a:t>
            </a:r>
          </a:p>
          <a:p>
            <a:pPr algn="l"/>
            <a:r>
              <a:rPr sz="1800"/>
              <a:t>  Simular X, beta_true, fenotipos, particionar treino/teste,</a:t>
            </a:r>
          </a:p>
          <a:p>
            <a:pPr algn="l"/>
            <a:r>
              <a:rPr sz="1800"/>
              <a:t>  LS (solve+crossprod), RR-BLUP (lambda), calcular r e b.</a:t>
            </a:r>
          </a:p>
          <a:p>
            <a:pPr algn="l"/>
            <a:r>
              <a:rPr sz="1800"/>
              <a:t>  So base R, sem dependencias externas.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/>
              <a:t>4.3   </a:t>
            </a:r>
            <a:r>
              <a:rPr sz="2800" b="1"/>
              <a:t>Comparacao com a Tabela 2 (p. 1824)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2763995" y="1085240"/>
            <a:ext cx="6663705" cy="4822491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m-1" descr="Convencional versus duas par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723" y="1194968"/>
            <a:ext cx="6444249" cy="4603035"/>
          </a:xfrm>
          <a:prstGeom prst="rect">
            <a:avLst/>
          </a:prstGeom>
        </p:spPr>
      </p:pic>
      <p:sp>
        <p:nvSpPr>
          <p:cNvPr id="5" name="texto-2"/>
          <p:cNvSpPr txBox="1"/>
          <p:nvPr/>
        </p:nvSpPr>
        <p:spPr>
          <a:xfrm>
            <a:off x="566928" y="6044892"/>
            <a:ext cx="11057839" cy="24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sz="1800"/>
              <a:t>Tabela que o modelo minimo deve imprimir:</a:t>
            </a:r>
            <a:endParaRPr lang="en-US" sz="1400" dirty="0"/>
          </a:p>
          <a:p>
            <a:pPr algn="l"/>
            <a:endParaRPr lang="en-US" sz="1400" dirty="0"/>
          </a:p>
          <a:p>
            <a:pPr algn="l"/>
            <a:r>
              <a:rPr sz="1800"/>
              <a:t>  Metodo   r_modelo  b_modelo  r_artigo  b_artigo</a:t>
            </a:r>
          </a:p>
          <a:p>
            <a:pPr algn="l"/>
            <a:r>
              <a:rPr sz="1800"/>
              <a:t>  LS       ???       ???       0,318     0,285</a:t>
            </a:r>
          </a:p>
          <a:p>
            <a:pPr algn="l"/>
            <a:r>
              <a:rPr sz="1800"/>
              <a:t>  RR-BLUP  ???       ???       0,732     ---</a:t>
            </a:r>
          </a:p>
          <a:p>
            <a:pPr algn="l"/>
            <a:endParaRPr sz="1800"/>
          </a:p>
          <a:p>
            <a:pPr algn="l"/>
            <a:r>
              <a:rPr sz="1800"/>
              <a:t>Padrao esperado: r(LS) &lt; r(RR-BLUP) e b(LS) &lt;&lt; 1.</a:t>
            </a:r>
          </a:p>
          <a:p>
            <a:pPr algn="l"/>
            <a:r>
              <a:rPr sz="1800"/>
              <a:t>Se nao, ha erro no codigo.</a:t>
            </a:r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/>
              <a:t>4.4   </a:t>
            </a:r>
            <a:r>
              <a:rPr sz="2800" b="1"/>
              <a:t>O que o modelo minimo ensina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32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sz="2100"/>
              <a:t>Com p &gt; n, solve(crossprod(X)) falha: precisa lambda*I para solucao unica.</a:t>
            </a:r>
            <a:endParaRPr lang="en-US" sz="2100" dirty="0"/>
          </a:p>
          <a:p>
            <a:pPr algn="l"/>
            <a:r>
              <a:rPr sz="2100"/>
              <a:t>O encolhimento muda b, nao apenas r: LS infla variancia dos GEBVs.</a:t>
            </a:r>
          </a:p>
          <a:p>
            <a:pPr algn="l"/>
            <a:r>
              <a:rPr sz="2100"/>
              <a:t>lambda = sigma2_e / sigma2_beta tem interpretacao biologica (derivado de h2).</a:t>
            </a:r>
          </a:p>
          <a:p>
            <a:pPr algn="l"/>
            <a:r>
              <a:rPr sz="2100"/>
              <a:t>Mesmo com 100x menos marcadores, a ordenacao LS &lt; RR-BLUP se mantem.</a:t>
            </a:r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ETAPA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-0"/>
          <p:cNvSpPr txBox="1"/>
          <p:nvPr/>
        </p:nvSpPr>
        <p:spPr>
          <a:xfrm>
            <a:off x="566928" y="1085240"/>
            <a:ext cx="11057839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/>
              <a:t>1. A acuracia do RR-BLUP e maior que a do LS?</a:t>
            </a:r>
          </a:p>
          <a:p>
            <a:pPr algn="l"/>
            <a:r>
              <a:rPr sz="2100"/>
              <a:t>   Por que o encolhimento ajuda?</a:t>
            </a:r>
          </a:p>
          <a:p>
            <a:pPr algn="l"/>
            <a:endParaRPr sz="2100"/>
          </a:p>
          <a:p>
            <a:pPr algn="l"/>
            <a:r>
              <a:rPr sz="2100"/>
              <a:t>2. O valor de b para LS esta abaixo de 1?</a:t>
            </a:r>
          </a:p>
          <a:p>
            <a:pPr algn="l"/>
            <a:r>
              <a:rPr sz="2100"/>
              <a:t>   (EBVs inflados)</a:t>
            </a:r>
          </a:p>
          <a:p>
            <a:pPr algn="l"/>
            <a:endParaRPr sz="2100"/>
          </a:p>
          <a:p>
            <a:pPr algn="l"/>
            <a:r>
              <a:rPr sz="2100"/>
              <a:t>3. O padrao (LS &lt; RR-BLUP) e coerente com a Tabela 2?</a:t>
            </a:r>
          </a:p>
          <a:p>
            <a:pPr algn="l"/>
            <a:endParaRPr sz="2100"/>
          </a:p>
          <a:p>
            <a:pPr algn="l"/>
            <a:r>
              <a:rPr sz="2100"/>
              <a:t>So avance para o fechamento quando responder as tres.</a:t>
            </a:r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/>
              <a:t>PRATICA 01 . ETAPA 4</a:t>
            </a:r>
          </a:p>
        </p:txBody>
      </p:sp>
      <p:sp>
        <p:nvSpPr>
          <p:cNvPr id="5" name="titulo-checkpoint"/>
          <p:cNvSpPr txBox="1"/>
          <p:nvPr/>
        </p:nvSpPr>
        <p:spPr>
          <a:xfrm>
            <a:off x="566927" y="370260"/>
            <a:ext cx="110578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 dirty="0"/>
              <a:t>4.5   </a:t>
            </a:r>
            <a:r>
              <a:rPr sz="2800" b="1" dirty="0"/>
              <a:t>Checkpoint: </a:t>
            </a:r>
            <a:r>
              <a:rPr sz="2800" b="1" dirty="0" err="1"/>
              <a:t>responda</a:t>
            </a:r>
            <a:r>
              <a:rPr sz="2800" b="1" dirty="0"/>
              <a:t> antes de </a:t>
            </a:r>
            <a:r>
              <a:rPr sz="2800" b="1" dirty="0" err="1"/>
              <a:t>continuar</a:t>
            </a:r>
            <a:endParaRPr sz="28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t>Relatorio e checklist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t>FECHAMENTO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FECHAMENTO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sz="1900" b="1"/>
              <a:t>F.1   </a:t>
            </a:r>
            <a:r>
              <a:rPr sz="2800" b="1"/>
              <a:t>Sintese da pratica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566928" y="1085240"/>
            <a:ext cx="11057839" cy="1450238"/>
          </a:xfrm>
          <a:prstGeom prst="roundRect">
            <a:avLst>
              <a:gd name="adj" fmla="val 3783"/>
            </a:avLst>
          </a:prstGeom>
          <a:solidFill>
            <a:schemeClr val="accent5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o-1"/>
          <p:cNvSpPr txBox="1"/>
          <p:nvPr/>
        </p:nvSpPr>
        <p:spPr>
          <a:xfrm>
            <a:off x="713232" y="1176680"/>
            <a:ext cx="10765231" cy="1285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sz="2100"/>
              <a:t>Contexto controlado -&gt; PDF na pasta; rotulos no CLAUDE.md</a:t>
            </a:r>
            <a:endParaRPr lang="en-US" sz="1386" dirty="0"/>
          </a:p>
          <a:p>
            <a:pPr algn="l"/>
            <a:r>
              <a:rPr sz="2100"/>
              <a:t>Leitura em camadas -&gt; mapa, glossario, parametros, Tabela 2</a:t>
            </a:r>
          </a:p>
          <a:p>
            <a:pPr algn="l"/>
            <a:r>
              <a:rPr sz="2100"/>
              <a:t>Perguntas nos dois sentidos -&gt; aluno pergunta; agente examina</a:t>
            </a:r>
          </a:p>
          <a:p>
            <a:pPr algn="l"/>
            <a:r>
              <a:rPr sz="2100"/>
              <a:t>Entendimento testavel -&gt; modelo minimo + equacao do melhorista</a:t>
            </a:r>
          </a:p>
        </p:txBody>
      </p:sp>
      <p:sp>
        <p:nvSpPr>
          <p:cNvPr id="5" name="ret-2"/>
          <p:cNvSpPr/>
          <p:nvPr/>
        </p:nvSpPr>
        <p:spPr>
          <a:xfrm>
            <a:off x="566928" y="2695499"/>
            <a:ext cx="11057839" cy="1450238"/>
          </a:xfrm>
          <a:prstGeom prst="roundRect">
            <a:avLst>
              <a:gd name="adj" fmla="val 81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o-3"/>
          <p:cNvSpPr txBox="1"/>
          <p:nvPr/>
        </p:nvSpPr>
        <p:spPr>
          <a:xfrm>
            <a:off x="749808" y="2805227"/>
            <a:ext cx="10692079" cy="953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sz="2100" dirty="0"/>
              <a:t>O </a:t>
            </a:r>
            <a:r>
              <a:rPr sz="2100" dirty="0" err="1"/>
              <a:t>agente</a:t>
            </a:r>
            <a:r>
              <a:rPr sz="2100" dirty="0"/>
              <a:t> nao leu o </a:t>
            </a:r>
            <a:r>
              <a:rPr sz="2100" dirty="0" err="1"/>
              <a:t>artigo</a:t>
            </a:r>
            <a:r>
              <a:rPr sz="2100" dirty="0"/>
              <a:t> </a:t>
            </a:r>
            <a:r>
              <a:rPr sz="2100" dirty="0" err="1"/>
              <a:t>por</a:t>
            </a:r>
            <a:r>
              <a:rPr sz="2100" dirty="0"/>
              <a:t> voce: </a:t>
            </a:r>
            <a:r>
              <a:rPr sz="2100" dirty="0" err="1"/>
              <a:t>organizou</a:t>
            </a:r>
            <a:r>
              <a:rPr sz="2100" dirty="0"/>
              <a:t> a </a:t>
            </a:r>
            <a:r>
              <a:rPr sz="2100" dirty="0" err="1"/>
              <a:t>leitura</a:t>
            </a:r>
            <a:r>
              <a:rPr sz="2100" dirty="0"/>
              <a:t>,</a:t>
            </a:r>
            <a:endParaRPr lang="en-US" sz="2100" dirty="0"/>
          </a:p>
          <a:p>
            <a:pPr algn="l"/>
            <a:r>
              <a:rPr sz="2100" dirty="0" err="1"/>
              <a:t>testou</a:t>
            </a:r>
            <a:r>
              <a:rPr sz="2100" dirty="0"/>
              <a:t> </a:t>
            </a:r>
            <a:r>
              <a:rPr sz="2100" dirty="0" err="1"/>
              <a:t>seu</a:t>
            </a:r>
            <a:r>
              <a:rPr sz="2100" dirty="0"/>
              <a:t> </a:t>
            </a:r>
            <a:r>
              <a:rPr sz="2100" dirty="0" err="1"/>
              <a:t>entendimento</a:t>
            </a:r>
            <a:r>
              <a:rPr sz="2100" dirty="0"/>
              <a:t> e </a:t>
            </a:r>
            <a:r>
              <a:rPr sz="2100" dirty="0" err="1"/>
              <a:t>ajudou</a:t>
            </a:r>
            <a:r>
              <a:rPr sz="2100" dirty="0"/>
              <a:t> a </a:t>
            </a:r>
            <a:r>
              <a:rPr sz="2100" dirty="0" err="1"/>
              <a:t>transformar</a:t>
            </a:r>
            <a:r>
              <a:rPr sz="2100" dirty="0"/>
              <a:t> o </a:t>
            </a:r>
            <a:r>
              <a:rPr sz="2100" dirty="0" err="1"/>
              <a:t>texto</a:t>
            </a:r>
            <a:endParaRPr sz="2100" dirty="0"/>
          </a:p>
          <a:p>
            <a:pPr algn="l"/>
            <a:r>
              <a:rPr sz="2100" dirty="0" err="1"/>
              <a:t>em</a:t>
            </a:r>
            <a:r>
              <a:rPr sz="2100" dirty="0"/>
              <a:t> </a:t>
            </a:r>
            <a:r>
              <a:rPr sz="2100" dirty="0" err="1"/>
              <a:t>codigo</a:t>
            </a:r>
            <a:r>
              <a:rPr sz="2100" dirty="0"/>
              <a:t> </a:t>
            </a:r>
            <a:r>
              <a:rPr sz="2100" dirty="0" err="1"/>
              <a:t>verificavel</a:t>
            </a:r>
            <a:r>
              <a:rPr sz="2100" dirty="0"/>
              <a:t>.</a:t>
            </a:r>
          </a:p>
        </p:txBody>
      </p:sp>
      <p:sp>
        <p:nvSpPr>
          <p:cNvPr id="7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PRATICA 01 . FECHAMENTO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-0"/>
          <p:cNvSpPr txBox="1"/>
          <p:nvPr/>
        </p:nvSpPr>
        <p:spPr>
          <a:xfrm>
            <a:off x="566928" y="1085240"/>
            <a:ext cx="11057839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/>
              <a:t>[ ] Explicar LS vs BLUP vs BayesB em 2 min sem notas</a:t>
            </a:r>
          </a:p>
          <a:p>
            <a:pPr algn="l"/>
            <a:r>
              <a:rPr sz="2100"/>
              <a:t>[ ] Toda afirmacao das notas tem pagina, figura ou tabela</a:t>
            </a:r>
          </a:p>
          <a:p>
            <a:pPr algn="l"/>
            <a:r>
              <a:rPr sz="2100"/>
              <a:t>[ ] Conferi manualmente 3+ afirmacoes do agente no PDF</a:t>
            </a:r>
          </a:p>
          <a:p>
            <a:pPr algn="l"/>
            <a:r>
              <a:rPr sz="2100"/>
              <a:t>[ ] Sei por que o coeficiente b importa alem de r</a:t>
            </a:r>
          </a:p>
          <a:p>
            <a:pPr algn="l"/>
            <a:r>
              <a:rPr sz="2100"/>
              <a:t>[ ] Modelo minimo mostra r(RR-BLUP) &gt; r(LS), ou sei explicar</a:t>
            </a:r>
          </a:p>
          <a:p>
            <a:pPr algn="l"/>
            <a:r>
              <a:rPr sz="2100"/>
              <a:t>[ ] Identifiquei 2+ premissas que podem nao valer na pratica</a:t>
            </a:r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/>
              <a:t>PRATICA 01 . 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7" y="370260"/>
            <a:ext cx="110578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 dirty="0"/>
              <a:t>F.2   </a:t>
            </a:r>
            <a:r>
              <a:rPr sz="2800" b="1" dirty="0"/>
              <a:t>Checklist do </a:t>
            </a:r>
            <a:r>
              <a:rPr sz="2800" b="1" dirty="0" err="1"/>
              <a:t>aluno</a:t>
            </a:r>
            <a:endParaRPr sz="28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-0"/>
          <p:cNvSpPr txBox="1"/>
          <p:nvPr/>
        </p:nvSpPr>
        <p:spPr>
          <a:xfrm>
            <a:off x="566928" y="1085240"/>
            <a:ext cx="11057839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/>
              <a:t>Aplicar o mesmo fluxo (Etapas 0-4) ao artigo da sua area.</a:t>
            </a:r>
          </a:p>
          <a:p>
            <a:pPr algn="l"/>
            <a:endParaRPr sz="2100"/>
          </a:p>
          <a:p>
            <a:pPr algn="l"/>
            <a:r>
              <a:rPr sz="2100"/>
              <a:t>Entregar o repositorio com:</a:t>
            </a:r>
          </a:p>
          <a:p>
            <a:pPr algn="l"/>
            <a:r>
              <a:rPr sz="2100"/>
              <a:t>  notas/01_mapa_do_artigo.md</a:t>
            </a:r>
          </a:p>
          <a:p>
            <a:pPr algn="l"/>
            <a:r>
              <a:rPr sz="2100"/>
              <a:t>  config/parametros_artigo.yaml</a:t>
            </a:r>
          </a:p>
          <a:p>
            <a:pPr algn="l"/>
            <a:r>
              <a:rPr sz="2100"/>
              <a:t>  modelo minimo rodando</a:t>
            </a:r>
          </a:p>
          <a:p>
            <a:pPr algn="l"/>
            <a:endParaRPr sz="2100"/>
          </a:p>
          <a:p>
            <a:pPr algn="l"/>
            <a:r>
              <a:rPr sz="2100"/>
              <a:t>Use o estudo-artigo/ como modelo de projeto.</a:t>
            </a:r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/>
              <a:t>PRATICA 01 . 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70260"/>
            <a:ext cx="110578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 dirty="0"/>
              <a:t>F.3   </a:t>
            </a:r>
            <a:r>
              <a:rPr sz="2800" b="1" dirty="0" err="1"/>
              <a:t>Tarefa</a:t>
            </a:r>
            <a:r>
              <a:rPr sz="2800" b="1" dirty="0"/>
              <a:t> para casa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T 796">
  <a:themeElements>
    <a:clrScheme name="FIT 796">
      <a:dk1>
        <a:srgbClr val="E6F2EE"/>
      </a:dk1>
      <a:lt1>
        <a:srgbClr val="071419"/>
      </a:lt1>
      <a:dk2>
        <a:srgbClr val="8FA9A3"/>
      </a:dk2>
      <a:lt2>
        <a:srgbClr val="0B2F2A"/>
      </a:lt2>
      <a:accent1>
        <a:srgbClr val="A6E35A"/>
      </a:accent1>
      <a:accent2>
        <a:srgbClr val="3EC7C1"/>
      </a:accent2>
      <a:accent3>
        <a:srgbClr val="0D2229"/>
      </a:accent3>
      <a:accent4>
        <a:srgbClr val="1D3A41"/>
      </a:accent4>
      <a:accent5>
        <a:srgbClr val="0A1C22"/>
      </a:accent5>
      <a:accent6>
        <a:srgbClr val="15301F"/>
      </a:accent6>
      <a:hlink>
        <a:srgbClr val="3EC7C1"/>
      </a:hlink>
      <a:folHlink>
        <a:srgbClr val="A6E35A"/>
      </a:folHlink>
    </a:clrScheme>
    <a:fontScheme name="FIT 79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1987</Words>
  <Application>Microsoft Office PowerPoint</Application>
  <PresentationFormat>Widescreen</PresentationFormat>
  <Paragraphs>308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Courier New</vt:lpstr>
      <vt:lpstr>FIT 796</vt:lpstr>
      <vt:lpstr>Estudar e reproduzir um artigo científico com Claude Code</vt:lpstr>
      <vt:lpstr>Roteiro da seção</vt:lpstr>
      <vt:lpstr>Estudar, nao terceirizar</vt:lpstr>
      <vt:lpstr>0.1   O experimento de abertura</vt:lpstr>
      <vt:lpstr>0.2   Três modos de uso</vt:lpstr>
      <vt:lpstr>0.3   Regras do estudo</vt:lpstr>
      <vt:lpstr>Projeto de estudo</vt:lpstr>
      <vt:lpstr>1.1   Estrutura</vt:lpstr>
      <vt:lpstr>1.2   CLAUDE.md: contrato de comportamento</vt:lpstr>
      <vt:lpstr>Leitura em camadas</vt:lpstr>
      <vt:lpstr>2.1   Camada 1: Mapa do artigo</vt:lpstr>
      <vt:lpstr>2.2   Camada 2: Glossario operacional</vt:lpstr>
      <vt:lpstr>2.3   Camada 3: Parametros em YAML</vt:lpstr>
      <vt:lpstr>2.4   Camada 4: Tabela 2 em detalhe</vt:lpstr>
      <vt:lpstr>Perguntas e modo socratico</vt:lpstr>
      <vt:lpstr>3.1   O aluno pergunta</vt:lpstr>
      <vt:lpstr>3.2   O agente pergunta (modo socratico)</vt:lpstr>
      <vt:lpstr>Modelo minimo</vt:lpstr>
      <vt:lpstr>4.1   Gabarito teorico antes do codigo</vt:lpstr>
      <vt:lpstr>4.2   Simulacao minima: LS vs RR-BLUP</vt:lpstr>
      <vt:lpstr>4.3   Comparacao com a Tabela 2 (p. 1824)</vt:lpstr>
      <vt:lpstr>4.4   O que o modelo minimo ensina</vt:lpstr>
      <vt:lpstr>PowerPoint Presentation</vt:lpstr>
      <vt:lpstr>Relatorio e checklist</vt:lpstr>
      <vt:lpstr>F.1   Sintese da pratica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Seção 6 — Estudar e reproduzir um artigo científico com Claude Code</dc:title>
  <dc:subject>IA no Melhoramento Genético: Fundamentos e Aplicações</dc:subject>
  <dc:creator>FIT 796 · UFV</dc:creator>
  <cp:lastModifiedBy>Eder Silva</cp:lastModifiedBy>
  <cp:revision>2</cp:revision>
  <dcterms:created xsi:type="dcterms:W3CDTF">2026-10-17T17:47:56Z</dcterms:created>
  <dcterms:modified xsi:type="dcterms:W3CDTF">2026-10-26T14:08:01Z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2026-10-26T14:05:12Z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387b565e-9fac-4ef5-ac23-9bf6e78ea0ee</vt:lpwstr>
  </property>
  <property fmtid="{D5CDD505-2E9C-101B-9397-08002B2CF9AE}" pid="8" name="MSIP_Label_2c76c141-ac86-40e5-abf2-c6f60e474cee_ContentBits">
    <vt:lpwstr>2</vt:lpwstr>
  </property>
  <property fmtid="{D5CDD505-2E9C-101B-9397-08002B2CF9AE}" pid="9" name="MSIP_Label_2c76c141-ac86-40e5-abf2-c6f60e474cee_Tag">
    <vt:lpwstr>10, 3, 0, 1</vt:lpwstr>
  </property>
  <property fmtid="{D5CDD505-2E9C-101B-9397-08002B2CF9AE}" pid="10" name="ClassificationContentMarkingFooterLocations">
    <vt:lpwstr>FIT 796:3</vt:lpwstr>
  </property>
  <property fmtid="{D5CDD505-2E9C-101B-9397-08002B2CF9AE}" pid="11" name="ClassificationContentMarkingFooterText">
    <vt:lpwstr>RESTRICTED</vt:lpwstr>
  </property>
</Properties>
</file>