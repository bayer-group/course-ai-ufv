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4cf04cb-f1ea-693f-b2d4-ef19bf90bcec}">
          <p14:sldIdLst>
            <p14:sldId id="256"/>
            <p14:sldId id="257"/>
          </p14:sldIdLst>
        </p14:section>
        <p14:section name="Etapa 0 — Estudar, não terceirizar" id="{e798615f-262f-3e22-55dc-dcb1e71904a6}">
          <p14:sldIdLst>
            <p14:sldId id="258"/>
            <p14:sldId id="259"/>
            <p14:sldId id="260"/>
            <p14:sldId id="261"/>
          </p14:sldIdLst>
        </p14:section>
        <p14:section name="Etapa 1 — Projeto de estudo" id="{90bf9b0f-79c0-70aa-8889-c0547a917656}">
          <p14:sldIdLst>
            <p14:sldId id="262"/>
            <p14:sldId id="263"/>
            <p14:sldId id="264"/>
          </p14:sldIdLst>
        </p14:section>
        <p14:section name="Etapa 2 — Leitura em camadas" id="{8b317e01-794e-26a2-091e-7f98a0072e79}">
          <p14:sldIdLst>
            <p14:sldId id="265"/>
            <p14:sldId id="266"/>
            <p14:sldId id="267"/>
            <p14:sldId id="268"/>
          </p14:sldIdLst>
        </p14:section>
        <p14:section name="Etapa 3 — Perguntas e crítica" id="{52b0fc2d-53d2-308d-0815-2e704387c154}">
          <p14:sldIdLst>
            <p14:sldId id="269"/>
            <p14:sldId id="270"/>
            <p14:sldId id="271"/>
            <p14:sldId id="272"/>
          </p14:sldIdLst>
        </p14:section>
        <p14:section name="Etapa 4 — Modelo mínimo" id="{91215918-d7e9-937e-a274-8f8beeb9372b}">
          <p14:sldIdLst>
            <p14:sldId id="273"/>
            <p14:sldId id="274"/>
            <p14:sldId id="275"/>
            <p14:sldId id="276"/>
            <p14:sldId id="277"/>
          </p14:sldIdLst>
        </p14:section>
        <p14:section name="Etapa 5 — Reprodução de um painel" id="{07dbd382-894a-5345-30ca-9305d0048fb1}">
          <p14:sldIdLst>
            <p14:sldId id="278"/>
            <p14:sldId id="279"/>
            <p14:sldId id="280"/>
            <p14:sldId id="281"/>
          </p14:sldIdLst>
        </p14:section>
        <p14:section name="Etapa 6 — Relatório" id="{2d4497f2-52b2-6d55-2510-b77a1bae4bfa}">
          <p14:sldIdLst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331720"/>
            <a:ext cx="93268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I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3317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Estudar e reproduzir um artigo científico com Claude Code</a:t>
            </a:r>
            <a:endParaRPr lang="en-US" sz="4000" dirty="0"/>
          </a:p>
        </p:txBody>
      </p:sp>
      <p:sp>
        <p:nvSpPr>
          <p:cNvPr id="3" name="texto-0"/>
          <p:cNvSpPr txBox="1"/>
          <p:nvPr/>
        </p:nvSpPr>
        <p:spPr>
          <a:xfrm>
            <a:off x="658368" y="502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 NO MELHORAMENTO GENÉTICO: FUNDAMENTOS E APLICAÇÕES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spc="15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796 · UFV · 3 A 5 DE NOVEMBRO DE 2026</a:t>
            </a:r>
            <a:endParaRPr lang="en-US" sz="1200" dirty="0"/>
          </a:p>
        </p:txBody>
      </p:sp>
      <p:sp>
        <p:nvSpPr>
          <p:cNvPr id="4" name="texto-1"/>
          <p:cNvSpPr txBox="1"/>
          <p:nvPr/>
        </p:nvSpPr>
        <p:spPr>
          <a:xfrm>
            <a:off x="9974275" y="502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1</a:t>
            </a:r>
            <a:endParaRPr lang="en-US" sz="800" dirty="0"/>
          </a:p>
        </p:txBody>
      </p:sp>
      <p:sp>
        <p:nvSpPr>
          <p:cNvPr id="5" name="ret-2"/>
          <p:cNvSpPr/>
          <p:nvPr/>
        </p:nvSpPr>
        <p:spPr>
          <a:xfrm>
            <a:off x="997427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6" name="ret-3"/>
          <p:cNvSpPr/>
          <p:nvPr/>
        </p:nvSpPr>
        <p:spPr>
          <a:xfrm>
            <a:off x="1013429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" name="ret-4"/>
          <p:cNvSpPr/>
          <p:nvPr/>
        </p:nvSpPr>
        <p:spPr>
          <a:xfrm>
            <a:off x="1029431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8" name="ret-5"/>
          <p:cNvSpPr/>
          <p:nvPr/>
        </p:nvSpPr>
        <p:spPr>
          <a:xfrm>
            <a:off x="1045433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9" name="ret-6"/>
          <p:cNvSpPr/>
          <p:nvPr/>
        </p:nvSpPr>
        <p:spPr>
          <a:xfrm>
            <a:off x="1061435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10" name="ret-7"/>
          <p:cNvSpPr/>
          <p:nvPr/>
        </p:nvSpPr>
        <p:spPr>
          <a:xfrm>
            <a:off x="1077437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11" name="ret-8"/>
          <p:cNvSpPr/>
          <p:nvPr/>
        </p:nvSpPr>
        <p:spPr>
          <a:xfrm>
            <a:off x="1093439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12" name="ret-9"/>
          <p:cNvSpPr/>
          <p:nvPr/>
        </p:nvSpPr>
        <p:spPr>
          <a:xfrm>
            <a:off x="1109441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13" name="ret-10"/>
          <p:cNvSpPr/>
          <p:nvPr/>
        </p:nvSpPr>
        <p:spPr>
          <a:xfrm>
            <a:off x="1125443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14" name="ret-11"/>
          <p:cNvSpPr/>
          <p:nvPr/>
        </p:nvSpPr>
        <p:spPr>
          <a:xfrm>
            <a:off x="11414455" y="72237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15" name="ret-12"/>
          <p:cNvSpPr/>
          <p:nvPr/>
        </p:nvSpPr>
        <p:spPr>
          <a:xfrm>
            <a:off x="997427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6" name="ret-13"/>
          <p:cNvSpPr/>
          <p:nvPr/>
        </p:nvSpPr>
        <p:spPr>
          <a:xfrm>
            <a:off x="1013429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17" name="ret-14"/>
          <p:cNvSpPr/>
          <p:nvPr/>
        </p:nvSpPr>
        <p:spPr>
          <a:xfrm>
            <a:off x="1029431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18" name="ret-15"/>
          <p:cNvSpPr/>
          <p:nvPr/>
        </p:nvSpPr>
        <p:spPr>
          <a:xfrm>
            <a:off x="1045433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19" name="ret-16"/>
          <p:cNvSpPr/>
          <p:nvPr/>
        </p:nvSpPr>
        <p:spPr>
          <a:xfrm>
            <a:off x="1061435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20" name="ret-17"/>
          <p:cNvSpPr/>
          <p:nvPr/>
        </p:nvSpPr>
        <p:spPr>
          <a:xfrm>
            <a:off x="1077437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21" name="ret-18"/>
          <p:cNvSpPr/>
          <p:nvPr/>
        </p:nvSpPr>
        <p:spPr>
          <a:xfrm>
            <a:off x="1093439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22" name="ret-19"/>
          <p:cNvSpPr/>
          <p:nvPr/>
        </p:nvSpPr>
        <p:spPr>
          <a:xfrm>
            <a:off x="1109441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23" name="ret-20"/>
          <p:cNvSpPr/>
          <p:nvPr/>
        </p:nvSpPr>
        <p:spPr>
          <a:xfrm>
            <a:off x="1125443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24" name="ret-21"/>
          <p:cNvSpPr/>
          <p:nvPr/>
        </p:nvSpPr>
        <p:spPr>
          <a:xfrm>
            <a:off x="11414455" y="88239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25" name="ret-22"/>
          <p:cNvSpPr/>
          <p:nvPr/>
        </p:nvSpPr>
        <p:spPr>
          <a:xfrm>
            <a:off x="997427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26" name="ret-23"/>
          <p:cNvSpPr/>
          <p:nvPr/>
        </p:nvSpPr>
        <p:spPr>
          <a:xfrm>
            <a:off x="1013429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27" name="ret-24"/>
          <p:cNvSpPr/>
          <p:nvPr/>
        </p:nvSpPr>
        <p:spPr>
          <a:xfrm>
            <a:off x="1029431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28" name="ret-25"/>
          <p:cNvSpPr/>
          <p:nvPr/>
        </p:nvSpPr>
        <p:spPr>
          <a:xfrm>
            <a:off x="1045433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29" name="ret-26"/>
          <p:cNvSpPr/>
          <p:nvPr/>
        </p:nvSpPr>
        <p:spPr>
          <a:xfrm>
            <a:off x="1061435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30" name="ret-27"/>
          <p:cNvSpPr/>
          <p:nvPr/>
        </p:nvSpPr>
        <p:spPr>
          <a:xfrm>
            <a:off x="1077437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31" name="ret-28"/>
          <p:cNvSpPr/>
          <p:nvPr/>
        </p:nvSpPr>
        <p:spPr>
          <a:xfrm>
            <a:off x="1093439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32" name="ret-29"/>
          <p:cNvSpPr/>
          <p:nvPr/>
        </p:nvSpPr>
        <p:spPr>
          <a:xfrm>
            <a:off x="1109441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33" name="ret-30"/>
          <p:cNvSpPr/>
          <p:nvPr/>
        </p:nvSpPr>
        <p:spPr>
          <a:xfrm>
            <a:off x="1125443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34" name="ret-31"/>
          <p:cNvSpPr/>
          <p:nvPr/>
        </p:nvSpPr>
        <p:spPr>
          <a:xfrm>
            <a:off x="11414455" y="104241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35" name="ret-32"/>
          <p:cNvSpPr/>
          <p:nvPr/>
        </p:nvSpPr>
        <p:spPr>
          <a:xfrm>
            <a:off x="997427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6" name="ret-33"/>
          <p:cNvSpPr/>
          <p:nvPr/>
        </p:nvSpPr>
        <p:spPr>
          <a:xfrm>
            <a:off x="1013429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37" name="ret-34"/>
          <p:cNvSpPr/>
          <p:nvPr/>
        </p:nvSpPr>
        <p:spPr>
          <a:xfrm>
            <a:off x="1029431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38" name="ret-35"/>
          <p:cNvSpPr/>
          <p:nvPr/>
        </p:nvSpPr>
        <p:spPr>
          <a:xfrm>
            <a:off x="1045433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39" name="ret-36"/>
          <p:cNvSpPr/>
          <p:nvPr/>
        </p:nvSpPr>
        <p:spPr>
          <a:xfrm>
            <a:off x="1061435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40" name="ret-37"/>
          <p:cNvSpPr/>
          <p:nvPr/>
        </p:nvSpPr>
        <p:spPr>
          <a:xfrm>
            <a:off x="1077437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41" name="ret-38"/>
          <p:cNvSpPr/>
          <p:nvPr/>
        </p:nvSpPr>
        <p:spPr>
          <a:xfrm>
            <a:off x="1093439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42" name="ret-39"/>
          <p:cNvSpPr/>
          <p:nvPr/>
        </p:nvSpPr>
        <p:spPr>
          <a:xfrm>
            <a:off x="1109441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43" name="ret-40"/>
          <p:cNvSpPr/>
          <p:nvPr/>
        </p:nvSpPr>
        <p:spPr>
          <a:xfrm>
            <a:off x="1125443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44" name="ret-41"/>
          <p:cNvSpPr/>
          <p:nvPr/>
        </p:nvSpPr>
        <p:spPr>
          <a:xfrm>
            <a:off x="11414455" y="1202436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45" name="texto-42"/>
          <p:cNvSpPr txBox="1"/>
          <p:nvPr/>
        </p:nvSpPr>
        <p:spPr>
          <a:xfrm>
            <a:off x="9974275" y="1435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 2</a:t>
            </a:r>
            <a:endParaRPr lang="en-US" sz="800" dirty="0"/>
          </a:p>
        </p:txBody>
      </p:sp>
      <p:sp>
        <p:nvSpPr>
          <p:cNvPr id="46" name="ret-43"/>
          <p:cNvSpPr/>
          <p:nvPr/>
        </p:nvSpPr>
        <p:spPr>
          <a:xfrm>
            <a:off x="997427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47" name="ret-44"/>
          <p:cNvSpPr/>
          <p:nvPr/>
        </p:nvSpPr>
        <p:spPr>
          <a:xfrm>
            <a:off x="1013429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48" name="ret-45"/>
          <p:cNvSpPr/>
          <p:nvPr/>
        </p:nvSpPr>
        <p:spPr>
          <a:xfrm>
            <a:off x="1029431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49" name="ret-46"/>
          <p:cNvSpPr/>
          <p:nvPr/>
        </p:nvSpPr>
        <p:spPr>
          <a:xfrm>
            <a:off x="1045433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50" name="ret-47"/>
          <p:cNvSpPr/>
          <p:nvPr/>
        </p:nvSpPr>
        <p:spPr>
          <a:xfrm>
            <a:off x="1061435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51" name="ret-48"/>
          <p:cNvSpPr/>
          <p:nvPr/>
        </p:nvSpPr>
        <p:spPr>
          <a:xfrm>
            <a:off x="1077437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52" name="ret-49"/>
          <p:cNvSpPr/>
          <p:nvPr/>
        </p:nvSpPr>
        <p:spPr>
          <a:xfrm>
            <a:off x="1093439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53" name="ret-50"/>
          <p:cNvSpPr/>
          <p:nvPr/>
        </p:nvSpPr>
        <p:spPr>
          <a:xfrm>
            <a:off x="1109441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54" name="ret-51"/>
          <p:cNvSpPr/>
          <p:nvPr/>
        </p:nvSpPr>
        <p:spPr>
          <a:xfrm>
            <a:off x="1125443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55" name="ret-52"/>
          <p:cNvSpPr/>
          <p:nvPr/>
        </p:nvSpPr>
        <p:spPr>
          <a:xfrm>
            <a:off x="11414455" y="165506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56" name="ret-53"/>
          <p:cNvSpPr/>
          <p:nvPr/>
        </p:nvSpPr>
        <p:spPr>
          <a:xfrm>
            <a:off x="997427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57" name="ret-54"/>
          <p:cNvSpPr/>
          <p:nvPr/>
        </p:nvSpPr>
        <p:spPr>
          <a:xfrm>
            <a:off x="1013429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58" name="ret-55"/>
          <p:cNvSpPr/>
          <p:nvPr/>
        </p:nvSpPr>
        <p:spPr>
          <a:xfrm>
            <a:off x="1029431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59" name="ret-56"/>
          <p:cNvSpPr/>
          <p:nvPr/>
        </p:nvSpPr>
        <p:spPr>
          <a:xfrm>
            <a:off x="1045433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60" name="ret-57"/>
          <p:cNvSpPr/>
          <p:nvPr/>
        </p:nvSpPr>
        <p:spPr>
          <a:xfrm>
            <a:off x="1061435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61" name="ret-58"/>
          <p:cNvSpPr/>
          <p:nvPr/>
        </p:nvSpPr>
        <p:spPr>
          <a:xfrm>
            <a:off x="1077437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62" name="ret-59"/>
          <p:cNvSpPr/>
          <p:nvPr/>
        </p:nvSpPr>
        <p:spPr>
          <a:xfrm>
            <a:off x="1093439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63" name="ret-60"/>
          <p:cNvSpPr/>
          <p:nvPr/>
        </p:nvSpPr>
        <p:spPr>
          <a:xfrm>
            <a:off x="1109441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64" name="ret-61"/>
          <p:cNvSpPr/>
          <p:nvPr/>
        </p:nvSpPr>
        <p:spPr>
          <a:xfrm>
            <a:off x="1125443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65" name="ret-62"/>
          <p:cNvSpPr/>
          <p:nvPr/>
        </p:nvSpPr>
        <p:spPr>
          <a:xfrm>
            <a:off x="11414455" y="181508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66" name="ret-63"/>
          <p:cNvSpPr/>
          <p:nvPr/>
        </p:nvSpPr>
        <p:spPr>
          <a:xfrm>
            <a:off x="997427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67" name="ret-64"/>
          <p:cNvSpPr/>
          <p:nvPr/>
        </p:nvSpPr>
        <p:spPr>
          <a:xfrm>
            <a:off x="1013429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68" name="ret-65"/>
          <p:cNvSpPr/>
          <p:nvPr/>
        </p:nvSpPr>
        <p:spPr>
          <a:xfrm>
            <a:off x="1029431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69" name="ret-66"/>
          <p:cNvSpPr/>
          <p:nvPr/>
        </p:nvSpPr>
        <p:spPr>
          <a:xfrm>
            <a:off x="1045433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0" name="ret-67"/>
          <p:cNvSpPr/>
          <p:nvPr/>
        </p:nvSpPr>
        <p:spPr>
          <a:xfrm>
            <a:off x="1061435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71" name="ret-68"/>
          <p:cNvSpPr/>
          <p:nvPr/>
        </p:nvSpPr>
        <p:spPr>
          <a:xfrm>
            <a:off x="1077437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2" name="ret-69"/>
          <p:cNvSpPr/>
          <p:nvPr/>
        </p:nvSpPr>
        <p:spPr>
          <a:xfrm>
            <a:off x="1093439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3" name="ret-70"/>
          <p:cNvSpPr/>
          <p:nvPr/>
        </p:nvSpPr>
        <p:spPr>
          <a:xfrm>
            <a:off x="1109441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4" name="ret-71"/>
          <p:cNvSpPr/>
          <p:nvPr/>
        </p:nvSpPr>
        <p:spPr>
          <a:xfrm>
            <a:off x="1125443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5" name="ret-72"/>
          <p:cNvSpPr/>
          <p:nvPr/>
        </p:nvSpPr>
        <p:spPr>
          <a:xfrm>
            <a:off x="11414455" y="197510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6" name="ret-73"/>
          <p:cNvSpPr/>
          <p:nvPr/>
        </p:nvSpPr>
        <p:spPr>
          <a:xfrm>
            <a:off x="997427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7" name="ret-74"/>
          <p:cNvSpPr/>
          <p:nvPr/>
        </p:nvSpPr>
        <p:spPr>
          <a:xfrm>
            <a:off x="1013429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78" name="ret-75"/>
          <p:cNvSpPr/>
          <p:nvPr/>
        </p:nvSpPr>
        <p:spPr>
          <a:xfrm>
            <a:off x="1029431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79" name="ret-76"/>
          <p:cNvSpPr/>
          <p:nvPr/>
        </p:nvSpPr>
        <p:spPr>
          <a:xfrm>
            <a:off x="1045433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80" name="ret-77"/>
          <p:cNvSpPr/>
          <p:nvPr/>
        </p:nvSpPr>
        <p:spPr>
          <a:xfrm>
            <a:off x="1061435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/>
        </p:spPr>
      </p:sp>
      <p:sp>
        <p:nvSpPr>
          <p:cNvPr id="81" name="ret-78"/>
          <p:cNvSpPr/>
          <p:nvPr/>
        </p:nvSpPr>
        <p:spPr>
          <a:xfrm>
            <a:off x="1077437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82" name="ret-79"/>
          <p:cNvSpPr/>
          <p:nvPr/>
        </p:nvSpPr>
        <p:spPr>
          <a:xfrm>
            <a:off x="1093439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83" name="ret-80"/>
          <p:cNvSpPr/>
          <p:nvPr/>
        </p:nvSpPr>
        <p:spPr>
          <a:xfrm>
            <a:off x="1109441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84" name="ret-81"/>
          <p:cNvSpPr/>
          <p:nvPr/>
        </p:nvSpPr>
        <p:spPr>
          <a:xfrm>
            <a:off x="1125443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85" name="ret-82"/>
          <p:cNvSpPr/>
          <p:nvPr/>
        </p:nvSpPr>
        <p:spPr>
          <a:xfrm>
            <a:off x="11414455" y="2135124"/>
            <a:ext cx="118872" cy="118872"/>
          </a:xfrm>
          <a:prstGeom prst="roundRect">
            <a:avLst>
              <a:gd name="adj" fmla="val 11538"/>
            </a:avLst>
          </a:prstGeom>
          <a:solidFill>
            <a:schemeClr val="accent4"/>
          </a:solidFill>
          <a:ln/>
        </p:spPr>
      </p:sp>
      <p:sp>
        <p:nvSpPr>
          <p:cNvPr id="86" name="texto-83"/>
          <p:cNvSpPr txBox="1"/>
          <p:nvPr/>
        </p:nvSpPr>
        <p:spPr>
          <a:xfrm>
            <a:off x="658368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</a:t>
            </a:r>
            <a:endParaRPr lang="en-US" sz="1800" dirty="0"/>
          </a:p>
        </p:txBody>
      </p:sp>
      <p:sp>
        <p:nvSpPr>
          <p:cNvPr id="87" name="texto-84"/>
          <p:cNvSpPr txBox="1"/>
          <p:nvPr/>
        </p:nvSpPr>
        <p:spPr>
          <a:xfrm>
            <a:off x="658368" y="3727704"/>
            <a:ext cx="10515600" cy="262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Carga:</a:t>
            </a:r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 4 h · </a:t>
            </a:r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Prática:</a:t>
            </a:r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 </a:t>
            </a:r>
            <a:pPr algn="l" indent="0" marL="0">
              <a:lnSpc>
                <a:spcPct val="105000"/>
              </a:lnSpc>
              <a:buNone/>
            </a:pPr>
            <a:r>
              <a:rPr lang="en-US" sz="138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caderno.md</a:t>
            </a:r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 · </a:t>
            </a:r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Modelo de projeto:</a:t>
            </a:r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 </a:t>
            </a:r>
            <a:pPr algn="l" indent="0" marL="0">
              <a:lnSpc>
                <a:spcPct val="105000"/>
              </a:lnSpc>
              <a:buNone/>
            </a:pPr>
            <a:r>
              <a:rPr lang="en-US" sz="138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modelos/estudo-artigo</a:t>
            </a:r>
            <a:endParaRPr lang="en-US" sz="1500" dirty="0"/>
          </a:p>
        </p:txBody>
      </p:sp>
      <p:sp>
        <p:nvSpPr>
          <p:cNvPr id="88" name="ret-85"/>
          <p:cNvSpPr/>
          <p:nvPr/>
        </p:nvSpPr>
        <p:spPr>
          <a:xfrm>
            <a:off x="658368" y="4522485"/>
            <a:ext cx="10515600" cy="1649715"/>
          </a:xfrm>
          <a:prstGeom prst="roundRect">
            <a:avLst>
              <a:gd name="adj" fmla="val 4434"/>
            </a:avLst>
          </a:prstGeom>
          <a:solidFill>
            <a:schemeClr val="accent6"/>
          </a:solidFill>
          <a:ln/>
        </p:spPr>
      </p:sp>
      <p:sp>
        <p:nvSpPr>
          <p:cNvPr id="89" name="texto-86"/>
          <p:cNvSpPr txBox="1"/>
          <p:nvPr/>
        </p:nvSpPr>
        <p:spPr>
          <a:xfrm>
            <a:off x="886968" y="4659645"/>
            <a:ext cx="10104120" cy="1396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Objetivo:</a:t>
            </a:r>
            <a:pPr algn="l"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 usar o agente como parceiro de estudo, não como substituto da leitura. O aluno sai capaz de explicar o artigo, responder e formular perguntas críticas, construir uma simulação mínima do mecanismo e ter um repositório que reproduz um resultado do artigo.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Mensagem:</a:t>
            </a:r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 a IA acelera a compreensão quando é obrigada a </a:t>
            </a:r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citar a fonte</a:t>
            </a:r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, a </a:t>
            </a:r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separar o que o artigo diz do que ela infere</a:t>
            </a:r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 e a </a:t>
            </a:r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testar o entendimento com números</a:t>
            </a:r>
            <a:pPr algn="l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Roteiro da seção</a:t>
            </a:r>
            <a:endParaRPr lang="en-US" sz="2800" dirty="0"/>
          </a:p>
        </p:txBody>
      </p:sp>
      <p:graphicFrame>
        <p:nvGraphicFramePr>
          <p:cNvPr id="3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914400"/>
        </p:xfrm>
        <a:graphic>
          <a:graphicData uri="http://schemas.openxmlformats.org/drawingml/2006/table">
            <a:tbl>
              <a:tblPr/>
              <a:tblGrid>
                <a:gridCol w="886571"/>
                <a:gridCol w="3292533"/>
                <a:gridCol w="5853052"/>
                <a:gridCol w="1025683"/>
              </a:tblGrid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Etapa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Tema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Conceito de Claude Code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Tempo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Estudar, não terceirizar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Riscos do resumo sem fonte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15 min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Projeto de estudo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CLAUDE.md</a:t>
                      </a:r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 em modo estudo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25 min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Leitura em camadas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Extração com citação de página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45 min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Intervalo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10 min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Perguntas e crítica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Modo socrático; subagente </a:t>
                      </a:r>
                      <a:pPr indent="0" marL="0">
                        <a:buNone/>
                      </a:pPr>
                      <a:r>
                        <a:rPr lang="en-US" sz="1584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revisor-cetico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30 min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Modelo mínimo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Equação do melhorista como gabarito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50 min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Reprodução de um painel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Critérios definidos antes de rodar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45 min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Relatório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Desvios e reprodutibilidade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20 min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o-1"/>
          <p:cNvSpPr txBox="1"/>
          <p:nvPr/>
        </p:nvSpPr>
        <p:spPr>
          <a:xfrm>
            <a:off x="566928" y="4470858"/>
            <a:ext cx="11057839" cy="1043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Artigo-guia:</a:t>
            </a:r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 escolhido pelo professor (simulação de esquemas de melhoramento). Referência conceitual de base: estratégia em duas partes de Gaynor et al. (2017), </a:t>
            </a:r>
            <a:pPr algn="l" indent="0" marL="0">
              <a:lnSpc>
                <a:spcPct val="10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Crop Science</a:t>
            </a:r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 — separa melhoramento populacional e desenvolvimento de produto.</a:t>
            </a:r>
            <a:endParaRPr lang="en-US" sz="2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ROTEIRO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Estudar, não terceirizar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ETAPA 0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experimento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641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Sem o PDF na pasta: "Resuma o artigo de &lt;autores&gt; sobre &lt;tema&gt;."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agente leu o artigo ou reconstruiu o tema a partir do que "lembra"?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Os números citados estão no artigo? Em qual página?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Com autores prolíficos no mesmo tema, a confusão entre artigos é provável.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Três modos de uso</a:t>
            </a:r>
            <a:endParaRPr lang="en-US" sz="2800" dirty="0"/>
          </a:p>
        </p:txBody>
      </p:sp>
      <p:graphicFrame>
        <p:nvGraphicFramePr>
          <p:cNvPr id="6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914400"/>
        </p:xfrm>
        <a:graphic>
          <a:graphicData uri="http://schemas.openxmlformats.org/drawingml/2006/table">
            <a:tbl>
              <a:tblPr/>
              <a:tblGrid>
                <a:gridCol w="1348681"/>
                <a:gridCol w="5008672"/>
                <a:gridCol w="4700486"/>
              </a:tblGrid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Modo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Pedido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Resultado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Terceirizar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"Resuma o artigo"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Repete frases; não explica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Consultar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"O que é melhoramento populacional?"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Entende pedaços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Estudar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"Faça perguntas até eu explicar a Figura 2"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Constrói entendimento e expõe lacunas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Regras do estudo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641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Toda afirmação tem seção, página, figura ou tabela.</a:t>
            </a:r>
            <a:endParaRPr lang="en-US" sz="2100" dirty="0"/>
          </a:p>
          <a:p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Rótulos: </a:t>
            </a:r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b="1" dirty="0">
                <a:solidFill>
                  <a:schemeClr val="tx1"/>
                </a:solidFill>
              </a:rPr>
              <a:t>[ARTIGO]</a:t>
            </a:r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, </a:t>
            </a:r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b="1" dirty="0">
                <a:solidFill>
                  <a:schemeClr val="tx1"/>
                </a:solidFill>
              </a:rPr>
              <a:t>[INFERÊNCIA]</a:t>
            </a:r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, </a:t>
            </a:r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b="1" dirty="0">
                <a:solidFill>
                  <a:schemeClr val="tx1"/>
                </a:solidFill>
              </a:rPr>
              <a:t>[CONHECIMENTO GERAL]</a:t>
            </a:r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algn="l" marL="381000" indent="-381000">
              <a:lnSpc>
                <a:spcPct val="105000"/>
              </a:lnSpc>
              <a:spcAft>
                <a:spcPts val="672"/>
              </a:spcAft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Informação ausente → "NÃO CONSTA NO ARTIGO".</a:t>
            </a:r>
            <a:endParaRPr lang="en-US" sz="2100" dirty="0"/>
          </a:p>
          <a:p>
            <a:pPr algn="l" marL="381000" indent="-381000">
              <a:lnSpc>
                <a:spcPct val="105000"/>
              </a:lnSpc>
              <a:buSzPct val="100000"/>
              <a:buFont typeface="+mj-lt"/>
              <a:buAutoNum type="arabicPeriod" startAt="1"/>
            </a:pPr>
            <a:r>
              <a:rPr lang="en-US" sz="2100" dirty="0">
                <a:solidFill>
                  <a:schemeClr val="tx1"/>
                </a:solidFill>
              </a:rPr>
              <a:t>Entendimento só é aceito quando reproduz um número.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Projeto de estudo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ETAPA 1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Estrutura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1661465"/>
          </a:xfrm>
          <a:prstGeom prst="roundRect">
            <a:avLst>
              <a:gd name="adj" fmla="val 3302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1496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estudo-&lt;artigo&gt;/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CLAUDE.md, PLANO.md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artigo/ (PDF, texto extraído, referências)   ← fora do Git se a licença exigir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notas/ (mapa, glossário, perguntas, crítica)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config/parametros_artigo.yaml   ← cada parâmetro com fonte e status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R/ (modelo mínimo, reprodução)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DESVIOS.md, REPRODUTIBILIDADE.md</a:t>
            </a:r>
            <a:endParaRPr lang="en-US" sz="1386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Os rótulos são a defesa contra a alucinação plausível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787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Uma resposta fluente sem rótulo não pode ser auditada.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Com rótulos e páginas, o aluno confere por amostragem.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1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Leitura em camadas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ETAPA 2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2.1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Camadas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1027786"/>
          </a:xfrm>
          <a:prstGeom prst="roundRect">
            <a:avLst>
              <a:gd name="adj" fmla="val 5338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86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Mapa: problema, proposta, cenários, métricas, conclusões (com figura)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Glossário: definição do artigo × definição usual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Parâmetros: YAML com fonte e status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Figuras: eixos, unidades, mensagem, número reprodutível</a:t>
            </a:r>
            <a:endParaRPr lang="en-US" sz="1386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2.2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Glossário: o mesmo termo, sentidos diferentes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214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"Ciclo" = ciclo de seleção, ano de programa ou geração?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"Acurácia" = da predição genômica, da seleção ou da avaliação de campo?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Fixar o sentido do autor antes de interpretar resultados.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Parâmetros: onde a invenção aparece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787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É a etapa com mais parâmetros "inventados" pelo agente.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 YAML com </a:t>
            </a:r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fonte</a:t>
            </a:r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 em cada linha torna a invenção visível.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2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Perguntas e crítica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ETAPA 3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3.1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aluno pergunta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641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Qual termo da equação do melhorista é mais afetado pela proposta?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Como os autores garantiram custo equivalente entre cenários?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que acontece com a variância genética ao longo do tempo?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Que premissas favorecem o esquema proposto?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3.2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agente pergunta (modo socrático)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"Aja como examinador de qualificação: uma pergunta por vez, avalie minha resposta com base no artigo e só então avance."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Explicar é a forma mais rápida de descobrir o que ainda não se entendeu.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Revisor cético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Subagente com contexto limpo: premissas, justiça da comparação, extrapolação, aplicação ao milho tropical.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3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Modelo mínimo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ETAPA 4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Expectativa teórica antes do código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3601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ΔG/ano = i · r · σg / L</a:t>
            </a:r>
            <a:endParaRPr lang="en-US" sz="2100" dirty="0"/>
          </a:p>
        </p:txBody>
      </p:sp>
      <p:sp>
        <p:nvSpPr>
          <p:cNvPr id="4" name="texto-1"/>
          <p:cNvSpPr txBox="1"/>
          <p:nvPr/>
        </p:nvSpPr>
        <p:spPr>
          <a:xfrm>
            <a:off x="566928" y="1587099"/>
            <a:ext cx="11057839" cy="1214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Convencional: candidatos DH avaliados em ensaio, r = 0,8, L = 3 anos.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Duas partes: candidatos F1 com predição genômica, r = 0,5 (ou 0,3), L = 0,5 ano.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Mesma intensidade: 20 de 200 candidatos.</a:t>
            </a:r>
            <a:endParaRPr lang="en-US" sz="21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4.2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Resultado de referência (30 repetições, 12 anos)</a:t>
            </a:r>
            <a:endParaRPr lang="en-US" sz="2800" dirty="0"/>
          </a:p>
        </p:txBody>
      </p:sp>
      <p:graphicFrame>
        <p:nvGraphicFramePr>
          <p:cNvPr id="21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914400"/>
        </p:xfrm>
        <a:graphic>
          <a:graphicData uri="http://schemas.openxmlformats.org/drawingml/2006/table">
            <a:tbl>
              <a:tblPr/>
              <a:tblGrid>
                <a:gridCol w="1951285"/>
                <a:gridCol w="3035518"/>
                <a:gridCol w="3035518"/>
                <a:gridCol w="3035518"/>
              </a:tblGrid>
              <a:tr h="625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Cenário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Diferencial do 1º ciclo (realizado / i·r)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Razão de ganho/ano esperada no início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Razão de ganho realizada em 12 anos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Convencional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0,99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1,00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Duas partes, r = 0,5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0,95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2,49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2,1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Duas partes, r = 0,3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0,94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1,51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4.2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Convencional versus duas partes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2763995" y="1085240"/>
            <a:ext cx="6663705" cy="4822491"/>
          </a:xfrm>
          <a:prstGeom prst="roundRect">
            <a:avLst>
              <a:gd name="adj" fmla="val 1517"/>
            </a:avLst>
          </a:prstGeom>
          <a:solidFill>
            <a:srgbClr val="FFFFFF"/>
          </a:solidFill>
          <a:ln w="9525">
            <a:solidFill>
              <a:schemeClr val="accent4"/>
            </a:solidFill>
            <a:prstDash val="solid"/>
          </a:ln>
        </p:spPr>
      </p:sp>
      <p:pic>
        <p:nvPicPr>
          <p:cNvPr id="4" name="imagem-1" descr="Convencional versus duas par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3723" y="1194968"/>
            <a:ext cx="6444249" cy="4603035"/>
          </a:xfrm>
          <a:prstGeom prst="rect">
            <a:avLst/>
          </a:prstGeom>
        </p:spPr>
      </p:pic>
      <p:sp>
        <p:nvSpPr>
          <p:cNvPr id="5" name="texto-2"/>
          <p:cNvSpPr txBox="1"/>
          <p:nvPr/>
        </p:nvSpPr>
        <p:spPr>
          <a:xfrm>
            <a:off x="566928" y="6044892"/>
            <a:ext cx="11057839" cy="24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Média genética dos genitores ao longo de 12 anos; 30 repetições.</a:t>
            </a:r>
            <a:endParaRPr lang="en-US" sz="1400" dirty="0"/>
          </a:p>
        </p:txBody>
      </p:sp>
      <p:sp>
        <p:nvSpPr>
          <p:cNvPr id="6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4.3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o modelo mínimo ensina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2325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O 1º ciclo confere com i·r: o código implementa a teoria.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A vantagem realizada (2,1×) é menor que a esperada no início (2,5×): ciclos rápidos com poucos genitores consomem variância genética (efeito Bulmer e deriva).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σg depende do tipo de candidato: DP entre candidatos F1 ≈ 0,65 versus ≈ 0,98 entre DH. Usar o σ errado na equação superestima o ganho.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Não é</a:t>
            </a:r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 uma reprodução do artigo; é um teste de entendimento do mecanismo.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Reprodução de um painel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ETAPA 5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5.1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Repetibilidade, reprodutibilidade, replicabilidade</a:t>
            </a:r>
            <a:endParaRPr lang="en-US" sz="2800" dirty="0"/>
          </a:p>
        </p:txBody>
      </p:sp>
      <p:graphicFrame>
        <p:nvGraphicFramePr>
          <p:cNvPr id="25" name="tabela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85240"/>
          <a:ext cx="11057839" cy="914400"/>
        </p:xfrm>
        <a:graphic>
          <a:graphicData uri="http://schemas.openxmlformats.org/drawingml/2006/table">
            <a:tbl>
              <a:tblPr/>
              <a:tblGrid>
                <a:gridCol w="2408647"/>
                <a:gridCol w="8649192"/>
              </a:tblGrid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Significado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6E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Repetibilidade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Mesmo código e dados → mesmo resultado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b="1" dirty="0">
                          <a:solidFill>
                            <a:schemeClr val="tx1"/>
                          </a:solidFill>
                        </a:rPr>
                        <a:t>Reprodutibilidade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Código independente, mesmas especificações → resultado compatível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D3A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8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Replicabilidade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22" dirty="0">
                          <a:solidFill>
                            <a:schemeClr val="tx1"/>
                          </a:solidFill>
                        </a:rPr>
                        <a:t>Novo estudo → mesma conclusão</a:t>
                      </a:r>
                      <a:endParaRPr lang="en-US" sz="1722" dirty="0"/>
                    </a:p>
                  </a:txBody>
                  <a:tcPr marL="73152" marR="73152" marT="32004" marB="3200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5.2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Escopo realista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Um painel de figura, em escala reduzida; o resultado completo, pré-calculado pelo professor.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Critério e tolerância escritos em </a:t>
            </a:r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1932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REPRODUTIBILIDADE.md</a:t>
            </a:r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 </a:t>
            </a:r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antes</a:t>
            </a:r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 de rodar (lógica de pré-registro).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5.3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Código dos autores: por último</a:t>
            </a:r>
            <a:endParaRPr lang="en-US" sz="2800" dirty="0"/>
          </a:p>
        </p:txBody>
      </p:sp>
      <p:sp>
        <p:nvSpPr>
          <p:cNvPr id="3" name="texto-0"/>
          <p:cNvSpPr txBox="1"/>
          <p:nvPr/>
        </p:nvSpPr>
        <p:spPr>
          <a:xfrm>
            <a:off x="566928" y="1085240"/>
            <a:ext cx="11057839" cy="1129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79400" indent="-279400">
              <a:lnSpc>
                <a:spcPct val="105000"/>
              </a:lnSpc>
              <a:spcAft>
                <a:spcPts val="672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Ler antes transforma reprodução em cópia.</a:t>
            </a:r>
            <a:endParaRPr lang="en-US" sz="2100" dirty="0"/>
          </a:p>
          <a:p>
            <a:pPr algn="l" marL="279400" indent="-279400">
              <a:lnSpc>
                <a:spcPct val="105000"/>
              </a:lnSpc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Ler depois transforma cada diferença em uma decisão de modelagem que o texto não deixou explícita.</a:t>
            </a:r>
            <a:endParaRPr lang="en-US" sz="2100" dirty="0"/>
          </a:p>
        </p:txBody>
      </p:sp>
      <p:sp>
        <p:nvSpPr>
          <p:cNvPr id="4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5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56032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tx1"/>
                </a:solidFill>
              </a:rPr>
              <a:t>Relatório</a:t>
            </a:r>
            <a:endParaRPr lang="en-US" sz="4600" dirty="0"/>
          </a:p>
        </p:txBody>
      </p:sp>
      <p:sp>
        <p:nvSpPr>
          <p:cNvPr id="3" name="texto-0"/>
          <p:cNvSpPr txBox="1"/>
          <p:nvPr/>
        </p:nvSpPr>
        <p:spPr>
          <a:xfrm>
            <a:off x="9144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800" dirty="0"/>
          </a:p>
        </p:txBody>
      </p:sp>
      <p:sp>
        <p:nvSpPr>
          <p:cNvPr id="4" name="texto-1"/>
          <p:cNvSpPr txBox="1"/>
          <p:nvPr/>
        </p:nvSpPr>
        <p:spPr>
          <a:xfrm>
            <a:off x="9144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ETAPA 6</a:t>
            </a:r>
            <a:endParaRPr lang="en-US" sz="1800" dirty="0"/>
          </a:p>
        </p:txBody>
      </p:sp>
      <p:sp>
        <p:nvSpPr>
          <p:cNvPr id="5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B9CF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6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9CFC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66928" y="3840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6.1   </a:t>
            </a:r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Síntese</a:t>
            </a:r>
            <a:endParaRPr lang="en-US" sz="2800" dirty="0"/>
          </a:p>
        </p:txBody>
      </p:sp>
      <p:sp>
        <p:nvSpPr>
          <p:cNvPr id="3" name="ret-0"/>
          <p:cNvSpPr/>
          <p:nvPr/>
        </p:nvSpPr>
        <p:spPr>
          <a:xfrm>
            <a:off x="566928" y="1085240"/>
            <a:ext cx="11057839" cy="1450238"/>
          </a:xfrm>
          <a:prstGeom prst="roundRect">
            <a:avLst>
              <a:gd name="adj" fmla="val 3783"/>
            </a:avLst>
          </a:prstGeom>
          <a:solidFill>
            <a:schemeClr val="accent5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o-1"/>
          <p:cNvSpPr txBox="1"/>
          <p:nvPr/>
        </p:nvSpPr>
        <p:spPr>
          <a:xfrm>
            <a:off x="713232" y="1176680"/>
            <a:ext cx="10765231" cy="128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 controlado     PDF na pasta; regras de citação no CLAUDE.md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Leitura em camadas      mapa, glossário, parâmetros, figuras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Perguntas nos dois sentidos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Crítica independente    revisor-cetico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Entendimento testável   modelo mínimo + equação do melhorista</a:t>
            </a:r>
            <a:endParaRPr lang="en-US" sz="1386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86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Reprodução rastreável   YAML com fontes, DESVIOS.md, critérios prévios</a:t>
            </a:r>
            <a:endParaRPr lang="en-US" sz="1386" dirty="0"/>
          </a:p>
        </p:txBody>
      </p:sp>
      <p:sp>
        <p:nvSpPr>
          <p:cNvPr id="5" name="ret-2"/>
          <p:cNvSpPr/>
          <p:nvPr/>
        </p:nvSpPr>
        <p:spPr>
          <a:xfrm>
            <a:off x="566928" y="2695499"/>
            <a:ext cx="11057839" cy="903133"/>
          </a:xfrm>
          <a:prstGeom prst="roundRect">
            <a:avLst>
              <a:gd name="adj" fmla="val 8100"/>
            </a:avLst>
          </a:prstGeom>
          <a:solidFill>
            <a:schemeClr val="accent6"/>
          </a:solidFill>
          <a:ln/>
        </p:spPr>
      </p:sp>
      <p:sp>
        <p:nvSpPr>
          <p:cNvPr id="6" name="texto-3"/>
          <p:cNvSpPr txBox="1"/>
          <p:nvPr/>
        </p:nvSpPr>
        <p:spPr>
          <a:xfrm>
            <a:off x="749808" y="2805227"/>
            <a:ext cx="10692079" cy="70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O agente não leu o artigo por você: organizou a leitura, testou seu entendimento e ajudou a transformar o texto em código verificável.</a:t>
            </a:r>
            <a:endParaRPr lang="en-US" sz="2100" dirty="0"/>
          </a:p>
        </p:txBody>
      </p:sp>
      <p:sp>
        <p:nvSpPr>
          <p:cNvPr id="7" name="rodape"/>
          <p:cNvSpPr txBox="1"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SEÇÃO 6 · ETAPA 6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27487" y="6400800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FA9A3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T 796">
  <a:themeElements>
    <a:clrScheme name="FIT 796">
      <a:dk1>
        <a:srgbClr val="E6F2EE"/>
      </a:dk1>
      <a:lt1>
        <a:srgbClr val="071419"/>
      </a:lt1>
      <a:dk2>
        <a:srgbClr val="8FA9A3"/>
      </a:dk2>
      <a:lt2>
        <a:srgbClr val="0B2F2A"/>
      </a:lt2>
      <a:accent1>
        <a:srgbClr val="A6E35A"/>
      </a:accent1>
      <a:accent2>
        <a:srgbClr val="3EC7C1"/>
      </a:accent2>
      <a:accent3>
        <a:srgbClr val="0D2229"/>
      </a:accent3>
      <a:accent4>
        <a:srgbClr val="1D3A41"/>
      </a:accent4>
      <a:accent5>
        <a:srgbClr val="0A1C22"/>
      </a:accent5>
      <a:accent6>
        <a:srgbClr val="15301F"/>
      </a:accent6>
      <a:hlink>
        <a:srgbClr val="3EC7C1"/>
      </a:hlink>
      <a:folHlink>
        <a:srgbClr val="A6E35A"/>
      </a:folHlink>
    </a:clrScheme>
    <a:fontScheme name="FIT 796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Seção 6 — Estudar e reproduzir um artigo científico com Claude Code</dc:title>
  <dc:subject>IA no Melhoramento Genético: Fundamentos e Aplicações</dc:subject>
  <dc:creator>FIT 796 · UFV</dc:creator>
  <cp:lastModifiedBy>FIT 796 · UFV</cp:lastModifiedBy>
  <cp:revision>1</cp:revision>
  <dcterms:created xsi:type="dcterms:W3CDTF">2026-10-17T17:47:56Z</dcterms:created>
  <dcterms:modified xsi:type="dcterms:W3CDTF">2026-10-17T17:47:56Z</dcterms:modified>
</cp:coreProperties>
</file>