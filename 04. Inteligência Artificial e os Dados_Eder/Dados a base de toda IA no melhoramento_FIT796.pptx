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6"/>
  </p:notesMasterIdLst>
  <p:sldIdLst>
    <p:sldId id="331" r:id="rId2"/>
    <p:sldId id="332" r:id="rId3"/>
    <p:sldId id="333" r:id="rId4"/>
    <p:sldId id="334" r:id="rId5"/>
    <p:sldId id="335" r:id="rId6"/>
    <p:sldId id="336" r:id="rId7"/>
    <p:sldId id="337" r:id="rId8"/>
    <p:sldId id="338" r:id="rId9"/>
    <p:sldId id="339" r:id="rId10"/>
    <p:sldId id="340" r:id="rId11"/>
    <p:sldId id="341" r:id="rId12"/>
    <p:sldId id="342" r:id="rId13"/>
    <p:sldId id="343" r:id="rId14"/>
    <p:sldId id="344" r:id="rId15"/>
    <p:sldId id="345" r:id="rId16"/>
    <p:sldId id="346" r:id="rId17"/>
    <p:sldId id="347" r:id="rId18"/>
    <p:sldId id="348" r:id="rId19"/>
    <p:sldId id="349" r:id="rId20"/>
    <p:sldId id="350" r:id="rId21"/>
    <p:sldId id="351" r:id="rId22"/>
    <p:sldId id="352" r:id="rId23"/>
    <p:sldId id="353" r:id="rId24"/>
    <p:sldId id="354" r:id="rId25"/>
    <p:sldId id="355" r:id="rId26"/>
    <p:sldId id="356" r:id="rId27"/>
    <p:sldId id="357" r:id="rId28"/>
    <p:sldId id="358" r:id="rId29"/>
    <p:sldId id="359" r:id="rId30"/>
    <p:sldId id="360" r:id="rId31"/>
    <p:sldId id="361" r:id="rId32"/>
    <p:sldId id="362" r:id="rId33"/>
    <p:sldId id="363" r:id="rId34"/>
    <p:sldId id="364" r:id="rId35"/>
    <p:sldId id="365" r:id="rId36"/>
    <p:sldId id="366" r:id="rId37"/>
    <p:sldId id="367" r:id="rId38"/>
    <p:sldId id="368" r:id="rId39"/>
    <p:sldId id="369" r:id="rId40"/>
    <p:sldId id="370" r:id="rId41"/>
    <p:sldId id="371" r:id="rId42"/>
    <p:sldId id="372" r:id="rId43"/>
    <p:sldId id="373" r:id="rId44"/>
    <p:sldId id="374" r:id="rId45"/>
    <p:sldId id="375" r:id="rId46"/>
    <p:sldId id="376" r:id="rId47"/>
    <p:sldId id="377" r:id="rId48"/>
    <p:sldId id="378" r:id="rId49"/>
    <p:sldId id="379" r:id="rId50"/>
    <p:sldId id="380" r:id="rId51"/>
    <p:sldId id="381" r:id="rId52"/>
    <p:sldId id="382" r:id="rId53"/>
    <p:sldId id="383" r:id="rId54"/>
    <p:sldId id="384" r:id="rId5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5249966-4C54-4FD3-9316-4758CB4B92BF}" v="136" dt="2026-10-30T20:22:00.24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0" d="100"/>
          <a:sy n="150" d="100"/>
        </p:scale>
        <p:origin x="2886" y="1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microsoft.com/office/2016/11/relationships/changesInfo" Target="changesInfos/changesInfo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der Silva" userId="9b7f41b4-798d-40cf-8f87-8e33ae7a0417" providerId="ADAL" clId="{DFF9E84E-5922-4F26-9EAD-8AB4E668133E}"/>
    <pc:docChg chg="modSld">
      <pc:chgData name="Eder Silva" userId="9b7f41b4-798d-40cf-8f87-8e33ae7a0417" providerId="ADAL" clId="{DFF9E84E-5922-4F26-9EAD-8AB4E668133E}" dt="2026-10-30T20:22:34.888" v="213" actId="1076"/>
      <pc:docMkLst>
        <pc:docMk/>
      </pc:docMkLst>
      <pc:sldChg chg="modSp mod">
        <pc:chgData name="Eder Silva" userId="9b7f41b4-798d-40cf-8f87-8e33ae7a0417" providerId="ADAL" clId="{DFF9E84E-5922-4F26-9EAD-8AB4E668133E}" dt="2026-10-30T20:19:52.601" v="1" actId="1076"/>
        <pc:sldMkLst>
          <pc:docMk/>
          <pc:sldMk cId="2133836751" sldId="333"/>
        </pc:sldMkLst>
        <pc:spChg chg="mod">
          <ac:chgData name="Eder Silva" userId="9b7f41b4-798d-40cf-8f87-8e33ae7a0417" providerId="ADAL" clId="{DFF9E84E-5922-4F26-9EAD-8AB4E668133E}" dt="2026-10-30T20:19:52.601" v="1" actId="1076"/>
          <ac:spMkLst>
            <pc:docMk/>
            <pc:sldMk cId="2133836751" sldId="333"/>
            <ac:spMk id="2" creationId="{00000000-0000-0000-0000-000000000000}"/>
          </ac:spMkLst>
        </pc:spChg>
      </pc:sldChg>
      <pc:sldChg chg="modSp mod">
        <pc:chgData name="Eder Silva" userId="9b7f41b4-798d-40cf-8f87-8e33ae7a0417" providerId="ADAL" clId="{DFF9E84E-5922-4F26-9EAD-8AB4E668133E}" dt="2026-10-30T20:20:19.991" v="43" actId="1035"/>
        <pc:sldMkLst>
          <pc:docMk/>
          <pc:sldMk cId="105186291" sldId="335"/>
        </pc:sldMkLst>
        <pc:spChg chg="mod">
          <ac:chgData name="Eder Silva" userId="9b7f41b4-798d-40cf-8f87-8e33ae7a0417" providerId="ADAL" clId="{DFF9E84E-5922-4F26-9EAD-8AB4E668133E}" dt="2026-10-30T20:20:03.011" v="3" actId="404"/>
          <ac:spMkLst>
            <pc:docMk/>
            <pc:sldMk cId="105186291" sldId="335"/>
            <ac:spMk id="3" creationId="{00000000-0000-0000-0000-000000000000}"/>
          </ac:spMkLst>
        </pc:spChg>
        <pc:spChg chg="mod">
          <ac:chgData name="Eder Silva" userId="9b7f41b4-798d-40cf-8f87-8e33ae7a0417" providerId="ADAL" clId="{DFF9E84E-5922-4F26-9EAD-8AB4E668133E}" dt="2026-10-30T20:20:19.991" v="43" actId="1035"/>
          <ac:spMkLst>
            <pc:docMk/>
            <pc:sldMk cId="105186291" sldId="335"/>
            <ac:spMk id="46" creationId="{C8960CF7-A989-9A32-59D3-53491C922FB9}"/>
          </ac:spMkLst>
        </pc:spChg>
        <pc:spChg chg="mod">
          <ac:chgData name="Eder Silva" userId="9b7f41b4-798d-40cf-8f87-8e33ae7a0417" providerId="ADAL" clId="{DFF9E84E-5922-4F26-9EAD-8AB4E668133E}" dt="2026-10-30T20:20:19.991" v="43" actId="1035"/>
          <ac:spMkLst>
            <pc:docMk/>
            <pc:sldMk cId="105186291" sldId="335"/>
            <ac:spMk id="47" creationId="{0DA81957-55F3-4EDE-6344-3D6808926561}"/>
          </ac:spMkLst>
        </pc:spChg>
        <pc:spChg chg="mod">
          <ac:chgData name="Eder Silva" userId="9b7f41b4-798d-40cf-8f87-8e33ae7a0417" providerId="ADAL" clId="{DFF9E84E-5922-4F26-9EAD-8AB4E668133E}" dt="2026-10-30T20:20:19.991" v="43" actId="1035"/>
          <ac:spMkLst>
            <pc:docMk/>
            <pc:sldMk cId="105186291" sldId="335"/>
            <ac:spMk id="48" creationId="{CF697353-6BB4-0295-C09E-86198860D38C}"/>
          </ac:spMkLst>
        </pc:spChg>
        <pc:spChg chg="mod">
          <ac:chgData name="Eder Silva" userId="9b7f41b4-798d-40cf-8f87-8e33ae7a0417" providerId="ADAL" clId="{DFF9E84E-5922-4F26-9EAD-8AB4E668133E}" dt="2026-10-30T20:20:19.991" v="43" actId="1035"/>
          <ac:spMkLst>
            <pc:docMk/>
            <pc:sldMk cId="105186291" sldId="335"/>
            <ac:spMk id="50" creationId="{765900ED-8CAA-4E28-5AEC-CE2E9F8F1F25}"/>
          </ac:spMkLst>
        </pc:spChg>
        <pc:spChg chg="mod">
          <ac:chgData name="Eder Silva" userId="9b7f41b4-798d-40cf-8f87-8e33ae7a0417" providerId="ADAL" clId="{DFF9E84E-5922-4F26-9EAD-8AB4E668133E}" dt="2026-10-30T20:20:19.991" v="43" actId="1035"/>
          <ac:spMkLst>
            <pc:docMk/>
            <pc:sldMk cId="105186291" sldId="335"/>
            <ac:spMk id="51" creationId="{EB8B451A-CB0A-28BB-EE07-6BFEC5EE0F7D}"/>
          </ac:spMkLst>
        </pc:spChg>
        <pc:spChg chg="mod">
          <ac:chgData name="Eder Silva" userId="9b7f41b4-798d-40cf-8f87-8e33ae7a0417" providerId="ADAL" clId="{DFF9E84E-5922-4F26-9EAD-8AB4E668133E}" dt="2026-10-30T20:20:19.991" v="43" actId="1035"/>
          <ac:spMkLst>
            <pc:docMk/>
            <pc:sldMk cId="105186291" sldId="335"/>
            <ac:spMk id="52" creationId="{C271BAEE-1AAA-A317-F2B0-9862E83DC638}"/>
          </ac:spMkLst>
        </pc:spChg>
        <pc:spChg chg="mod">
          <ac:chgData name="Eder Silva" userId="9b7f41b4-798d-40cf-8f87-8e33ae7a0417" providerId="ADAL" clId="{DFF9E84E-5922-4F26-9EAD-8AB4E668133E}" dt="2026-10-30T20:20:19.991" v="43" actId="1035"/>
          <ac:spMkLst>
            <pc:docMk/>
            <pc:sldMk cId="105186291" sldId="335"/>
            <ac:spMk id="53" creationId="{989AF5DA-0C37-A8B0-2243-B74AFB79C596}"/>
          </ac:spMkLst>
        </pc:spChg>
        <pc:spChg chg="mod">
          <ac:chgData name="Eder Silva" userId="9b7f41b4-798d-40cf-8f87-8e33ae7a0417" providerId="ADAL" clId="{DFF9E84E-5922-4F26-9EAD-8AB4E668133E}" dt="2026-10-30T20:20:19.991" v="43" actId="1035"/>
          <ac:spMkLst>
            <pc:docMk/>
            <pc:sldMk cId="105186291" sldId="335"/>
            <ac:spMk id="54" creationId="{D606C15F-1D7C-A6FF-4CA9-117F9A3284E4}"/>
          </ac:spMkLst>
        </pc:spChg>
        <pc:spChg chg="mod">
          <ac:chgData name="Eder Silva" userId="9b7f41b4-798d-40cf-8f87-8e33ae7a0417" providerId="ADAL" clId="{DFF9E84E-5922-4F26-9EAD-8AB4E668133E}" dt="2026-10-30T20:20:19.991" v="43" actId="1035"/>
          <ac:spMkLst>
            <pc:docMk/>
            <pc:sldMk cId="105186291" sldId="335"/>
            <ac:spMk id="55" creationId="{936CE3BE-1D42-95CF-63FC-9C594D96D1FD}"/>
          </ac:spMkLst>
        </pc:spChg>
        <pc:spChg chg="mod">
          <ac:chgData name="Eder Silva" userId="9b7f41b4-798d-40cf-8f87-8e33ae7a0417" providerId="ADAL" clId="{DFF9E84E-5922-4F26-9EAD-8AB4E668133E}" dt="2026-10-30T20:20:09.251" v="8" actId="1036"/>
          <ac:spMkLst>
            <pc:docMk/>
            <pc:sldMk cId="105186291" sldId="335"/>
            <ac:spMk id="56" creationId="{106D9384-6ABF-2EB6-AEA2-D3F229854ED4}"/>
          </ac:spMkLst>
        </pc:spChg>
        <pc:spChg chg="mod">
          <ac:chgData name="Eder Silva" userId="9b7f41b4-798d-40cf-8f87-8e33ae7a0417" providerId="ADAL" clId="{DFF9E84E-5922-4F26-9EAD-8AB4E668133E}" dt="2026-10-30T20:20:09.251" v="8" actId="1036"/>
          <ac:spMkLst>
            <pc:docMk/>
            <pc:sldMk cId="105186291" sldId="335"/>
            <ac:spMk id="57" creationId="{78B82DA2-4CE9-D71B-3525-59EBDD993893}"/>
          </ac:spMkLst>
        </pc:spChg>
        <pc:spChg chg="mod">
          <ac:chgData name="Eder Silva" userId="9b7f41b4-798d-40cf-8f87-8e33ae7a0417" providerId="ADAL" clId="{DFF9E84E-5922-4F26-9EAD-8AB4E668133E}" dt="2026-10-30T20:20:09.251" v="8" actId="1036"/>
          <ac:spMkLst>
            <pc:docMk/>
            <pc:sldMk cId="105186291" sldId="335"/>
            <ac:spMk id="58" creationId="{5674CF70-1C45-DB5E-BB20-6C917E1023C5}"/>
          </ac:spMkLst>
        </pc:spChg>
        <pc:spChg chg="mod">
          <ac:chgData name="Eder Silva" userId="9b7f41b4-798d-40cf-8f87-8e33ae7a0417" providerId="ADAL" clId="{DFF9E84E-5922-4F26-9EAD-8AB4E668133E}" dt="2026-10-30T20:20:19.991" v="43" actId="1035"/>
          <ac:spMkLst>
            <pc:docMk/>
            <pc:sldMk cId="105186291" sldId="335"/>
            <ac:spMk id="59" creationId="{203D26A4-028F-E527-8BA1-A733F48964C0}"/>
          </ac:spMkLst>
        </pc:spChg>
      </pc:sldChg>
      <pc:sldChg chg="modSp">
        <pc:chgData name="Eder Silva" userId="9b7f41b4-798d-40cf-8f87-8e33ae7a0417" providerId="ADAL" clId="{DFF9E84E-5922-4F26-9EAD-8AB4E668133E}" dt="2026-10-30T20:20:29.401" v="66" actId="1036"/>
        <pc:sldMkLst>
          <pc:docMk/>
          <pc:sldMk cId="2154438909" sldId="336"/>
        </pc:sldMkLst>
        <pc:spChg chg="mod">
          <ac:chgData name="Eder Silva" userId="9b7f41b4-798d-40cf-8f87-8e33ae7a0417" providerId="ADAL" clId="{DFF9E84E-5922-4F26-9EAD-8AB4E668133E}" dt="2026-10-30T20:20:29.401" v="66" actId="1036"/>
          <ac:spMkLst>
            <pc:docMk/>
            <pc:sldMk cId="2154438909" sldId="336"/>
            <ac:spMk id="13" creationId="{7E6977EF-71C9-4239-BFE1-6304E1616879}"/>
          </ac:spMkLst>
        </pc:spChg>
        <pc:spChg chg="mod">
          <ac:chgData name="Eder Silva" userId="9b7f41b4-798d-40cf-8f87-8e33ae7a0417" providerId="ADAL" clId="{DFF9E84E-5922-4F26-9EAD-8AB4E668133E}" dt="2026-10-30T20:20:29.401" v="66" actId="1036"/>
          <ac:spMkLst>
            <pc:docMk/>
            <pc:sldMk cId="2154438909" sldId="336"/>
            <ac:spMk id="14" creationId="{9AB7BDBE-A5B3-D4D9-7787-186CC7264287}"/>
          </ac:spMkLst>
        </pc:spChg>
        <pc:spChg chg="mod">
          <ac:chgData name="Eder Silva" userId="9b7f41b4-798d-40cf-8f87-8e33ae7a0417" providerId="ADAL" clId="{DFF9E84E-5922-4F26-9EAD-8AB4E668133E}" dt="2026-10-30T20:20:29.401" v="66" actId="1036"/>
          <ac:spMkLst>
            <pc:docMk/>
            <pc:sldMk cId="2154438909" sldId="336"/>
            <ac:spMk id="15" creationId="{653A728D-3AA2-972C-0D58-99E5B23B77D2}"/>
          </ac:spMkLst>
        </pc:spChg>
      </pc:sldChg>
      <pc:sldChg chg="modSp mod">
        <pc:chgData name="Eder Silva" userId="9b7f41b4-798d-40cf-8f87-8e33ae7a0417" providerId="ADAL" clId="{DFF9E84E-5922-4F26-9EAD-8AB4E668133E}" dt="2026-10-30T20:16:51.890" v="0" actId="14100"/>
        <pc:sldMkLst>
          <pc:docMk/>
          <pc:sldMk cId="595962341" sldId="337"/>
        </pc:sldMkLst>
        <pc:spChg chg="mod">
          <ac:chgData name="Eder Silva" userId="9b7f41b4-798d-40cf-8f87-8e33ae7a0417" providerId="ADAL" clId="{DFF9E84E-5922-4F26-9EAD-8AB4E668133E}" dt="2026-10-30T20:16:51.890" v="0" actId="14100"/>
          <ac:spMkLst>
            <pc:docMk/>
            <pc:sldMk cId="595962341" sldId="337"/>
            <ac:spMk id="3" creationId="{00000000-0000-0000-0000-000000000000}"/>
          </ac:spMkLst>
        </pc:spChg>
      </pc:sldChg>
      <pc:sldChg chg="modSp mod">
        <pc:chgData name="Eder Silva" userId="9b7f41b4-798d-40cf-8f87-8e33ae7a0417" providerId="ADAL" clId="{DFF9E84E-5922-4F26-9EAD-8AB4E668133E}" dt="2026-10-30T20:20:41.574" v="67" actId="1076"/>
        <pc:sldMkLst>
          <pc:docMk/>
          <pc:sldMk cId="2483332524" sldId="339"/>
        </pc:sldMkLst>
        <pc:spChg chg="mod">
          <ac:chgData name="Eder Silva" userId="9b7f41b4-798d-40cf-8f87-8e33ae7a0417" providerId="ADAL" clId="{DFF9E84E-5922-4F26-9EAD-8AB4E668133E}" dt="2026-10-30T20:20:41.574" v="67" actId="1076"/>
          <ac:spMkLst>
            <pc:docMk/>
            <pc:sldMk cId="2483332524" sldId="339"/>
            <ac:spMk id="2" creationId="{00000000-0000-0000-0000-000000000000}"/>
          </ac:spMkLst>
        </pc:spChg>
      </pc:sldChg>
      <pc:sldChg chg="modSp">
        <pc:chgData name="Eder Silva" userId="9b7f41b4-798d-40cf-8f87-8e33ae7a0417" providerId="ADAL" clId="{DFF9E84E-5922-4F26-9EAD-8AB4E668133E}" dt="2026-10-30T20:20:57.348" v="97" actId="1036"/>
        <pc:sldMkLst>
          <pc:docMk/>
          <pc:sldMk cId="2365079101" sldId="342"/>
        </pc:sldMkLst>
        <pc:spChg chg="mod">
          <ac:chgData name="Eder Silva" userId="9b7f41b4-798d-40cf-8f87-8e33ae7a0417" providerId="ADAL" clId="{DFF9E84E-5922-4F26-9EAD-8AB4E668133E}" dt="2026-10-30T20:20:49.453" v="68" actId="1036"/>
          <ac:spMkLst>
            <pc:docMk/>
            <pc:sldMk cId="2365079101" sldId="342"/>
            <ac:spMk id="12" creationId="{00000000-0000-0000-0000-000000000000}"/>
          </ac:spMkLst>
        </pc:spChg>
        <pc:spChg chg="mod">
          <ac:chgData name="Eder Silva" userId="9b7f41b4-798d-40cf-8f87-8e33ae7a0417" providerId="ADAL" clId="{DFF9E84E-5922-4F26-9EAD-8AB4E668133E}" dt="2026-10-30T20:20:57.348" v="97" actId="1036"/>
          <ac:spMkLst>
            <pc:docMk/>
            <pc:sldMk cId="2365079101" sldId="342"/>
            <ac:spMk id="13" creationId="{3D71D329-9393-DB25-B597-2E88F12CFD3C}"/>
          </ac:spMkLst>
        </pc:spChg>
        <pc:spChg chg="mod">
          <ac:chgData name="Eder Silva" userId="9b7f41b4-798d-40cf-8f87-8e33ae7a0417" providerId="ADAL" clId="{DFF9E84E-5922-4F26-9EAD-8AB4E668133E}" dt="2026-10-30T20:20:57.348" v="97" actId="1036"/>
          <ac:spMkLst>
            <pc:docMk/>
            <pc:sldMk cId="2365079101" sldId="342"/>
            <ac:spMk id="14" creationId="{D76D3013-1171-16C2-0719-4C3135B5AEA2}"/>
          </ac:spMkLst>
        </pc:spChg>
        <pc:spChg chg="mod">
          <ac:chgData name="Eder Silva" userId="9b7f41b4-798d-40cf-8f87-8e33ae7a0417" providerId="ADAL" clId="{DFF9E84E-5922-4F26-9EAD-8AB4E668133E}" dt="2026-10-30T20:20:57.348" v="97" actId="1036"/>
          <ac:spMkLst>
            <pc:docMk/>
            <pc:sldMk cId="2365079101" sldId="342"/>
            <ac:spMk id="15" creationId="{23100294-7F91-9174-7CB7-AD817241E673}"/>
          </ac:spMkLst>
        </pc:spChg>
      </pc:sldChg>
      <pc:sldChg chg="modSp mod">
        <pc:chgData name="Eder Silva" userId="9b7f41b4-798d-40cf-8f87-8e33ae7a0417" providerId="ADAL" clId="{DFF9E84E-5922-4F26-9EAD-8AB4E668133E}" dt="2026-10-30T20:21:11.171" v="121" actId="1076"/>
        <pc:sldMkLst>
          <pc:docMk/>
          <pc:sldMk cId="351842598" sldId="343"/>
        </pc:sldMkLst>
        <pc:spChg chg="mod">
          <ac:chgData name="Eder Silva" userId="9b7f41b4-798d-40cf-8f87-8e33ae7a0417" providerId="ADAL" clId="{DFF9E84E-5922-4F26-9EAD-8AB4E668133E}" dt="2026-10-30T20:21:11.171" v="121" actId="1076"/>
          <ac:spMkLst>
            <pc:docMk/>
            <pc:sldMk cId="351842598" sldId="343"/>
            <ac:spMk id="13" creationId="{2AE8F0D3-3F44-B662-F402-1DCD1713CA5A}"/>
          </ac:spMkLst>
        </pc:spChg>
        <pc:spChg chg="mod">
          <ac:chgData name="Eder Silva" userId="9b7f41b4-798d-40cf-8f87-8e33ae7a0417" providerId="ADAL" clId="{DFF9E84E-5922-4F26-9EAD-8AB4E668133E}" dt="2026-10-30T20:21:05.703" v="120" actId="1036"/>
          <ac:spMkLst>
            <pc:docMk/>
            <pc:sldMk cId="351842598" sldId="343"/>
            <ac:spMk id="15" creationId="{97F33EEC-4329-FC61-DF6F-3AFA41496795}"/>
          </ac:spMkLst>
        </pc:spChg>
        <pc:graphicFrameChg chg="mod">
          <ac:chgData name="Eder Silva" userId="9b7f41b4-798d-40cf-8f87-8e33ae7a0417" providerId="ADAL" clId="{DFF9E84E-5922-4F26-9EAD-8AB4E668133E}" dt="2026-10-30T20:21:05.703" v="120" actId="1036"/>
          <ac:graphicFrameMkLst>
            <pc:docMk/>
            <pc:sldMk cId="351842598" sldId="343"/>
            <ac:graphicFrameMk id="14" creationId="{A4CD70E9-7ABD-277A-3AB3-E64146B90D05}"/>
          </ac:graphicFrameMkLst>
        </pc:graphicFrameChg>
      </pc:sldChg>
      <pc:sldChg chg="modSp">
        <pc:chgData name="Eder Silva" userId="9b7f41b4-798d-40cf-8f87-8e33ae7a0417" providerId="ADAL" clId="{DFF9E84E-5922-4F26-9EAD-8AB4E668133E}" dt="2026-10-30T20:21:27.671" v="142" actId="1036"/>
        <pc:sldMkLst>
          <pc:docMk/>
          <pc:sldMk cId="1180430826" sldId="349"/>
        </pc:sldMkLst>
        <pc:spChg chg="mod">
          <ac:chgData name="Eder Silva" userId="9b7f41b4-798d-40cf-8f87-8e33ae7a0417" providerId="ADAL" clId="{DFF9E84E-5922-4F26-9EAD-8AB4E668133E}" dt="2026-10-30T20:21:27.671" v="142" actId="1036"/>
          <ac:spMkLst>
            <pc:docMk/>
            <pc:sldMk cId="1180430826" sldId="349"/>
            <ac:spMk id="13" creationId="{24668A43-F66A-B47A-05BB-D7854408F7DE}"/>
          </ac:spMkLst>
        </pc:spChg>
        <pc:spChg chg="mod">
          <ac:chgData name="Eder Silva" userId="9b7f41b4-798d-40cf-8f87-8e33ae7a0417" providerId="ADAL" clId="{DFF9E84E-5922-4F26-9EAD-8AB4E668133E}" dt="2026-10-30T20:21:27.671" v="142" actId="1036"/>
          <ac:spMkLst>
            <pc:docMk/>
            <pc:sldMk cId="1180430826" sldId="349"/>
            <ac:spMk id="14" creationId="{5A1237D0-3C3D-F48F-0E40-8099EE4F7ED5}"/>
          </ac:spMkLst>
        </pc:spChg>
        <pc:spChg chg="mod">
          <ac:chgData name="Eder Silva" userId="9b7f41b4-798d-40cf-8f87-8e33ae7a0417" providerId="ADAL" clId="{DFF9E84E-5922-4F26-9EAD-8AB4E668133E}" dt="2026-10-30T20:21:27.671" v="142" actId="1036"/>
          <ac:spMkLst>
            <pc:docMk/>
            <pc:sldMk cId="1180430826" sldId="349"/>
            <ac:spMk id="15" creationId="{7FA45D52-58B0-5EA6-939B-3E1A6CB85100}"/>
          </ac:spMkLst>
        </pc:spChg>
      </pc:sldChg>
      <pc:sldChg chg="modSp mod">
        <pc:chgData name="Eder Silva" userId="9b7f41b4-798d-40cf-8f87-8e33ae7a0417" providerId="ADAL" clId="{DFF9E84E-5922-4F26-9EAD-8AB4E668133E}" dt="2026-10-30T20:21:37.794" v="143" actId="1076"/>
        <pc:sldMkLst>
          <pc:docMk/>
          <pc:sldMk cId="2606867720" sldId="353"/>
        </pc:sldMkLst>
        <pc:spChg chg="mod">
          <ac:chgData name="Eder Silva" userId="9b7f41b4-798d-40cf-8f87-8e33ae7a0417" providerId="ADAL" clId="{DFF9E84E-5922-4F26-9EAD-8AB4E668133E}" dt="2026-10-30T20:21:37.794" v="143" actId="1076"/>
          <ac:spMkLst>
            <pc:docMk/>
            <pc:sldMk cId="2606867720" sldId="353"/>
            <ac:spMk id="2" creationId="{00000000-0000-0000-0000-000000000000}"/>
          </ac:spMkLst>
        </pc:spChg>
      </pc:sldChg>
      <pc:sldChg chg="modSp mod">
        <pc:chgData name="Eder Silva" userId="9b7f41b4-798d-40cf-8f87-8e33ae7a0417" providerId="ADAL" clId="{DFF9E84E-5922-4F26-9EAD-8AB4E668133E}" dt="2026-10-30T20:21:51.941" v="168" actId="1035"/>
        <pc:sldMkLst>
          <pc:docMk/>
          <pc:sldMk cId="3362587768" sldId="365"/>
        </pc:sldMkLst>
        <pc:graphicFrameChg chg="mod">
          <ac:chgData name="Eder Silva" userId="9b7f41b4-798d-40cf-8f87-8e33ae7a0417" providerId="ADAL" clId="{DFF9E84E-5922-4F26-9EAD-8AB4E668133E}" dt="2026-10-30T20:21:51.941" v="168" actId="1035"/>
          <ac:graphicFrameMkLst>
            <pc:docMk/>
            <pc:sldMk cId="3362587768" sldId="365"/>
            <ac:graphicFrameMk id="13" creationId="{9690DA48-C136-DC4A-9750-4F84A249C02D}"/>
          </ac:graphicFrameMkLst>
        </pc:graphicFrameChg>
      </pc:sldChg>
      <pc:sldChg chg="modSp">
        <pc:chgData name="Eder Silva" userId="9b7f41b4-798d-40cf-8f87-8e33ae7a0417" providerId="ADAL" clId="{DFF9E84E-5922-4F26-9EAD-8AB4E668133E}" dt="2026-10-30T20:22:00.247" v="190" actId="1036"/>
        <pc:sldMkLst>
          <pc:docMk/>
          <pc:sldMk cId="3011081041" sldId="368"/>
        </pc:sldMkLst>
        <pc:spChg chg="mod">
          <ac:chgData name="Eder Silva" userId="9b7f41b4-798d-40cf-8f87-8e33ae7a0417" providerId="ADAL" clId="{DFF9E84E-5922-4F26-9EAD-8AB4E668133E}" dt="2026-10-30T20:22:00.247" v="190" actId="1036"/>
          <ac:spMkLst>
            <pc:docMk/>
            <pc:sldMk cId="3011081041" sldId="368"/>
            <ac:spMk id="13" creationId="{239D714E-4A9E-49F4-4C6F-02F3D595C8A3}"/>
          </ac:spMkLst>
        </pc:spChg>
        <pc:spChg chg="mod">
          <ac:chgData name="Eder Silva" userId="9b7f41b4-798d-40cf-8f87-8e33ae7a0417" providerId="ADAL" clId="{DFF9E84E-5922-4F26-9EAD-8AB4E668133E}" dt="2026-10-30T20:22:00.247" v="190" actId="1036"/>
          <ac:spMkLst>
            <pc:docMk/>
            <pc:sldMk cId="3011081041" sldId="368"/>
            <ac:spMk id="14" creationId="{932B0731-8007-D7B0-FA6A-08AF1B041478}"/>
          </ac:spMkLst>
        </pc:spChg>
        <pc:spChg chg="mod">
          <ac:chgData name="Eder Silva" userId="9b7f41b4-798d-40cf-8f87-8e33ae7a0417" providerId="ADAL" clId="{DFF9E84E-5922-4F26-9EAD-8AB4E668133E}" dt="2026-10-30T20:22:00.247" v="190" actId="1036"/>
          <ac:spMkLst>
            <pc:docMk/>
            <pc:sldMk cId="3011081041" sldId="368"/>
            <ac:spMk id="15" creationId="{6FE0513F-7082-AEE1-9BB5-4A41CEC3CA41}"/>
          </ac:spMkLst>
        </pc:spChg>
        <pc:spChg chg="mod">
          <ac:chgData name="Eder Silva" userId="9b7f41b4-798d-40cf-8f87-8e33ae7a0417" providerId="ADAL" clId="{DFF9E84E-5922-4F26-9EAD-8AB4E668133E}" dt="2026-10-30T20:22:00.247" v="190" actId="1036"/>
          <ac:spMkLst>
            <pc:docMk/>
            <pc:sldMk cId="3011081041" sldId="368"/>
            <ac:spMk id="16" creationId="{4E54A616-D7DC-EAF3-1083-D5987FDA56C8}"/>
          </ac:spMkLst>
        </pc:spChg>
      </pc:sldChg>
      <pc:sldChg chg="modSp mod">
        <pc:chgData name="Eder Silva" userId="9b7f41b4-798d-40cf-8f87-8e33ae7a0417" providerId="ADAL" clId="{DFF9E84E-5922-4F26-9EAD-8AB4E668133E}" dt="2026-10-30T20:22:07.574" v="211" actId="1036"/>
        <pc:sldMkLst>
          <pc:docMk/>
          <pc:sldMk cId="2807703547" sldId="370"/>
        </pc:sldMkLst>
        <pc:spChg chg="mod">
          <ac:chgData name="Eder Silva" userId="9b7f41b4-798d-40cf-8f87-8e33ae7a0417" providerId="ADAL" clId="{DFF9E84E-5922-4F26-9EAD-8AB4E668133E}" dt="2026-10-30T20:22:07.574" v="211" actId="1036"/>
          <ac:spMkLst>
            <pc:docMk/>
            <pc:sldMk cId="2807703547" sldId="370"/>
            <ac:spMk id="13" creationId="{C032F987-80C8-410C-9B58-B9D724167CAF}"/>
          </ac:spMkLst>
        </pc:spChg>
        <pc:spChg chg="mod">
          <ac:chgData name="Eder Silva" userId="9b7f41b4-798d-40cf-8f87-8e33ae7a0417" providerId="ADAL" clId="{DFF9E84E-5922-4F26-9EAD-8AB4E668133E}" dt="2026-10-30T20:22:07.574" v="211" actId="1036"/>
          <ac:spMkLst>
            <pc:docMk/>
            <pc:sldMk cId="2807703547" sldId="370"/>
            <ac:spMk id="14" creationId="{68FAE380-AE7E-FB33-989F-A9CE6887F7F4}"/>
          </ac:spMkLst>
        </pc:spChg>
      </pc:sldChg>
      <pc:sldChg chg="modSp mod">
        <pc:chgData name="Eder Silva" userId="9b7f41b4-798d-40cf-8f87-8e33ae7a0417" providerId="ADAL" clId="{DFF9E84E-5922-4F26-9EAD-8AB4E668133E}" dt="2026-10-30T20:22:14.666" v="212" actId="1076"/>
        <pc:sldMkLst>
          <pc:docMk/>
          <pc:sldMk cId="2158595547" sldId="371"/>
        </pc:sldMkLst>
        <pc:spChg chg="mod">
          <ac:chgData name="Eder Silva" userId="9b7f41b4-798d-40cf-8f87-8e33ae7a0417" providerId="ADAL" clId="{DFF9E84E-5922-4F26-9EAD-8AB4E668133E}" dt="2026-10-30T20:22:14.666" v="212" actId="1076"/>
          <ac:spMkLst>
            <pc:docMk/>
            <pc:sldMk cId="2158595547" sldId="371"/>
            <ac:spMk id="2" creationId="{00000000-0000-0000-0000-000000000000}"/>
          </ac:spMkLst>
        </pc:spChg>
      </pc:sldChg>
      <pc:sldChg chg="modSp mod">
        <pc:chgData name="Eder Silva" userId="9b7f41b4-798d-40cf-8f87-8e33ae7a0417" providerId="ADAL" clId="{DFF9E84E-5922-4F26-9EAD-8AB4E668133E}" dt="2026-10-30T20:22:34.888" v="213" actId="1076"/>
        <pc:sldMkLst>
          <pc:docMk/>
          <pc:sldMk cId="2477541534" sldId="382"/>
        </pc:sldMkLst>
        <pc:spChg chg="mod">
          <ac:chgData name="Eder Silva" userId="9b7f41b4-798d-40cf-8f87-8e33ae7a0417" providerId="ADAL" clId="{DFF9E84E-5922-4F26-9EAD-8AB4E668133E}" dt="2026-10-30T20:22:34.888" v="213" actId="1076"/>
          <ac:spMkLst>
            <pc:docMk/>
            <pc:sldMk cId="2477541534" sldId="382"/>
            <ac:spMk id="13" creationId="{1F7E2DB0-86A8-7FB1-C096-04AB9253F21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544048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BR"/>
              <a:t>Boas-vindas à sessão de fechamento. Durante o curso vocês usaram IA como ferramenta: escreveram análises com agentes de código, estudaram artigos com LLMs, rodaram seleção genômica e simulação. Hoje a pergunta muda: o que a IA já faz de forma efetiva e que não coube nestes três dias? Três objetivos: (1) recapitular o arco do curso, (2) mostrar a fronteira dentro do melhoramento e, sobretudo, fora dele - moléculas, proteínas, events, agro digital e outras ciências, (3) discutir confiança, ética, propriedade e o que aprender a seguir. Regra do dia: entusiasmo, sempre com evidência. Cada slide tem referência no rodapé; preprints e anúncios de empresa estão marcados.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BR"/>
              <a:t>Transição. Começamos pela camada mais próxima do que o melhorista já faz: o genoma - mas com um tipo de modelo que não vimos no curso.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BR"/>
              <a:t>Transição. Começamos pela camada mais próxima do que o melhorista já faz: o genoma - mas com um tipo de modelo que não vimos no curso.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BR"/>
              <a:t>Transição. Começamos pela camada mais próxima do que o melhorista já faz: o genoma - mas com um tipo de modelo que não vimos no curso.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BR"/>
              <a:t>Transição. Começamos pela camada mais próxima do que o melhorista já faz: o genoma - mas com um tipo de modelo que não vimos no curso.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BR"/>
              <a:t>Transição. Começamos pela camada mais próxima do que o melhorista já faz: o genoma - mas com um tipo de modelo que não vimos no curso.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BR"/>
              <a:t>Transição. Começamos pela camada mais próxima do que o melhorista já faz: o genoma - mas com um tipo de modelo que não vimos no curso.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A7C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074920"/>
            <a:ext cx="12191695" cy="1783080"/>
          </a:xfrm>
          <a:prstGeom prst="rect">
            <a:avLst/>
          </a:prstGeom>
          <a:solidFill>
            <a:srgbClr val="F5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600200"/>
            <a:ext cx="10607040" cy="16754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5000" b="1" i="0">
                <a:solidFill>
                  <a:srgbClr val="FFFFFF"/>
                </a:solidFill>
                <a:latin typeface="DejaVu Serif"/>
              </a:rPr>
              <a:t>Dados: a base de toda IA no melhoramento</a:t>
            </a:r>
            <a:endParaRPr sz="5000" b="1" i="0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3977639"/>
            <a:ext cx="10607040" cy="40600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pt-BR" sz="1900" b="0" i="0">
                <a:solidFill>
                  <a:srgbClr val="D8E4DA"/>
                </a:solidFill>
                <a:latin typeface="DejaVu Sans"/>
              </a:rPr>
              <a:t>Carga: 2 h ·  Projeto: modelos/projeto-analise</a:t>
            </a:r>
            <a:endParaRPr sz="1900" b="0" i="0">
              <a:solidFill>
                <a:srgbClr val="D8E4DA"/>
              </a:solidFill>
              <a:latin typeface="DejaVu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5181600"/>
            <a:ext cx="1060704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BR" sz="1400" b="1" i="0">
                <a:solidFill>
                  <a:srgbClr val="4A7C59"/>
                </a:solidFill>
                <a:latin typeface="DejaVu Sans"/>
              </a:rPr>
              <a:t>IA NO MELHORAMENTO GENÉTICO: FUNDAMENTOS E APLICAÇÕES · FIT 796 · UFV · 3 A 5 DE NOVEMBRO DE 2026</a:t>
            </a:r>
            <a:endParaRPr sz="1400" b="1" i="0">
              <a:solidFill>
                <a:srgbClr val="4A7C59"/>
              </a:solidFill>
              <a:latin typeface="DejaVu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2960" y="5709919"/>
            <a:ext cx="10607040" cy="95410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BR" sz="1400" b="0" i="0">
                <a:solidFill>
                  <a:srgbClr val="6B6B6B"/>
                </a:solidFill>
                <a:latin typeface="DejaVu Sans"/>
              </a:rPr>
              <a:t>Fio condutor: nenhum modelo, por mais sofisticado, corrige um dado mal identificado, mal medido ou mal organizado. Antes de usar IA, o programa precisa de dados consultáveis (banco e SQL), confiáveis (QA/QC), consistentes e curados, guardados em uma pasta de análise organizada, que é também o contexto que o Claude Code vai ler.</a:t>
            </a:r>
            <a:endParaRPr sz="1400" b="0" i="0">
              <a:solidFill>
                <a:srgbClr val="6B6B6B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13725127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Roteiro da seção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1 · ROTEIRO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graphicFrame>
        <p:nvGraphicFramePr>
          <p:cNvPr id="13" name="Fit796Table">
            <a:extLst>
              <a:ext uri="{FF2B5EF4-FFF2-40B4-BE49-F238E27FC236}">
                <a16:creationId xmlns:a16="http://schemas.microsoft.com/office/drawing/2014/main" id="{BEEDFC21-7E83-02F5-2190-6F15A05B6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9793421"/>
              </p:ext>
            </p:extLst>
          </p:nvPr>
        </p:nvGraphicFramePr>
        <p:xfrm>
          <a:off x="640080" y="1053211"/>
          <a:ext cx="10896600" cy="22020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0900">
                  <a:extLst>
                    <a:ext uri="{9D8B030D-6E8A-4147-A177-3AD203B41FA5}">
                      <a16:colId xmlns:a16="http://schemas.microsoft.com/office/drawing/2014/main" val="1710990032"/>
                    </a:ext>
                  </a:extLst>
                </a:gridCol>
                <a:gridCol w="6451600">
                  <a:extLst>
                    <a:ext uri="{9D8B030D-6E8A-4147-A177-3AD203B41FA5}">
                      <a16:colId xmlns:a16="http://schemas.microsoft.com/office/drawing/2014/main" val="2983513710"/>
                    </a:ext>
                  </a:extLst>
                </a:gridCol>
                <a:gridCol w="2324100">
                  <a:extLst>
                    <a:ext uri="{9D8B030D-6E8A-4147-A177-3AD203B41FA5}">
                      <a16:colId xmlns:a16="http://schemas.microsoft.com/office/drawing/2014/main" val="2567620928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Bloco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Tema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Tempo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579642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1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Por que os dados vêm antes da IA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15 min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641838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2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Bancos de dados relacionais e a linguagem SQL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35 min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840001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3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QA/QC: garantir e controlar a qualidade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30 min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492098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4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Consistência e curadoria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15 min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366810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5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A pasta de análise como projeto do Claude Code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20 min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69590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6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Síntese e tarefa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5 min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76683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70182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A7C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75360" y="2269490"/>
            <a:ext cx="10241280" cy="7694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BR" sz="4400" b="1" i="0" dirty="0">
                <a:solidFill>
                  <a:srgbClr val="FFFFFF"/>
                </a:solidFill>
                <a:latin typeface="DejaVu Serif"/>
              </a:rPr>
              <a:t>Por que os dados vêm antes da IA</a:t>
            </a:r>
            <a:endParaRPr sz="4400" b="1" i="0" dirty="0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05840" y="3703320"/>
            <a:ext cx="10241280" cy="45550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it-IT" sz="2200" b="0" i="0">
                <a:solidFill>
                  <a:srgbClr val="D8E4DA"/>
                </a:solidFill>
                <a:latin typeface="DejaVu Sans"/>
              </a:rPr>
              <a:t>BLOCO 1 · 15 min · SEÇÃO 1 · BLOCO 1</a:t>
            </a:r>
            <a:endParaRPr sz="2200" b="0" i="0">
              <a:solidFill>
                <a:srgbClr val="D8E4DA"/>
              </a:solidFill>
              <a:latin typeface="DejaVu San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005840" y="3584448"/>
            <a:ext cx="2011680" cy="50292"/>
          </a:xfrm>
          <a:prstGeom prst="rect">
            <a:avLst/>
          </a:prstGeom>
          <a:solidFill>
            <a:srgbClr val="F9A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1338367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1.1  Pergunta de abertura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1 · BLOCO 1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FitCallout">
            <a:extLst>
              <a:ext uri="{FF2B5EF4-FFF2-40B4-BE49-F238E27FC236}">
                <a16:creationId xmlns:a16="http://schemas.microsoft.com/office/drawing/2014/main" id="{23D690C6-0EAE-5399-7906-51E78F38BCC7}"/>
              </a:ext>
            </a:extLst>
          </p:cNvPr>
          <p:cNvSpPr/>
          <p:nvPr/>
        </p:nvSpPr>
        <p:spPr>
          <a:xfrm>
            <a:off x="640080" y="1053211"/>
            <a:ext cx="5308600" cy="1375664"/>
          </a:xfrm>
          <a:prstGeom prst="roundRect">
            <a:avLst>
              <a:gd name="adj" fmla="val 8000"/>
            </a:avLst>
          </a:prstGeom>
          <a:solidFill>
            <a:srgbClr val="D8E4D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01600" rIns="152400" bIns="101600" rtlCol="0" anchor="ctr"/>
          <a:lstStyle/>
          <a:p>
            <a:pPr>
              <a:lnSpc>
                <a:spcPct val="92000"/>
              </a:lnSpc>
            </a:pPr>
            <a:r>
              <a:rPr lang="pt-BR" sz="2000" b="1">
                <a:solidFill>
                  <a:srgbClr val="2E3A2F"/>
                </a:solidFill>
                <a:latin typeface="DejaVu Sans"/>
              </a:rPr>
              <a:t>"Se o seu orientador pedisse hoje para reproduzir a análise conjunta dos ensaios de 2023, quanto tempo você levaria?"</a:t>
            </a:r>
            <a:endParaRPr lang="en-US" sz="2000" b="1">
              <a:solidFill>
                <a:srgbClr val="2E3A2F"/>
              </a:solidFill>
              <a:latin typeface="DejaVu Sans"/>
            </a:endParaRPr>
          </a:p>
        </p:txBody>
      </p:sp>
      <p:sp>
        <p:nvSpPr>
          <p:cNvPr id="14" name="FitCalloutBar">
            <a:extLst>
              <a:ext uri="{FF2B5EF4-FFF2-40B4-BE49-F238E27FC236}">
                <a16:creationId xmlns:a16="http://schemas.microsoft.com/office/drawing/2014/main" id="{07CF1385-3229-FAE9-443E-8397C4096839}"/>
              </a:ext>
            </a:extLst>
          </p:cNvPr>
          <p:cNvSpPr/>
          <p:nvPr/>
        </p:nvSpPr>
        <p:spPr>
          <a:xfrm>
            <a:off x="640080" y="1053211"/>
            <a:ext cx="63500" cy="1375664"/>
          </a:xfrm>
          <a:prstGeom prst="rect">
            <a:avLst/>
          </a:prstGeom>
          <a:solidFill>
            <a:srgbClr val="B7472A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itText">
            <a:extLst>
              <a:ext uri="{FF2B5EF4-FFF2-40B4-BE49-F238E27FC236}">
                <a16:creationId xmlns:a16="http://schemas.microsoft.com/office/drawing/2014/main" id="{88C8D04B-C78D-111E-7A0E-DEA02BDD8B4B}"/>
              </a:ext>
            </a:extLst>
          </p:cNvPr>
          <p:cNvSpPr txBox="1"/>
          <p:nvPr/>
        </p:nvSpPr>
        <p:spPr>
          <a:xfrm>
            <a:off x="6240780" y="1053210"/>
            <a:ext cx="5308600" cy="63703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92000"/>
              </a:lnSpc>
            </a:pPr>
            <a:r>
              <a:rPr lang="pt-BR" sz="2000" b="1">
                <a:solidFill>
                  <a:srgbClr val="4A7C59"/>
                </a:solidFill>
                <a:latin typeface="DejaVu Sans"/>
              </a:rPr>
              <a:t>Perguntas que costumam não ter resposta</a:t>
            </a:r>
            <a:endParaRPr lang="en-US" sz="2000" b="1">
              <a:solidFill>
                <a:srgbClr val="4A7C59"/>
              </a:solidFill>
              <a:latin typeface="DejaVu Sans"/>
            </a:endParaRPr>
          </a:p>
        </p:txBody>
      </p:sp>
      <p:sp>
        <p:nvSpPr>
          <p:cNvPr id="16" name="FitText">
            <a:extLst>
              <a:ext uri="{FF2B5EF4-FFF2-40B4-BE49-F238E27FC236}">
                <a16:creationId xmlns:a16="http://schemas.microsoft.com/office/drawing/2014/main" id="{AE4158E6-1E68-B275-7C71-1953543CC9F4}"/>
              </a:ext>
            </a:extLst>
          </p:cNvPr>
          <p:cNvSpPr txBox="1"/>
          <p:nvPr/>
        </p:nvSpPr>
        <p:spPr>
          <a:xfrm>
            <a:off x="6240780" y="1842642"/>
            <a:ext cx="5308600" cy="277672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Onde está o arquivo bruto que veio do campo?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Qual das cinco versões da planilha foi usada?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Quem corrigiu aquele valor de 104.613 kg/ha, e para quanto?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Qual script gerou a Tabela 3 da dissertação, e com quais pacotes?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20746956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2453620" cy="9705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2800" b="1" i="0" dirty="0">
                <a:solidFill>
                  <a:srgbClr val="4A7C59"/>
                </a:solidFill>
                <a:latin typeface="DejaVu Serif"/>
              </a:rPr>
              <a:t>1.2  O ciclo de vida do dado em um programa de melhoramento</a:t>
            </a:r>
            <a:endParaRPr sz="2800" b="1" i="0" dirty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1 · BLOCO 1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46" name="ProcessBox0">
            <a:extLst>
              <a:ext uri="{FF2B5EF4-FFF2-40B4-BE49-F238E27FC236}">
                <a16:creationId xmlns:a16="http://schemas.microsoft.com/office/drawing/2014/main" id="{C8960CF7-A989-9A32-59D3-53491C922FB9}"/>
              </a:ext>
            </a:extLst>
          </p:cNvPr>
          <p:cNvSpPr/>
          <p:nvPr/>
        </p:nvSpPr>
        <p:spPr>
          <a:xfrm>
            <a:off x="381000" y="1700911"/>
            <a:ext cx="1502228" cy="1104075"/>
          </a:xfrm>
          <a:prstGeom prst="roundRect">
            <a:avLst>
              <a:gd name="adj" fmla="val 8000"/>
            </a:avLst>
          </a:prstGeom>
          <a:solidFill>
            <a:srgbClr val="4A7C59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101600" rIns="38100" bIns="101600" rtlCol="0" anchor="t"/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en-US" sz="1350" b="1">
                <a:solidFill>
                  <a:srgbClr val="FFFFFF"/>
                </a:solidFill>
                <a:latin typeface="DejaVu Sans"/>
              </a:rPr>
              <a:t>Planejamento</a:t>
            </a:r>
          </a:p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en-US" sz="1450">
                <a:solidFill>
                  <a:srgbClr val="FFFFFF"/>
                </a:solidFill>
                <a:latin typeface="DejaVu Sans"/>
              </a:rPr>
              <a:t>delineamento, IDs, croqui</a:t>
            </a:r>
          </a:p>
        </p:txBody>
      </p:sp>
      <p:sp>
        <p:nvSpPr>
          <p:cNvPr id="47" name="ProcessBox1">
            <a:extLst>
              <a:ext uri="{FF2B5EF4-FFF2-40B4-BE49-F238E27FC236}">
                <a16:creationId xmlns:a16="http://schemas.microsoft.com/office/drawing/2014/main" id="{0DA81957-55F3-4EDE-6344-3D6808926561}"/>
              </a:ext>
            </a:extLst>
          </p:cNvPr>
          <p:cNvSpPr/>
          <p:nvPr/>
        </p:nvSpPr>
        <p:spPr>
          <a:xfrm>
            <a:off x="2035629" y="1700911"/>
            <a:ext cx="1502228" cy="1104075"/>
          </a:xfrm>
          <a:prstGeom prst="roundRect">
            <a:avLst>
              <a:gd name="adj" fmla="val 8000"/>
            </a:avLst>
          </a:prstGeom>
          <a:solidFill>
            <a:srgbClr val="D8E4D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101600" rIns="38100" bIns="101600" rtlCol="0" anchor="t"/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en-US" sz="1350" b="1">
                <a:solidFill>
                  <a:srgbClr val="2E3A2F"/>
                </a:solidFill>
                <a:latin typeface="DejaVu Sans"/>
              </a:rPr>
              <a:t>Coleta</a:t>
            </a:r>
          </a:p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en-US" sz="1450">
                <a:solidFill>
                  <a:srgbClr val="2E3A2F"/>
                </a:solidFill>
                <a:latin typeface="DejaVu Sans"/>
              </a:rPr>
              <a:t>campo, laboratório, imagens</a:t>
            </a:r>
          </a:p>
        </p:txBody>
      </p:sp>
      <p:sp>
        <p:nvSpPr>
          <p:cNvPr id="48" name="ProcessBox2">
            <a:extLst>
              <a:ext uri="{FF2B5EF4-FFF2-40B4-BE49-F238E27FC236}">
                <a16:creationId xmlns:a16="http://schemas.microsoft.com/office/drawing/2014/main" id="{CF697353-6BB4-0295-C09E-86198860D38C}"/>
              </a:ext>
            </a:extLst>
          </p:cNvPr>
          <p:cNvSpPr/>
          <p:nvPr/>
        </p:nvSpPr>
        <p:spPr>
          <a:xfrm>
            <a:off x="3690257" y="1700911"/>
            <a:ext cx="1502229" cy="1104075"/>
          </a:xfrm>
          <a:prstGeom prst="roundRect">
            <a:avLst>
              <a:gd name="adj" fmla="val 8000"/>
            </a:avLst>
          </a:prstGeom>
          <a:solidFill>
            <a:srgbClr val="F9A620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101600" rIns="38100" bIns="101600" rtlCol="0" anchor="t"/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en-US" sz="1350" b="1">
                <a:solidFill>
                  <a:srgbClr val="2E3A2F"/>
                </a:solidFill>
                <a:latin typeface="DejaVu Sans"/>
              </a:rPr>
              <a:t>Ingestão</a:t>
            </a:r>
          </a:p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en-US" sz="1450">
                <a:solidFill>
                  <a:srgbClr val="2E3A2F"/>
                </a:solidFill>
                <a:latin typeface="DejaVu Sans"/>
              </a:rPr>
              <a:t>digitação, importação</a:t>
            </a:r>
          </a:p>
        </p:txBody>
      </p:sp>
      <p:sp>
        <p:nvSpPr>
          <p:cNvPr id="49" name="ProcessBox3">
            <a:extLst>
              <a:ext uri="{FF2B5EF4-FFF2-40B4-BE49-F238E27FC236}">
                <a16:creationId xmlns:a16="http://schemas.microsoft.com/office/drawing/2014/main" id="{995892B9-2C7C-4B23-A888-2861C3A3DB8A}"/>
              </a:ext>
            </a:extLst>
          </p:cNvPr>
          <p:cNvSpPr/>
          <p:nvPr/>
        </p:nvSpPr>
        <p:spPr>
          <a:xfrm>
            <a:off x="5344886" y="1700911"/>
            <a:ext cx="1502229" cy="1104075"/>
          </a:xfrm>
          <a:prstGeom prst="roundRect">
            <a:avLst>
              <a:gd name="adj" fmla="val 8000"/>
            </a:avLst>
          </a:prstGeom>
          <a:solidFill>
            <a:srgbClr val="B7472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101600" rIns="38100" bIns="101600" rtlCol="0" anchor="t"/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pt-BR" sz="1350" b="1">
                <a:solidFill>
                  <a:srgbClr val="FFFFFF"/>
                </a:solidFill>
                <a:latin typeface="DejaVu Sans"/>
              </a:rPr>
              <a:t>QA/QC</a:t>
            </a:r>
          </a:p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pt-BR" sz="1450">
                <a:solidFill>
                  <a:srgbClr val="FFFFFF"/>
                </a:solidFill>
                <a:latin typeface="DejaVu Sans"/>
              </a:rPr>
              <a:t>regras e estatística</a:t>
            </a:r>
            <a:endParaRPr lang="en-US" sz="1450">
              <a:solidFill>
                <a:srgbClr val="FFFFFF"/>
              </a:solidFill>
              <a:latin typeface="DejaVu Sans"/>
            </a:endParaRPr>
          </a:p>
        </p:txBody>
      </p:sp>
      <p:sp>
        <p:nvSpPr>
          <p:cNvPr id="50" name="ProcessBox4">
            <a:extLst>
              <a:ext uri="{FF2B5EF4-FFF2-40B4-BE49-F238E27FC236}">
                <a16:creationId xmlns:a16="http://schemas.microsoft.com/office/drawing/2014/main" id="{765900ED-8CAA-4E28-5AEC-CE2E9F8F1F25}"/>
              </a:ext>
            </a:extLst>
          </p:cNvPr>
          <p:cNvSpPr/>
          <p:nvPr/>
        </p:nvSpPr>
        <p:spPr>
          <a:xfrm>
            <a:off x="6999515" y="1700911"/>
            <a:ext cx="1502228" cy="1104075"/>
          </a:xfrm>
          <a:prstGeom prst="roundRect">
            <a:avLst>
              <a:gd name="adj" fmla="val 8000"/>
            </a:avLst>
          </a:prstGeom>
          <a:solidFill>
            <a:srgbClr val="4A7C59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101600" rIns="38100" bIns="101600" rtlCol="0" anchor="t"/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en-US" sz="1350" b="1">
                <a:solidFill>
                  <a:srgbClr val="FFFFFF"/>
                </a:solidFill>
                <a:latin typeface="DejaVu Sans"/>
              </a:rPr>
              <a:t>Curadoria</a:t>
            </a:r>
          </a:p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en-US" sz="1450">
                <a:solidFill>
                  <a:srgbClr val="FFFFFF"/>
                </a:solidFill>
                <a:latin typeface="DejaVu Sans"/>
              </a:rPr>
              <a:t>correções registradas</a:t>
            </a:r>
          </a:p>
        </p:txBody>
      </p:sp>
      <p:sp>
        <p:nvSpPr>
          <p:cNvPr id="51" name="ProcessBox5">
            <a:extLst>
              <a:ext uri="{FF2B5EF4-FFF2-40B4-BE49-F238E27FC236}">
                <a16:creationId xmlns:a16="http://schemas.microsoft.com/office/drawing/2014/main" id="{EB8B451A-CB0A-28BB-EE07-6BFEC5EE0F7D}"/>
              </a:ext>
            </a:extLst>
          </p:cNvPr>
          <p:cNvSpPr/>
          <p:nvPr/>
        </p:nvSpPr>
        <p:spPr>
          <a:xfrm>
            <a:off x="8654143" y="1700912"/>
            <a:ext cx="1502229" cy="1104075"/>
          </a:xfrm>
          <a:prstGeom prst="roundRect">
            <a:avLst>
              <a:gd name="adj" fmla="val 8000"/>
            </a:avLst>
          </a:prstGeom>
          <a:solidFill>
            <a:srgbClr val="D8E4D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101600" rIns="38100" bIns="101600" rtlCol="0" anchor="t"/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en-US" sz="1350" b="1">
                <a:solidFill>
                  <a:srgbClr val="2E3A2F"/>
                </a:solidFill>
                <a:latin typeface="DejaVu Sans"/>
              </a:rPr>
              <a:t>Análise</a:t>
            </a:r>
          </a:p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en-US" sz="1450">
                <a:solidFill>
                  <a:srgbClr val="2E3A2F"/>
                </a:solidFill>
                <a:latin typeface="DejaVu Sans"/>
              </a:rPr>
              <a:t>BLUP, GS, IA</a:t>
            </a:r>
          </a:p>
        </p:txBody>
      </p:sp>
      <p:sp>
        <p:nvSpPr>
          <p:cNvPr id="52" name="ProcessBox6">
            <a:extLst>
              <a:ext uri="{FF2B5EF4-FFF2-40B4-BE49-F238E27FC236}">
                <a16:creationId xmlns:a16="http://schemas.microsoft.com/office/drawing/2014/main" id="{C271BAEE-1AAA-A317-F2B0-9862E83DC638}"/>
              </a:ext>
            </a:extLst>
          </p:cNvPr>
          <p:cNvSpPr/>
          <p:nvPr/>
        </p:nvSpPr>
        <p:spPr>
          <a:xfrm>
            <a:off x="10308772" y="1700911"/>
            <a:ext cx="1502228" cy="1104075"/>
          </a:xfrm>
          <a:prstGeom prst="roundRect">
            <a:avLst>
              <a:gd name="adj" fmla="val 8000"/>
            </a:avLst>
          </a:prstGeom>
          <a:solidFill>
            <a:srgbClr val="F9A620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101600" rIns="38100" bIns="101600" rtlCol="0" anchor="t"/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en-US" sz="1350" b="1">
                <a:solidFill>
                  <a:srgbClr val="2E3A2F"/>
                </a:solidFill>
                <a:latin typeface="DejaVu Sans"/>
              </a:rPr>
              <a:t>Decisão</a:t>
            </a:r>
          </a:p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en-US" sz="1450">
                <a:solidFill>
                  <a:srgbClr val="2E3A2F"/>
                </a:solidFill>
                <a:latin typeface="DejaVu Sans"/>
              </a:rPr>
              <a:t>seleção, cruzamentos</a:t>
            </a:r>
          </a:p>
        </p:txBody>
      </p:sp>
      <p:sp>
        <p:nvSpPr>
          <p:cNvPr id="53" name="ProcessArrow0">
            <a:extLst>
              <a:ext uri="{FF2B5EF4-FFF2-40B4-BE49-F238E27FC236}">
                <a16:creationId xmlns:a16="http://schemas.microsoft.com/office/drawing/2014/main" id="{989AF5DA-0C37-A8B0-2243-B74AFB79C596}"/>
              </a:ext>
            </a:extLst>
          </p:cNvPr>
          <p:cNvSpPr/>
          <p:nvPr/>
        </p:nvSpPr>
        <p:spPr>
          <a:xfrm>
            <a:off x="1921329" y="2195798"/>
            <a:ext cx="76200" cy="177801"/>
          </a:xfrm>
          <a:prstGeom prst="rightArrow">
            <a:avLst/>
          </a:prstGeom>
          <a:solidFill>
            <a:srgbClr val="F9A62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ProcessArrow1">
            <a:extLst>
              <a:ext uri="{FF2B5EF4-FFF2-40B4-BE49-F238E27FC236}">
                <a16:creationId xmlns:a16="http://schemas.microsoft.com/office/drawing/2014/main" id="{D606C15F-1D7C-A6FF-4CA9-117F9A3284E4}"/>
              </a:ext>
            </a:extLst>
          </p:cNvPr>
          <p:cNvSpPr/>
          <p:nvPr/>
        </p:nvSpPr>
        <p:spPr>
          <a:xfrm>
            <a:off x="3575957" y="2195798"/>
            <a:ext cx="76200" cy="177801"/>
          </a:xfrm>
          <a:prstGeom prst="rightArrow">
            <a:avLst/>
          </a:prstGeom>
          <a:solidFill>
            <a:srgbClr val="F9A62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ProcessArrow2">
            <a:extLst>
              <a:ext uri="{FF2B5EF4-FFF2-40B4-BE49-F238E27FC236}">
                <a16:creationId xmlns:a16="http://schemas.microsoft.com/office/drawing/2014/main" id="{936CE3BE-1D42-95CF-63FC-9C594D96D1FD}"/>
              </a:ext>
            </a:extLst>
          </p:cNvPr>
          <p:cNvSpPr/>
          <p:nvPr/>
        </p:nvSpPr>
        <p:spPr>
          <a:xfrm>
            <a:off x="5230586" y="2195798"/>
            <a:ext cx="76200" cy="177801"/>
          </a:xfrm>
          <a:prstGeom prst="rightArrow">
            <a:avLst/>
          </a:prstGeom>
          <a:solidFill>
            <a:srgbClr val="F9A62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ProcessArrow3">
            <a:extLst>
              <a:ext uri="{FF2B5EF4-FFF2-40B4-BE49-F238E27FC236}">
                <a16:creationId xmlns:a16="http://schemas.microsoft.com/office/drawing/2014/main" id="{106D9384-6ABF-2EB6-AEA2-D3F229854ED4}"/>
              </a:ext>
            </a:extLst>
          </p:cNvPr>
          <p:cNvSpPr/>
          <p:nvPr/>
        </p:nvSpPr>
        <p:spPr>
          <a:xfrm>
            <a:off x="6885215" y="2195798"/>
            <a:ext cx="76200" cy="177801"/>
          </a:xfrm>
          <a:prstGeom prst="rightArrow">
            <a:avLst/>
          </a:prstGeom>
          <a:solidFill>
            <a:srgbClr val="F9A62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ProcessArrow4">
            <a:extLst>
              <a:ext uri="{FF2B5EF4-FFF2-40B4-BE49-F238E27FC236}">
                <a16:creationId xmlns:a16="http://schemas.microsoft.com/office/drawing/2014/main" id="{78B82DA2-4CE9-D71B-3525-59EBDD993893}"/>
              </a:ext>
            </a:extLst>
          </p:cNvPr>
          <p:cNvSpPr/>
          <p:nvPr/>
        </p:nvSpPr>
        <p:spPr>
          <a:xfrm>
            <a:off x="8539843" y="2195798"/>
            <a:ext cx="76200" cy="177801"/>
          </a:xfrm>
          <a:prstGeom prst="rightArrow">
            <a:avLst/>
          </a:prstGeom>
          <a:solidFill>
            <a:srgbClr val="F9A62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ProcessArrow5">
            <a:extLst>
              <a:ext uri="{FF2B5EF4-FFF2-40B4-BE49-F238E27FC236}">
                <a16:creationId xmlns:a16="http://schemas.microsoft.com/office/drawing/2014/main" id="{5674CF70-1C45-DB5E-BB20-6C917E1023C5}"/>
              </a:ext>
            </a:extLst>
          </p:cNvPr>
          <p:cNvSpPr/>
          <p:nvPr/>
        </p:nvSpPr>
        <p:spPr>
          <a:xfrm>
            <a:off x="10194472" y="2195798"/>
            <a:ext cx="76200" cy="177801"/>
          </a:xfrm>
          <a:prstGeom prst="rightArrow">
            <a:avLst/>
          </a:prstGeom>
          <a:solidFill>
            <a:srgbClr val="F9A62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itText">
            <a:extLst>
              <a:ext uri="{FF2B5EF4-FFF2-40B4-BE49-F238E27FC236}">
                <a16:creationId xmlns:a16="http://schemas.microsoft.com/office/drawing/2014/main" id="{203D26A4-028F-E527-8BA1-A733F48964C0}"/>
              </a:ext>
            </a:extLst>
          </p:cNvPr>
          <p:cNvSpPr txBox="1"/>
          <p:nvPr/>
        </p:nvSpPr>
        <p:spPr>
          <a:xfrm>
            <a:off x="640080" y="3039936"/>
            <a:ext cx="10909300" cy="234391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Cada seta é um ponto de entrada de erros: troca de etiqueta, digitação, unidade, cópia e cola, junção errada de tabelas.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O custo de corrigir cresce ao longo do ciclo: um ID errado no croqui custa minutos; o mesmo erro descoberto depois da seleção custa um ciclo de melhoramento.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 b="1">
                <a:solidFill>
                  <a:srgbClr val="4A7C59"/>
                </a:solidFill>
                <a:latin typeface="DejaVu Sans"/>
              </a:rPr>
              <a:t>QA atua à esquerda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(prevenir);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QC atua no meio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(detectar);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curadoria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mantém o histórico de tudo que mudou.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1051862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1.3  O dado é o ativo de longo prazo do programa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1 · BLOCO 1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7E6977EF-71C9-4239-BFE1-6304E1616879}"/>
              </a:ext>
            </a:extLst>
          </p:cNvPr>
          <p:cNvSpPr txBox="1"/>
          <p:nvPr/>
        </p:nvSpPr>
        <p:spPr>
          <a:xfrm>
            <a:off x="640080" y="1561211"/>
            <a:ext cx="10909300" cy="234391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Germoplasma e dados de ensaios acumulados por décadas são o que permite estimar G×E, treinar modelos de seleção genômica e comparar ciclos.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Uma população de treinamento de GS é, na prática,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o histórico do banco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: se o histórico tem IDs inconsistentes, o modelo aprende com genótipos e fenótipos desemparelhados.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Modelos e ferramentas mudam a cada poucos anos; dados bem estruturados continuam úteis.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  <p:sp>
        <p:nvSpPr>
          <p:cNvPr id="14" name="FitCallout">
            <a:extLst>
              <a:ext uri="{FF2B5EF4-FFF2-40B4-BE49-F238E27FC236}">
                <a16:creationId xmlns:a16="http://schemas.microsoft.com/office/drawing/2014/main" id="{9AB7BDBE-A5B3-D4D9-7787-186CC7264287}"/>
              </a:ext>
            </a:extLst>
          </p:cNvPr>
          <p:cNvSpPr/>
          <p:nvPr/>
        </p:nvSpPr>
        <p:spPr>
          <a:xfrm>
            <a:off x="640080" y="4057523"/>
            <a:ext cx="10909300" cy="1095248"/>
          </a:xfrm>
          <a:prstGeom prst="roundRect">
            <a:avLst>
              <a:gd name="adj" fmla="val 8000"/>
            </a:avLst>
          </a:prstGeom>
          <a:solidFill>
            <a:srgbClr val="D8E4D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01600" rIns="152400" bIns="101600" rtlCol="0" anchor="ctr"/>
          <a:lstStyle/>
          <a:p>
            <a:pPr>
              <a:lnSpc>
                <a:spcPct val="92000"/>
              </a:lnSpc>
            </a:pPr>
            <a:r>
              <a:rPr lang="pt-BR" sz="2000" b="1">
                <a:solidFill>
                  <a:srgbClr val="2E3A2F"/>
                </a:solidFill>
                <a:latin typeface="DejaVu Sans"/>
              </a:rPr>
              <a:t>Um programa com dados organizados troca de software em semanas. Um programa com dados desorganizados não consegue aproveitar nenhuma ferramenta nova, inclusive IA.</a:t>
            </a:r>
            <a:endParaRPr lang="en-US" sz="2000" b="1">
              <a:solidFill>
                <a:srgbClr val="2E3A2F"/>
              </a:solidFill>
              <a:latin typeface="DejaVu Sans"/>
            </a:endParaRPr>
          </a:p>
        </p:txBody>
      </p:sp>
      <p:sp>
        <p:nvSpPr>
          <p:cNvPr id="15" name="FitCalloutBar">
            <a:extLst>
              <a:ext uri="{FF2B5EF4-FFF2-40B4-BE49-F238E27FC236}">
                <a16:creationId xmlns:a16="http://schemas.microsoft.com/office/drawing/2014/main" id="{653A728D-3AA2-972C-0D58-99E5B23B77D2}"/>
              </a:ext>
            </a:extLst>
          </p:cNvPr>
          <p:cNvSpPr/>
          <p:nvPr/>
        </p:nvSpPr>
        <p:spPr>
          <a:xfrm>
            <a:off x="640080" y="4057523"/>
            <a:ext cx="63500" cy="1095248"/>
          </a:xfrm>
          <a:prstGeom prst="rect">
            <a:avLst/>
          </a:prstGeom>
          <a:solidFill>
            <a:srgbClr val="B7472A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44389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205357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 dirty="0">
                <a:solidFill>
                  <a:srgbClr val="4A7C59"/>
                </a:solidFill>
                <a:latin typeface="DejaVu Serif"/>
              </a:rPr>
              <a:t>1.4  Consequência genética de um erro de dado</a:t>
            </a:r>
            <a:endParaRPr sz="3200" b="1" i="0" dirty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1 · BLOCO 1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graphicFrame>
        <p:nvGraphicFramePr>
          <p:cNvPr id="13" name="Fit796Table">
            <a:extLst>
              <a:ext uri="{FF2B5EF4-FFF2-40B4-BE49-F238E27FC236}">
                <a16:creationId xmlns:a16="http://schemas.microsoft.com/office/drawing/2014/main" id="{A74F7F7F-B65D-36EB-A647-80F4FB329D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3617745"/>
              </p:ext>
            </p:extLst>
          </p:nvPr>
        </p:nvGraphicFramePr>
        <p:xfrm>
          <a:off x="640080" y="1053211"/>
          <a:ext cx="10909300" cy="36323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90900">
                  <a:extLst>
                    <a:ext uri="{9D8B030D-6E8A-4147-A177-3AD203B41FA5}">
                      <a16:colId xmlns:a16="http://schemas.microsoft.com/office/drawing/2014/main" val="335940108"/>
                    </a:ext>
                  </a:extLst>
                </a:gridCol>
                <a:gridCol w="2616200">
                  <a:extLst>
                    <a:ext uri="{9D8B030D-6E8A-4147-A177-3AD203B41FA5}">
                      <a16:colId xmlns:a16="http://schemas.microsoft.com/office/drawing/2014/main" val="2715092074"/>
                    </a:ext>
                  </a:extLst>
                </a:gridCol>
                <a:gridCol w="4902200">
                  <a:extLst>
                    <a:ext uri="{9D8B030D-6E8A-4147-A177-3AD203B41FA5}">
                      <a16:colId xmlns:a16="http://schemas.microsoft.com/office/drawing/2014/main" val="50187423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Erro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Onde nasce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O que contamina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478796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ID de genótipo trocado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Etiqueta, digitação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Fenótipo atribuído ao genótipo errado → BLUP e GEBV errados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54951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Genitor errado no pedigree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Cadastro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Matriz A errada para toda a família → BLUP de parentes viesados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492372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Amostra de DNA trocada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Laboratório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Genótipo de um indivíduo usado para outro → matriz G e GEBV errados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873180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E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Unidade misturada (t/ha × kg/ha)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Planilha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Média do ensaio, variância residual e herdabilidade distorcidas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47193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Ausente codificado como 0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Planilha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Média puxada para baixo; genótipo penalizado sem ter sido avaliado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093732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Parcela duplicada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Digitação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Peso dobrado para uma observação; graus de liberdade inflados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09813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5962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1.5  A IA amplifica o que encontra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1 · BLOCO 1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934322FE-42AA-F983-BC9B-80D34873DA62}"/>
              </a:ext>
            </a:extLst>
          </p:cNvPr>
          <p:cNvSpPr txBox="1"/>
          <p:nvPr/>
        </p:nvSpPr>
        <p:spPr>
          <a:xfrm>
            <a:off x="640080" y="1053211"/>
            <a:ext cx="5308600" cy="318516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Um agente de código lê seus arquivos, infere o significado das colunas e escreve a análise.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Se o dicionário diz kg/ha e alguns valores estão em t/ha, o código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roda sem erro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e o resultado sai errado, com aparência de correto.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Se os IDs têm grafias diferentes, a junção de tabelas descarta linhas em silêncio.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  <p:sp>
        <p:nvSpPr>
          <p:cNvPr id="14" name="FitText">
            <a:extLst>
              <a:ext uri="{FF2B5EF4-FFF2-40B4-BE49-F238E27FC236}">
                <a16:creationId xmlns:a16="http://schemas.microsoft.com/office/drawing/2014/main" id="{7F67CE1F-AFEE-340C-66EE-D2DD18D6261D}"/>
              </a:ext>
            </a:extLst>
          </p:cNvPr>
          <p:cNvSpPr txBox="1"/>
          <p:nvPr/>
        </p:nvSpPr>
        <p:spPr>
          <a:xfrm>
            <a:off x="6240780" y="1053210"/>
            <a:ext cx="5308600" cy="35661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92000"/>
              </a:lnSpc>
            </a:pPr>
            <a:r>
              <a:rPr lang="pt-BR" sz="2000" b="1">
                <a:solidFill>
                  <a:srgbClr val="4A7C59"/>
                </a:solidFill>
                <a:latin typeface="DejaVu Sans"/>
              </a:rPr>
              <a:t>O que a IA precisa para acertar</a:t>
            </a:r>
            <a:endParaRPr lang="en-US" sz="2000" b="1">
              <a:solidFill>
                <a:srgbClr val="4A7C59"/>
              </a:solidFill>
              <a:latin typeface="DejaVu Sans"/>
            </a:endParaRPr>
          </a:p>
        </p:txBody>
      </p:sp>
      <p:sp>
        <p:nvSpPr>
          <p:cNvPr id="15" name="FitText">
            <a:extLst>
              <a:ext uri="{FF2B5EF4-FFF2-40B4-BE49-F238E27FC236}">
                <a16:creationId xmlns:a16="http://schemas.microsoft.com/office/drawing/2014/main" id="{E805BA08-E474-9398-6391-DC46D2B29E05}"/>
              </a:ext>
            </a:extLst>
          </p:cNvPr>
          <p:cNvSpPr txBox="1"/>
          <p:nvPr/>
        </p:nvSpPr>
        <p:spPr>
          <a:xfrm>
            <a:off x="6240780" y="1562226"/>
            <a:ext cx="5308600" cy="236829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Tabelas com chaves e tipos definidos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Dicionário com unidades e intervalos válidos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Identificadores padronizados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Registro do que foi corrigido e por quê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Uma pasta com estrutura previsível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  <p:sp>
        <p:nvSpPr>
          <p:cNvPr id="16" name="FitCallout">
            <a:extLst>
              <a:ext uri="{FF2B5EF4-FFF2-40B4-BE49-F238E27FC236}">
                <a16:creationId xmlns:a16="http://schemas.microsoft.com/office/drawing/2014/main" id="{8F6C5F2F-7DA8-E394-CC82-71EF6C3B29AB}"/>
              </a:ext>
            </a:extLst>
          </p:cNvPr>
          <p:cNvSpPr/>
          <p:nvPr/>
        </p:nvSpPr>
        <p:spPr>
          <a:xfrm>
            <a:off x="6240780" y="4082922"/>
            <a:ext cx="5308600" cy="1095248"/>
          </a:xfrm>
          <a:prstGeom prst="roundRect">
            <a:avLst>
              <a:gd name="adj" fmla="val 8000"/>
            </a:avLst>
          </a:prstGeom>
          <a:solidFill>
            <a:srgbClr val="D8E4D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01600" rIns="152400" bIns="101600" rtlCol="0" anchor="ctr"/>
          <a:lstStyle/>
          <a:p>
            <a:pPr>
              <a:lnSpc>
                <a:spcPct val="92000"/>
              </a:lnSpc>
            </a:pPr>
            <a:r>
              <a:rPr lang="en-US" sz="2000" b="1" i="1">
                <a:solidFill>
                  <a:srgbClr val="2E3A2F"/>
                </a:solidFill>
                <a:latin typeface="DejaVu Sans"/>
              </a:rPr>
              <a:t>Garbage in, garbage out</a:t>
            </a:r>
            <a:r>
              <a:rPr lang="en-US" sz="2000" b="1">
                <a:solidFill>
                  <a:srgbClr val="2E3A2F"/>
                </a:solidFill>
                <a:latin typeface="DejaVu Sans"/>
              </a:rPr>
              <a:t> virou </a:t>
            </a:r>
            <a:r>
              <a:rPr lang="en-US" sz="2000" b="1" i="1">
                <a:solidFill>
                  <a:srgbClr val="2E3A2F"/>
                </a:solidFill>
                <a:latin typeface="DejaVu Sans"/>
              </a:rPr>
              <a:t>garbage in, confident garbage out</a:t>
            </a:r>
            <a:r>
              <a:rPr lang="en-US" sz="2000" b="1">
                <a:solidFill>
                  <a:srgbClr val="2E3A2F"/>
                </a:solidFill>
                <a:latin typeface="DejaVu Sans"/>
              </a:rPr>
              <a:t>.</a:t>
            </a:r>
          </a:p>
        </p:txBody>
      </p:sp>
      <p:sp>
        <p:nvSpPr>
          <p:cNvPr id="17" name="FitCalloutBar">
            <a:extLst>
              <a:ext uri="{FF2B5EF4-FFF2-40B4-BE49-F238E27FC236}">
                <a16:creationId xmlns:a16="http://schemas.microsoft.com/office/drawing/2014/main" id="{F13B3FB7-2E16-8C7B-1FEE-03F99B412F49}"/>
              </a:ext>
            </a:extLst>
          </p:cNvPr>
          <p:cNvSpPr/>
          <p:nvPr/>
        </p:nvSpPr>
        <p:spPr>
          <a:xfrm>
            <a:off x="6240780" y="4082922"/>
            <a:ext cx="63500" cy="1095248"/>
          </a:xfrm>
          <a:prstGeom prst="rect">
            <a:avLst/>
          </a:prstGeom>
          <a:solidFill>
            <a:srgbClr val="B7472A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47592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A7C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44880" y="2137898"/>
            <a:ext cx="10241280" cy="14465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BR" sz="4400" b="1" i="0" dirty="0">
                <a:solidFill>
                  <a:srgbClr val="FFFFFF"/>
                </a:solidFill>
                <a:latin typeface="DejaVu Serif"/>
              </a:rPr>
              <a:t>Bancos de dados relacionais e a linguagem SQL</a:t>
            </a:r>
            <a:endParaRPr sz="4400" b="1" i="0" dirty="0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05840" y="3703320"/>
            <a:ext cx="10241280" cy="45550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it-IT" sz="2200" b="0" i="0">
                <a:solidFill>
                  <a:srgbClr val="D8E4DA"/>
                </a:solidFill>
                <a:latin typeface="DejaVu Sans"/>
              </a:rPr>
              <a:t>BLOCO 2 · 35 min · SEÇÃO 1 · BLOCO 2</a:t>
            </a:r>
            <a:endParaRPr sz="2200" b="0" i="0">
              <a:solidFill>
                <a:srgbClr val="D8E4DA"/>
              </a:solidFill>
              <a:latin typeface="DejaVu San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005840" y="3584448"/>
            <a:ext cx="2011680" cy="50292"/>
          </a:xfrm>
          <a:prstGeom prst="rect">
            <a:avLst/>
          </a:prstGeom>
          <a:solidFill>
            <a:srgbClr val="F9A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4833325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2.1  Planilha ou banco de dados?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1 · BLOCO 2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graphicFrame>
        <p:nvGraphicFramePr>
          <p:cNvPr id="13" name="Fit796Table">
            <a:extLst>
              <a:ext uri="{FF2B5EF4-FFF2-40B4-BE49-F238E27FC236}">
                <a16:creationId xmlns:a16="http://schemas.microsoft.com/office/drawing/2014/main" id="{177396C1-EC36-8C6E-BE02-359BD155E7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013333"/>
              </p:ext>
            </p:extLst>
          </p:nvPr>
        </p:nvGraphicFramePr>
        <p:xfrm>
          <a:off x="640080" y="1053211"/>
          <a:ext cx="10909300" cy="29933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13200">
                  <a:extLst>
                    <a:ext uri="{9D8B030D-6E8A-4147-A177-3AD203B41FA5}">
                      <a16:colId xmlns:a16="http://schemas.microsoft.com/office/drawing/2014/main" val="17718997"/>
                    </a:ext>
                  </a:extLst>
                </a:gridCol>
                <a:gridCol w="3263900">
                  <a:extLst>
                    <a:ext uri="{9D8B030D-6E8A-4147-A177-3AD203B41FA5}">
                      <a16:colId xmlns:a16="http://schemas.microsoft.com/office/drawing/2014/main" val="2212422631"/>
                    </a:ext>
                  </a:extLst>
                </a:gridCol>
                <a:gridCol w="3632200">
                  <a:extLst>
                    <a:ext uri="{9D8B030D-6E8A-4147-A177-3AD203B41FA5}">
                      <a16:colId xmlns:a16="http://schemas.microsoft.com/office/drawing/2014/main" val="684407085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Necessidade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Planilha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Banco relacional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530967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Impedir genótipo sem cadastro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Não há como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Chave estrangeira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480103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Impedir duas parcelas na mesma posição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Não há como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B7472A"/>
                          </a:solidFill>
                          <a:latin typeface="Consolas" panose="020B0609020204030204" pitchFamily="49" charset="0"/>
                        </a:rPr>
                        <a:t>UNIQUE (ensaio, linha, coluna)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145309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Tipos e intervalos válidos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Validação manual e frágil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Tipos e CHECK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814221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Vários usuários ao mesmo tempo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Cópias divergentes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Acesso concorrente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469283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Cruzar 10 safras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Copiar e colar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Uma consulta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086659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Saber o que mudou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Não há histórico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Camadas + registro de correções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437686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Milhões de observações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Lento ou impossível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Rotina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3959658"/>
                  </a:ext>
                </a:extLst>
              </a:tr>
            </a:tbl>
          </a:graphicData>
        </a:graphic>
      </p:graphicFrame>
      <p:sp>
        <p:nvSpPr>
          <p:cNvPr id="14" name="FitText">
            <a:extLst>
              <a:ext uri="{FF2B5EF4-FFF2-40B4-BE49-F238E27FC236}">
                <a16:creationId xmlns:a16="http://schemas.microsoft.com/office/drawing/2014/main" id="{752D90DD-9EE2-41BE-2A5E-91125C2B8A26}"/>
              </a:ext>
            </a:extLst>
          </p:cNvPr>
          <p:cNvSpPr txBox="1"/>
          <p:nvPr/>
        </p:nvSpPr>
        <p:spPr>
          <a:xfrm>
            <a:off x="640080" y="4199000"/>
            <a:ext cx="10909300" cy="63703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92000"/>
              </a:lnSpc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Planilhas continuam úteis para coleta e visualização rápida; o problema é usá-las como sistema de armazenamento do programa.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40782774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2.2  O modelo relacional de um programa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1 · BLOCO 2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GridBox00">
            <a:extLst>
              <a:ext uri="{FF2B5EF4-FFF2-40B4-BE49-F238E27FC236}">
                <a16:creationId xmlns:a16="http://schemas.microsoft.com/office/drawing/2014/main" id="{5EC79B01-4660-A18D-93E5-6DF7F428BD58}"/>
              </a:ext>
            </a:extLst>
          </p:cNvPr>
          <p:cNvSpPr/>
          <p:nvPr/>
        </p:nvSpPr>
        <p:spPr>
          <a:xfrm>
            <a:off x="640080" y="1053211"/>
            <a:ext cx="2613025" cy="1351026"/>
          </a:xfrm>
          <a:prstGeom prst="roundRect">
            <a:avLst>
              <a:gd name="adj" fmla="val 6000"/>
            </a:avLst>
          </a:prstGeom>
          <a:solidFill>
            <a:srgbClr val="4A7C59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1600" tIns="76200" rIns="76200" bIns="76200" rtlCol="0" anchor="t"/>
          <a:lstStyle/>
          <a:p>
            <a:pPr>
              <a:lnSpc>
                <a:spcPct val="92000"/>
              </a:lnSpc>
              <a:spcAft>
                <a:spcPts val="600"/>
              </a:spcAft>
            </a:pPr>
            <a:r>
              <a:rPr lang="pt-BR" sz="1500" b="1">
                <a:solidFill>
                  <a:srgbClr val="FFFFFF"/>
                </a:solidFill>
                <a:latin typeface="Consolas" panose="020B0609020204030204" pitchFamily="49" charset="0"/>
              </a:rPr>
              <a:t>ambiente</a:t>
            </a:r>
          </a:p>
          <a:p>
            <a:pPr>
              <a:lnSpc>
                <a:spcPct val="92000"/>
              </a:lnSpc>
              <a:spcAft>
                <a:spcPts val="200"/>
              </a:spcAft>
            </a:pPr>
            <a:r>
              <a:rPr lang="pt-BR" sz="1400">
                <a:solidFill>
                  <a:srgbClr val="FFFFFF"/>
                </a:solidFill>
                <a:latin typeface="Consolas" panose="020B0609020204030204" pitchFamily="49" charset="0"/>
              </a:rPr>
              <a:t>ambiente_id PK</a:t>
            </a:r>
          </a:p>
          <a:p>
            <a:pPr>
              <a:lnSpc>
                <a:spcPct val="92000"/>
              </a:lnSpc>
              <a:spcAft>
                <a:spcPts val="200"/>
              </a:spcAft>
            </a:pPr>
            <a:r>
              <a:rPr lang="pt-BR" sz="1400">
                <a:solidFill>
                  <a:srgbClr val="FFFFFF"/>
                </a:solidFill>
                <a:latin typeface="Consolas" panose="020B0609020204030204" pitchFamily="49" charset="0"/>
              </a:rPr>
              <a:t>local, ano, safra</a:t>
            </a:r>
          </a:p>
          <a:p>
            <a:pPr>
              <a:lnSpc>
                <a:spcPct val="92000"/>
              </a:lnSpc>
              <a:spcAft>
                <a:spcPts val="200"/>
              </a:spcAft>
            </a:pPr>
            <a:r>
              <a:rPr lang="pt-BR" sz="1400">
                <a:solidFill>
                  <a:srgbClr val="FFFFFF"/>
                </a:solidFill>
                <a:latin typeface="Consolas" panose="020B0609020204030204" pitchFamily="49" charset="0"/>
              </a:rPr>
              <a:t>latitude, longitude</a:t>
            </a:r>
            <a:endParaRPr lang="en-US" sz="140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4" name="GridBox01">
            <a:extLst>
              <a:ext uri="{FF2B5EF4-FFF2-40B4-BE49-F238E27FC236}">
                <a16:creationId xmlns:a16="http://schemas.microsoft.com/office/drawing/2014/main" id="{C53883CC-704B-DB74-83F9-00C064156588}"/>
              </a:ext>
            </a:extLst>
          </p:cNvPr>
          <p:cNvSpPr/>
          <p:nvPr/>
        </p:nvSpPr>
        <p:spPr>
          <a:xfrm>
            <a:off x="3405505" y="1053211"/>
            <a:ext cx="2613025" cy="1351026"/>
          </a:xfrm>
          <a:prstGeom prst="roundRect">
            <a:avLst>
              <a:gd name="adj" fmla="val 6000"/>
            </a:avLst>
          </a:prstGeom>
          <a:solidFill>
            <a:srgbClr val="D8E4D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1600" tIns="76200" rIns="76200" bIns="76200" rtlCol="0" anchor="t"/>
          <a:lstStyle/>
          <a:p>
            <a:pPr>
              <a:lnSpc>
                <a:spcPct val="92000"/>
              </a:lnSpc>
              <a:spcAft>
                <a:spcPts val="600"/>
              </a:spcAft>
            </a:pPr>
            <a:r>
              <a:rPr lang="pt-BR" sz="1500" b="1">
                <a:solidFill>
                  <a:srgbClr val="2E3A2F"/>
                </a:solidFill>
                <a:latin typeface="Consolas" panose="020B0609020204030204" pitchFamily="49" charset="0"/>
              </a:rPr>
              <a:t>ensaio</a:t>
            </a:r>
          </a:p>
          <a:p>
            <a:pPr>
              <a:lnSpc>
                <a:spcPct val="92000"/>
              </a:lnSpc>
              <a:spcAft>
                <a:spcPts val="200"/>
              </a:spcAft>
            </a:pPr>
            <a:r>
              <a:rPr lang="pt-BR" sz="1400">
                <a:solidFill>
                  <a:srgbClr val="2E3A2F"/>
                </a:solidFill>
                <a:latin typeface="Consolas" panose="020B0609020204030204" pitchFamily="49" charset="0"/>
              </a:rPr>
              <a:t>ensaio_id PK</a:t>
            </a:r>
          </a:p>
          <a:p>
            <a:pPr>
              <a:lnSpc>
                <a:spcPct val="92000"/>
              </a:lnSpc>
              <a:spcAft>
                <a:spcPts val="200"/>
              </a:spcAft>
            </a:pPr>
            <a:r>
              <a:rPr lang="pt-BR" sz="1400">
                <a:solidFill>
                  <a:srgbClr val="2E3A2F"/>
                </a:solidFill>
                <a:latin typeface="Consolas" panose="020B0609020204030204" pitchFamily="49" charset="0"/>
              </a:rPr>
              <a:t>ambiente_id FK</a:t>
            </a:r>
          </a:p>
          <a:p>
            <a:pPr>
              <a:lnSpc>
                <a:spcPct val="92000"/>
              </a:lnSpc>
              <a:spcAft>
                <a:spcPts val="200"/>
              </a:spcAft>
            </a:pPr>
            <a:r>
              <a:rPr lang="pt-BR" sz="1400">
                <a:solidFill>
                  <a:srgbClr val="2E3A2F"/>
                </a:solidFill>
                <a:latin typeface="Consolas" panose="020B0609020204030204" pitchFamily="49" charset="0"/>
              </a:rPr>
              <a:t>delineamento, n_rep</a:t>
            </a:r>
            <a:endParaRPr lang="en-US" sz="1400">
              <a:solidFill>
                <a:srgbClr val="2E3A2F"/>
              </a:solidFill>
              <a:latin typeface="Consolas" panose="020B0609020204030204" pitchFamily="49" charset="0"/>
            </a:endParaRPr>
          </a:p>
        </p:txBody>
      </p:sp>
      <p:sp>
        <p:nvSpPr>
          <p:cNvPr id="15" name="GridBox02">
            <a:extLst>
              <a:ext uri="{FF2B5EF4-FFF2-40B4-BE49-F238E27FC236}">
                <a16:creationId xmlns:a16="http://schemas.microsoft.com/office/drawing/2014/main" id="{E19CF5E6-56AE-8A34-02C6-C754BADF551B}"/>
              </a:ext>
            </a:extLst>
          </p:cNvPr>
          <p:cNvSpPr/>
          <p:nvPr/>
        </p:nvSpPr>
        <p:spPr>
          <a:xfrm>
            <a:off x="6170930" y="1053211"/>
            <a:ext cx="2613025" cy="1351026"/>
          </a:xfrm>
          <a:prstGeom prst="roundRect">
            <a:avLst>
              <a:gd name="adj" fmla="val 6000"/>
            </a:avLst>
          </a:prstGeom>
          <a:solidFill>
            <a:srgbClr val="F9A620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1600" tIns="76200" rIns="76200" bIns="76200" rtlCol="0" anchor="t"/>
          <a:lstStyle/>
          <a:p>
            <a:pPr>
              <a:lnSpc>
                <a:spcPct val="92000"/>
              </a:lnSpc>
              <a:spcAft>
                <a:spcPts val="600"/>
              </a:spcAft>
            </a:pPr>
            <a:r>
              <a:rPr lang="pt-BR" sz="1500" b="1">
                <a:solidFill>
                  <a:srgbClr val="2E3A2F"/>
                </a:solidFill>
                <a:latin typeface="Consolas" panose="020B0609020204030204" pitchFamily="49" charset="0"/>
              </a:rPr>
              <a:t>parcela</a:t>
            </a:r>
          </a:p>
          <a:p>
            <a:pPr>
              <a:lnSpc>
                <a:spcPct val="92000"/>
              </a:lnSpc>
              <a:spcAft>
                <a:spcPts val="200"/>
              </a:spcAft>
            </a:pPr>
            <a:r>
              <a:rPr lang="pt-BR" sz="1400">
                <a:solidFill>
                  <a:srgbClr val="2E3A2F"/>
                </a:solidFill>
                <a:latin typeface="Consolas" panose="020B0609020204030204" pitchFamily="49" charset="0"/>
              </a:rPr>
              <a:t>parcela_id PK</a:t>
            </a:r>
          </a:p>
          <a:p>
            <a:pPr>
              <a:lnSpc>
                <a:spcPct val="92000"/>
              </a:lnSpc>
              <a:spcAft>
                <a:spcPts val="200"/>
              </a:spcAft>
            </a:pPr>
            <a:r>
              <a:rPr lang="pt-BR" sz="1400">
                <a:solidFill>
                  <a:srgbClr val="2E3A2F"/>
                </a:solidFill>
                <a:latin typeface="Consolas" panose="020B0609020204030204" pitchFamily="49" charset="0"/>
              </a:rPr>
              <a:t>ensaio_id FK</a:t>
            </a:r>
          </a:p>
          <a:p>
            <a:pPr>
              <a:lnSpc>
                <a:spcPct val="92000"/>
              </a:lnSpc>
              <a:spcAft>
                <a:spcPts val="200"/>
              </a:spcAft>
            </a:pPr>
            <a:r>
              <a:rPr lang="pt-BR" sz="1400">
                <a:solidFill>
                  <a:srgbClr val="2E3A2F"/>
                </a:solidFill>
                <a:latin typeface="Consolas" panose="020B0609020204030204" pitchFamily="49" charset="0"/>
              </a:rPr>
              <a:t>germoplasma_id FK</a:t>
            </a:r>
          </a:p>
          <a:p>
            <a:pPr>
              <a:lnSpc>
                <a:spcPct val="92000"/>
              </a:lnSpc>
              <a:spcAft>
                <a:spcPts val="200"/>
              </a:spcAft>
            </a:pPr>
            <a:r>
              <a:rPr lang="pt-BR" sz="1400">
                <a:solidFill>
                  <a:srgbClr val="2E3A2F"/>
                </a:solidFill>
                <a:latin typeface="Consolas" panose="020B0609020204030204" pitchFamily="49" charset="0"/>
              </a:rPr>
              <a:t>bloco, linha, coluna</a:t>
            </a:r>
            <a:endParaRPr lang="en-US" sz="1400">
              <a:solidFill>
                <a:srgbClr val="2E3A2F"/>
              </a:solidFill>
              <a:latin typeface="Consolas" panose="020B0609020204030204" pitchFamily="49" charset="0"/>
            </a:endParaRPr>
          </a:p>
        </p:txBody>
      </p:sp>
      <p:sp>
        <p:nvSpPr>
          <p:cNvPr id="16" name="GridBox03">
            <a:extLst>
              <a:ext uri="{FF2B5EF4-FFF2-40B4-BE49-F238E27FC236}">
                <a16:creationId xmlns:a16="http://schemas.microsoft.com/office/drawing/2014/main" id="{CE29660D-B176-67EB-59E3-DDF411FEE4A3}"/>
              </a:ext>
            </a:extLst>
          </p:cNvPr>
          <p:cNvSpPr/>
          <p:nvPr/>
        </p:nvSpPr>
        <p:spPr>
          <a:xfrm>
            <a:off x="8936355" y="1053211"/>
            <a:ext cx="2613025" cy="1351026"/>
          </a:xfrm>
          <a:prstGeom prst="roundRect">
            <a:avLst>
              <a:gd name="adj" fmla="val 6000"/>
            </a:avLst>
          </a:prstGeom>
          <a:solidFill>
            <a:srgbClr val="B7472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1600" tIns="76200" rIns="76200" bIns="76200" rtlCol="0" anchor="t"/>
          <a:lstStyle/>
          <a:p>
            <a:pPr>
              <a:lnSpc>
                <a:spcPct val="92000"/>
              </a:lnSpc>
              <a:spcAft>
                <a:spcPts val="600"/>
              </a:spcAft>
            </a:pPr>
            <a:r>
              <a:rPr lang="en-US" sz="1500" b="1">
                <a:solidFill>
                  <a:srgbClr val="FFFFFF"/>
                </a:solidFill>
                <a:latin typeface="Consolas" panose="020B0609020204030204" pitchFamily="49" charset="0"/>
              </a:rPr>
              <a:t>observacao</a:t>
            </a:r>
          </a:p>
          <a:p>
            <a:pPr>
              <a:lnSpc>
                <a:spcPct val="92000"/>
              </a:lnSpc>
              <a:spcAft>
                <a:spcPts val="200"/>
              </a:spcAft>
            </a:pPr>
            <a:r>
              <a:rPr lang="en-US" sz="1400">
                <a:solidFill>
                  <a:srgbClr val="FFFFFF"/>
                </a:solidFill>
                <a:latin typeface="Consolas" panose="020B0609020204030204" pitchFamily="49" charset="0"/>
              </a:rPr>
              <a:t>obs_id PK</a:t>
            </a:r>
          </a:p>
          <a:p>
            <a:pPr>
              <a:lnSpc>
                <a:spcPct val="92000"/>
              </a:lnSpc>
              <a:spcAft>
                <a:spcPts val="200"/>
              </a:spcAft>
            </a:pPr>
            <a:r>
              <a:rPr lang="en-US" sz="1400">
                <a:solidFill>
                  <a:srgbClr val="FFFFFF"/>
                </a:solidFill>
                <a:latin typeface="Consolas" panose="020B0609020204030204" pitchFamily="49" charset="0"/>
              </a:rPr>
              <a:t>parcela_id FK</a:t>
            </a:r>
          </a:p>
          <a:p>
            <a:pPr>
              <a:lnSpc>
                <a:spcPct val="92000"/>
              </a:lnSpc>
              <a:spcAft>
                <a:spcPts val="200"/>
              </a:spcAft>
            </a:pPr>
            <a:r>
              <a:rPr lang="en-US" sz="1400">
                <a:solidFill>
                  <a:srgbClr val="FFFFFF"/>
                </a:solidFill>
                <a:latin typeface="Consolas" panose="020B0609020204030204" pitchFamily="49" charset="0"/>
              </a:rPr>
              <a:t>variavel_id FK</a:t>
            </a:r>
          </a:p>
          <a:p>
            <a:pPr>
              <a:lnSpc>
                <a:spcPct val="92000"/>
              </a:lnSpc>
              <a:spcAft>
                <a:spcPts val="200"/>
              </a:spcAft>
            </a:pPr>
            <a:r>
              <a:rPr lang="en-US" sz="1400">
                <a:solidFill>
                  <a:srgbClr val="FFFFFF"/>
                </a:solidFill>
                <a:latin typeface="Consolas" panose="020B0609020204030204" pitchFamily="49" charset="0"/>
              </a:rPr>
              <a:t>valor, data</a:t>
            </a:r>
          </a:p>
        </p:txBody>
      </p:sp>
      <p:sp>
        <p:nvSpPr>
          <p:cNvPr id="17" name="GridBox10">
            <a:extLst>
              <a:ext uri="{FF2B5EF4-FFF2-40B4-BE49-F238E27FC236}">
                <a16:creationId xmlns:a16="http://schemas.microsoft.com/office/drawing/2014/main" id="{CC91C2D4-8FC8-7E7B-C014-881856CBB5EE}"/>
              </a:ext>
            </a:extLst>
          </p:cNvPr>
          <p:cNvSpPr/>
          <p:nvPr/>
        </p:nvSpPr>
        <p:spPr>
          <a:xfrm>
            <a:off x="640080" y="2556637"/>
            <a:ext cx="2613025" cy="1129348"/>
          </a:xfrm>
          <a:prstGeom prst="roundRect">
            <a:avLst>
              <a:gd name="adj" fmla="val 6000"/>
            </a:avLst>
          </a:prstGeom>
          <a:solidFill>
            <a:srgbClr val="4A7C59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1600" tIns="76200" rIns="76200" bIns="76200" rtlCol="0" anchor="t"/>
          <a:lstStyle/>
          <a:p>
            <a:pPr>
              <a:lnSpc>
                <a:spcPct val="92000"/>
              </a:lnSpc>
              <a:spcAft>
                <a:spcPts val="600"/>
              </a:spcAft>
            </a:pPr>
            <a:r>
              <a:rPr lang="pt-BR" sz="1500" b="1">
                <a:solidFill>
                  <a:srgbClr val="FFFFFF"/>
                </a:solidFill>
                <a:latin typeface="Consolas" panose="020B0609020204030204" pitchFamily="49" charset="0"/>
              </a:rPr>
              <a:t>variavel</a:t>
            </a:r>
          </a:p>
          <a:p>
            <a:pPr>
              <a:lnSpc>
                <a:spcPct val="92000"/>
              </a:lnSpc>
              <a:spcAft>
                <a:spcPts val="200"/>
              </a:spcAft>
            </a:pPr>
            <a:r>
              <a:rPr lang="pt-BR" sz="1400">
                <a:solidFill>
                  <a:srgbClr val="FFFFFF"/>
                </a:solidFill>
                <a:latin typeface="Consolas" panose="020B0609020204030204" pitchFamily="49" charset="0"/>
              </a:rPr>
              <a:t>variavel_id PK</a:t>
            </a:r>
          </a:p>
          <a:p>
            <a:pPr>
              <a:lnSpc>
                <a:spcPct val="92000"/>
              </a:lnSpc>
              <a:spcAft>
                <a:spcPts val="200"/>
              </a:spcAft>
            </a:pPr>
            <a:r>
              <a:rPr lang="pt-BR" sz="1400">
                <a:solidFill>
                  <a:srgbClr val="FFFFFF"/>
                </a:solidFill>
                <a:latin typeface="Consolas" panose="020B0609020204030204" pitchFamily="49" charset="0"/>
              </a:rPr>
              <a:t>codigo, unidade</a:t>
            </a:r>
          </a:p>
          <a:p>
            <a:pPr>
              <a:lnSpc>
                <a:spcPct val="92000"/>
              </a:lnSpc>
              <a:spcAft>
                <a:spcPts val="200"/>
              </a:spcAft>
            </a:pPr>
            <a:r>
              <a:rPr lang="pt-BR" sz="1400">
                <a:solidFill>
                  <a:srgbClr val="FFFFFF"/>
                </a:solidFill>
                <a:latin typeface="Consolas" panose="020B0609020204030204" pitchFamily="49" charset="0"/>
              </a:rPr>
              <a:t>minimo, maximo</a:t>
            </a:r>
            <a:endParaRPr lang="en-US" sz="140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8" name="GridBox11">
            <a:extLst>
              <a:ext uri="{FF2B5EF4-FFF2-40B4-BE49-F238E27FC236}">
                <a16:creationId xmlns:a16="http://schemas.microsoft.com/office/drawing/2014/main" id="{246CCB12-1FDF-B584-D68C-6CD665CC2DEC}"/>
              </a:ext>
            </a:extLst>
          </p:cNvPr>
          <p:cNvSpPr/>
          <p:nvPr/>
        </p:nvSpPr>
        <p:spPr>
          <a:xfrm>
            <a:off x="3405505" y="2556636"/>
            <a:ext cx="2613025" cy="1129348"/>
          </a:xfrm>
          <a:prstGeom prst="roundRect">
            <a:avLst>
              <a:gd name="adj" fmla="val 6000"/>
            </a:avLst>
          </a:prstGeom>
          <a:solidFill>
            <a:srgbClr val="D8E4D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1600" tIns="76200" rIns="76200" bIns="76200" rtlCol="0" anchor="t"/>
          <a:lstStyle/>
          <a:p>
            <a:pPr>
              <a:lnSpc>
                <a:spcPct val="92000"/>
              </a:lnSpc>
              <a:spcAft>
                <a:spcPts val="600"/>
              </a:spcAft>
            </a:pPr>
            <a:r>
              <a:rPr lang="pt-BR" sz="1500" b="1">
                <a:solidFill>
                  <a:srgbClr val="2E3A2F"/>
                </a:solidFill>
                <a:latin typeface="Consolas" panose="020B0609020204030204" pitchFamily="49" charset="0"/>
              </a:rPr>
              <a:t>germoplasma</a:t>
            </a:r>
          </a:p>
          <a:p>
            <a:pPr>
              <a:lnSpc>
                <a:spcPct val="92000"/>
              </a:lnSpc>
              <a:spcAft>
                <a:spcPts val="200"/>
              </a:spcAft>
            </a:pPr>
            <a:r>
              <a:rPr lang="pt-BR" sz="1400">
                <a:solidFill>
                  <a:srgbClr val="2E3A2F"/>
                </a:solidFill>
                <a:latin typeface="Consolas" panose="020B0609020204030204" pitchFamily="49" charset="0"/>
              </a:rPr>
              <a:t>germoplasma_id PK</a:t>
            </a:r>
          </a:p>
          <a:p>
            <a:pPr>
              <a:lnSpc>
                <a:spcPct val="92000"/>
              </a:lnSpc>
              <a:spcAft>
                <a:spcPts val="200"/>
              </a:spcAft>
            </a:pPr>
            <a:r>
              <a:rPr lang="pt-BR" sz="1400">
                <a:solidFill>
                  <a:srgbClr val="2E3A2F"/>
                </a:solidFill>
                <a:latin typeface="Consolas" panose="020B0609020204030204" pitchFamily="49" charset="0"/>
              </a:rPr>
              <a:t>grupo, coorte, origem</a:t>
            </a:r>
            <a:endParaRPr lang="en-US" sz="1400">
              <a:solidFill>
                <a:srgbClr val="2E3A2F"/>
              </a:solidFill>
              <a:latin typeface="Consolas" panose="020B0609020204030204" pitchFamily="49" charset="0"/>
            </a:endParaRPr>
          </a:p>
        </p:txBody>
      </p:sp>
      <p:sp>
        <p:nvSpPr>
          <p:cNvPr id="19" name="GridBox12">
            <a:extLst>
              <a:ext uri="{FF2B5EF4-FFF2-40B4-BE49-F238E27FC236}">
                <a16:creationId xmlns:a16="http://schemas.microsoft.com/office/drawing/2014/main" id="{F08D6D2E-809D-6CEB-1A86-68103B5C96C3}"/>
              </a:ext>
            </a:extLst>
          </p:cNvPr>
          <p:cNvSpPr/>
          <p:nvPr/>
        </p:nvSpPr>
        <p:spPr>
          <a:xfrm>
            <a:off x="6170930" y="2556636"/>
            <a:ext cx="2613025" cy="1129348"/>
          </a:xfrm>
          <a:prstGeom prst="roundRect">
            <a:avLst>
              <a:gd name="adj" fmla="val 6000"/>
            </a:avLst>
          </a:prstGeom>
          <a:solidFill>
            <a:srgbClr val="F9A620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1600" tIns="76200" rIns="76200" bIns="76200" rtlCol="0" anchor="t"/>
          <a:lstStyle/>
          <a:p>
            <a:pPr>
              <a:lnSpc>
                <a:spcPct val="92000"/>
              </a:lnSpc>
              <a:spcAft>
                <a:spcPts val="600"/>
              </a:spcAft>
            </a:pPr>
            <a:r>
              <a:rPr lang="en-US" sz="1500" b="1">
                <a:solidFill>
                  <a:srgbClr val="2E3A2F"/>
                </a:solidFill>
                <a:latin typeface="Consolas" panose="020B0609020204030204" pitchFamily="49" charset="0"/>
              </a:rPr>
              <a:t>pedigree</a:t>
            </a:r>
          </a:p>
          <a:p>
            <a:pPr>
              <a:lnSpc>
                <a:spcPct val="92000"/>
              </a:lnSpc>
              <a:spcAft>
                <a:spcPts val="200"/>
              </a:spcAft>
            </a:pPr>
            <a:r>
              <a:rPr lang="en-US" sz="1400">
                <a:solidFill>
                  <a:srgbClr val="2E3A2F"/>
                </a:solidFill>
                <a:latin typeface="Consolas" panose="020B0609020204030204" pitchFamily="49" charset="0"/>
              </a:rPr>
              <a:t>germoplasma_id PK/FK</a:t>
            </a:r>
          </a:p>
          <a:p>
            <a:pPr>
              <a:lnSpc>
                <a:spcPct val="92000"/>
              </a:lnSpc>
              <a:spcAft>
                <a:spcPts val="200"/>
              </a:spcAft>
            </a:pPr>
            <a:r>
              <a:rPr lang="en-US" sz="1400">
                <a:solidFill>
                  <a:srgbClr val="2E3A2F"/>
                </a:solidFill>
                <a:latin typeface="Consolas" panose="020B0609020204030204" pitchFamily="49" charset="0"/>
              </a:rPr>
              <a:t>mae_id FK, pai_id FK</a:t>
            </a:r>
          </a:p>
        </p:txBody>
      </p:sp>
      <p:sp>
        <p:nvSpPr>
          <p:cNvPr id="20" name="GridBox13">
            <a:extLst>
              <a:ext uri="{FF2B5EF4-FFF2-40B4-BE49-F238E27FC236}">
                <a16:creationId xmlns:a16="http://schemas.microsoft.com/office/drawing/2014/main" id="{1BE63A04-DFFE-0F6B-8DD3-DC18D6B0CF3D}"/>
              </a:ext>
            </a:extLst>
          </p:cNvPr>
          <p:cNvSpPr/>
          <p:nvPr/>
        </p:nvSpPr>
        <p:spPr>
          <a:xfrm>
            <a:off x="8936355" y="2556636"/>
            <a:ext cx="2613025" cy="1129348"/>
          </a:xfrm>
          <a:prstGeom prst="roundRect">
            <a:avLst>
              <a:gd name="adj" fmla="val 6000"/>
            </a:avLst>
          </a:prstGeom>
          <a:solidFill>
            <a:srgbClr val="B7472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1600" tIns="76200" rIns="76200" bIns="76200" rtlCol="0" anchor="t"/>
          <a:lstStyle/>
          <a:p>
            <a:pPr>
              <a:lnSpc>
                <a:spcPct val="92000"/>
              </a:lnSpc>
              <a:spcAft>
                <a:spcPts val="600"/>
              </a:spcAft>
            </a:pPr>
            <a:r>
              <a:rPr lang="pt-BR" sz="1500" b="1">
                <a:solidFill>
                  <a:srgbClr val="FFFFFF"/>
                </a:solidFill>
                <a:latin typeface="Consolas" panose="020B0609020204030204" pitchFamily="49" charset="0"/>
              </a:rPr>
              <a:t>amostra_genotipo</a:t>
            </a:r>
          </a:p>
          <a:p>
            <a:pPr>
              <a:lnSpc>
                <a:spcPct val="92000"/>
              </a:lnSpc>
              <a:spcAft>
                <a:spcPts val="200"/>
              </a:spcAft>
            </a:pPr>
            <a:r>
              <a:rPr lang="pt-BR" sz="1400">
                <a:solidFill>
                  <a:srgbClr val="FFFFFF"/>
                </a:solidFill>
                <a:latin typeface="Consolas" panose="020B0609020204030204" pitchFamily="49" charset="0"/>
              </a:rPr>
              <a:t>germoplasma_id PK/FK</a:t>
            </a:r>
          </a:p>
          <a:p>
            <a:pPr>
              <a:lnSpc>
                <a:spcPct val="92000"/>
              </a:lnSpc>
              <a:spcAft>
                <a:spcPts val="200"/>
              </a:spcAft>
            </a:pPr>
            <a:r>
              <a:rPr lang="pt-BR" sz="1400">
                <a:solidFill>
                  <a:srgbClr val="FFFFFF"/>
                </a:solidFill>
                <a:latin typeface="Consolas" panose="020B0609020204030204" pitchFamily="49" charset="0"/>
              </a:rPr>
              <a:t>arquivo da matriz SNP</a:t>
            </a:r>
            <a:endParaRPr lang="en-US" sz="140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21" name="FitText">
            <a:extLst>
              <a:ext uri="{FF2B5EF4-FFF2-40B4-BE49-F238E27FC236}">
                <a16:creationId xmlns:a16="http://schemas.microsoft.com/office/drawing/2014/main" id="{2C119FFF-B165-C0EC-28CB-B6345FB7DA1F}"/>
              </a:ext>
            </a:extLst>
          </p:cNvPr>
          <p:cNvSpPr txBox="1"/>
          <p:nvPr/>
        </p:nvSpPr>
        <p:spPr>
          <a:xfrm>
            <a:off x="640080" y="3863785"/>
            <a:ext cx="10909300" cy="106984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Cada informação vive em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um único lugar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: a latitude está no ambiente, não repetida em 4.800 parcelas.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As chaves estrangeiras (FK) ligam as tabelas e impedem registros órfãos.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34930515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2.3  Chaves e restrições: regras do programa escritas no banco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5111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1 · BLOCO 2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CodeBox">
            <a:extLst>
              <a:ext uri="{FF2B5EF4-FFF2-40B4-BE49-F238E27FC236}">
                <a16:creationId xmlns:a16="http://schemas.microsoft.com/office/drawing/2014/main" id="{3D71D329-9393-DB25-B597-2E88F12CFD3C}"/>
              </a:ext>
            </a:extLst>
          </p:cNvPr>
          <p:cNvSpPr/>
          <p:nvPr/>
        </p:nvSpPr>
        <p:spPr>
          <a:xfrm>
            <a:off x="640080" y="1453261"/>
            <a:ext cx="10909300" cy="2156460"/>
          </a:xfrm>
          <a:prstGeom prst="roundRect">
            <a:avLst>
              <a:gd name="adj" fmla="val 3000"/>
            </a:avLst>
          </a:prstGeom>
          <a:solidFill>
            <a:srgbClr val="2E3A2F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27000" rIns="152400" bIns="127000" rtlCol="0" anchor="t"/>
          <a:lstStyle/>
          <a:p>
            <a:r>
              <a:rPr lang="en-US" sz="1350">
                <a:solidFill>
                  <a:srgbClr val="F5F3ED"/>
                </a:solidFill>
                <a:latin typeface="Consolas" panose="020B0609020204030204" pitchFamily="49" charset="0"/>
              </a:rPr>
              <a:t>CREATE TABLE parcela (</a:t>
            </a:r>
          </a:p>
          <a:p>
            <a:r>
              <a:rPr lang="en-US" sz="1350">
                <a:solidFill>
                  <a:srgbClr val="F5F3ED"/>
                </a:solidFill>
                <a:latin typeface="Consolas" panose="020B0609020204030204" pitchFamily="49" charset="0"/>
              </a:rPr>
              <a:t>  parcela_id     TEXT PRIMARY KEY,                                   </a:t>
            </a:r>
            <a:r>
              <a:rPr lang="en-US" sz="1350">
                <a:solidFill>
                  <a:srgbClr val="D8E4DA"/>
                </a:solidFill>
                <a:latin typeface="Consolas" panose="020B0609020204030204" pitchFamily="49" charset="0"/>
              </a:rPr>
              <a:t>-- uma linha por parcela</a:t>
            </a:r>
          </a:p>
          <a:p>
            <a:r>
              <a:rPr lang="en-US" sz="1350">
                <a:solidFill>
                  <a:srgbClr val="F5F3ED"/>
                </a:solidFill>
                <a:latin typeface="Consolas" panose="020B0609020204030204" pitchFamily="49" charset="0"/>
              </a:rPr>
              <a:t>  ensaio_id      TEXT NOT NULL REFERENCES ensaio(ensaio_id),         </a:t>
            </a:r>
            <a:r>
              <a:rPr lang="en-US" sz="1350">
                <a:solidFill>
                  <a:srgbClr val="D8E4DA"/>
                </a:solidFill>
                <a:latin typeface="Consolas" panose="020B0609020204030204" pitchFamily="49" charset="0"/>
              </a:rPr>
              <a:t>-- ensaio precisa existir</a:t>
            </a:r>
          </a:p>
          <a:p>
            <a:r>
              <a:rPr lang="en-US" sz="1350">
                <a:solidFill>
                  <a:srgbClr val="F5F3ED"/>
                </a:solidFill>
                <a:latin typeface="Consolas" panose="020B0609020204030204" pitchFamily="49" charset="0"/>
              </a:rPr>
              <a:t>  germoplasma_id TEXT NOT NULL REFERENCES germoplasma(germoplasma_id), </a:t>
            </a:r>
            <a:r>
              <a:rPr lang="en-US" sz="1350">
                <a:solidFill>
                  <a:srgbClr val="D8E4DA"/>
                </a:solidFill>
                <a:latin typeface="Consolas" panose="020B0609020204030204" pitchFamily="49" charset="0"/>
              </a:rPr>
              <a:t>-- genótipo precisa estar cadastrado</a:t>
            </a:r>
          </a:p>
          <a:p>
            <a:r>
              <a:rPr lang="en-US" sz="1350">
                <a:solidFill>
                  <a:srgbClr val="F5F3ED"/>
                </a:solidFill>
                <a:latin typeface="Consolas" panose="020B0609020204030204" pitchFamily="49" charset="0"/>
              </a:rPr>
              <a:t>  bloco          INTEGER CHECK (bloco BETWEEN 1 AND 4),</a:t>
            </a:r>
          </a:p>
          <a:p>
            <a:r>
              <a:rPr lang="en-US" sz="1350">
                <a:solidFill>
                  <a:srgbClr val="F5F3ED"/>
                </a:solidFill>
                <a:latin typeface="Consolas" panose="020B0609020204030204" pitchFamily="49" charset="0"/>
              </a:rPr>
              <a:t>  linha          INTEGER,</a:t>
            </a:r>
          </a:p>
          <a:p>
            <a:r>
              <a:rPr lang="en-US" sz="1350">
                <a:solidFill>
                  <a:srgbClr val="F5F3ED"/>
                </a:solidFill>
                <a:latin typeface="Consolas" panose="020B0609020204030204" pitchFamily="49" charset="0"/>
              </a:rPr>
              <a:t>  coluna         INTEGER,</a:t>
            </a:r>
          </a:p>
          <a:p>
            <a:r>
              <a:rPr lang="en-US" sz="1350">
                <a:solidFill>
                  <a:srgbClr val="F5F3ED"/>
                </a:solidFill>
                <a:latin typeface="Consolas" panose="020B0609020204030204" pitchFamily="49" charset="0"/>
              </a:rPr>
              <a:t>  UNIQUE (ensaio_id, linha, coluna)                                  </a:t>
            </a:r>
            <a:r>
              <a:rPr lang="en-US" sz="1350">
                <a:solidFill>
                  <a:srgbClr val="D8E4DA"/>
                </a:solidFill>
                <a:latin typeface="Consolas" panose="020B0609020204030204" pitchFamily="49" charset="0"/>
              </a:rPr>
              <a:t>-- uma parcela por posição</a:t>
            </a:r>
          </a:p>
          <a:p>
            <a:r>
              <a:rPr lang="en-US" sz="1350">
                <a:solidFill>
                  <a:srgbClr val="F5F3ED"/>
                </a:solidFill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14" name="CodeBoxAccent">
            <a:extLst>
              <a:ext uri="{FF2B5EF4-FFF2-40B4-BE49-F238E27FC236}">
                <a16:creationId xmlns:a16="http://schemas.microsoft.com/office/drawing/2014/main" id="{D76D3013-1171-16C2-0719-4C3135B5AEA2}"/>
              </a:ext>
            </a:extLst>
          </p:cNvPr>
          <p:cNvSpPr/>
          <p:nvPr/>
        </p:nvSpPr>
        <p:spPr>
          <a:xfrm>
            <a:off x="640080" y="1453261"/>
            <a:ext cx="76200" cy="2156460"/>
          </a:xfrm>
          <a:prstGeom prst="rect">
            <a:avLst/>
          </a:prstGeom>
          <a:solidFill>
            <a:srgbClr val="F9A62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itText">
            <a:extLst>
              <a:ext uri="{FF2B5EF4-FFF2-40B4-BE49-F238E27FC236}">
                <a16:creationId xmlns:a16="http://schemas.microsoft.com/office/drawing/2014/main" id="{23100294-7F91-9174-7CB7-AD817241E673}"/>
              </a:ext>
            </a:extLst>
          </p:cNvPr>
          <p:cNvSpPr txBox="1"/>
          <p:nvPr/>
        </p:nvSpPr>
        <p:spPr>
          <a:xfrm>
            <a:off x="640080" y="3762121"/>
            <a:ext cx="10909300" cy="135026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PRIMARY KEY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: identidade única.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REFERENCES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: integridade referencial.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UNIQUE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: sem duplicatas físicas.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CHECK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: valores válidos.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NOT NULL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: campo obrigatório.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A restrição transforma uma regra que dependia da atenção de alguém em uma regra que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o banco garante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23650791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2.4  Normalização: por que não uma tabela única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1 · BLOCO 2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2AE8F0D3-3F44-B662-F402-1DCD1713CA5A}"/>
              </a:ext>
            </a:extLst>
          </p:cNvPr>
          <p:cNvSpPr txBox="1"/>
          <p:nvPr/>
        </p:nvSpPr>
        <p:spPr>
          <a:xfrm>
            <a:off x="570230" y="1822069"/>
            <a:ext cx="10909300" cy="35661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92000"/>
              </a:lnSpc>
            </a:pPr>
            <a:r>
              <a:rPr lang="pt-BR" sz="2000" b="1" dirty="0">
                <a:solidFill>
                  <a:srgbClr val="4A7C59"/>
                </a:solidFill>
                <a:latin typeface="DejaVu Sans"/>
              </a:rPr>
              <a:t>Tabela "larga" (uma linha por parcela, tudo junto):</a:t>
            </a:r>
            <a:endParaRPr lang="en-US" sz="2000" b="1" dirty="0">
              <a:solidFill>
                <a:srgbClr val="4A7C59"/>
              </a:solidFill>
              <a:latin typeface="DejaVu Sans"/>
            </a:endParaRPr>
          </a:p>
        </p:txBody>
      </p:sp>
      <p:graphicFrame>
        <p:nvGraphicFramePr>
          <p:cNvPr id="14" name="Fit796Table">
            <a:extLst>
              <a:ext uri="{FF2B5EF4-FFF2-40B4-BE49-F238E27FC236}">
                <a16:creationId xmlns:a16="http://schemas.microsoft.com/office/drawing/2014/main" id="{A4CD70E9-7ABD-277A-3AB3-E64146B90D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1253509"/>
              </p:ext>
            </p:extLst>
          </p:nvPr>
        </p:nvGraphicFramePr>
        <p:xfrm>
          <a:off x="640080" y="2152776"/>
          <a:ext cx="10896600" cy="9437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9700">
                  <a:extLst>
                    <a:ext uri="{9D8B030D-6E8A-4147-A177-3AD203B41FA5}">
                      <a16:colId xmlns:a16="http://schemas.microsoft.com/office/drawing/2014/main" val="1660618292"/>
                    </a:ext>
                  </a:extLst>
                </a:gridCol>
                <a:gridCol w="1587500">
                  <a:extLst>
                    <a:ext uri="{9D8B030D-6E8A-4147-A177-3AD203B41FA5}">
                      <a16:colId xmlns:a16="http://schemas.microsoft.com/office/drawing/2014/main" val="1453000995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1933477756"/>
                    </a:ext>
                  </a:extLst>
                </a:gridCol>
                <a:gridCol w="1498600">
                  <a:extLst>
                    <a:ext uri="{9D8B030D-6E8A-4147-A177-3AD203B41FA5}">
                      <a16:colId xmlns:a16="http://schemas.microsoft.com/office/drawing/2014/main" val="272894974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519094426"/>
                    </a:ext>
                  </a:extLst>
                </a:gridCol>
                <a:gridCol w="1181100">
                  <a:extLst>
                    <a:ext uri="{9D8B030D-6E8A-4147-A177-3AD203B41FA5}">
                      <a16:colId xmlns:a16="http://schemas.microsoft.com/office/drawing/2014/main" val="1558232028"/>
                    </a:ext>
                  </a:extLst>
                </a:gridCol>
                <a:gridCol w="1181100">
                  <a:extLst>
                    <a:ext uri="{9D8B030D-6E8A-4147-A177-3AD203B41FA5}">
                      <a16:colId xmlns:a16="http://schemas.microsoft.com/office/drawing/2014/main" val="3710567554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131018061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parcela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genotipo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local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latitude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ano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mae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pai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PROD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167694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P0001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DH24_0012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Uberlandia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−18,92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2024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FA_03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FA_17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10.540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750857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P0002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DH24_0012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Uberlândia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−18,92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2024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FA_03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FA_71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10.210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5475730"/>
                  </a:ext>
                </a:extLst>
              </a:tr>
            </a:tbl>
          </a:graphicData>
        </a:graphic>
      </p:graphicFrame>
      <p:sp>
        <p:nvSpPr>
          <p:cNvPr id="15" name="FitText">
            <a:extLst>
              <a:ext uri="{FF2B5EF4-FFF2-40B4-BE49-F238E27FC236}">
                <a16:creationId xmlns:a16="http://schemas.microsoft.com/office/drawing/2014/main" id="{97F33EEC-4329-FC61-DF6F-3AFA41496795}"/>
              </a:ext>
            </a:extLst>
          </p:cNvPr>
          <p:cNvSpPr txBox="1"/>
          <p:nvPr/>
        </p:nvSpPr>
        <p:spPr>
          <a:xfrm>
            <a:off x="640080" y="3248912"/>
            <a:ext cx="10909300" cy="178308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Latitude e pedigree repetidos em cada parcela: um erro de digitação cria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duas versões da verdade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(veja "Uberlandia" × "Uberlândia" e o pai FA_17 × FA_71 do mesmo genótipo).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Corrigir exige atualizar milhares de linhas; esquecer uma cria inconsistência.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Normalizar = cada fato registrado uma vez, ligado por chaves.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3518425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2.5  Duas camadas: bruta e curada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1 · BLOCO 2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47" name="ProcessBox0">
            <a:extLst>
              <a:ext uri="{FF2B5EF4-FFF2-40B4-BE49-F238E27FC236}">
                <a16:creationId xmlns:a16="http://schemas.microsoft.com/office/drawing/2014/main" id="{D5AD294C-48B5-6D76-04EA-81F23DE7A0BD}"/>
              </a:ext>
            </a:extLst>
          </p:cNvPr>
          <p:cNvSpPr/>
          <p:nvPr/>
        </p:nvSpPr>
        <p:spPr>
          <a:xfrm>
            <a:off x="381000" y="1053211"/>
            <a:ext cx="2810933" cy="1701673"/>
          </a:xfrm>
          <a:prstGeom prst="roundRect">
            <a:avLst>
              <a:gd name="adj" fmla="val 8000"/>
            </a:avLst>
          </a:prstGeom>
          <a:solidFill>
            <a:srgbClr val="4A7C59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101600" rIns="38100" bIns="101600" rtlCol="0" anchor="t"/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pt-BR" sz="1600" b="1">
                <a:solidFill>
                  <a:srgbClr val="FFFFFF"/>
                </a:solidFill>
                <a:latin typeface="DejaVu Sans"/>
              </a:rPr>
              <a:t>Camada bruta</a:t>
            </a:r>
          </a:p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pt-BR" sz="1600">
                <a:solidFill>
                  <a:srgbClr val="FFFFFF"/>
                </a:solidFill>
                <a:latin typeface="DejaVu Sans"/>
              </a:rPr>
              <a:t>bruto_parcelas, bruto_germoplasma</a:t>
            </a:r>
          </a:p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pt-BR" sz="1600">
                <a:solidFill>
                  <a:srgbClr val="FFFFFF"/>
                </a:solidFill>
                <a:latin typeface="DejaVu Sans"/>
              </a:rPr>
              <a:t>como chegou do campo · sem restrições · nunca editada</a:t>
            </a:r>
            <a:endParaRPr lang="en-US" sz="1600">
              <a:solidFill>
                <a:srgbClr val="FFFFFF"/>
              </a:solidFill>
              <a:latin typeface="DejaVu Sans"/>
            </a:endParaRPr>
          </a:p>
        </p:txBody>
      </p:sp>
      <p:sp>
        <p:nvSpPr>
          <p:cNvPr id="48" name="ProcessBox1">
            <a:extLst>
              <a:ext uri="{FF2B5EF4-FFF2-40B4-BE49-F238E27FC236}">
                <a16:creationId xmlns:a16="http://schemas.microsoft.com/office/drawing/2014/main" id="{BFB71F07-1630-AFAC-3913-C985F5BB846D}"/>
              </a:ext>
            </a:extLst>
          </p:cNvPr>
          <p:cNvSpPr/>
          <p:nvPr/>
        </p:nvSpPr>
        <p:spPr>
          <a:xfrm>
            <a:off x="4690533" y="1053211"/>
            <a:ext cx="2810934" cy="1701673"/>
          </a:xfrm>
          <a:prstGeom prst="roundRect">
            <a:avLst>
              <a:gd name="adj" fmla="val 8000"/>
            </a:avLst>
          </a:prstGeom>
          <a:solidFill>
            <a:srgbClr val="D8E4D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101600" rIns="38100" bIns="101600" rtlCol="0" anchor="t"/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pt-BR" sz="1600" b="1">
                <a:solidFill>
                  <a:srgbClr val="2E3A2F"/>
                </a:solidFill>
                <a:latin typeface="DejaVu Sans"/>
              </a:rPr>
              <a:t>Camada curada</a:t>
            </a:r>
          </a:p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pt-BR" sz="1600">
                <a:solidFill>
                  <a:srgbClr val="2E3A2F"/>
                </a:solidFill>
                <a:latin typeface="DejaVu Sans"/>
              </a:rPr>
              <a:t>germoplasma, pedigree, parcela, observacao…</a:t>
            </a:r>
          </a:p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pt-BR" sz="1600">
                <a:solidFill>
                  <a:srgbClr val="2E3A2F"/>
                </a:solidFill>
                <a:latin typeface="DejaVu Sans"/>
              </a:rPr>
              <a:t>com chaves e restrições · reconstruída pelo script de QC</a:t>
            </a:r>
            <a:endParaRPr lang="en-US" sz="1600">
              <a:solidFill>
                <a:srgbClr val="2E3A2F"/>
              </a:solidFill>
              <a:latin typeface="DejaVu Sans"/>
            </a:endParaRPr>
          </a:p>
        </p:txBody>
      </p:sp>
      <p:sp>
        <p:nvSpPr>
          <p:cNvPr id="49" name="ProcessBox2">
            <a:extLst>
              <a:ext uri="{FF2B5EF4-FFF2-40B4-BE49-F238E27FC236}">
                <a16:creationId xmlns:a16="http://schemas.microsoft.com/office/drawing/2014/main" id="{F27E9C4A-3CD7-9B7E-594D-EB89A9F69776}"/>
              </a:ext>
            </a:extLst>
          </p:cNvPr>
          <p:cNvSpPr/>
          <p:nvPr/>
        </p:nvSpPr>
        <p:spPr>
          <a:xfrm>
            <a:off x="9000067" y="1053211"/>
            <a:ext cx="2810933" cy="1701673"/>
          </a:xfrm>
          <a:prstGeom prst="roundRect">
            <a:avLst>
              <a:gd name="adj" fmla="val 8000"/>
            </a:avLst>
          </a:prstGeom>
          <a:solidFill>
            <a:srgbClr val="F9A620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101600" rIns="38100" bIns="101600" rtlCol="0" anchor="t"/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en-US" sz="1600" b="1">
                <a:solidFill>
                  <a:srgbClr val="2E3A2F"/>
                </a:solidFill>
                <a:latin typeface="DejaVu Sans"/>
              </a:rPr>
              <a:t>Análise</a:t>
            </a:r>
          </a:p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en-US" sz="1600">
                <a:solidFill>
                  <a:srgbClr val="2E3A2F"/>
                </a:solidFill>
                <a:latin typeface="DejaVu Sans"/>
              </a:rPr>
              <a:t>v_prod_parcela → lme4, GBLUP, ML</a:t>
            </a:r>
          </a:p>
        </p:txBody>
      </p:sp>
      <p:sp>
        <p:nvSpPr>
          <p:cNvPr id="50" name="ProcessArrow0">
            <a:extLst>
              <a:ext uri="{FF2B5EF4-FFF2-40B4-BE49-F238E27FC236}">
                <a16:creationId xmlns:a16="http://schemas.microsoft.com/office/drawing/2014/main" id="{3914D00E-D965-E0DE-58E5-9A57185D0C3E}"/>
              </a:ext>
            </a:extLst>
          </p:cNvPr>
          <p:cNvSpPr/>
          <p:nvPr/>
        </p:nvSpPr>
        <p:spPr>
          <a:xfrm>
            <a:off x="3293533" y="1815148"/>
            <a:ext cx="1295400" cy="177800"/>
          </a:xfrm>
          <a:prstGeom prst="rightArrow">
            <a:avLst/>
          </a:prstGeom>
          <a:solidFill>
            <a:srgbClr val="F9A62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ProcessLabel0">
            <a:extLst>
              <a:ext uri="{FF2B5EF4-FFF2-40B4-BE49-F238E27FC236}">
                <a16:creationId xmlns:a16="http://schemas.microsoft.com/office/drawing/2014/main" id="{AC46CE74-AAE4-5108-C6F3-50E70F81D4C8}"/>
              </a:ext>
            </a:extLst>
          </p:cNvPr>
          <p:cNvSpPr txBox="1"/>
          <p:nvPr/>
        </p:nvSpPr>
        <p:spPr>
          <a:xfrm>
            <a:off x="3217333" y="1188211"/>
            <a:ext cx="1447800" cy="588836"/>
          </a:xfrm>
          <a:prstGeom prst="rect">
            <a:avLst/>
          </a:prstGeom>
          <a:noFill/>
        </p:spPr>
        <p:txBody>
          <a:bodyPr vert="horz" wrap="square" lIns="12700" tIns="0" rIns="12700" bIns="0" rtlCol="0">
            <a:noAutofit/>
          </a:bodyPr>
          <a:lstStyle/>
          <a:p>
            <a:pPr algn="ctr">
              <a:lnSpc>
                <a:spcPct val="92000"/>
              </a:lnSpc>
            </a:pPr>
            <a:r>
              <a:rPr lang="en-US" sz="1400" b="1">
                <a:solidFill>
                  <a:srgbClr val="4A7C59"/>
                </a:solidFill>
                <a:latin typeface="DejaVu Sans"/>
              </a:rPr>
              <a:t>QC + correções registradas</a:t>
            </a:r>
          </a:p>
        </p:txBody>
      </p:sp>
      <p:sp>
        <p:nvSpPr>
          <p:cNvPr id="52" name="ProcessArrow1">
            <a:extLst>
              <a:ext uri="{FF2B5EF4-FFF2-40B4-BE49-F238E27FC236}">
                <a16:creationId xmlns:a16="http://schemas.microsoft.com/office/drawing/2014/main" id="{340F094F-1EAF-1CF2-ECA5-8D80E4257D3A}"/>
              </a:ext>
            </a:extLst>
          </p:cNvPr>
          <p:cNvSpPr/>
          <p:nvPr/>
        </p:nvSpPr>
        <p:spPr>
          <a:xfrm>
            <a:off x="7603067" y="1815148"/>
            <a:ext cx="1295400" cy="177800"/>
          </a:xfrm>
          <a:prstGeom prst="rightArrow">
            <a:avLst/>
          </a:prstGeom>
          <a:solidFill>
            <a:srgbClr val="F9A62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ProcessLabel1">
            <a:extLst>
              <a:ext uri="{FF2B5EF4-FFF2-40B4-BE49-F238E27FC236}">
                <a16:creationId xmlns:a16="http://schemas.microsoft.com/office/drawing/2014/main" id="{29C706C8-ACB2-DF03-47E3-A695D0235321}"/>
              </a:ext>
            </a:extLst>
          </p:cNvPr>
          <p:cNvSpPr txBox="1"/>
          <p:nvPr/>
        </p:nvSpPr>
        <p:spPr>
          <a:xfrm>
            <a:off x="7526867" y="1384490"/>
            <a:ext cx="1447800" cy="392557"/>
          </a:xfrm>
          <a:prstGeom prst="rect">
            <a:avLst/>
          </a:prstGeom>
          <a:noFill/>
        </p:spPr>
        <p:txBody>
          <a:bodyPr vert="horz" wrap="square" lIns="12700" tIns="0" rIns="12700" bIns="0" rtlCol="0">
            <a:noAutofit/>
          </a:bodyPr>
          <a:lstStyle/>
          <a:p>
            <a:pPr algn="ctr">
              <a:lnSpc>
                <a:spcPct val="92000"/>
              </a:lnSpc>
            </a:pPr>
            <a:r>
              <a:rPr lang="en-US" sz="1400" b="1">
                <a:solidFill>
                  <a:srgbClr val="4A7C59"/>
                </a:solidFill>
                <a:latin typeface="DejaVu Sans"/>
              </a:rPr>
              <a:t>visões de análise</a:t>
            </a:r>
          </a:p>
        </p:txBody>
      </p:sp>
      <p:sp>
        <p:nvSpPr>
          <p:cNvPr id="54" name="FitText">
            <a:extLst>
              <a:ext uri="{FF2B5EF4-FFF2-40B4-BE49-F238E27FC236}">
                <a16:creationId xmlns:a16="http://schemas.microsoft.com/office/drawing/2014/main" id="{AB659C70-9662-5E49-4E11-527DD2C7F248}"/>
              </a:ext>
            </a:extLst>
          </p:cNvPr>
          <p:cNvSpPr txBox="1"/>
          <p:nvPr/>
        </p:nvSpPr>
        <p:spPr>
          <a:xfrm>
            <a:off x="640080" y="2958084"/>
            <a:ext cx="10909300" cy="135026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A camada bruta aceita erros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de propósito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: só assim eles podem ser carregados, auditados e corrigidos de forma rastreável.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As restrições da camada curada são a última barreira: um erro que passar pelo QC é rejeitado na carga.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42294244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2.6  Por que saber SQL, mesmo com IA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Morales et al. (2022), G3, 12: jkac078 — Breedbase.   ·   SEÇÃO 1 · BLOCO 2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88D48667-6B93-BE22-C738-8277710FF804}"/>
              </a:ext>
            </a:extLst>
          </p:cNvPr>
          <p:cNvSpPr txBox="1"/>
          <p:nvPr/>
        </p:nvSpPr>
        <p:spPr>
          <a:xfrm>
            <a:off x="640080" y="1053211"/>
            <a:ext cx="5308600" cy="473964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 b="1">
                <a:solidFill>
                  <a:srgbClr val="4A7C59"/>
                </a:solidFill>
                <a:latin typeface="DejaVu Sans"/>
              </a:rPr>
              <a:t>Linguagem padrão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(ANSI/ISO) há décadas; o mesmo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SELECT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funciona em DuckDB, SQLite, PostgreSQL, MySQL, BigQuery.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Sistemas de gestão de melhoramento são bancos relacionais: o Breedbase, por exemplo, usa PostgreSQL e expõe os dados pela BrAPI.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 b="1">
                <a:solidFill>
                  <a:srgbClr val="4A7C59"/>
                </a:solidFill>
                <a:latin typeface="DejaVu Sans"/>
              </a:rPr>
              <a:t>DuckDB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consulta CSV e Parquet diretamente, sem servidor: ideal para análise local e para ensino.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A IA escreve SQL muito bem, mas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você precisa ler e validar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: uma consulta errada não dá erro, dá um número errado.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  <p:sp>
        <p:nvSpPr>
          <p:cNvPr id="14" name="FitText">
            <a:extLst>
              <a:ext uri="{FF2B5EF4-FFF2-40B4-BE49-F238E27FC236}">
                <a16:creationId xmlns:a16="http://schemas.microsoft.com/office/drawing/2014/main" id="{D11080EF-7467-D427-094E-029113BC46B7}"/>
              </a:ext>
            </a:extLst>
          </p:cNvPr>
          <p:cNvSpPr txBox="1"/>
          <p:nvPr/>
        </p:nvSpPr>
        <p:spPr>
          <a:xfrm>
            <a:off x="6240780" y="1053210"/>
            <a:ext cx="5308600" cy="63703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92000"/>
              </a:lnSpc>
            </a:pPr>
            <a:r>
              <a:rPr lang="pt-BR" sz="2000" b="1">
                <a:solidFill>
                  <a:srgbClr val="4A7C59"/>
                </a:solidFill>
                <a:latin typeface="DejaVu Sans"/>
              </a:rPr>
              <a:t>O que o pesquisador precisa dominar</a:t>
            </a:r>
            <a:endParaRPr lang="en-US" sz="2000" b="1">
              <a:solidFill>
                <a:srgbClr val="4A7C59"/>
              </a:solidFill>
              <a:latin typeface="DejaVu Sans"/>
            </a:endParaRPr>
          </a:p>
        </p:txBody>
      </p:sp>
      <p:sp>
        <p:nvSpPr>
          <p:cNvPr id="15" name="FitText">
            <a:extLst>
              <a:ext uri="{FF2B5EF4-FFF2-40B4-BE49-F238E27FC236}">
                <a16:creationId xmlns:a16="http://schemas.microsoft.com/office/drawing/2014/main" id="{97C309BB-CCB9-B1AE-2D41-597791F91E95}"/>
              </a:ext>
            </a:extLst>
          </p:cNvPr>
          <p:cNvSpPr txBox="1"/>
          <p:nvPr/>
        </p:nvSpPr>
        <p:spPr>
          <a:xfrm>
            <a:off x="6240780" y="1842642"/>
            <a:ext cx="5308600" cy="323392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SELECT … FROM … WHERE … ORDER BY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JOIN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(interno e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LEFT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)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GROUP BY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e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HAVING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Subconsultas e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WITH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(CTE)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Funções de janela (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OVER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)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Como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NULL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se comporta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Contar linhas antes e depois de cada junção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30818359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2.7  SQL essencial (1): selecionar e filtrar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1 · BLOCO 2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CodeBox">
            <a:extLst>
              <a:ext uri="{FF2B5EF4-FFF2-40B4-BE49-F238E27FC236}">
                <a16:creationId xmlns:a16="http://schemas.microsoft.com/office/drawing/2014/main" id="{959A4207-C5D5-4F12-BA65-B32246226077}"/>
              </a:ext>
            </a:extLst>
          </p:cNvPr>
          <p:cNvSpPr/>
          <p:nvPr/>
        </p:nvSpPr>
        <p:spPr>
          <a:xfrm>
            <a:off x="640080" y="1053211"/>
            <a:ext cx="10909300" cy="2133600"/>
          </a:xfrm>
          <a:prstGeom prst="roundRect">
            <a:avLst>
              <a:gd name="adj" fmla="val 3000"/>
            </a:avLst>
          </a:prstGeom>
          <a:solidFill>
            <a:srgbClr val="2E3A2F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27000" rIns="152400" bIns="127000" rtlCol="0" anchor="t"/>
          <a:lstStyle/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SELECT p.parcela_id, p.germoplasma_id, o.valor AS prod_kg_ha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FROM observacao o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JOIN parcela  p ON o.parcela_id  = p.parcela_id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JOIN ensaio   e ON p.ensaio_id   = e.ensaio_id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JOIN ambiente a ON e.ambiente_id = a.ambiente_id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WHERE a.local = 'Uberlandia' AND a.ano = 2025 AND o.valor IS NOT NULL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ORDER BY o.valor DESC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LIMIT 5;</a:t>
            </a:r>
          </a:p>
        </p:txBody>
      </p:sp>
      <p:sp>
        <p:nvSpPr>
          <p:cNvPr id="14" name="CodeBoxAccent">
            <a:extLst>
              <a:ext uri="{FF2B5EF4-FFF2-40B4-BE49-F238E27FC236}">
                <a16:creationId xmlns:a16="http://schemas.microsoft.com/office/drawing/2014/main" id="{D22F1C6C-A27F-00A0-5181-752F25C47B2E}"/>
              </a:ext>
            </a:extLst>
          </p:cNvPr>
          <p:cNvSpPr/>
          <p:nvPr/>
        </p:nvSpPr>
        <p:spPr>
          <a:xfrm>
            <a:off x="640080" y="1053211"/>
            <a:ext cx="76200" cy="2133600"/>
          </a:xfrm>
          <a:prstGeom prst="rect">
            <a:avLst/>
          </a:prstGeom>
          <a:solidFill>
            <a:srgbClr val="F9A62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5" name="Fit796Table">
            <a:extLst>
              <a:ext uri="{FF2B5EF4-FFF2-40B4-BE49-F238E27FC236}">
                <a16:creationId xmlns:a16="http://schemas.microsoft.com/office/drawing/2014/main" id="{E33970B1-5DD7-A9AB-57FE-DFF90F4B71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3978209"/>
              </p:ext>
            </p:extLst>
          </p:nvPr>
        </p:nvGraphicFramePr>
        <p:xfrm>
          <a:off x="640080" y="3339211"/>
          <a:ext cx="10896600" cy="12583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76700">
                  <a:extLst>
                    <a:ext uri="{9D8B030D-6E8A-4147-A177-3AD203B41FA5}">
                      <a16:colId xmlns:a16="http://schemas.microsoft.com/office/drawing/2014/main" val="1625049624"/>
                    </a:ext>
                  </a:extLst>
                </a:gridCol>
                <a:gridCol w="3695700">
                  <a:extLst>
                    <a:ext uri="{9D8B030D-6E8A-4147-A177-3AD203B41FA5}">
                      <a16:colId xmlns:a16="http://schemas.microsoft.com/office/drawing/2014/main" val="1435457359"/>
                    </a:ext>
                  </a:extLst>
                </a:gridCol>
                <a:gridCol w="3124200">
                  <a:extLst>
                    <a:ext uri="{9D8B030D-6E8A-4147-A177-3AD203B41FA5}">
                      <a16:colId xmlns:a16="http://schemas.microsoft.com/office/drawing/2014/main" val="2085772826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parcela_id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germoplasma_id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prod_kg_ha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81543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a-DK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P_UDI_2025_V_0635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DH25_0089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14.435,1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123868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a-DK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P_UDI_2025_V_0768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DH25_0288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14.358,5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330081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a-DK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P_UDI_2025_V_0448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DH25_0030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14.178,8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96065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424371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2.8  SQL essencial (2): junções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1 · BLOCO 2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88EA8975-2F45-D6BB-F028-65144489249A}"/>
              </a:ext>
            </a:extLst>
          </p:cNvPr>
          <p:cNvSpPr txBox="1"/>
          <p:nvPr/>
        </p:nvSpPr>
        <p:spPr>
          <a:xfrm>
            <a:off x="640080" y="1053211"/>
            <a:ext cx="10909300" cy="106984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JOIN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(interno): só linhas com correspondência nas duas tabelas.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LEFT JOIN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: todas as linhas da esquerda;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NULL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onde não há correspondência. Serve para achar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o que falta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  <p:sp>
        <p:nvSpPr>
          <p:cNvPr id="14" name="CodeBox">
            <a:extLst>
              <a:ext uri="{FF2B5EF4-FFF2-40B4-BE49-F238E27FC236}">
                <a16:creationId xmlns:a16="http://schemas.microsoft.com/office/drawing/2014/main" id="{85CB1585-F043-FAF5-CA4C-1C666214AE31}"/>
              </a:ext>
            </a:extLst>
          </p:cNvPr>
          <p:cNvSpPr/>
          <p:nvPr/>
        </p:nvSpPr>
        <p:spPr>
          <a:xfrm>
            <a:off x="640080" y="2275459"/>
            <a:ext cx="10909300" cy="1676400"/>
          </a:xfrm>
          <a:prstGeom prst="roundRect">
            <a:avLst>
              <a:gd name="adj" fmla="val 3000"/>
            </a:avLst>
          </a:prstGeom>
          <a:solidFill>
            <a:srgbClr val="2E3A2F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27000" rIns="152400" bIns="127000" rtlCol="0" anchor="t"/>
          <a:lstStyle/>
          <a:p>
            <a:r>
              <a:rPr lang="en-US" sz="1500">
                <a:solidFill>
                  <a:srgbClr val="D8E4DA"/>
                </a:solidFill>
                <a:latin typeface="Consolas" panose="020B0609020204030204" pitchFamily="49" charset="0"/>
              </a:rPr>
              <a:t>-- Germoplasma cadastrado sem nenhuma parcela, por origem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SELECT g.origem, COUNT(*) AS n_sem_parcela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FROM germoplasma g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LEFT JOIN parcela p ON g.germoplasma_id = p.germoplasma_id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WHERE p.parcela_id IS NULL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GROUP BY g.origem;</a:t>
            </a:r>
          </a:p>
        </p:txBody>
      </p:sp>
      <p:sp>
        <p:nvSpPr>
          <p:cNvPr id="15" name="CodeBoxAccent">
            <a:extLst>
              <a:ext uri="{FF2B5EF4-FFF2-40B4-BE49-F238E27FC236}">
                <a16:creationId xmlns:a16="http://schemas.microsoft.com/office/drawing/2014/main" id="{24C4AE32-8253-3330-9A26-BC477291AD36}"/>
              </a:ext>
            </a:extLst>
          </p:cNvPr>
          <p:cNvSpPr/>
          <p:nvPr/>
        </p:nvSpPr>
        <p:spPr>
          <a:xfrm>
            <a:off x="640080" y="2275459"/>
            <a:ext cx="76200" cy="1676400"/>
          </a:xfrm>
          <a:prstGeom prst="rect">
            <a:avLst/>
          </a:prstGeom>
          <a:solidFill>
            <a:srgbClr val="F9A62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6" name="Fit796Table">
            <a:extLst>
              <a:ext uri="{FF2B5EF4-FFF2-40B4-BE49-F238E27FC236}">
                <a16:creationId xmlns:a16="http://schemas.microsoft.com/office/drawing/2014/main" id="{72EA2535-9E1E-A4C5-E383-96089EEC8D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633048"/>
              </p:ext>
            </p:extLst>
          </p:nvPr>
        </p:nvGraphicFramePr>
        <p:xfrm>
          <a:off x="640080" y="4104259"/>
          <a:ext cx="10909300" cy="9437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0">
                  <a:extLst>
                    <a:ext uri="{9D8B030D-6E8A-4147-A177-3AD203B41FA5}">
                      <a16:colId xmlns:a16="http://schemas.microsoft.com/office/drawing/2014/main" val="2377273856"/>
                    </a:ext>
                  </a:extLst>
                </a:gridCol>
                <a:gridCol w="6108700">
                  <a:extLst>
                    <a:ext uri="{9D8B030D-6E8A-4147-A177-3AD203B41FA5}">
                      <a16:colId xmlns:a16="http://schemas.microsoft.com/office/drawing/2014/main" val="1740349501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origem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n_sem_parcela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964122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fundador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99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321637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testador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1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991928"/>
                  </a:ext>
                </a:extLst>
              </a:tr>
            </a:tbl>
          </a:graphicData>
        </a:graphic>
      </p:graphicFrame>
      <p:sp>
        <p:nvSpPr>
          <p:cNvPr id="17" name="FitText">
            <a:extLst>
              <a:ext uri="{FF2B5EF4-FFF2-40B4-BE49-F238E27FC236}">
                <a16:creationId xmlns:a16="http://schemas.microsoft.com/office/drawing/2014/main" id="{E8CAC4D6-EC8D-E53A-E487-74066690F864}"/>
              </a:ext>
            </a:extLst>
          </p:cNvPr>
          <p:cNvSpPr txBox="1"/>
          <p:nvPr/>
        </p:nvSpPr>
        <p:spPr>
          <a:xfrm>
            <a:off x="640080" y="5200395"/>
            <a:ext cx="10909300" cy="63703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92000"/>
              </a:lnSpc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Resultado esperado: fundadores e testador não são avaliados em parcela. Se aparecesse uma linhagem DH aqui, seria um problema.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29664972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2.9  SQL essencial (3): agregar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1 · BLOCO 2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CodeBox">
            <a:extLst>
              <a:ext uri="{FF2B5EF4-FFF2-40B4-BE49-F238E27FC236}">
                <a16:creationId xmlns:a16="http://schemas.microsoft.com/office/drawing/2014/main" id="{050015D2-AEAA-BC59-3B35-D51C2D502112}"/>
              </a:ext>
            </a:extLst>
          </p:cNvPr>
          <p:cNvSpPr/>
          <p:nvPr/>
        </p:nvSpPr>
        <p:spPr>
          <a:xfrm>
            <a:off x="640080" y="1053211"/>
            <a:ext cx="10909300" cy="1676400"/>
          </a:xfrm>
          <a:prstGeom prst="roundRect">
            <a:avLst>
              <a:gd name="adj" fmla="val 3000"/>
            </a:avLst>
          </a:prstGeom>
          <a:solidFill>
            <a:srgbClr val="2E3A2F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27000" rIns="152400" bIns="127000" rtlCol="0" anchor="t"/>
          <a:lstStyle/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SELECT germoplasma_id, ambiente_id, COUNT(prod) AS n, ROUND(AVG(prod), 0) AS media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FROM v_prod_parcela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GROUP BY germoplasma_id, ambiente_id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HAVING COUNT(prod) = 2          </a:t>
            </a:r>
            <a:r>
              <a:rPr lang="en-US" sz="1500">
                <a:solidFill>
                  <a:srgbClr val="D8E4DA"/>
                </a:solidFill>
                <a:latin typeface="Consolas" panose="020B0609020204030204" pitchFamily="49" charset="0"/>
              </a:rPr>
              <a:t>-- só combinações com as duas repetições válidas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ORDER BY media DESC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LIMIT 3;</a:t>
            </a:r>
          </a:p>
        </p:txBody>
      </p:sp>
      <p:sp>
        <p:nvSpPr>
          <p:cNvPr id="14" name="CodeBoxAccent">
            <a:extLst>
              <a:ext uri="{FF2B5EF4-FFF2-40B4-BE49-F238E27FC236}">
                <a16:creationId xmlns:a16="http://schemas.microsoft.com/office/drawing/2014/main" id="{DCB98E6B-5B20-5CFE-0877-3FBFD6871126}"/>
              </a:ext>
            </a:extLst>
          </p:cNvPr>
          <p:cNvSpPr/>
          <p:nvPr/>
        </p:nvSpPr>
        <p:spPr>
          <a:xfrm>
            <a:off x="640080" y="1053211"/>
            <a:ext cx="76200" cy="1676400"/>
          </a:xfrm>
          <a:prstGeom prst="rect">
            <a:avLst/>
          </a:prstGeom>
          <a:solidFill>
            <a:srgbClr val="F9A62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5" name="Fit796Table">
            <a:extLst>
              <a:ext uri="{FF2B5EF4-FFF2-40B4-BE49-F238E27FC236}">
                <a16:creationId xmlns:a16="http://schemas.microsoft.com/office/drawing/2014/main" id="{C809E70C-4A1E-A43F-3974-C7486D4619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4888348"/>
              </p:ext>
            </p:extLst>
          </p:nvPr>
        </p:nvGraphicFramePr>
        <p:xfrm>
          <a:off x="640080" y="2882011"/>
          <a:ext cx="10909300" cy="12583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43300">
                  <a:extLst>
                    <a:ext uri="{9D8B030D-6E8A-4147-A177-3AD203B41FA5}">
                      <a16:colId xmlns:a16="http://schemas.microsoft.com/office/drawing/2014/main" val="4053861269"/>
                    </a:ext>
                  </a:extLst>
                </a:gridCol>
                <a:gridCol w="3149600">
                  <a:extLst>
                    <a:ext uri="{9D8B030D-6E8A-4147-A177-3AD203B41FA5}">
                      <a16:colId xmlns:a16="http://schemas.microsoft.com/office/drawing/2014/main" val="4192073140"/>
                    </a:ext>
                  </a:extLst>
                </a:gridCol>
                <a:gridCol w="1892300">
                  <a:extLst>
                    <a:ext uri="{9D8B030D-6E8A-4147-A177-3AD203B41FA5}">
                      <a16:colId xmlns:a16="http://schemas.microsoft.com/office/drawing/2014/main" val="1457725324"/>
                    </a:ext>
                  </a:extLst>
                </a:gridCol>
                <a:gridCol w="2324100">
                  <a:extLst>
                    <a:ext uri="{9D8B030D-6E8A-4147-A177-3AD203B41FA5}">
                      <a16:colId xmlns:a16="http://schemas.microsoft.com/office/drawing/2014/main" val="2183262393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germoplasma_id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ambiente_id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n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media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227702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DH25_0046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UDI_2025_V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2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13.759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594662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DH25_0259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UDI_2025_V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2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13.568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681221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DH25_0073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UDI_2025_V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2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13.551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9783309"/>
                  </a:ext>
                </a:extLst>
              </a:tr>
            </a:tbl>
          </a:graphicData>
        </a:graphic>
      </p:graphicFrame>
      <p:sp>
        <p:nvSpPr>
          <p:cNvPr id="16" name="FitText">
            <a:extLst>
              <a:ext uri="{FF2B5EF4-FFF2-40B4-BE49-F238E27FC236}">
                <a16:creationId xmlns:a16="http://schemas.microsoft.com/office/drawing/2014/main" id="{E063649C-0BDF-E873-006D-F9A8FB60D501}"/>
              </a:ext>
            </a:extLst>
          </p:cNvPr>
          <p:cNvSpPr txBox="1"/>
          <p:nvPr/>
        </p:nvSpPr>
        <p:spPr>
          <a:xfrm>
            <a:off x="640080" y="4292727"/>
            <a:ext cx="10909300" cy="106984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WHERE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filtra linhas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antes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de agrupar;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HAVING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filtra grupos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depois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Tabela de médias G×E serve para exploração e estabilidade; para BLUP, use os dados de parcela.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39583912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2.10  SQL intermediário: CTE e funções de janela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1 · BLOCO 2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CodeBox">
            <a:extLst>
              <a:ext uri="{FF2B5EF4-FFF2-40B4-BE49-F238E27FC236}">
                <a16:creationId xmlns:a16="http://schemas.microsoft.com/office/drawing/2014/main" id="{24668A43-F66A-B47A-05BB-D7854408F7DE}"/>
              </a:ext>
            </a:extLst>
          </p:cNvPr>
          <p:cNvSpPr/>
          <p:nvPr/>
        </p:nvSpPr>
        <p:spPr>
          <a:xfrm>
            <a:off x="640080" y="1472311"/>
            <a:ext cx="10909300" cy="2590800"/>
          </a:xfrm>
          <a:prstGeom prst="roundRect">
            <a:avLst>
              <a:gd name="adj" fmla="val 3000"/>
            </a:avLst>
          </a:prstGeom>
          <a:solidFill>
            <a:srgbClr val="2E3A2F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27000" rIns="152400" bIns="127000" rtlCol="0" anchor="t"/>
          <a:lstStyle/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WITH medias AS (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  SELECT ambiente_id, germoplasma_id, AVG(prod) AS media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  FROM v_prod_parcela GROUP BY ambiente_id, germoplasma_id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),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ordenado AS (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  SELECT *, RANK() OVER (PARTITION BY ambiente_id ORDER BY media DESC) AS posicao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  FROM medias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SELECT ambiente_id, posicao, germoplasma_id, ROUND(media, 0) AS media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FROM ordenado WHERE posicao &lt;= 3 ORDER BY ambiente_id, posicao;</a:t>
            </a:r>
          </a:p>
        </p:txBody>
      </p:sp>
      <p:sp>
        <p:nvSpPr>
          <p:cNvPr id="14" name="CodeBoxAccent">
            <a:extLst>
              <a:ext uri="{FF2B5EF4-FFF2-40B4-BE49-F238E27FC236}">
                <a16:creationId xmlns:a16="http://schemas.microsoft.com/office/drawing/2014/main" id="{5A1237D0-3C3D-F48F-0E40-8099EE4F7ED5}"/>
              </a:ext>
            </a:extLst>
          </p:cNvPr>
          <p:cNvSpPr/>
          <p:nvPr/>
        </p:nvSpPr>
        <p:spPr>
          <a:xfrm>
            <a:off x="640080" y="1472311"/>
            <a:ext cx="76200" cy="2590800"/>
          </a:xfrm>
          <a:prstGeom prst="rect">
            <a:avLst/>
          </a:prstGeom>
          <a:solidFill>
            <a:srgbClr val="F9A62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itText">
            <a:extLst>
              <a:ext uri="{FF2B5EF4-FFF2-40B4-BE49-F238E27FC236}">
                <a16:creationId xmlns:a16="http://schemas.microsoft.com/office/drawing/2014/main" id="{7FA45D52-58B0-5EA6-939B-3E1A6CB85100}"/>
              </a:ext>
            </a:extLst>
          </p:cNvPr>
          <p:cNvSpPr txBox="1"/>
          <p:nvPr/>
        </p:nvSpPr>
        <p:spPr>
          <a:xfrm>
            <a:off x="640080" y="4215511"/>
            <a:ext cx="10909300" cy="150266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WITH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dá nome a etapas intermediárias: a consulta fica legível como um script.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OVER (PARTITION BY …)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calcula por grupo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sem colapsar as linhas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: posição no ambiente, desvio da média do ensaio, z-escore por ambiente.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Resultado: as 3 melhores linhagens em cada um dos 6 ambientes (18 linhas).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11804308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2.11  Armadilhas que geram números errados sem erro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1 · BLOCO 2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graphicFrame>
        <p:nvGraphicFramePr>
          <p:cNvPr id="13" name="Fit796Table">
            <a:extLst>
              <a:ext uri="{FF2B5EF4-FFF2-40B4-BE49-F238E27FC236}">
                <a16:creationId xmlns:a16="http://schemas.microsoft.com/office/drawing/2014/main" id="{499E28DC-F2F1-AEBE-26CC-0C356F7F80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3050432"/>
              </p:ext>
            </p:extLst>
          </p:nvPr>
        </p:nvGraphicFramePr>
        <p:xfrm>
          <a:off x="640080" y="1053211"/>
          <a:ext cx="10909300" cy="28409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05400">
                  <a:extLst>
                    <a:ext uri="{9D8B030D-6E8A-4147-A177-3AD203B41FA5}">
                      <a16:colId xmlns:a16="http://schemas.microsoft.com/office/drawing/2014/main" val="1829274774"/>
                    </a:ext>
                  </a:extLst>
                </a:gridCol>
                <a:gridCol w="5803900">
                  <a:extLst>
                    <a:ext uri="{9D8B030D-6E8A-4147-A177-3AD203B41FA5}">
                      <a16:colId xmlns:a16="http://schemas.microsoft.com/office/drawing/2014/main" val="2878746535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Armadilha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No banco do curso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027179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COUNT(*) conta linhas; COUNT(valor) ignora NULL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4.800 linhas, 4.790 valores válidos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97231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Filtro da tabela da direita no WHERE desfaz o LEFT JOIN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2.400 linhas (WHERE) × 2.500 (ON)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29027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valor = NULL nunca é verdadeiro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use valor IS NULL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921442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Junção que multiplica linhas (chave não única)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conte linhas antes e depois de cada JOIN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624535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Média de médias ≠ média das parcelas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10.242 × 10.246 kg/ha aqui; em redes desbalanceadas, a diferença cresce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7790709"/>
                  </a:ext>
                </a:extLst>
              </a:tr>
            </a:tbl>
          </a:graphicData>
        </a:graphic>
      </p:graphicFrame>
      <p:sp>
        <p:nvSpPr>
          <p:cNvPr id="14" name="FitCallout">
            <a:extLst>
              <a:ext uri="{FF2B5EF4-FFF2-40B4-BE49-F238E27FC236}">
                <a16:creationId xmlns:a16="http://schemas.microsoft.com/office/drawing/2014/main" id="{0D75826E-EA9F-7548-C048-D04E8690EC81}"/>
              </a:ext>
            </a:extLst>
          </p:cNvPr>
          <p:cNvSpPr/>
          <p:nvPr/>
        </p:nvSpPr>
        <p:spPr>
          <a:xfrm>
            <a:off x="640080" y="4046601"/>
            <a:ext cx="10909300" cy="814832"/>
          </a:xfrm>
          <a:prstGeom prst="roundRect">
            <a:avLst>
              <a:gd name="adj" fmla="val 8000"/>
            </a:avLst>
          </a:prstGeom>
          <a:solidFill>
            <a:srgbClr val="D8E4D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01600" rIns="152400" bIns="101600" rtlCol="0" anchor="ctr"/>
          <a:lstStyle/>
          <a:p>
            <a:pPr>
              <a:lnSpc>
                <a:spcPct val="92000"/>
              </a:lnSpc>
            </a:pPr>
            <a:r>
              <a:rPr lang="pt-BR" sz="2000" b="1">
                <a:solidFill>
                  <a:srgbClr val="2E3A2F"/>
                </a:solidFill>
                <a:latin typeface="DejaVu Sans"/>
              </a:rPr>
              <a:t>Ao revisar SQL escrito por IA, pergunte: quantas linhas eu esperava? Quantas vieram?</a:t>
            </a:r>
            <a:endParaRPr lang="en-US" sz="2000" b="1">
              <a:solidFill>
                <a:srgbClr val="2E3A2F"/>
              </a:solidFill>
              <a:latin typeface="DejaVu Sans"/>
            </a:endParaRPr>
          </a:p>
        </p:txBody>
      </p:sp>
      <p:sp>
        <p:nvSpPr>
          <p:cNvPr id="15" name="FitCalloutBar">
            <a:extLst>
              <a:ext uri="{FF2B5EF4-FFF2-40B4-BE49-F238E27FC236}">
                <a16:creationId xmlns:a16="http://schemas.microsoft.com/office/drawing/2014/main" id="{6C3CB41A-32A6-FB1F-F8AD-C7FD3DCA86FF}"/>
              </a:ext>
            </a:extLst>
          </p:cNvPr>
          <p:cNvSpPr/>
          <p:nvPr/>
        </p:nvSpPr>
        <p:spPr>
          <a:xfrm>
            <a:off x="640080" y="4046601"/>
            <a:ext cx="63500" cy="814832"/>
          </a:xfrm>
          <a:prstGeom prst="rect">
            <a:avLst/>
          </a:prstGeom>
          <a:solidFill>
            <a:srgbClr val="B7472A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52670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2.12  SQL dentro do R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1 · BLOCO 2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CodeBox">
            <a:extLst>
              <a:ext uri="{FF2B5EF4-FFF2-40B4-BE49-F238E27FC236}">
                <a16:creationId xmlns:a16="http://schemas.microsoft.com/office/drawing/2014/main" id="{9F252AE6-F311-B5C6-7011-5A10AF50C090}"/>
              </a:ext>
            </a:extLst>
          </p:cNvPr>
          <p:cNvSpPr/>
          <p:nvPr/>
        </p:nvSpPr>
        <p:spPr>
          <a:xfrm>
            <a:off x="640080" y="1053211"/>
            <a:ext cx="10909300" cy="1676400"/>
          </a:xfrm>
          <a:prstGeom prst="roundRect">
            <a:avLst>
              <a:gd name="adj" fmla="val 3000"/>
            </a:avLst>
          </a:prstGeom>
          <a:solidFill>
            <a:srgbClr val="2E3A2F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27000" rIns="152400" bIns="127000" rtlCol="0" anchor="t"/>
          <a:lstStyle/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library(DBI)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con &lt;- dbConnect(duckdb::duckdb(), dbdir = "db/programa_milho.duckdb")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d &lt;- dbGetQuery(con, "SELECT * FROM v_prod_parcela WHERE prod IS NOT NULL ORDER BY parcela_id")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modelo &lt;- lme4::lmer(prod ~ ambiente_id + (1 | ambiente_id:bloco) + (1 | germoplasma_id) +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                     (1 | germoplasma_id:ambiente_id), data = d)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dbDisconnect(con, shutdown = TRUE)</a:t>
            </a:r>
          </a:p>
        </p:txBody>
      </p:sp>
      <p:sp>
        <p:nvSpPr>
          <p:cNvPr id="14" name="CodeBoxAccent">
            <a:extLst>
              <a:ext uri="{FF2B5EF4-FFF2-40B4-BE49-F238E27FC236}">
                <a16:creationId xmlns:a16="http://schemas.microsoft.com/office/drawing/2014/main" id="{D9348964-E01E-ACF4-CA02-ADEBA0348257}"/>
              </a:ext>
            </a:extLst>
          </p:cNvPr>
          <p:cNvSpPr/>
          <p:nvPr/>
        </p:nvSpPr>
        <p:spPr>
          <a:xfrm>
            <a:off x="640080" y="1053211"/>
            <a:ext cx="76200" cy="1676400"/>
          </a:xfrm>
          <a:prstGeom prst="rect">
            <a:avLst/>
          </a:prstGeom>
          <a:solidFill>
            <a:srgbClr val="F9A62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itText">
            <a:extLst>
              <a:ext uri="{FF2B5EF4-FFF2-40B4-BE49-F238E27FC236}">
                <a16:creationId xmlns:a16="http://schemas.microsoft.com/office/drawing/2014/main" id="{3BEF25F7-3FDB-CE1C-B692-ECB7135880EE}"/>
              </a:ext>
            </a:extLst>
          </p:cNvPr>
          <p:cNvSpPr txBox="1"/>
          <p:nvPr/>
        </p:nvSpPr>
        <p:spPr>
          <a:xfrm>
            <a:off x="640080" y="2882011"/>
            <a:ext cx="10909300" cy="135026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O banco filtra e junta; o R modela. Só o necessário vem para a memória.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ORDER BY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em toda consulta que alimenta sorteios (folds, amostras): sem ele, a ordem das linhas pode mudar entre sistemas e o resultado deixa de ser reproduzível.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33051196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2.13  E os dados genômicos?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1 · BLOCO 2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graphicFrame>
        <p:nvGraphicFramePr>
          <p:cNvPr id="13" name="Fit796Table">
            <a:extLst>
              <a:ext uri="{FF2B5EF4-FFF2-40B4-BE49-F238E27FC236}">
                <a16:creationId xmlns:a16="http://schemas.microsoft.com/office/drawing/2014/main" id="{C01352EF-61F5-E642-06D6-4855E999A8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9852353"/>
              </p:ext>
            </p:extLst>
          </p:nvPr>
        </p:nvGraphicFramePr>
        <p:xfrm>
          <a:off x="640080" y="1053211"/>
          <a:ext cx="10909300" cy="19734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1300">
                  <a:extLst>
                    <a:ext uri="{9D8B030D-6E8A-4147-A177-3AD203B41FA5}">
                      <a16:colId xmlns:a16="http://schemas.microsoft.com/office/drawing/2014/main" val="41081764"/>
                    </a:ext>
                  </a:extLst>
                </a:gridCol>
                <a:gridCol w="4013200">
                  <a:extLst>
                    <a:ext uri="{9D8B030D-6E8A-4147-A177-3AD203B41FA5}">
                      <a16:colId xmlns:a16="http://schemas.microsoft.com/office/drawing/2014/main" val="1801413546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3273937184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Dado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Onde guardar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Por quê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357939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Fenótipos, ensaios, pedigree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Banco relacional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Relações, integridade, consultas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206707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Matriz de marcadores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Arquivo próprio (VCF indexado, PLINK, HDF5, Parquet, RDS)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500 mil SNPs × 2 mil indivíduos = 10⁹ linhas em formato longo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51933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Imagens, LiDAR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Armazenamento de arquivos + tabela com caminho e metadados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Arquivos grandes, binários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917019"/>
                  </a:ext>
                </a:extLst>
              </a:tr>
            </a:tbl>
          </a:graphicData>
        </a:graphic>
      </p:graphicFrame>
      <p:sp>
        <p:nvSpPr>
          <p:cNvPr id="14" name="FitText">
            <a:extLst>
              <a:ext uri="{FF2B5EF4-FFF2-40B4-BE49-F238E27FC236}">
                <a16:creationId xmlns:a16="http://schemas.microsoft.com/office/drawing/2014/main" id="{3A3DC0D3-498E-A888-9C6F-13B058F00624}"/>
              </a:ext>
            </a:extLst>
          </p:cNvPr>
          <p:cNvSpPr txBox="1"/>
          <p:nvPr/>
        </p:nvSpPr>
        <p:spPr>
          <a:xfrm>
            <a:off x="640080" y="3179064"/>
            <a:ext cx="10909300" cy="135026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O banco guarda o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vínculo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(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amostra_genotipo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: germoplasma ↔ amostra ↔ arquivo), não a matriz.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O vínculo é exatamente onde ocorre a troca de amostras: ele também passa por QC (Bloco 3).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289361408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A7C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75360" y="2148840"/>
            <a:ext cx="10241280" cy="7694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BR" sz="4400" b="1" i="0" dirty="0">
                <a:solidFill>
                  <a:srgbClr val="FFFFFF"/>
                </a:solidFill>
                <a:latin typeface="DejaVu Serif"/>
              </a:rPr>
              <a:t>QA/QC: garantir e controlar a qualidade</a:t>
            </a:r>
            <a:endParaRPr sz="4400" b="1" i="0" dirty="0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05840" y="3703320"/>
            <a:ext cx="10241280" cy="45550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it-IT" sz="2200" b="0" i="0">
                <a:solidFill>
                  <a:srgbClr val="D8E4DA"/>
                </a:solidFill>
                <a:latin typeface="DejaVu Sans"/>
              </a:rPr>
              <a:t>BLOCO 3 · 30 min · SEÇÃO 1 · BLOCO 3</a:t>
            </a:r>
            <a:endParaRPr sz="2200" b="0" i="0">
              <a:solidFill>
                <a:srgbClr val="D8E4DA"/>
              </a:solidFill>
              <a:latin typeface="DejaVu San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005840" y="3584448"/>
            <a:ext cx="2011680" cy="50292"/>
          </a:xfrm>
          <a:prstGeom prst="rect">
            <a:avLst/>
          </a:prstGeom>
          <a:solidFill>
            <a:srgbClr val="F9A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6068677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3.1  QA e QC não são a mesma coisa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1 · BLOCO 3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graphicFrame>
        <p:nvGraphicFramePr>
          <p:cNvPr id="13" name="Fit796Table">
            <a:extLst>
              <a:ext uri="{FF2B5EF4-FFF2-40B4-BE49-F238E27FC236}">
                <a16:creationId xmlns:a16="http://schemas.microsoft.com/office/drawing/2014/main" id="{A322AA47-455E-6A94-AF7E-1E6F9BA65A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0553107"/>
              </p:ext>
            </p:extLst>
          </p:nvPr>
        </p:nvGraphicFramePr>
        <p:xfrm>
          <a:off x="640080" y="1053211"/>
          <a:ext cx="10909300" cy="2364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8100">
                  <a:extLst>
                    <a:ext uri="{9D8B030D-6E8A-4147-A177-3AD203B41FA5}">
                      <a16:colId xmlns:a16="http://schemas.microsoft.com/office/drawing/2014/main" val="2838413481"/>
                    </a:ext>
                  </a:extLst>
                </a:gridCol>
                <a:gridCol w="5054600">
                  <a:extLst>
                    <a:ext uri="{9D8B030D-6E8A-4147-A177-3AD203B41FA5}">
                      <a16:colId xmlns:a16="http://schemas.microsoft.com/office/drawing/2014/main" val="1278061143"/>
                    </a:ext>
                  </a:extLst>
                </a:gridCol>
                <a:gridCol w="4546600">
                  <a:extLst>
                    <a:ext uri="{9D8B030D-6E8A-4147-A177-3AD203B41FA5}">
                      <a16:colId xmlns:a16="http://schemas.microsoft.com/office/drawing/2014/main" val="3198932816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700" b="1" i="0">
                        <a:solidFill>
                          <a:srgbClr val="FFFFF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Garantia de qualidade (QA)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Controle de qualidade (QC)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887311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4A7C59"/>
                          </a:solidFill>
                          <a:latin typeface="DejaVu Sans"/>
                        </a:rPr>
                        <a:t>Objetivo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Evitar que o erro aconteça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Detectar e tratar o erro que aconteceu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367292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4A7C59"/>
                          </a:solidFill>
                          <a:latin typeface="DejaVu Sans"/>
                        </a:rPr>
                        <a:t>Quando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Antes e durante a coleta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Depois da coleta, antes da análise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519378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4A7C59"/>
                          </a:solidFill>
                          <a:latin typeface="DejaVu Sans"/>
                        </a:rPr>
                        <a:t>Natureza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Processo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Verificação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97617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4A7C59"/>
                          </a:solidFill>
                          <a:latin typeface="DejaVu Sans"/>
                        </a:rPr>
                        <a:t>Exemplos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IDs gerados pelo sistema, etiquetas com código de barras, coletor digital com intervalos válidos, calibração de balanças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Consultas de duplicatas e intervalos, resíduos studentizados, checagem de pedigree com marcadores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83805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4A7C59"/>
                          </a:solidFill>
                          <a:latin typeface="DejaVu Sans"/>
                        </a:rPr>
                        <a:t>Pergunta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"Como impedir?"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"O que passou?"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28945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49923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3.2  Dimensões da qualidade de dados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1 · BLOCO 3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graphicFrame>
        <p:nvGraphicFramePr>
          <p:cNvPr id="13" name="Fit796Table">
            <a:extLst>
              <a:ext uri="{FF2B5EF4-FFF2-40B4-BE49-F238E27FC236}">
                <a16:creationId xmlns:a16="http://schemas.microsoft.com/office/drawing/2014/main" id="{B68A8A1A-0ACB-07E2-B54C-E24F880A6A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6132777"/>
              </p:ext>
            </p:extLst>
          </p:nvPr>
        </p:nvGraphicFramePr>
        <p:xfrm>
          <a:off x="640080" y="1053211"/>
          <a:ext cx="10909300" cy="4423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>
                  <a:extLst>
                    <a:ext uri="{9D8B030D-6E8A-4147-A177-3AD203B41FA5}">
                      <a16:colId xmlns:a16="http://schemas.microsoft.com/office/drawing/2014/main" val="516639067"/>
                    </a:ext>
                  </a:extLst>
                </a:gridCol>
                <a:gridCol w="2768600">
                  <a:extLst>
                    <a:ext uri="{9D8B030D-6E8A-4147-A177-3AD203B41FA5}">
                      <a16:colId xmlns:a16="http://schemas.microsoft.com/office/drawing/2014/main" val="1540372876"/>
                    </a:ext>
                  </a:extLst>
                </a:gridCol>
                <a:gridCol w="2717800">
                  <a:extLst>
                    <a:ext uri="{9D8B030D-6E8A-4147-A177-3AD203B41FA5}">
                      <a16:colId xmlns:a16="http://schemas.microsoft.com/office/drawing/2014/main" val="3913457024"/>
                    </a:ext>
                  </a:extLst>
                </a:gridCol>
                <a:gridCol w="2908300">
                  <a:extLst>
                    <a:ext uri="{9D8B030D-6E8A-4147-A177-3AD203B41FA5}">
                      <a16:colId xmlns:a16="http://schemas.microsoft.com/office/drawing/2014/main" val="366009770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Dimensão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Pergunta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Exemplo no programa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Verificação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841710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Completude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Falta algo?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Parcela sem produtividade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Contagem de ausentes por ensaio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853093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Validade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Está no formato e intervalo?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PROD = 104.613 kg/ha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Intervalo do dicionário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493288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Unicidade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Está registrado uma vez?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Parcela digitada duas vezes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B7472A"/>
                          </a:solidFill>
                          <a:latin typeface="Consolas" panose="020B0609020204030204" pitchFamily="49" charset="0"/>
                        </a:rPr>
                        <a:t>GROUP BY … HAVING COUNT(*) &gt; 1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329188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Consistência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Concorda consigo mesmo?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DH24-0094 × DH24_0094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Padrão de ID (regex)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573282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Integridade referencial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As ligações existem?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Mãe FA_91 não cadastrada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B7472A"/>
                          </a:solidFill>
                          <a:latin typeface="Consolas" panose="020B0609020204030204" pitchFamily="49" charset="0"/>
                        </a:rPr>
                        <a:t>LEFT JOIN … IS NULL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851339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Acurácia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Corresponde à realidade?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Amostra de DNA trocada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Marcadores × pedigree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198818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Atualidade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Está na versão certa?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Análise com extração antiga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Data e versão da extração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3651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715800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3.3  QA na origem: prevenir é mais barato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Rife e Poland (2014), Crop Science 54(4) — Field Book; doi:10.2135/cropsci2013.08.0579.   ·   SEÇÃO 1 · BLOCO 3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4A668452-1A86-1806-EA7B-45F523DA1DDA}"/>
              </a:ext>
            </a:extLst>
          </p:cNvPr>
          <p:cNvSpPr txBox="1"/>
          <p:nvPr/>
        </p:nvSpPr>
        <p:spPr>
          <a:xfrm>
            <a:off x="640080" y="1053211"/>
            <a:ext cx="10909300" cy="364236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 b="1">
                <a:solidFill>
                  <a:srgbClr val="4A7C59"/>
                </a:solidFill>
                <a:latin typeface="DejaVu Sans"/>
              </a:rPr>
              <a:t>Identificadores gerados pelo sistema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, nunca digitados à mão; impressos em etiquetas com código de barras.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 b="1">
                <a:solidFill>
                  <a:srgbClr val="4A7C59"/>
                </a:solidFill>
                <a:latin typeface="DejaVu Sans"/>
              </a:rPr>
              <a:t>Coletores digitais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de campo (por exemplo, o Field Book, de código aberto) com lista de parcelas importada e intervalos válidos por variável.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 b="1">
                <a:solidFill>
                  <a:srgbClr val="4A7C59"/>
                </a:solidFill>
                <a:latin typeface="DejaVu Sans"/>
              </a:rPr>
              <a:t>Dicionário de variáveis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definido antes da coleta: unidade, método, escala, momento, intervalo, código de ausente.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 b="1">
                <a:solidFill>
                  <a:srgbClr val="4A7C59"/>
                </a:solidFill>
                <a:latin typeface="DejaVu Sans"/>
              </a:rPr>
              <a:t>Calibração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de balanças e medidores de umidade, com registro.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 b="1">
                <a:solidFill>
                  <a:srgbClr val="4A7C59"/>
                </a:solidFill>
                <a:latin typeface="DejaVu Sans"/>
              </a:rPr>
              <a:t>Croqui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e plano de ensaio exportados do sistema, não redesenhados à mão.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 b="1">
                <a:solidFill>
                  <a:srgbClr val="4A7C59"/>
                </a:solidFill>
                <a:latin typeface="DejaVu Sans"/>
              </a:rPr>
              <a:t>Dupla checagem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de lotes críticos (cadastro de cruzamentos, envio de amostras ao laboratório).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18633113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3.4  QC estrutural com SQL: resultados no banco do curso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1 · BLOCO 3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graphicFrame>
        <p:nvGraphicFramePr>
          <p:cNvPr id="13" name="Fit796Table">
            <a:extLst>
              <a:ext uri="{FF2B5EF4-FFF2-40B4-BE49-F238E27FC236}">
                <a16:creationId xmlns:a16="http://schemas.microsoft.com/office/drawing/2014/main" id="{89BDAEB0-553A-AF30-E954-EB4379032A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3311894"/>
              </p:ext>
            </p:extLst>
          </p:nvPr>
        </p:nvGraphicFramePr>
        <p:xfrm>
          <a:off x="640080" y="1053211"/>
          <a:ext cx="10909300" cy="26788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2400">
                  <a:extLst>
                    <a:ext uri="{9D8B030D-6E8A-4147-A177-3AD203B41FA5}">
                      <a16:colId xmlns:a16="http://schemas.microsoft.com/office/drawing/2014/main" val="3796167604"/>
                    </a:ext>
                  </a:extLst>
                </a:gridCol>
                <a:gridCol w="4660900">
                  <a:extLst>
                    <a:ext uri="{9D8B030D-6E8A-4147-A177-3AD203B41FA5}">
                      <a16:colId xmlns:a16="http://schemas.microsoft.com/office/drawing/2014/main" val="2289288737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1525000589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Verificação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Consulta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Casos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889353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Parcela duplicada (mesma posição)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B7472A"/>
                          </a:solidFill>
                          <a:latin typeface="Consolas" panose="020B0609020204030204" pitchFamily="49" charset="0"/>
                        </a:rPr>
                        <a:t>GROUP BY ensaio, linha, coluna HAVING COUNT(*) &gt; 1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5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126720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Valor fora do intervalo (×10 e t/ha)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B7472A"/>
                          </a:solidFill>
                          <a:latin typeface="Consolas" panose="020B0609020204030204" pitchFamily="49" charset="0"/>
                        </a:rPr>
                        <a:t>WHERE PROD &lt; minimo OR PROD &gt; maximo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10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135636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ID fora do padrão DH&lt;ano&gt;_&lt;número&gt;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B7472A"/>
                          </a:solidFill>
                          <a:latin typeface="Consolas" panose="020B0609020204030204" pitchFamily="49" charset="0"/>
                        </a:rPr>
                        <a:t>NOT regexp_matches(nome, '^DH[0-9]{2}_[0-9]{4}$')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8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875704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Nome sem cadastro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B7472A"/>
                          </a:solidFill>
                          <a:latin typeface="Consolas" panose="020B0609020204030204" pitchFamily="49" charset="0"/>
                        </a:rPr>
                        <a:t>LEFT JOIN cadastro … IS NULL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8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13479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Genitor inexistente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B7472A"/>
                          </a:solidFill>
                          <a:latin typeface="Consolas" panose="020B0609020204030204" pitchFamily="49" charset="0"/>
                        </a:rPr>
                        <a:t>mae_id NOT IN (SELECT …)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3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178894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Linhagem em um só ambiente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B7472A"/>
                          </a:solidFill>
                          <a:latin typeface="Consolas" panose="020B0609020204030204" pitchFamily="49" charset="0"/>
                        </a:rPr>
                        <a:t>HAVING COUNT(DISTINCT ambiente) = 1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14 (6 reais)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8436295"/>
                  </a:ext>
                </a:extLst>
              </a:tr>
            </a:tbl>
          </a:graphicData>
        </a:graphic>
      </p:graphicFrame>
      <p:sp>
        <p:nvSpPr>
          <p:cNvPr id="14" name="FitText">
            <a:extLst>
              <a:ext uri="{FF2B5EF4-FFF2-40B4-BE49-F238E27FC236}">
                <a16:creationId xmlns:a16="http://schemas.microsoft.com/office/drawing/2014/main" id="{639A3235-A4BD-300D-003E-3503EE85E49D}"/>
              </a:ext>
            </a:extLst>
          </p:cNvPr>
          <p:cNvSpPr txBox="1"/>
          <p:nvPr/>
        </p:nvSpPr>
        <p:spPr>
          <a:xfrm>
            <a:off x="640080" y="4122801"/>
            <a:ext cx="10909300" cy="135026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Os 32 erros injetados no banco do curso foram todos encontrados (sensibilidade de 100%).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Um dos IDs fora do padrão tem um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espaço invisível no início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: só a regra o encontra; o olho, não.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11631457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3.5  A ordem do QC importa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1 · BLOCO 3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13E08F90-15E6-5BAE-2F3B-20AEA917ECF0}"/>
              </a:ext>
            </a:extLst>
          </p:cNvPr>
          <p:cNvSpPr txBox="1"/>
          <p:nvPr/>
        </p:nvSpPr>
        <p:spPr>
          <a:xfrm>
            <a:off x="640080" y="1053211"/>
            <a:ext cx="5308600" cy="247192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A consulta de conectividade encontrou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14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linhagens avaliadas em um único ambiente.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Apenas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6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eram reais. As outras 8 eram grafias divergentes (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dh25_0266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,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DH25-0287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,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DH24_0259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): cada grafia aparece como uma "linhagem" com uma só parcela.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  <p:sp>
        <p:nvSpPr>
          <p:cNvPr id="14" name="FitText">
            <a:extLst>
              <a:ext uri="{FF2B5EF4-FFF2-40B4-BE49-F238E27FC236}">
                <a16:creationId xmlns:a16="http://schemas.microsoft.com/office/drawing/2014/main" id="{07869421-40ED-C263-2363-FB6B2159467B}"/>
              </a:ext>
            </a:extLst>
          </p:cNvPr>
          <p:cNvSpPr txBox="1"/>
          <p:nvPr/>
        </p:nvSpPr>
        <p:spPr>
          <a:xfrm>
            <a:off x="6240780" y="1053210"/>
            <a:ext cx="5308600" cy="35661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92000"/>
              </a:lnSpc>
            </a:pPr>
            <a:r>
              <a:rPr lang="en-US" sz="2000" b="1">
                <a:solidFill>
                  <a:srgbClr val="4A7C59"/>
                </a:solidFill>
                <a:latin typeface="DejaVu Sans"/>
              </a:rPr>
              <a:t>Ordem recomendada</a:t>
            </a:r>
          </a:p>
        </p:txBody>
      </p:sp>
      <p:sp>
        <p:nvSpPr>
          <p:cNvPr id="15" name="FitText">
            <a:extLst>
              <a:ext uri="{FF2B5EF4-FFF2-40B4-BE49-F238E27FC236}">
                <a16:creationId xmlns:a16="http://schemas.microsoft.com/office/drawing/2014/main" id="{13862202-2DA0-E3D3-A625-101DDEA2D904}"/>
              </a:ext>
            </a:extLst>
          </p:cNvPr>
          <p:cNvSpPr txBox="1"/>
          <p:nvPr/>
        </p:nvSpPr>
        <p:spPr>
          <a:xfrm>
            <a:off x="6240780" y="1562226"/>
            <a:ext cx="5308600" cy="308152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Normalizar identificadores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Remover duplicatas físicas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Verificar chaves (cadastro, pedigree, vínculo genótipo)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Verificar intervalos e unidades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Avaliar conectividade e balanceamento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QC estatístico (resíduos, CV, h²)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5593396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3.6  QC estatístico: a qualidade de cada ensaio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1 · BLOCO 3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graphicFrame>
        <p:nvGraphicFramePr>
          <p:cNvPr id="13" name="Fit796Table">
            <a:extLst>
              <a:ext uri="{FF2B5EF4-FFF2-40B4-BE49-F238E27FC236}">
                <a16:creationId xmlns:a16="http://schemas.microsoft.com/office/drawing/2014/main" id="{984F2AEF-131B-6E32-377B-E3E3BF3599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060806"/>
              </p:ext>
            </p:extLst>
          </p:nvPr>
        </p:nvGraphicFramePr>
        <p:xfrm>
          <a:off x="640080" y="1053211"/>
          <a:ext cx="10909300" cy="22020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96631697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94668573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1643900726"/>
                    </a:ext>
                  </a:extLst>
                </a:gridCol>
                <a:gridCol w="1765300">
                  <a:extLst>
                    <a:ext uri="{9D8B030D-6E8A-4147-A177-3AD203B41FA5}">
                      <a16:colId xmlns:a16="http://schemas.microsoft.com/office/drawing/2014/main" val="2438118040"/>
                    </a:ext>
                  </a:extLst>
                </a:gridCol>
                <a:gridCol w="2489200">
                  <a:extLst>
                    <a:ext uri="{9D8B030D-6E8A-4147-A177-3AD203B41FA5}">
                      <a16:colId xmlns:a16="http://schemas.microsoft.com/office/drawing/2014/main" val="2411504084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Ensaio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Parcelas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Média (kg/ha)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CV (%)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h² de médias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284125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PGO 2024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791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10.194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5,9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0,40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596008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PGO 2025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807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10.381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4,9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0,46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907005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SLG 2024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792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8.398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7,0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0,46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520743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SLG 2025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802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9.205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5,4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0,51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348631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UDI 2024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790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11.123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8,1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0,29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589665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UDI 2025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808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12.152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5,2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0,42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901574"/>
                  </a:ext>
                </a:extLst>
              </a:tr>
            </a:tbl>
          </a:graphicData>
        </a:graphic>
      </p:graphicFrame>
      <p:sp>
        <p:nvSpPr>
          <p:cNvPr id="14" name="FitText">
            <a:extLst>
              <a:ext uri="{FF2B5EF4-FFF2-40B4-BE49-F238E27FC236}">
                <a16:creationId xmlns:a16="http://schemas.microsoft.com/office/drawing/2014/main" id="{89438C62-C4AA-8233-5D4D-37F48CF08025}"/>
              </a:ext>
            </a:extLst>
          </p:cNvPr>
          <p:cNvSpPr txBox="1"/>
          <p:nvPr/>
        </p:nvSpPr>
        <p:spPr>
          <a:xfrm>
            <a:off x="640080" y="3407664"/>
            <a:ext cx="10909300" cy="135026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Ensaios com CV alto ou h² baixa merecem investigação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antes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da análise conjunta (falha de estande, heterogeneidade espacial, erro de colheita).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Complementos: mapa de campo (linha × coluna) dos resíduos, consistência entre caracteres (produtividade × umidade × estande).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16876150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3.7  Outlier estatístico não é sinônimo de erro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1 · BLOCO 3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F3C00D93-039A-2F07-52F1-A8121E61B62E}"/>
              </a:ext>
            </a:extLst>
          </p:cNvPr>
          <p:cNvSpPr txBox="1"/>
          <p:nvPr/>
        </p:nvSpPr>
        <p:spPr>
          <a:xfrm>
            <a:off x="640080" y="1053211"/>
            <a:ext cx="5308600" cy="234391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Resíduo studentizado por ensaio (bloco + genótipo):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16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parcelas com |r| &gt; 3.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Esperado só por acaso, com 4.783 parcelas e erros normais: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~13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Regra |z| &gt; 3 em SQL, por ambiente: 18 parcelas.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  <p:sp>
        <p:nvSpPr>
          <p:cNvPr id="14" name="FitText">
            <a:extLst>
              <a:ext uri="{FF2B5EF4-FFF2-40B4-BE49-F238E27FC236}">
                <a16:creationId xmlns:a16="http://schemas.microsoft.com/office/drawing/2014/main" id="{1772F7F2-CB43-6595-65C1-A9156B6A6B7A}"/>
              </a:ext>
            </a:extLst>
          </p:cNvPr>
          <p:cNvSpPr txBox="1"/>
          <p:nvPr/>
        </p:nvSpPr>
        <p:spPr>
          <a:xfrm>
            <a:off x="6240780" y="1053210"/>
            <a:ext cx="5308600" cy="35661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92000"/>
              </a:lnSpc>
            </a:pPr>
            <a:r>
              <a:rPr lang="en-US" sz="2000" b="1">
                <a:solidFill>
                  <a:srgbClr val="4A7C59"/>
                </a:solidFill>
                <a:latin typeface="DejaVu Sans"/>
              </a:rPr>
              <a:t>Conduta</a:t>
            </a:r>
          </a:p>
        </p:txBody>
      </p:sp>
      <p:sp>
        <p:nvSpPr>
          <p:cNvPr id="15" name="FitText">
            <a:extLst>
              <a:ext uri="{FF2B5EF4-FFF2-40B4-BE49-F238E27FC236}">
                <a16:creationId xmlns:a16="http://schemas.microsoft.com/office/drawing/2014/main" id="{7CE1B24F-E861-9F6F-7B94-AF78E7655174}"/>
              </a:ext>
            </a:extLst>
          </p:cNvPr>
          <p:cNvSpPr txBox="1"/>
          <p:nvPr/>
        </p:nvSpPr>
        <p:spPr>
          <a:xfrm>
            <a:off x="6240780" y="1562226"/>
            <a:ext cx="5308600" cy="277672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Sinalizar no relatório, nunca excluir automaticamente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Investigar: caderno de campo, foto, croqui, observações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Excluir só com motivo registrado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Erros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estruturais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(×10, t/ha, duplicata) são corrigidos;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valores extremos plausíveis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ficam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  <p:sp>
        <p:nvSpPr>
          <p:cNvPr id="16" name="FitCallout">
            <a:extLst>
              <a:ext uri="{FF2B5EF4-FFF2-40B4-BE49-F238E27FC236}">
                <a16:creationId xmlns:a16="http://schemas.microsoft.com/office/drawing/2014/main" id="{41E3F3E1-BFD6-07AA-56E7-EA3307C164A9}"/>
              </a:ext>
            </a:extLst>
          </p:cNvPr>
          <p:cNvSpPr/>
          <p:nvPr/>
        </p:nvSpPr>
        <p:spPr>
          <a:xfrm>
            <a:off x="6240780" y="4491354"/>
            <a:ext cx="5308600" cy="1095248"/>
          </a:xfrm>
          <a:prstGeom prst="roundRect">
            <a:avLst>
              <a:gd name="adj" fmla="val 8000"/>
            </a:avLst>
          </a:prstGeom>
          <a:solidFill>
            <a:srgbClr val="D8E4D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01600" rIns="152400" bIns="101600" rtlCol="0" anchor="ctr"/>
          <a:lstStyle/>
          <a:p>
            <a:pPr>
              <a:lnSpc>
                <a:spcPct val="92000"/>
              </a:lnSpc>
            </a:pPr>
            <a:r>
              <a:rPr lang="pt-BR" sz="2000" b="1">
                <a:solidFill>
                  <a:srgbClr val="2E3A2F"/>
                </a:solidFill>
                <a:latin typeface="DejaVu Sans"/>
              </a:rPr>
              <a:t>Excluir todo |r| &gt; 3 remove variação real e infla a herdabilidade.</a:t>
            </a:r>
            <a:endParaRPr lang="en-US" sz="2000" b="1">
              <a:solidFill>
                <a:srgbClr val="2E3A2F"/>
              </a:solidFill>
              <a:latin typeface="DejaVu Sans"/>
            </a:endParaRPr>
          </a:p>
        </p:txBody>
      </p:sp>
      <p:sp>
        <p:nvSpPr>
          <p:cNvPr id="17" name="FitCalloutBar">
            <a:extLst>
              <a:ext uri="{FF2B5EF4-FFF2-40B4-BE49-F238E27FC236}">
                <a16:creationId xmlns:a16="http://schemas.microsoft.com/office/drawing/2014/main" id="{39E9441A-DE59-CBFF-9BE1-37594991A601}"/>
              </a:ext>
            </a:extLst>
          </p:cNvPr>
          <p:cNvSpPr/>
          <p:nvPr/>
        </p:nvSpPr>
        <p:spPr>
          <a:xfrm>
            <a:off x="6240780" y="4491354"/>
            <a:ext cx="63500" cy="1095248"/>
          </a:xfrm>
          <a:prstGeom prst="rect">
            <a:avLst/>
          </a:prstGeom>
          <a:solidFill>
            <a:srgbClr val="B7472A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814717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3.8  QC de genótipos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1 · BLOCO 3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graphicFrame>
        <p:nvGraphicFramePr>
          <p:cNvPr id="13" name="Fit796Table">
            <a:extLst>
              <a:ext uri="{FF2B5EF4-FFF2-40B4-BE49-F238E27FC236}">
                <a16:creationId xmlns:a16="http://schemas.microsoft.com/office/drawing/2014/main" id="{7FA98951-728B-3694-3765-CE35A9C37A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5666499"/>
              </p:ext>
            </p:extLst>
          </p:nvPr>
        </p:nvGraphicFramePr>
        <p:xfrm>
          <a:off x="640080" y="1053211"/>
          <a:ext cx="10909300" cy="307936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7400">
                  <a:extLst>
                    <a:ext uri="{9D8B030D-6E8A-4147-A177-3AD203B41FA5}">
                      <a16:colId xmlns:a16="http://schemas.microsoft.com/office/drawing/2014/main" val="3446869575"/>
                    </a:ext>
                  </a:extLst>
                </a:gridCol>
                <a:gridCol w="4025900">
                  <a:extLst>
                    <a:ext uri="{9D8B030D-6E8A-4147-A177-3AD203B41FA5}">
                      <a16:colId xmlns:a16="http://schemas.microsoft.com/office/drawing/2014/main" val="1687776492"/>
                    </a:ext>
                  </a:extLst>
                </a:gridCol>
                <a:gridCol w="3556000">
                  <a:extLst>
                    <a:ext uri="{9D8B030D-6E8A-4147-A177-3AD203B41FA5}">
                      <a16:colId xmlns:a16="http://schemas.microsoft.com/office/drawing/2014/main" val="294407760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Verificação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Problema que revela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No curso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80371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Call rate por marcador e por amostra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Marcador ou amostra de baixa qualidade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100% (dado simulado)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561829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Monomórficos e MAF baixa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Marcadores sem informação na população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384 monomórficos; 219 com MAF &lt; 0,05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719131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Heterozigosidade em linhagens DH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Contaminação, mistura de amostras, falha de duplicação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0 (máximo observado)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056514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Identidade entre indivíduos distintos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Duplicata ou troca de amostra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Máximo 0,95 (irmãos DH); nenhum par &gt; 0,99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079918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Pedigree × marcadores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Genitor errado no cadastro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DH só pode ter alelos da mãe ou do pai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6235819"/>
                  </a:ext>
                </a:extLst>
              </a:tr>
            </a:tbl>
          </a:graphicData>
        </a:graphic>
      </p:graphicFrame>
      <p:sp>
        <p:nvSpPr>
          <p:cNvPr id="14" name="FitText">
            <a:extLst>
              <a:ext uri="{FF2B5EF4-FFF2-40B4-BE49-F238E27FC236}">
                <a16:creationId xmlns:a16="http://schemas.microsoft.com/office/drawing/2014/main" id="{EEF26850-09B9-10FA-27B4-BFDA3062343F}"/>
              </a:ext>
            </a:extLst>
          </p:cNvPr>
          <p:cNvSpPr txBox="1"/>
          <p:nvPr/>
        </p:nvSpPr>
        <p:spPr>
          <a:xfrm>
            <a:off x="640080" y="4284979"/>
            <a:ext cx="10909300" cy="63703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92000"/>
              </a:lnSpc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Em dados reais, essa é a etapa que mais encontra trocas de amostras e erros de pedigree.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381133087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3.9  O que fazer com cada problema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1 · BLOCO 3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graphicFrame>
        <p:nvGraphicFramePr>
          <p:cNvPr id="13" name="Fit796Table">
            <a:extLst>
              <a:ext uri="{FF2B5EF4-FFF2-40B4-BE49-F238E27FC236}">
                <a16:creationId xmlns:a16="http://schemas.microsoft.com/office/drawing/2014/main" id="{0F6378E3-C282-DA8C-0E9A-92679A5534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4363865"/>
              </p:ext>
            </p:extLst>
          </p:nvPr>
        </p:nvGraphicFramePr>
        <p:xfrm>
          <a:off x="640080" y="1053211"/>
          <a:ext cx="10909300" cy="26788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99000">
                  <a:extLst>
                    <a:ext uri="{9D8B030D-6E8A-4147-A177-3AD203B41FA5}">
                      <a16:colId xmlns:a16="http://schemas.microsoft.com/office/drawing/2014/main" val="456205050"/>
                    </a:ext>
                  </a:extLst>
                </a:gridCol>
                <a:gridCol w="3479800">
                  <a:extLst>
                    <a:ext uri="{9D8B030D-6E8A-4147-A177-3AD203B41FA5}">
                      <a16:colId xmlns:a16="http://schemas.microsoft.com/office/drawing/2014/main" val="1893227200"/>
                    </a:ext>
                  </a:extLst>
                </a:gridCol>
                <a:gridCol w="2730500">
                  <a:extLst>
                    <a:ext uri="{9D8B030D-6E8A-4147-A177-3AD203B41FA5}">
                      <a16:colId xmlns:a16="http://schemas.microsoft.com/office/drawing/2014/main" val="1994131764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Situação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Ação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Registro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260566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Erro estrutural com correção conhecida (grafia de ID, unidade)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Corrigir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Registro de correções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120279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Duplicata idêntica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Manter uma ocorrência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Relatório de QC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509956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Duplicata com valores diferentes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Valor vira ausente até verificação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Relatório + pendência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706910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Valor impossível sem correção conhecida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Ausente (NA)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Registro com motivo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787955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Valor extremo plausível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Manter e sinalizar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Relatório de QC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446724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Genitor inexistente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Pedigree com NA; investigar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Pendência no cadastro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5873280"/>
                  </a:ext>
                </a:extLst>
              </a:tr>
            </a:tbl>
          </a:graphicData>
        </a:graphic>
      </p:graphicFrame>
      <p:sp>
        <p:nvSpPr>
          <p:cNvPr id="14" name="FitCallout">
            <a:extLst>
              <a:ext uri="{FF2B5EF4-FFF2-40B4-BE49-F238E27FC236}">
                <a16:creationId xmlns:a16="http://schemas.microsoft.com/office/drawing/2014/main" id="{E061C9F5-2E49-628A-CBA8-5FCBD436DF35}"/>
              </a:ext>
            </a:extLst>
          </p:cNvPr>
          <p:cNvSpPr/>
          <p:nvPr/>
        </p:nvSpPr>
        <p:spPr>
          <a:xfrm>
            <a:off x="640080" y="3884422"/>
            <a:ext cx="10909300" cy="534416"/>
          </a:xfrm>
          <a:prstGeom prst="roundRect">
            <a:avLst>
              <a:gd name="adj" fmla="val 8000"/>
            </a:avLst>
          </a:prstGeom>
          <a:solidFill>
            <a:srgbClr val="D8E4D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01600" rIns="152400" bIns="101600" rtlCol="0" anchor="ctr"/>
          <a:lstStyle/>
          <a:p>
            <a:pPr>
              <a:lnSpc>
                <a:spcPct val="92000"/>
              </a:lnSpc>
            </a:pPr>
            <a:r>
              <a:rPr lang="pt-BR" sz="2000" b="1">
                <a:solidFill>
                  <a:srgbClr val="2E3A2F"/>
                </a:solidFill>
                <a:latin typeface="DejaVu Sans"/>
              </a:rPr>
              <a:t>Nunca apague em silêncio. Cada decisão tem data, motivo e responsável.</a:t>
            </a:r>
            <a:endParaRPr lang="en-US" sz="2000" b="1">
              <a:solidFill>
                <a:srgbClr val="2E3A2F"/>
              </a:solidFill>
              <a:latin typeface="DejaVu Sans"/>
            </a:endParaRPr>
          </a:p>
        </p:txBody>
      </p:sp>
      <p:sp>
        <p:nvSpPr>
          <p:cNvPr id="15" name="FitCalloutBar">
            <a:extLst>
              <a:ext uri="{FF2B5EF4-FFF2-40B4-BE49-F238E27FC236}">
                <a16:creationId xmlns:a16="http://schemas.microsoft.com/office/drawing/2014/main" id="{D8BF72A5-C15F-206B-FD70-E117245698FB}"/>
              </a:ext>
            </a:extLst>
          </p:cNvPr>
          <p:cNvSpPr/>
          <p:nvPr/>
        </p:nvSpPr>
        <p:spPr>
          <a:xfrm>
            <a:off x="640080" y="3884422"/>
            <a:ext cx="63500" cy="534416"/>
          </a:xfrm>
          <a:prstGeom prst="rect">
            <a:avLst/>
          </a:prstGeom>
          <a:solidFill>
            <a:srgbClr val="B7472A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61185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3.10  Teste o seu QC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1 · BLOCO 3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50C8B710-D9F6-AA05-D7DF-40A1658418BF}"/>
              </a:ext>
            </a:extLst>
          </p:cNvPr>
          <p:cNvSpPr txBox="1"/>
          <p:nvPr/>
        </p:nvSpPr>
        <p:spPr>
          <a:xfrm>
            <a:off x="640080" y="1053211"/>
            <a:ext cx="10909300" cy="135026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Como saber se as regras de QC funcionam?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Injetando erros conhecidos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e medindo quantos foram encontrados.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O projeto do curso injeta 32 erros de 5 tipos na camada bruta e compara o relatório de QC com a lista injetada.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  <p:graphicFrame>
        <p:nvGraphicFramePr>
          <p:cNvPr id="14" name="Fit796Table">
            <a:extLst>
              <a:ext uri="{FF2B5EF4-FFF2-40B4-BE49-F238E27FC236}">
                <a16:creationId xmlns:a16="http://schemas.microsoft.com/office/drawing/2014/main" id="{CCBFDF5D-DBFA-9088-FC16-8484D46D4C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1844433"/>
              </p:ext>
            </p:extLst>
          </p:nvPr>
        </p:nvGraphicFramePr>
        <p:xfrm>
          <a:off x="640080" y="2555875"/>
          <a:ext cx="10909300" cy="18874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11700">
                  <a:extLst>
                    <a:ext uri="{9D8B030D-6E8A-4147-A177-3AD203B41FA5}">
                      <a16:colId xmlns:a16="http://schemas.microsoft.com/office/drawing/2014/main" val="718667337"/>
                    </a:ext>
                  </a:extLst>
                </a:gridCol>
                <a:gridCol w="2946400">
                  <a:extLst>
                    <a:ext uri="{9D8B030D-6E8A-4147-A177-3AD203B41FA5}">
                      <a16:colId xmlns:a16="http://schemas.microsoft.com/office/drawing/2014/main" val="3462455757"/>
                    </a:ext>
                  </a:extLst>
                </a:gridCol>
                <a:gridCol w="3251200">
                  <a:extLst>
                    <a:ext uri="{9D8B030D-6E8A-4147-A177-3AD203B41FA5}">
                      <a16:colId xmlns:a16="http://schemas.microsoft.com/office/drawing/2014/main" val="1132042314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Tipo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Injetados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Encontrados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820153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Grafia divergente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8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8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564553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Parcela duplicada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5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5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220343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Fora do intervalo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10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10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997033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Genitor inexistente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3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3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256847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Linhagem em um ambiente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6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6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1174824"/>
                  </a:ext>
                </a:extLst>
              </a:tr>
            </a:tbl>
          </a:graphicData>
        </a:graphic>
      </p:graphicFrame>
      <p:sp>
        <p:nvSpPr>
          <p:cNvPr id="15" name="FitText">
            <a:extLst>
              <a:ext uri="{FF2B5EF4-FFF2-40B4-BE49-F238E27FC236}">
                <a16:creationId xmlns:a16="http://schemas.microsoft.com/office/drawing/2014/main" id="{21282302-9565-8F72-9DE9-CF00BF1A8F02}"/>
              </a:ext>
            </a:extLst>
          </p:cNvPr>
          <p:cNvSpPr txBox="1"/>
          <p:nvPr/>
        </p:nvSpPr>
        <p:spPr>
          <a:xfrm>
            <a:off x="640080" y="4595748"/>
            <a:ext cx="10909300" cy="35661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92000"/>
              </a:lnSpc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O mesmo vale para QC escrito por IA: peça o script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e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o teste com erros injetados.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6592342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A7C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2377440"/>
            <a:ext cx="10241280" cy="7694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4400" b="1" i="0">
                <a:solidFill>
                  <a:srgbClr val="FFFFFF"/>
                </a:solidFill>
                <a:latin typeface="DejaVu Serif"/>
              </a:rPr>
              <a:t>Consistência e curadoria</a:t>
            </a:r>
            <a:endParaRPr sz="4400" b="1" i="0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05840" y="3703320"/>
            <a:ext cx="10241280" cy="45550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it-IT" sz="2200" b="0" i="0">
                <a:solidFill>
                  <a:srgbClr val="D8E4DA"/>
                </a:solidFill>
                <a:latin typeface="DejaVu Sans"/>
              </a:rPr>
              <a:t>BLOCO 4 · 15 min · SEÇÃO 1 · BLOCO 4</a:t>
            </a:r>
            <a:endParaRPr sz="2200" b="0" i="0">
              <a:solidFill>
                <a:srgbClr val="D8E4DA"/>
              </a:solidFill>
              <a:latin typeface="DejaVu San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005840" y="3584448"/>
            <a:ext cx="2011680" cy="50292"/>
          </a:xfrm>
          <a:prstGeom prst="rect">
            <a:avLst/>
          </a:prstGeom>
          <a:solidFill>
            <a:srgbClr val="F9A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370561182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4.1  Consistência: o mesmo dado com o mesmo significado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1 · BLOCO 4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graphicFrame>
        <p:nvGraphicFramePr>
          <p:cNvPr id="13" name="Fit796Table">
            <a:extLst>
              <a:ext uri="{FF2B5EF4-FFF2-40B4-BE49-F238E27FC236}">
                <a16:creationId xmlns:a16="http://schemas.microsoft.com/office/drawing/2014/main" id="{9690DA48-C136-DC4A-9750-4F84A249C0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6430786"/>
              </p:ext>
            </p:extLst>
          </p:nvPr>
        </p:nvGraphicFramePr>
        <p:xfrm>
          <a:off x="640080" y="1688211"/>
          <a:ext cx="10896600" cy="29171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>
                  <a:extLst>
                    <a:ext uri="{9D8B030D-6E8A-4147-A177-3AD203B41FA5}">
                      <a16:colId xmlns:a16="http://schemas.microsoft.com/office/drawing/2014/main" val="1641269273"/>
                    </a:ext>
                  </a:extLst>
                </a:gridCol>
                <a:gridCol w="4229100">
                  <a:extLst>
                    <a:ext uri="{9D8B030D-6E8A-4147-A177-3AD203B41FA5}">
                      <a16:colId xmlns:a16="http://schemas.microsoft.com/office/drawing/2014/main" val="3483144249"/>
                    </a:ext>
                  </a:extLst>
                </a:gridCol>
                <a:gridCol w="4229100">
                  <a:extLst>
                    <a:ext uri="{9D8B030D-6E8A-4147-A177-3AD203B41FA5}">
                      <a16:colId xmlns:a16="http://schemas.microsoft.com/office/drawing/2014/main" val="2295454120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 dirty="0">
                          <a:solidFill>
                            <a:srgbClr val="FFFFFF"/>
                          </a:solidFill>
                          <a:latin typeface="DejaVu Sans"/>
                        </a:rPr>
                        <a:t>Elemento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Inconsistente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Consistente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015788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Identificador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DH24-12, dh24_0012, DH24_0012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DH24_0012 (padrão validável)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806511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Unidade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kg/parcela, kg/ha, t/ha na mesma coluna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uma unidade por variável, no dicionário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18095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Ausente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0, -, ., vazio, NA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NA + coluna de motivo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805257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Data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03/11/26, 11-3-2026, "nov/26"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2026-11-03 (ISO 8601)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068891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Variável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"Prod", "produtividade", "rend"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um código: PROD, com método e escala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686718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Local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"Uberlandia", "Uberlândia", "UDI"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 dirty="0">
                          <a:solidFill>
                            <a:srgbClr val="2E3A2F"/>
                          </a:solidFill>
                          <a:latin typeface="DejaVu Sans"/>
                        </a:rPr>
                        <a:t>tabela de ambientes com código único</a:t>
                      </a:r>
                      <a:endParaRPr lang="en-US" sz="1700" b="0" i="0" dirty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91052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6258776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4.2  Identificadores bem projetados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1 · BLOCO 4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DA5DEAFA-5762-ABCE-E1A4-84583A48A983}"/>
              </a:ext>
            </a:extLst>
          </p:cNvPr>
          <p:cNvSpPr txBox="1"/>
          <p:nvPr/>
        </p:nvSpPr>
        <p:spPr>
          <a:xfrm>
            <a:off x="640080" y="1053211"/>
            <a:ext cx="10909300" cy="292912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 b="1">
                <a:solidFill>
                  <a:srgbClr val="4A7C59"/>
                </a:solidFill>
                <a:latin typeface="DejaVu Sans"/>
              </a:rPr>
              <a:t>Gerados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pelo sistema, nunca digitados.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 b="1">
                <a:solidFill>
                  <a:srgbClr val="4A7C59"/>
                </a:solidFill>
                <a:latin typeface="DejaVu Sans"/>
              </a:rPr>
              <a:t>Únicos e permanentes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: nunca reutilizados, nunca renomeados.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 b="1">
                <a:solidFill>
                  <a:srgbClr val="4A7C59"/>
                </a:solidFill>
                <a:latin typeface="DejaVu Sans"/>
              </a:rPr>
              <a:t>Sem significado que possa mudar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: o local ou o status não entram no ID; ficam em colunas.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 b="1">
                <a:solidFill>
                  <a:srgbClr val="4A7C59"/>
                </a:solidFill>
                <a:latin typeface="DejaVu Sans"/>
              </a:rPr>
              <a:t>Validáveis por regra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: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^DH[0-9]{2}_[0-9]{4}$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detecta qualquer desvio, inclusive espaços invisíveis.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 b="1">
                <a:solidFill>
                  <a:srgbClr val="4A7C59"/>
                </a:solidFill>
                <a:latin typeface="DejaVu Sans"/>
              </a:rPr>
              <a:t>Um ID por entidade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: germoplasma, parcela, amostra de DNA e ensaio têm identificadores distintos, ligados por tabelas.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182043469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4.3  Dicionário de variáveis e ontologias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1 · BLOCO 4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graphicFrame>
        <p:nvGraphicFramePr>
          <p:cNvPr id="13" name="Fit796Table">
            <a:extLst>
              <a:ext uri="{FF2B5EF4-FFF2-40B4-BE49-F238E27FC236}">
                <a16:creationId xmlns:a16="http://schemas.microsoft.com/office/drawing/2014/main" id="{83325027-0C74-6497-64A2-0281145223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6142116"/>
              </p:ext>
            </p:extLst>
          </p:nvPr>
        </p:nvGraphicFramePr>
        <p:xfrm>
          <a:off x="640080" y="1053211"/>
          <a:ext cx="10909300" cy="27550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8400">
                  <a:extLst>
                    <a:ext uri="{9D8B030D-6E8A-4147-A177-3AD203B41FA5}">
                      <a16:colId xmlns:a16="http://schemas.microsoft.com/office/drawing/2014/main" val="4210160408"/>
                    </a:ext>
                  </a:extLst>
                </a:gridCol>
                <a:gridCol w="7200900">
                  <a:extLst>
                    <a:ext uri="{9D8B030D-6E8A-4147-A177-3AD203B41FA5}">
                      <a16:colId xmlns:a16="http://schemas.microsoft.com/office/drawing/2014/main" val="127818773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Campo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Exemplo (PROD)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717012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Código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PROD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46793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Descrição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Produtividade de grãos corrigida a 13% de umidade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219540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Unidade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kg/ha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855724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Método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Pesagem da parcela inteira; correção pela umidade medida na colheita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735544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Escala e intervalo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Contínua; 2.000 a 20.000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40585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Momento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Colheita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87736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Código de ausente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NA, com motivo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6520589"/>
                  </a:ext>
                </a:extLst>
              </a:tr>
            </a:tbl>
          </a:graphicData>
        </a:graphic>
      </p:graphicFrame>
      <p:sp>
        <p:nvSpPr>
          <p:cNvPr id="14" name="FitText">
            <a:extLst>
              <a:ext uri="{FF2B5EF4-FFF2-40B4-BE49-F238E27FC236}">
                <a16:creationId xmlns:a16="http://schemas.microsoft.com/office/drawing/2014/main" id="{79CF6DA9-E7C1-B665-204B-867FEA1F7206}"/>
              </a:ext>
            </a:extLst>
          </p:cNvPr>
          <p:cNvSpPr txBox="1"/>
          <p:nvPr/>
        </p:nvSpPr>
        <p:spPr>
          <a:xfrm>
            <a:off x="640080" y="3960622"/>
            <a:ext cx="10909300" cy="135026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A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Crop Ontology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padroniza variáveis como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caráter + método + escala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: duas instituições medindo "produtividade" de formas diferentes têm variáveis diferentes.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O dicionário é lido pelas pessoas, pelos scripts de QC e pelo agente de IA.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245432730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4.4  Curadoria: um processo contínuo, com registro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1 · BLOCO 4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239D714E-4A9E-49F4-4C6F-02F3D595C8A3}"/>
              </a:ext>
            </a:extLst>
          </p:cNvPr>
          <p:cNvSpPr txBox="1"/>
          <p:nvPr/>
        </p:nvSpPr>
        <p:spPr>
          <a:xfrm>
            <a:off x="640080" y="1592960"/>
            <a:ext cx="10909300" cy="63703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92000"/>
              </a:lnSpc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O dado bruto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nunca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é editado. Correções são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dados sobre dados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, guardados em uma tabela própria: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  <p:sp>
        <p:nvSpPr>
          <p:cNvPr id="14" name="CodeBox">
            <a:extLst>
              <a:ext uri="{FF2B5EF4-FFF2-40B4-BE49-F238E27FC236}">
                <a16:creationId xmlns:a16="http://schemas.microsoft.com/office/drawing/2014/main" id="{932B0731-8007-D7B0-FA6A-08AF1B041478}"/>
              </a:ext>
            </a:extLst>
          </p:cNvPr>
          <p:cNvSpPr/>
          <p:nvPr/>
        </p:nvSpPr>
        <p:spPr>
          <a:xfrm>
            <a:off x="640080" y="2382392"/>
            <a:ext cx="10909300" cy="807720"/>
          </a:xfrm>
          <a:prstGeom prst="roundRect">
            <a:avLst>
              <a:gd name="adj" fmla="val 3000"/>
            </a:avLst>
          </a:prstGeom>
          <a:solidFill>
            <a:srgbClr val="2E3A2F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27000" rIns="152400" bIns="127000" rtlCol="0" anchor="t"/>
          <a:lstStyle/>
          <a:p>
            <a:r>
              <a:rPr lang="pt-BR" sz="1100">
                <a:solidFill>
                  <a:srgbClr val="F5F3ED"/>
                </a:solidFill>
                <a:latin typeface="Consolas" panose="020B0609020204030204" pitchFamily="49" charset="0"/>
              </a:rPr>
              <a:t>data,tabela,chave,campo,valor_antigo,valor_novo,motivo,responsavel</a:t>
            </a:r>
          </a:p>
          <a:p>
            <a:r>
              <a:rPr lang="pt-BR" sz="1100">
                <a:solidFill>
                  <a:srgbClr val="F5F3ED"/>
                </a:solidFill>
                <a:latin typeface="Consolas" panose="020B0609020204030204" pitchFamily="49" charset="0"/>
              </a:rPr>
              <a:t>2026-03-20,bruto_parcelas,P_PGO_2025_V_0113,PROD,104613,10461.3,dígito extra na digitação (conferido no caderno de campo),A. Souza</a:t>
            </a:r>
          </a:p>
          <a:p>
            <a:r>
              <a:rPr lang="pt-BR" sz="1100">
                <a:solidFill>
                  <a:srgbClr val="F5F3ED"/>
                </a:solidFill>
                <a:latin typeface="Consolas" panose="020B0609020204030204" pitchFamily="49" charset="0"/>
              </a:rPr>
              <a:t>2026-03-20,bruto_parcelas,P_PGO_2025_V_0436,germoplasma_nome,dh25_0266,DH25_0266,padronização de ID,A. Souza</a:t>
            </a:r>
            <a:endParaRPr lang="en-US" sz="1100">
              <a:solidFill>
                <a:srgbClr val="F5F3ED"/>
              </a:solidFill>
              <a:latin typeface="Consolas" panose="020B0609020204030204" pitchFamily="49" charset="0"/>
            </a:endParaRPr>
          </a:p>
        </p:txBody>
      </p:sp>
      <p:sp>
        <p:nvSpPr>
          <p:cNvPr id="15" name="CodeBoxAccent">
            <a:extLst>
              <a:ext uri="{FF2B5EF4-FFF2-40B4-BE49-F238E27FC236}">
                <a16:creationId xmlns:a16="http://schemas.microsoft.com/office/drawing/2014/main" id="{6FE0513F-7082-AEE1-9BB5-4A41CEC3CA41}"/>
              </a:ext>
            </a:extLst>
          </p:cNvPr>
          <p:cNvSpPr/>
          <p:nvPr/>
        </p:nvSpPr>
        <p:spPr>
          <a:xfrm>
            <a:off x="640080" y="2382392"/>
            <a:ext cx="76200" cy="807720"/>
          </a:xfrm>
          <a:prstGeom prst="rect">
            <a:avLst/>
          </a:prstGeom>
          <a:solidFill>
            <a:srgbClr val="F9A62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itText">
            <a:extLst>
              <a:ext uri="{FF2B5EF4-FFF2-40B4-BE49-F238E27FC236}">
                <a16:creationId xmlns:a16="http://schemas.microsoft.com/office/drawing/2014/main" id="{4E54A616-D7DC-EAF3-1083-D5987FDA56C8}"/>
              </a:ext>
            </a:extLst>
          </p:cNvPr>
          <p:cNvSpPr txBox="1"/>
          <p:nvPr/>
        </p:nvSpPr>
        <p:spPr>
          <a:xfrm>
            <a:off x="640080" y="3342512"/>
            <a:ext cx="10909300" cy="135026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Um script aplica o registro e reconstrói a camada curada: qualquer pessoa refaz o caminho do bruto ao curado.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Papel do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curador de dados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: dono das regras, das correções e do dicionário; ponto de contato entre campo, laboratório e análise.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301108104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4.5  Proveniência, versão e FAIR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Wilkinson et al. (2016), Scientific Data 3: 160018.   ·   SEÇÃO 1 · BLOCO 4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AE85D414-2EFD-6E4C-442B-DAB9FD7D103D}"/>
              </a:ext>
            </a:extLst>
          </p:cNvPr>
          <p:cNvSpPr txBox="1"/>
          <p:nvPr/>
        </p:nvSpPr>
        <p:spPr>
          <a:xfrm>
            <a:off x="640080" y="1053211"/>
            <a:ext cx="10909300" cy="106984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Toda análise registra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de onde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vieram os dados: data da extração, versão do banco ou hash do arquivo, consulta usada.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Princípios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FAIR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: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  <p:graphicFrame>
        <p:nvGraphicFramePr>
          <p:cNvPr id="14" name="Fit796Table">
            <a:extLst>
              <a:ext uri="{FF2B5EF4-FFF2-40B4-BE49-F238E27FC236}">
                <a16:creationId xmlns:a16="http://schemas.microsoft.com/office/drawing/2014/main" id="{601CAD1E-5C77-ED24-4406-8BD67600A3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6610214"/>
              </p:ext>
            </p:extLst>
          </p:nvPr>
        </p:nvGraphicFramePr>
        <p:xfrm>
          <a:off x="640080" y="2275459"/>
          <a:ext cx="10909300" cy="18112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1300">
                  <a:extLst>
                    <a:ext uri="{9D8B030D-6E8A-4147-A177-3AD203B41FA5}">
                      <a16:colId xmlns:a16="http://schemas.microsoft.com/office/drawing/2014/main" val="3910767097"/>
                    </a:ext>
                  </a:extLst>
                </a:gridCol>
                <a:gridCol w="2781300">
                  <a:extLst>
                    <a:ext uri="{9D8B030D-6E8A-4147-A177-3AD203B41FA5}">
                      <a16:colId xmlns:a16="http://schemas.microsoft.com/office/drawing/2014/main" val="1911571393"/>
                    </a:ext>
                  </a:extLst>
                </a:gridCol>
                <a:gridCol w="5346700">
                  <a:extLst>
                    <a:ext uri="{9D8B030D-6E8A-4147-A177-3AD203B41FA5}">
                      <a16:colId xmlns:a16="http://schemas.microsoft.com/office/drawing/2014/main" val="1404137491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700" b="1" i="0">
                        <a:solidFill>
                          <a:srgbClr val="FFFFF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Significado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No programa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053239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4A7C59"/>
                          </a:solidFill>
                          <a:latin typeface="DejaVu Sans"/>
                        </a:rPr>
                        <a:t>Findable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Encontrável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IDs persistentes; metadados de cada ensaio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855559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4A7C59"/>
                          </a:solidFill>
                          <a:latin typeface="DejaVu Sans"/>
                        </a:rPr>
                        <a:t>Accessible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Acessível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Repositório institucional com controle de acesso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476025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4A7C59"/>
                          </a:solidFill>
                          <a:latin typeface="DejaVu Sans"/>
                        </a:rPr>
                        <a:t>Interoperable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Interoperável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Crop Ontology, BrAPI, formatos abertos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896185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4A7C59"/>
                          </a:solidFill>
                          <a:latin typeface="DejaVu Sans"/>
                        </a:rPr>
                        <a:t>Reusable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Reutilizável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Dicionário, licença, proveniência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5516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55127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4.6  Doze regras para planilhas (Broman e Woo, 2018)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Broman e Woo (2018), The American Statistician 72: 2–10.   ·   SEÇÃO 1 · BLOCO 4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C032F987-80C8-410C-9B58-B9D724167CAF}"/>
              </a:ext>
            </a:extLst>
          </p:cNvPr>
          <p:cNvSpPr txBox="1"/>
          <p:nvPr/>
        </p:nvSpPr>
        <p:spPr>
          <a:xfrm>
            <a:off x="640080" y="1548511"/>
            <a:ext cx="5308600" cy="252069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Seja consistente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Escolha bons nomes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Datas no formato AAAA-MM-DD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Nenhuma célula vazia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Uma informação por célula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Dados em retângulo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  <p:sp>
        <p:nvSpPr>
          <p:cNvPr id="14" name="FitText">
            <a:extLst>
              <a:ext uri="{FF2B5EF4-FFF2-40B4-BE49-F238E27FC236}">
                <a16:creationId xmlns:a16="http://schemas.microsoft.com/office/drawing/2014/main" id="{68FAE380-AE7E-FB33-989F-A9CE6887F7F4}"/>
              </a:ext>
            </a:extLst>
          </p:cNvPr>
          <p:cNvSpPr txBox="1"/>
          <p:nvPr/>
        </p:nvSpPr>
        <p:spPr>
          <a:xfrm>
            <a:off x="6240780" y="1548511"/>
            <a:ext cx="5308600" cy="252069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Crie um dicionário de dados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Nenhum cálculo nos dados brutos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Cor e destaque não são dados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Faça cópias de segurança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Use validação de dados na entrada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Salve os dados em texto (CSV)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280770354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A7C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97890" y="2188190"/>
            <a:ext cx="10241280" cy="14465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BR" sz="4400" b="1" i="0" dirty="0">
                <a:solidFill>
                  <a:srgbClr val="FFFFFF"/>
                </a:solidFill>
                <a:latin typeface="DejaVu Serif"/>
              </a:rPr>
              <a:t>A pasta de análise como projeto do Claude </a:t>
            </a:r>
            <a:r>
              <a:rPr lang="pt-BR" sz="4400" b="1" i="0" dirty="0" err="1">
                <a:solidFill>
                  <a:srgbClr val="FFFFFF"/>
                </a:solidFill>
                <a:latin typeface="DejaVu Serif"/>
              </a:rPr>
              <a:t>Code</a:t>
            </a:r>
            <a:endParaRPr sz="4400" b="1" i="0" dirty="0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05840" y="3703320"/>
            <a:ext cx="10241280" cy="45550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it-IT" sz="2200" b="0" i="0">
                <a:solidFill>
                  <a:srgbClr val="D8E4DA"/>
                </a:solidFill>
                <a:latin typeface="DejaVu Sans"/>
              </a:rPr>
              <a:t>BLOCO 5 · 20 min · SEÇÃO 1 · BLOCO 5</a:t>
            </a:r>
            <a:endParaRPr sz="2200" b="0" i="0">
              <a:solidFill>
                <a:srgbClr val="D8E4DA"/>
              </a:solidFill>
              <a:latin typeface="DejaVu San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005840" y="3584448"/>
            <a:ext cx="2011680" cy="50292"/>
          </a:xfrm>
          <a:prstGeom prst="rect">
            <a:avLst/>
          </a:prstGeom>
          <a:solidFill>
            <a:srgbClr val="F9A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15859554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5.1  O problema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1 · BLOCO 5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CodeBox">
            <a:extLst>
              <a:ext uri="{FF2B5EF4-FFF2-40B4-BE49-F238E27FC236}">
                <a16:creationId xmlns:a16="http://schemas.microsoft.com/office/drawing/2014/main" id="{0EEA7F4F-96E1-63BE-C135-6C1B17067E53}"/>
              </a:ext>
            </a:extLst>
          </p:cNvPr>
          <p:cNvSpPr/>
          <p:nvPr/>
        </p:nvSpPr>
        <p:spPr>
          <a:xfrm>
            <a:off x="640080" y="1053211"/>
            <a:ext cx="10909300" cy="1905000"/>
          </a:xfrm>
          <a:prstGeom prst="roundRect">
            <a:avLst>
              <a:gd name="adj" fmla="val 3000"/>
            </a:avLst>
          </a:prstGeom>
          <a:solidFill>
            <a:srgbClr val="2E3A2F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27000" rIns="152400" bIns="127000" rtlCol="0" anchor="t"/>
          <a:lstStyle/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Área de Trabalho/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├── analise_final.R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├── analise_final_v2_ESSA.R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├── dados ensaio milho (1).xlsx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├── dados ensaio milho corrigido.xlsx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├── Rplot01.png … Rplot37.png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└── Downloads/resultado_blup???.csv</a:t>
            </a:r>
          </a:p>
        </p:txBody>
      </p:sp>
      <p:sp>
        <p:nvSpPr>
          <p:cNvPr id="14" name="CodeBoxAccent">
            <a:extLst>
              <a:ext uri="{FF2B5EF4-FFF2-40B4-BE49-F238E27FC236}">
                <a16:creationId xmlns:a16="http://schemas.microsoft.com/office/drawing/2014/main" id="{E5792655-2E10-1E3C-DC79-58453F4D6277}"/>
              </a:ext>
            </a:extLst>
          </p:cNvPr>
          <p:cNvSpPr/>
          <p:nvPr/>
        </p:nvSpPr>
        <p:spPr>
          <a:xfrm>
            <a:off x="640080" y="1053211"/>
            <a:ext cx="76200" cy="1905000"/>
          </a:xfrm>
          <a:prstGeom prst="rect">
            <a:avLst/>
          </a:prstGeom>
          <a:solidFill>
            <a:srgbClr val="F9A62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itText">
            <a:extLst>
              <a:ext uri="{FF2B5EF4-FFF2-40B4-BE49-F238E27FC236}">
                <a16:creationId xmlns:a16="http://schemas.microsoft.com/office/drawing/2014/main" id="{C8ED5E55-0484-9244-CF6B-4AEC404EEFD1}"/>
              </a:ext>
            </a:extLst>
          </p:cNvPr>
          <p:cNvSpPr txBox="1"/>
          <p:nvPr/>
        </p:nvSpPr>
        <p:spPr>
          <a:xfrm>
            <a:off x="640080" y="3110611"/>
            <a:ext cx="10909300" cy="135026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Ninguém, nem o próprio autor depois de seis meses, sabe qual arquivo gerou qual resultado.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Um agente de IA aberto nesta pasta lê tudo isso como contexto: e escolhe sozinho em qual versão acreditar.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20356495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5.2  Princípios de uma boa pasta de projeto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Wilson et al. (2017), PLOS Computational Biology 13: e1005510 — Good enough practices in scientific computing.   ·   SEÇÃO 1 · BLOCO 5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E6862F8F-BD8F-81EF-EA58-8F35A6BC1A3F}"/>
              </a:ext>
            </a:extLst>
          </p:cNvPr>
          <p:cNvSpPr txBox="1"/>
          <p:nvPr/>
        </p:nvSpPr>
        <p:spPr>
          <a:xfrm>
            <a:off x="640080" y="1053211"/>
            <a:ext cx="10909300" cy="252069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 b="1">
                <a:solidFill>
                  <a:srgbClr val="4A7C59"/>
                </a:solidFill>
                <a:latin typeface="DejaVu Sans"/>
              </a:rPr>
              <a:t>Uma pasta por análise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, com tudo o que ela precisa.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 b="1">
                <a:solidFill>
                  <a:srgbClr val="4A7C59"/>
                </a:solidFill>
                <a:latin typeface="DejaVu Sans"/>
              </a:rPr>
              <a:t>Dado bruto somente leitura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, guardado exatamente como recebido.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 b="1">
                <a:solidFill>
                  <a:srgbClr val="4A7C59"/>
                </a:solidFill>
                <a:latin typeface="DejaVu Sans"/>
              </a:rPr>
              <a:t>Código separado de dados e de resultados.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 b="1">
                <a:solidFill>
                  <a:srgbClr val="4A7C59"/>
                </a:solidFill>
                <a:latin typeface="DejaVu Sans"/>
              </a:rPr>
              <a:t>Resultados regeneráveis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: apagar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output/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e rodar os scripts recria tudo.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 b="1">
                <a:solidFill>
                  <a:srgbClr val="4A7C59"/>
                </a:solidFill>
                <a:latin typeface="DejaVu Sans"/>
              </a:rPr>
              <a:t>Documentação na própria pasta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: README, dicionário, decisões.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 b="1">
                <a:solidFill>
                  <a:srgbClr val="4A7C59"/>
                </a:solidFill>
                <a:latin typeface="DejaVu Sans"/>
              </a:rPr>
              <a:t>Nomes de arquivos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que pessoas e máquinas entendem e que ordenam bem.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267726150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5.3  Estrutura recomendada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1 · BLOCO 5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CodeBox">
            <a:extLst>
              <a:ext uri="{FF2B5EF4-FFF2-40B4-BE49-F238E27FC236}">
                <a16:creationId xmlns:a16="http://schemas.microsoft.com/office/drawing/2014/main" id="{4489588A-1F37-E3D4-66FF-E2D6FD916956}"/>
              </a:ext>
            </a:extLst>
          </p:cNvPr>
          <p:cNvSpPr/>
          <p:nvPr/>
        </p:nvSpPr>
        <p:spPr>
          <a:xfrm>
            <a:off x="640080" y="1053211"/>
            <a:ext cx="10909300" cy="4191000"/>
          </a:xfrm>
          <a:prstGeom prst="roundRect">
            <a:avLst>
              <a:gd name="adj" fmla="val 3000"/>
            </a:avLst>
          </a:prstGeom>
          <a:solidFill>
            <a:srgbClr val="2E3A2F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27000" rIns="152400" bIns="127000" rtlCol="0" anchor="t"/>
          <a:lstStyle/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2026-11_vcu-milho-safra-2025/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├── README.md               </a:t>
            </a:r>
            <a:r>
              <a:rPr lang="en-US" sz="1500">
                <a:solidFill>
                  <a:srgbClr val="D8E4DA"/>
                </a:solidFill>
                <a:latin typeface="Consolas" panose="020B0609020204030204" pitchFamily="49" charset="0"/>
              </a:rPr>
              <a:t>pergunta, como reproduzir, origem dos dados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├── CLAUDE.md               </a:t>
            </a:r>
            <a:r>
              <a:rPr lang="en-US" sz="1500">
                <a:solidFill>
                  <a:srgbClr val="D8E4DA"/>
                </a:solidFill>
                <a:latin typeface="Consolas" panose="020B0609020204030204" pitchFamily="49" charset="0"/>
              </a:rPr>
              <a:t>contexto e regras para o agente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├── config/parametros.yaml  parâmetros da análise (nada fixo no código)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├── data/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│   </a:t>
            </a:r>
            <a:r>
              <a:rPr lang="en-US" sz="1500">
                <a:solidFill>
                  <a:srgbClr val="D8E4DA"/>
                </a:solidFill>
                <a:latin typeface="Consolas" panose="020B0609020204030204" pitchFamily="49" charset="0"/>
              </a:rPr>
              <a:t>├── bruto/              somente leitura + LEIA-ME.md com origem e data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│   </a:t>
            </a:r>
            <a:r>
              <a:rPr lang="en-US" sz="1500">
                <a:solidFill>
                  <a:srgbClr val="D8E4DA"/>
                </a:solidFill>
                <a:latin typeface="Consolas" panose="020B0609020204030204" pitchFamily="49" charset="0"/>
              </a:rPr>
              <a:t>├── intermediario/      gerado por 01_importar.R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│   </a:t>
            </a:r>
            <a:r>
              <a:rPr lang="en-US" sz="1500">
                <a:solidFill>
                  <a:srgbClr val="D8E4DA"/>
                </a:solidFill>
                <a:latin typeface="Consolas" panose="020B0609020204030204" pitchFamily="49" charset="0"/>
              </a:rPr>
              <a:t>└── processado/         gerado por 03_curar.R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├── docs/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│   </a:t>
            </a:r>
            <a:r>
              <a:rPr lang="en-US" sz="1500">
                <a:solidFill>
                  <a:srgbClr val="D8E4DA"/>
                </a:solidFill>
                <a:latin typeface="Consolas" panose="020B0609020204030204" pitchFamily="49" charset="0"/>
              </a:rPr>
              <a:t>├── dicionario_de_dados.csv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│   </a:t>
            </a:r>
            <a:r>
              <a:rPr lang="en-US" sz="1500">
                <a:solidFill>
                  <a:srgbClr val="D8E4DA"/>
                </a:solidFill>
                <a:latin typeface="Consolas" panose="020B0609020204030204" pitchFamily="49" charset="0"/>
              </a:rPr>
              <a:t>├── registro_de_correcoes.csv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│   </a:t>
            </a:r>
            <a:r>
              <a:rPr lang="en-US" sz="1500">
                <a:solidFill>
                  <a:srgbClr val="D8E4DA"/>
                </a:solidFill>
                <a:latin typeface="Consolas" panose="020B0609020204030204" pitchFamily="49" charset="0"/>
              </a:rPr>
              <a:t>└── decisoes.md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├── R/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│   </a:t>
            </a:r>
            <a:r>
              <a:rPr lang="en-US" sz="1500">
                <a:solidFill>
                  <a:srgbClr val="D8E4DA"/>
                </a:solidFill>
                <a:latin typeface="Consolas" panose="020B0609020204030204" pitchFamily="49" charset="0"/>
              </a:rPr>
              <a:t>├── 01_importar.R  02_qc.R  03_curar.R  04_analisar.R  05_figuras_tabelas.R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├── output/{figuras,tabelas,relatorios}/   </a:t>
            </a:r>
            <a:r>
              <a:rPr lang="en-US" sz="1500">
                <a:solidFill>
                  <a:srgbClr val="D8E4DA"/>
                </a:solidFill>
                <a:latin typeface="Consolas" panose="020B0609020204030204" pitchFamily="49" charset="0"/>
              </a:rPr>
              <a:t>tudo gerado por scripts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├── tests/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└── .claude/settings.json   </a:t>
            </a:r>
            <a:r>
              <a:rPr lang="en-US" sz="1500">
                <a:solidFill>
                  <a:srgbClr val="D8E4DA"/>
                </a:solidFill>
                <a:latin typeface="Consolas" panose="020B0609020204030204" pitchFamily="49" charset="0"/>
              </a:rPr>
              <a:t>permissões do agente</a:t>
            </a:r>
          </a:p>
        </p:txBody>
      </p:sp>
      <p:sp>
        <p:nvSpPr>
          <p:cNvPr id="14" name="CodeBoxAccent">
            <a:extLst>
              <a:ext uri="{FF2B5EF4-FFF2-40B4-BE49-F238E27FC236}">
                <a16:creationId xmlns:a16="http://schemas.microsoft.com/office/drawing/2014/main" id="{7D7B6432-249A-1C22-2666-9FE00923E51F}"/>
              </a:ext>
            </a:extLst>
          </p:cNvPr>
          <p:cNvSpPr/>
          <p:nvPr/>
        </p:nvSpPr>
        <p:spPr>
          <a:xfrm>
            <a:off x="640080" y="1053211"/>
            <a:ext cx="76200" cy="4191000"/>
          </a:xfrm>
          <a:prstGeom prst="rect">
            <a:avLst/>
          </a:prstGeom>
          <a:solidFill>
            <a:srgbClr val="F9A62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itText">
            <a:extLst>
              <a:ext uri="{FF2B5EF4-FFF2-40B4-BE49-F238E27FC236}">
                <a16:creationId xmlns:a16="http://schemas.microsoft.com/office/drawing/2014/main" id="{FF9088D3-969E-3682-D614-3DFB9D3A3B7D}"/>
              </a:ext>
            </a:extLst>
          </p:cNvPr>
          <p:cNvSpPr txBox="1"/>
          <p:nvPr/>
        </p:nvSpPr>
        <p:spPr>
          <a:xfrm>
            <a:off x="640080" y="5396610"/>
            <a:ext cx="10909300" cy="35661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92000"/>
              </a:lnSpc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Modelo pronto no repositório do curso: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modelos/projeto-analise/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189939917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5.4  Nomes de arquivos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1 · BLOCO 5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graphicFrame>
        <p:nvGraphicFramePr>
          <p:cNvPr id="13" name="Fit796Table">
            <a:extLst>
              <a:ext uri="{FF2B5EF4-FFF2-40B4-BE49-F238E27FC236}">
                <a16:creationId xmlns:a16="http://schemas.microsoft.com/office/drawing/2014/main" id="{AAD8AC93-904F-646A-3B5D-EB1B9C6FC2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8863698"/>
              </p:ext>
            </p:extLst>
          </p:nvPr>
        </p:nvGraphicFramePr>
        <p:xfrm>
          <a:off x="640080" y="1053211"/>
          <a:ext cx="10922000" cy="15728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3700">
                  <a:extLst>
                    <a:ext uri="{9D8B030D-6E8A-4147-A177-3AD203B41FA5}">
                      <a16:colId xmlns:a16="http://schemas.microsoft.com/office/drawing/2014/main" val="2431458538"/>
                    </a:ext>
                  </a:extLst>
                </a:gridCol>
                <a:gridCol w="4089400">
                  <a:extLst>
                    <a:ext uri="{9D8B030D-6E8A-4147-A177-3AD203B41FA5}">
                      <a16:colId xmlns:a16="http://schemas.microsoft.com/office/drawing/2014/main" val="55985209"/>
                    </a:ext>
                  </a:extLst>
                </a:gridCol>
                <a:gridCol w="3898900">
                  <a:extLst>
                    <a:ext uri="{9D8B030D-6E8A-4147-A177-3AD203B41FA5}">
                      <a16:colId xmlns:a16="http://schemas.microsoft.com/office/drawing/2014/main" val="506140391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Ruim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Bom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Por quê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535545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B7472A"/>
                          </a:solidFill>
                          <a:latin typeface="Consolas" panose="020B0609020204030204" pitchFamily="49" charset="0"/>
                        </a:rPr>
                        <a:t>analise final.R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B7472A"/>
                          </a:solidFill>
                          <a:latin typeface="Consolas" panose="020B0609020204030204" pitchFamily="49" charset="0"/>
                        </a:rPr>
                        <a:t>04_analisar.R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Número dá a ordem; sem espaços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273761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B7472A"/>
                          </a:solidFill>
                          <a:latin typeface="Consolas" panose="020B0609020204030204" pitchFamily="49" charset="0"/>
                        </a:rPr>
                        <a:t>dados nov.xlsx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B7472A"/>
                          </a:solidFill>
                          <a:latin typeface="Consolas" panose="020B0609020204030204" pitchFamily="49" charset="0"/>
                        </a:rPr>
                        <a:t>2026-11-03_vcu-milho_parcelas.csv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Data ISO ordena; texto aberto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019897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B7472A"/>
                          </a:solidFill>
                          <a:latin typeface="Consolas" panose="020B0609020204030204" pitchFamily="49" charset="0"/>
                        </a:rPr>
                        <a:t>grafico.png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B7472A"/>
                          </a:solidFill>
                          <a:latin typeface="Consolas" panose="020B0609020204030204" pitchFamily="49" charset="0"/>
                        </a:rPr>
                        <a:t>fig02_blup-por-ambiente.png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Diz o que é e onde entra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432498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B7472A"/>
                          </a:solidFill>
                          <a:latin typeface="Consolas" panose="020B0609020204030204" pitchFamily="49" charset="0"/>
                        </a:rPr>
                        <a:t>resultado (1).csv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B7472A"/>
                          </a:solidFill>
                          <a:latin typeface="Consolas" panose="020B0609020204030204" pitchFamily="49" charset="0"/>
                        </a:rPr>
                        <a:t>tab03_componentes-variancia.csv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Ligado à tabela do relatório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6114636"/>
                  </a:ext>
                </a:extLst>
              </a:tr>
            </a:tbl>
          </a:graphicData>
        </a:graphic>
      </p:graphicFrame>
      <p:sp>
        <p:nvSpPr>
          <p:cNvPr id="14" name="FitText">
            <a:extLst>
              <a:ext uri="{FF2B5EF4-FFF2-40B4-BE49-F238E27FC236}">
                <a16:creationId xmlns:a16="http://schemas.microsoft.com/office/drawing/2014/main" id="{B4AA576C-B5AF-927D-5B62-90D705846D88}"/>
              </a:ext>
            </a:extLst>
          </p:cNvPr>
          <p:cNvSpPr txBox="1"/>
          <p:nvPr/>
        </p:nvSpPr>
        <p:spPr>
          <a:xfrm>
            <a:off x="640080" y="2778505"/>
            <a:ext cx="10909300" cy="63703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92000"/>
              </a:lnSpc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Legível por máquina (sem espaços nem acentos), legível por pessoas (diz o conteúdo), ordenável (números com zeros à esquerda, datas AAAA-MM-DD).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18739508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5.5  Do bruto ao resultado: uma cadeia de scripts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1 · BLOCO 5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31" name="ProcessBox0">
            <a:extLst>
              <a:ext uri="{FF2B5EF4-FFF2-40B4-BE49-F238E27FC236}">
                <a16:creationId xmlns:a16="http://schemas.microsoft.com/office/drawing/2014/main" id="{3D932DD7-12FE-DB45-CDE6-BCFB123BDD08}"/>
              </a:ext>
            </a:extLst>
          </p:cNvPr>
          <p:cNvSpPr/>
          <p:nvPr/>
        </p:nvSpPr>
        <p:spPr>
          <a:xfrm>
            <a:off x="381000" y="1053211"/>
            <a:ext cx="2164080" cy="977837"/>
          </a:xfrm>
          <a:prstGeom prst="roundRect">
            <a:avLst>
              <a:gd name="adj" fmla="val 8000"/>
            </a:avLst>
          </a:prstGeom>
          <a:solidFill>
            <a:srgbClr val="4A7C59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101600" rIns="38100" bIns="101600" rtlCol="0" anchor="t"/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en-US" sz="1600" b="1">
                <a:solidFill>
                  <a:srgbClr val="FFFFFF"/>
                </a:solidFill>
                <a:latin typeface="DejaVu Sans"/>
              </a:rPr>
              <a:t>01_importar</a:t>
            </a:r>
          </a:p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en-US" sz="1600">
                <a:solidFill>
                  <a:srgbClr val="FFFFFF"/>
                </a:solidFill>
                <a:latin typeface="DejaVu Sans"/>
              </a:rPr>
              <a:t>bruto → intermediário</a:t>
            </a:r>
          </a:p>
        </p:txBody>
      </p:sp>
      <p:sp>
        <p:nvSpPr>
          <p:cNvPr id="32" name="ProcessBox1">
            <a:extLst>
              <a:ext uri="{FF2B5EF4-FFF2-40B4-BE49-F238E27FC236}">
                <a16:creationId xmlns:a16="http://schemas.microsoft.com/office/drawing/2014/main" id="{F82AB1DA-FEAB-FFCF-7B4A-ED6638306CEE}"/>
              </a:ext>
            </a:extLst>
          </p:cNvPr>
          <p:cNvSpPr/>
          <p:nvPr/>
        </p:nvSpPr>
        <p:spPr>
          <a:xfrm>
            <a:off x="2697480" y="1053212"/>
            <a:ext cx="2164080" cy="977837"/>
          </a:xfrm>
          <a:prstGeom prst="roundRect">
            <a:avLst>
              <a:gd name="adj" fmla="val 8000"/>
            </a:avLst>
          </a:prstGeom>
          <a:solidFill>
            <a:srgbClr val="D8E4D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101600" rIns="38100" bIns="101600" rtlCol="0" anchor="t"/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pt-BR" sz="1600" b="1">
                <a:solidFill>
                  <a:srgbClr val="2E3A2F"/>
                </a:solidFill>
                <a:latin typeface="DejaVu Sans"/>
              </a:rPr>
              <a:t>02_qc</a:t>
            </a:r>
          </a:p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pt-BR" sz="1600">
                <a:solidFill>
                  <a:srgbClr val="2E3A2F"/>
                </a:solidFill>
                <a:latin typeface="DejaVu Sans"/>
              </a:rPr>
              <a:t>relatório de QC</a:t>
            </a:r>
            <a:endParaRPr lang="en-US" sz="1600">
              <a:solidFill>
                <a:srgbClr val="2E3A2F"/>
              </a:solidFill>
              <a:latin typeface="DejaVu Sans"/>
            </a:endParaRPr>
          </a:p>
        </p:txBody>
      </p:sp>
      <p:sp>
        <p:nvSpPr>
          <p:cNvPr id="33" name="ProcessBox2">
            <a:extLst>
              <a:ext uri="{FF2B5EF4-FFF2-40B4-BE49-F238E27FC236}">
                <a16:creationId xmlns:a16="http://schemas.microsoft.com/office/drawing/2014/main" id="{4F579CB6-32EA-A5E7-E62D-861EA36F01FB}"/>
              </a:ext>
            </a:extLst>
          </p:cNvPr>
          <p:cNvSpPr/>
          <p:nvPr/>
        </p:nvSpPr>
        <p:spPr>
          <a:xfrm>
            <a:off x="5013960" y="1053211"/>
            <a:ext cx="2164079" cy="977837"/>
          </a:xfrm>
          <a:prstGeom prst="roundRect">
            <a:avLst>
              <a:gd name="adj" fmla="val 8000"/>
            </a:avLst>
          </a:prstGeom>
          <a:solidFill>
            <a:srgbClr val="F9A620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101600" rIns="38100" bIns="101600" rtlCol="0" anchor="t"/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pt-BR" sz="1600" b="1">
                <a:solidFill>
                  <a:srgbClr val="2E3A2F"/>
                </a:solidFill>
                <a:latin typeface="DejaVu Sans"/>
              </a:rPr>
              <a:t>03_curar</a:t>
            </a:r>
          </a:p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pt-BR" sz="1600">
                <a:solidFill>
                  <a:srgbClr val="2E3A2F"/>
                </a:solidFill>
                <a:latin typeface="DejaVu Sans"/>
              </a:rPr>
              <a:t>aplica correções registradas</a:t>
            </a:r>
            <a:endParaRPr lang="en-US" sz="1600">
              <a:solidFill>
                <a:srgbClr val="2E3A2F"/>
              </a:solidFill>
              <a:latin typeface="DejaVu Sans"/>
            </a:endParaRPr>
          </a:p>
        </p:txBody>
      </p:sp>
      <p:sp>
        <p:nvSpPr>
          <p:cNvPr id="34" name="ProcessBox3">
            <a:extLst>
              <a:ext uri="{FF2B5EF4-FFF2-40B4-BE49-F238E27FC236}">
                <a16:creationId xmlns:a16="http://schemas.microsoft.com/office/drawing/2014/main" id="{C2C12DE4-B083-CBB7-0C61-CB690A956792}"/>
              </a:ext>
            </a:extLst>
          </p:cNvPr>
          <p:cNvSpPr/>
          <p:nvPr/>
        </p:nvSpPr>
        <p:spPr>
          <a:xfrm>
            <a:off x="7330440" y="1053212"/>
            <a:ext cx="2164080" cy="977837"/>
          </a:xfrm>
          <a:prstGeom prst="roundRect">
            <a:avLst>
              <a:gd name="adj" fmla="val 8000"/>
            </a:avLst>
          </a:prstGeom>
          <a:solidFill>
            <a:srgbClr val="B7472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101600" rIns="38100" bIns="101600" rtlCol="0" anchor="t"/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en-US" sz="1600" b="1">
                <a:solidFill>
                  <a:srgbClr val="FFFFFF"/>
                </a:solidFill>
                <a:latin typeface="DejaVu Sans"/>
              </a:rPr>
              <a:t>04_analisar</a:t>
            </a:r>
          </a:p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en-US" sz="1600">
                <a:solidFill>
                  <a:srgbClr val="FFFFFF"/>
                </a:solidFill>
                <a:latin typeface="DejaVu Sans"/>
              </a:rPr>
              <a:t>modelos</a:t>
            </a:r>
          </a:p>
        </p:txBody>
      </p:sp>
      <p:sp>
        <p:nvSpPr>
          <p:cNvPr id="35" name="ProcessBox4">
            <a:extLst>
              <a:ext uri="{FF2B5EF4-FFF2-40B4-BE49-F238E27FC236}">
                <a16:creationId xmlns:a16="http://schemas.microsoft.com/office/drawing/2014/main" id="{E9CD3C0F-ADC0-0D61-64A8-C00C8B7C8D07}"/>
              </a:ext>
            </a:extLst>
          </p:cNvPr>
          <p:cNvSpPr/>
          <p:nvPr/>
        </p:nvSpPr>
        <p:spPr>
          <a:xfrm>
            <a:off x="9646920" y="1053212"/>
            <a:ext cx="2164080" cy="977837"/>
          </a:xfrm>
          <a:prstGeom prst="roundRect">
            <a:avLst>
              <a:gd name="adj" fmla="val 8000"/>
            </a:avLst>
          </a:prstGeom>
          <a:solidFill>
            <a:srgbClr val="4A7C59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101600" rIns="38100" bIns="101600" rtlCol="0" anchor="t"/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pt-BR" sz="1600" b="1">
                <a:solidFill>
                  <a:srgbClr val="FFFFFF"/>
                </a:solidFill>
                <a:latin typeface="DejaVu Sans"/>
              </a:rPr>
              <a:t>05_figuras</a:t>
            </a:r>
          </a:p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pt-BR" sz="1600">
                <a:solidFill>
                  <a:srgbClr val="FFFFFF"/>
                </a:solidFill>
                <a:latin typeface="DejaVu Sans"/>
              </a:rPr>
              <a:t>figuras e tabelas</a:t>
            </a:r>
            <a:endParaRPr lang="en-US" sz="1600">
              <a:solidFill>
                <a:srgbClr val="FFFFFF"/>
              </a:solidFill>
              <a:latin typeface="DejaVu Sans"/>
            </a:endParaRPr>
          </a:p>
        </p:txBody>
      </p:sp>
      <p:sp>
        <p:nvSpPr>
          <p:cNvPr id="36" name="ProcessArrow0">
            <a:extLst>
              <a:ext uri="{FF2B5EF4-FFF2-40B4-BE49-F238E27FC236}">
                <a16:creationId xmlns:a16="http://schemas.microsoft.com/office/drawing/2014/main" id="{7F2F1B51-D4B5-969D-9FDE-BAA7DB6AD6A8}"/>
              </a:ext>
            </a:extLst>
          </p:cNvPr>
          <p:cNvSpPr/>
          <p:nvPr/>
        </p:nvSpPr>
        <p:spPr>
          <a:xfrm>
            <a:off x="2583180" y="1453230"/>
            <a:ext cx="76200" cy="177800"/>
          </a:xfrm>
          <a:prstGeom prst="rightArrow">
            <a:avLst/>
          </a:prstGeom>
          <a:solidFill>
            <a:srgbClr val="F9A62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ProcessArrow1">
            <a:extLst>
              <a:ext uri="{FF2B5EF4-FFF2-40B4-BE49-F238E27FC236}">
                <a16:creationId xmlns:a16="http://schemas.microsoft.com/office/drawing/2014/main" id="{94380EA4-9C81-6E10-D55C-292C76670F28}"/>
              </a:ext>
            </a:extLst>
          </p:cNvPr>
          <p:cNvSpPr/>
          <p:nvPr/>
        </p:nvSpPr>
        <p:spPr>
          <a:xfrm>
            <a:off x="4899660" y="1453230"/>
            <a:ext cx="76200" cy="177800"/>
          </a:xfrm>
          <a:prstGeom prst="rightArrow">
            <a:avLst/>
          </a:prstGeom>
          <a:solidFill>
            <a:srgbClr val="F9A62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ProcessArrow2">
            <a:extLst>
              <a:ext uri="{FF2B5EF4-FFF2-40B4-BE49-F238E27FC236}">
                <a16:creationId xmlns:a16="http://schemas.microsoft.com/office/drawing/2014/main" id="{FDB3FB50-FF99-8895-2244-DE3A3A8C9B9A}"/>
              </a:ext>
            </a:extLst>
          </p:cNvPr>
          <p:cNvSpPr/>
          <p:nvPr/>
        </p:nvSpPr>
        <p:spPr>
          <a:xfrm>
            <a:off x="7216140" y="1453230"/>
            <a:ext cx="76200" cy="177800"/>
          </a:xfrm>
          <a:prstGeom prst="rightArrow">
            <a:avLst/>
          </a:prstGeom>
          <a:solidFill>
            <a:srgbClr val="F9A62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ProcessArrow3">
            <a:extLst>
              <a:ext uri="{FF2B5EF4-FFF2-40B4-BE49-F238E27FC236}">
                <a16:creationId xmlns:a16="http://schemas.microsoft.com/office/drawing/2014/main" id="{915D504B-0D0B-C677-849C-341B5A023F29}"/>
              </a:ext>
            </a:extLst>
          </p:cNvPr>
          <p:cNvSpPr/>
          <p:nvPr/>
        </p:nvSpPr>
        <p:spPr>
          <a:xfrm>
            <a:off x="9532620" y="1453230"/>
            <a:ext cx="76200" cy="177800"/>
          </a:xfrm>
          <a:prstGeom prst="rightArrow">
            <a:avLst/>
          </a:prstGeom>
          <a:solidFill>
            <a:srgbClr val="F9A62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FitText">
            <a:extLst>
              <a:ext uri="{FF2B5EF4-FFF2-40B4-BE49-F238E27FC236}">
                <a16:creationId xmlns:a16="http://schemas.microsoft.com/office/drawing/2014/main" id="{B6EFE6E4-4E54-E42B-E136-27EDC5386F74}"/>
              </a:ext>
            </a:extLst>
          </p:cNvPr>
          <p:cNvSpPr txBox="1"/>
          <p:nvPr/>
        </p:nvSpPr>
        <p:spPr>
          <a:xfrm>
            <a:off x="640080" y="2234247"/>
            <a:ext cx="10909300" cy="208788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Cada script tem um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contrato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no cabeçalho: entradas, saídas, premissas.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Cada script lê só o que veio antes e grava só na sua pasta de saída.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Caminhos relativos à raiz do projeto: nunca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setwd("C:/Users/…")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Ambiente reprodutível: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renv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registra as versões dos pacotes.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Teste final: apagar as pastas geradas e rodar tudo do zero.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214555667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5.6  A pasta é o contexto do agente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1 · BLOCO 5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graphicFrame>
        <p:nvGraphicFramePr>
          <p:cNvPr id="13" name="Fit796Table">
            <a:extLst>
              <a:ext uri="{FF2B5EF4-FFF2-40B4-BE49-F238E27FC236}">
                <a16:creationId xmlns:a16="http://schemas.microsoft.com/office/drawing/2014/main" id="{39C3EDF3-6059-5525-EA45-3F4A7795ED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8730890"/>
              </p:ext>
            </p:extLst>
          </p:nvPr>
        </p:nvGraphicFramePr>
        <p:xfrm>
          <a:off x="640080" y="1053211"/>
          <a:ext cx="10909300" cy="25166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46600">
                  <a:extLst>
                    <a:ext uri="{9D8B030D-6E8A-4147-A177-3AD203B41FA5}">
                      <a16:colId xmlns:a16="http://schemas.microsoft.com/office/drawing/2014/main" val="436947216"/>
                    </a:ext>
                  </a:extLst>
                </a:gridCol>
                <a:gridCol w="6362700">
                  <a:extLst>
                    <a:ext uri="{9D8B030D-6E8A-4147-A177-3AD203B41FA5}">
                      <a16:colId xmlns:a16="http://schemas.microsoft.com/office/drawing/2014/main" val="84983236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Arquivo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O que o Claude Code aprende com ele</a:t>
                      </a:r>
                      <a:endParaRPr lang="en-US" sz="1700" b="1" i="0">
                        <a:solidFill>
                          <a:srgbClr val="FFFFF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711580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B7472A"/>
                          </a:solidFill>
                          <a:latin typeface="Consolas" panose="020B0609020204030204" pitchFamily="49" charset="0"/>
                        </a:rPr>
                        <a:t>CLAUDE.md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Pergunta, regras de dados, convenções, o que é proibido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2130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B7472A"/>
                          </a:solidFill>
                          <a:latin typeface="Consolas" panose="020B0609020204030204" pitchFamily="49" charset="0"/>
                        </a:rPr>
                        <a:t>README.md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Como o projeto roda, de onde vêm os dados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130085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B7472A"/>
                          </a:solidFill>
                          <a:latin typeface="Consolas" panose="020B0609020204030204" pitchFamily="49" charset="0"/>
                        </a:rPr>
                        <a:t>docs/dicionario_de_dados.csv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Unidades, intervalos, códigos de ausente, padrão de IDs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979671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B7472A"/>
                          </a:solidFill>
                          <a:latin typeface="Consolas" panose="020B0609020204030204" pitchFamily="49" charset="0"/>
                        </a:rPr>
                        <a:t>config/parametros.yaml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Onde estão os números da análise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521388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Cabeçalhos dos scripts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Entradas, saídas e premissas de cada etapa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394252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B7472A"/>
                          </a:solidFill>
                          <a:latin typeface="Consolas" panose="020B0609020204030204" pitchFamily="49" charset="0"/>
                        </a:rPr>
                        <a:t>docs/decisoes.md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O que já foi decidido, para não ser refeito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733843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Estrutura de pastas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Onde ler e onde gravar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7206680"/>
                  </a:ext>
                </a:extLst>
              </a:tr>
            </a:tbl>
          </a:graphicData>
        </a:graphic>
      </p:graphicFrame>
      <p:sp>
        <p:nvSpPr>
          <p:cNvPr id="14" name="FitCallout">
            <a:extLst>
              <a:ext uri="{FF2B5EF4-FFF2-40B4-BE49-F238E27FC236}">
                <a16:creationId xmlns:a16="http://schemas.microsoft.com/office/drawing/2014/main" id="{280F60B5-C8FF-AA6B-E216-694BD06B6D92}"/>
              </a:ext>
            </a:extLst>
          </p:cNvPr>
          <p:cNvSpPr/>
          <p:nvPr/>
        </p:nvSpPr>
        <p:spPr>
          <a:xfrm>
            <a:off x="640080" y="3722243"/>
            <a:ext cx="10909300" cy="814832"/>
          </a:xfrm>
          <a:prstGeom prst="roundRect">
            <a:avLst>
              <a:gd name="adj" fmla="val 8000"/>
            </a:avLst>
          </a:prstGeom>
          <a:solidFill>
            <a:srgbClr val="D8E4D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01600" rIns="152400" bIns="101600" rtlCol="0" anchor="ctr"/>
          <a:lstStyle/>
          <a:p>
            <a:pPr>
              <a:lnSpc>
                <a:spcPct val="92000"/>
              </a:lnSpc>
            </a:pPr>
            <a:r>
              <a:rPr lang="pt-BR" sz="2000" b="1">
                <a:solidFill>
                  <a:srgbClr val="2E3A2F"/>
                </a:solidFill>
                <a:latin typeface="DejaVu Sans"/>
              </a:rPr>
              <a:t>Uma pasta organizada é um prompt permanente: o agente acerta mais e pergunta menos.</a:t>
            </a:r>
            <a:endParaRPr lang="en-US" sz="2000" b="1">
              <a:solidFill>
                <a:srgbClr val="2E3A2F"/>
              </a:solidFill>
              <a:latin typeface="DejaVu Sans"/>
            </a:endParaRPr>
          </a:p>
        </p:txBody>
      </p:sp>
      <p:sp>
        <p:nvSpPr>
          <p:cNvPr id="15" name="FitCalloutBar">
            <a:extLst>
              <a:ext uri="{FF2B5EF4-FFF2-40B4-BE49-F238E27FC236}">
                <a16:creationId xmlns:a16="http://schemas.microsoft.com/office/drawing/2014/main" id="{82F455E3-4EF0-343B-02FF-A2773B41D661}"/>
              </a:ext>
            </a:extLst>
          </p:cNvPr>
          <p:cNvSpPr/>
          <p:nvPr/>
        </p:nvSpPr>
        <p:spPr>
          <a:xfrm>
            <a:off x="640080" y="3722243"/>
            <a:ext cx="63500" cy="814832"/>
          </a:xfrm>
          <a:prstGeom prst="rect">
            <a:avLst/>
          </a:prstGeom>
          <a:solidFill>
            <a:srgbClr val="B7472A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115821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5.7  </a:t>
            </a:r>
            <a:r>
              <a:rPr lang="pt-BR" sz="3200" b="1" i="0">
                <a:solidFill>
                  <a:srgbClr val="B7472A"/>
                </a:solidFill>
                <a:latin typeface="Consolas" panose="020B0609020204030204" pitchFamily="49" charset="0"/>
              </a:rPr>
              <a:t>CLAUDE.md</a:t>
            </a:r>
            <a:r>
              <a:rPr lang="pt-BR" sz="3200" b="1" i="0">
                <a:solidFill>
                  <a:srgbClr val="4A7C59"/>
                </a:solidFill>
                <a:latin typeface="DejaVu Serif"/>
              </a:rPr>
              <a:t> da pasta de análise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1 · BLOCO 5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CodeBox">
            <a:extLst>
              <a:ext uri="{FF2B5EF4-FFF2-40B4-BE49-F238E27FC236}">
                <a16:creationId xmlns:a16="http://schemas.microsoft.com/office/drawing/2014/main" id="{495A3478-2702-DE57-F7FA-304FE6EBEFBC}"/>
              </a:ext>
            </a:extLst>
          </p:cNvPr>
          <p:cNvSpPr/>
          <p:nvPr/>
        </p:nvSpPr>
        <p:spPr>
          <a:xfrm>
            <a:off x="640080" y="1052576"/>
            <a:ext cx="10909300" cy="3048000"/>
          </a:xfrm>
          <a:prstGeom prst="roundRect">
            <a:avLst>
              <a:gd name="adj" fmla="val 3000"/>
            </a:avLst>
          </a:prstGeom>
          <a:solidFill>
            <a:srgbClr val="2E3A2F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27000" rIns="152400" bIns="127000" rtlCol="0" anchor="t"/>
          <a:lstStyle/>
          <a:p>
            <a:r>
              <a:rPr lang="pt-BR" sz="1500" b="1">
                <a:solidFill>
                  <a:srgbClr val="F9A620"/>
                </a:solidFill>
                <a:latin typeface="Consolas" panose="020B0609020204030204" pitchFamily="49" charset="0"/>
              </a:rPr>
              <a:t>## Dados</a:t>
            </a:r>
          </a:p>
          <a:p>
            <a:r>
              <a:rPr lang="pt-BR" sz="1500">
                <a:solidFill>
                  <a:srgbClr val="F5F3ED"/>
                </a:solidFill>
                <a:latin typeface="Consolas" panose="020B0609020204030204" pitchFamily="49" charset="0"/>
              </a:rPr>
              <a:t>- data/bruto/ é SOMENTE LEITURA: nunca altere, renomeie ou sobrescreva.</a:t>
            </a:r>
          </a:p>
          <a:p>
            <a:r>
              <a:rPr lang="pt-BR" sz="1500">
                <a:solidFill>
                  <a:srgbClr val="F5F3ED"/>
                </a:solidFill>
                <a:latin typeface="Consolas" panose="020B0609020204030204" pitchFamily="49" charset="0"/>
              </a:rPr>
              <a:t>- Dicionário em docs/dicionario_de_dados.csv: valide unidades e intervalos.</a:t>
            </a:r>
          </a:p>
          <a:p>
            <a:r>
              <a:rPr lang="pt-BR" sz="1500">
                <a:solidFill>
                  <a:srgbClr val="F5F3ED"/>
                </a:solidFill>
                <a:latin typeface="Consolas" panose="020B0609020204030204" pitchFamily="49" charset="0"/>
              </a:rPr>
              <a:t>- Correções só via docs/registro_de_correcoes.csv, aplicadas por R/03_curar.R.</a:t>
            </a:r>
          </a:p>
          <a:p>
            <a:r>
              <a:rPr lang="pt-BR" sz="1500">
                <a:solidFill>
                  <a:srgbClr val="F5F3ED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pt-BR" sz="1500" b="1">
                <a:solidFill>
                  <a:srgbClr val="F9A620"/>
                </a:solidFill>
                <a:latin typeface="Consolas" panose="020B0609020204030204" pitchFamily="49" charset="0"/>
              </a:rPr>
              <a:t>## Convenções</a:t>
            </a:r>
          </a:p>
          <a:p>
            <a:r>
              <a:rPr lang="pt-BR" sz="1500">
                <a:solidFill>
                  <a:srgbClr val="F5F3ED"/>
                </a:solidFill>
                <a:latin typeface="Consolas" panose="020B0609020204030204" pitchFamily="49" charset="0"/>
              </a:rPr>
              <a:t>- Caminhos relativos; parâmetros em config/parametros.yaml.</a:t>
            </a:r>
          </a:p>
          <a:p>
            <a:r>
              <a:rPr lang="pt-BR" sz="1500">
                <a:solidFill>
                  <a:srgbClr val="F5F3ED"/>
                </a:solidFill>
                <a:latin typeface="Consolas" panose="020B0609020204030204" pitchFamily="49" charset="0"/>
              </a:rPr>
              <a:t>- Normalize identificadores antes de cruzar tabelas. Ausentes como NA, nunca 0.</a:t>
            </a:r>
          </a:p>
          <a:p>
            <a:r>
              <a:rPr lang="pt-BR" sz="1500">
                <a:solidFill>
                  <a:srgbClr val="F5F3ED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pt-BR" sz="1500" b="1">
                <a:solidFill>
                  <a:srgbClr val="F9A620"/>
                </a:solidFill>
                <a:latin typeface="Consolas" panose="020B0609020204030204" pitchFamily="49" charset="0"/>
              </a:rPr>
              <a:t>## Regras de análise</a:t>
            </a:r>
          </a:p>
          <a:p>
            <a:r>
              <a:rPr lang="pt-BR" sz="1500">
                <a:solidFill>
                  <a:srgbClr val="F5F3ED"/>
                </a:solidFill>
                <a:latin typeface="Consolas" panose="020B0609020204030204" pitchFamily="49" charset="0"/>
              </a:rPr>
              <a:t>- Dados de parcela, não médias. Outlier estatístico não é erro: sinalize, não exclua.</a:t>
            </a:r>
          </a:p>
          <a:p>
            <a:r>
              <a:rPr lang="pt-BR" sz="1500">
                <a:solidFill>
                  <a:srgbClr val="F5F3ED"/>
                </a:solidFill>
                <a:latin typeface="Consolas" panose="020B0609020204030204" pitchFamily="49" charset="0"/>
              </a:rPr>
              <a:t>- Decisões em docs/decisoes.md. Plano antes de código; teste para cada script.</a:t>
            </a:r>
            <a:endParaRPr lang="en-US" sz="1500">
              <a:solidFill>
                <a:srgbClr val="F5F3ED"/>
              </a:solidFill>
              <a:latin typeface="Consolas" panose="020B0609020204030204" pitchFamily="49" charset="0"/>
            </a:endParaRPr>
          </a:p>
        </p:txBody>
      </p:sp>
      <p:sp>
        <p:nvSpPr>
          <p:cNvPr id="14" name="CodeBoxAccent">
            <a:extLst>
              <a:ext uri="{FF2B5EF4-FFF2-40B4-BE49-F238E27FC236}">
                <a16:creationId xmlns:a16="http://schemas.microsoft.com/office/drawing/2014/main" id="{5F00991B-D565-50CB-906C-DCE300B73C0F}"/>
              </a:ext>
            </a:extLst>
          </p:cNvPr>
          <p:cNvSpPr/>
          <p:nvPr/>
        </p:nvSpPr>
        <p:spPr>
          <a:xfrm>
            <a:off x="640080" y="1052576"/>
            <a:ext cx="76200" cy="3048000"/>
          </a:xfrm>
          <a:prstGeom prst="rect">
            <a:avLst/>
          </a:prstGeom>
          <a:solidFill>
            <a:srgbClr val="F9A62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768059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5.8  Proteger o dado bruto ⚙️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1 · BLOCO 5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7" name="FitText">
            <a:extLst>
              <a:ext uri="{FF2B5EF4-FFF2-40B4-BE49-F238E27FC236}">
                <a16:creationId xmlns:a16="http://schemas.microsoft.com/office/drawing/2014/main" id="{C8AB4861-9689-FEA5-53B7-757C4A8F50A3}"/>
              </a:ext>
            </a:extLst>
          </p:cNvPr>
          <p:cNvSpPr txBox="1"/>
          <p:nvPr/>
        </p:nvSpPr>
        <p:spPr>
          <a:xfrm>
            <a:off x="640080" y="1049973"/>
            <a:ext cx="10909300" cy="342583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92000"/>
              </a:lnSpc>
            </a:pPr>
            <a:r>
              <a:rPr lang="en-US" sz="1900" b="1">
                <a:solidFill>
                  <a:srgbClr val="B7472A"/>
                </a:solidFill>
                <a:latin typeface="Consolas" panose="020B0609020204030204" pitchFamily="49" charset="0"/>
              </a:rPr>
              <a:t>.claude/settings.json</a:t>
            </a:r>
            <a:r>
              <a:rPr lang="en-US" sz="1900" b="1">
                <a:solidFill>
                  <a:srgbClr val="4A7C59"/>
                </a:solidFill>
                <a:latin typeface="DejaVu Sans"/>
              </a:rPr>
              <a:t>:</a:t>
            </a:r>
          </a:p>
        </p:txBody>
      </p:sp>
      <p:sp>
        <p:nvSpPr>
          <p:cNvPr id="18" name="CodeBox">
            <a:extLst>
              <a:ext uri="{FF2B5EF4-FFF2-40B4-BE49-F238E27FC236}">
                <a16:creationId xmlns:a16="http://schemas.microsoft.com/office/drawing/2014/main" id="{C72130F4-C434-98A7-1CC7-308575E17D2B}"/>
              </a:ext>
            </a:extLst>
          </p:cNvPr>
          <p:cNvSpPr/>
          <p:nvPr/>
        </p:nvSpPr>
        <p:spPr>
          <a:xfrm>
            <a:off x="640080" y="1544956"/>
            <a:ext cx="10909300" cy="1584960"/>
          </a:xfrm>
          <a:prstGeom prst="roundRect">
            <a:avLst>
              <a:gd name="adj" fmla="val 3000"/>
            </a:avLst>
          </a:prstGeom>
          <a:solidFill>
            <a:srgbClr val="2E3A2F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27000" rIns="152400" bIns="127000" rtlCol="0" anchor="t"/>
          <a:lstStyle/>
          <a:p>
            <a:r>
              <a:rPr lang="en-US" sz="1400">
                <a:solidFill>
                  <a:srgbClr val="F5F3ED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400">
                <a:solidFill>
                  <a:srgbClr val="F5F3ED"/>
                </a:solidFill>
                <a:latin typeface="Consolas" panose="020B0609020204030204" pitchFamily="49" charset="0"/>
              </a:rPr>
              <a:t>  "permissions": {</a:t>
            </a:r>
          </a:p>
          <a:p>
            <a:r>
              <a:rPr lang="en-US" sz="1400">
                <a:solidFill>
                  <a:srgbClr val="F5F3ED"/>
                </a:solidFill>
                <a:latin typeface="Consolas" panose="020B0609020204030204" pitchFamily="49" charset="0"/>
              </a:rPr>
              <a:t>    "allow": ["Bash(Rscript *)", "Bash(git status)", "Bash(git diff *)"],</a:t>
            </a:r>
          </a:p>
          <a:p>
            <a:r>
              <a:rPr lang="en-US" sz="1400">
                <a:solidFill>
                  <a:srgbClr val="F5F3ED"/>
                </a:solidFill>
                <a:latin typeface="Consolas" panose="020B0609020204030204" pitchFamily="49" charset="0"/>
              </a:rPr>
              <a:t>    "deny":  ["Edit(/data/bruto/**)", "Bash(rm *)"]</a:t>
            </a:r>
          </a:p>
          <a:p>
            <a:r>
              <a:rPr lang="en-US" sz="1400">
                <a:solidFill>
                  <a:srgbClr val="F5F3ED"/>
                </a:solidFill>
                <a:latin typeface="Consolas" panose="020B0609020204030204" pitchFamily="49" charset="0"/>
              </a:rPr>
              <a:t>  }</a:t>
            </a:r>
          </a:p>
          <a:p>
            <a:r>
              <a:rPr lang="en-US" sz="1400">
                <a:solidFill>
                  <a:srgbClr val="F5F3ED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9" name="CodeBoxAccent">
            <a:extLst>
              <a:ext uri="{FF2B5EF4-FFF2-40B4-BE49-F238E27FC236}">
                <a16:creationId xmlns:a16="http://schemas.microsoft.com/office/drawing/2014/main" id="{9EC79538-E021-6DFB-8431-BB5D6E692053}"/>
              </a:ext>
            </a:extLst>
          </p:cNvPr>
          <p:cNvSpPr/>
          <p:nvPr/>
        </p:nvSpPr>
        <p:spPr>
          <a:xfrm>
            <a:off x="640080" y="1544956"/>
            <a:ext cx="76200" cy="1584960"/>
          </a:xfrm>
          <a:prstGeom prst="rect">
            <a:avLst/>
          </a:prstGeom>
          <a:solidFill>
            <a:srgbClr val="F9A62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itText">
            <a:extLst>
              <a:ext uri="{FF2B5EF4-FFF2-40B4-BE49-F238E27FC236}">
                <a16:creationId xmlns:a16="http://schemas.microsoft.com/office/drawing/2014/main" id="{455D883C-4C1F-35CC-F0D1-0927678E8F60}"/>
              </a:ext>
            </a:extLst>
          </p:cNvPr>
          <p:cNvSpPr txBox="1"/>
          <p:nvPr/>
        </p:nvSpPr>
        <p:spPr>
          <a:xfrm>
            <a:off x="640080" y="3282315"/>
            <a:ext cx="10909300" cy="239807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1900">
                <a:solidFill>
                  <a:srgbClr val="2E3A2F"/>
                </a:solidFill>
                <a:latin typeface="DejaVu Sans"/>
              </a:rPr>
              <a:t>O agente roda scripts, mas suas ferramentas de edição </a:t>
            </a:r>
            <a:r>
              <a:rPr lang="pt-BR" sz="1900" b="1">
                <a:solidFill>
                  <a:srgbClr val="4A7C59"/>
                </a:solidFill>
                <a:latin typeface="DejaVu Sans"/>
              </a:rPr>
              <a:t>não alteram</a:t>
            </a:r>
            <a:r>
              <a:rPr lang="pt-BR" sz="1900">
                <a:solidFill>
                  <a:srgbClr val="2E3A2F"/>
                </a:solidFill>
                <a:latin typeface="DejaVu Sans"/>
              </a:rPr>
              <a:t> os dados brutos e ele não apaga arquivos.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1900">
                <a:solidFill>
                  <a:srgbClr val="2E3A2F"/>
                </a:solidFill>
                <a:latin typeface="DejaVu Sans"/>
              </a:rPr>
              <a:t>A regra não alcança um script que grave na pasta: proteja </a:t>
            </a:r>
            <a:r>
              <a:rPr lang="pt-BR" sz="1900" b="1">
                <a:solidFill>
                  <a:srgbClr val="B7472A"/>
                </a:solidFill>
                <a:latin typeface="Consolas" panose="020B0609020204030204" pitchFamily="49" charset="0"/>
              </a:rPr>
              <a:t>data/bruto/</a:t>
            </a:r>
            <a:r>
              <a:rPr lang="pt-BR" sz="1900">
                <a:solidFill>
                  <a:srgbClr val="2E3A2F"/>
                </a:solidFill>
                <a:latin typeface="DejaVu Sans"/>
              </a:rPr>
              <a:t> também como somente leitura no sistema (Seção 2).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1900">
                <a:solidFill>
                  <a:srgbClr val="2E3A2F"/>
                </a:solidFill>
                <a:latin typeface="DejaVu Sans"/>
              </a:rPr>
              <a:t>O agente escreve </a:t>
            </a:r>
            <a:r>
              <a:rPr lang="pt-BR" sz="1900" b="1">
                <a:solidFill>
                  <a:srgbClr val="4A7C59"/>
                </a:solidFill>
                <a:latin typeface="DejaVu Sans"/>
              </a:rPr>
              <a:t>código que transforma dados</a:t>
            </a:r>
            <a:r>
              <a:rPr lang="pt-BR" sz="1900">
                <a:solidFill>
                  <a:srgbClr val="2E3A2F"/>
                </a:solidFill>
                <a:latin typeface="DejaVu Sans"/>
              </a:rPr>
              <a:t>; não transforma dados "na mão".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1900">
                <a:solidFill>
                  <a:srgbClr val="2E3A2F"/>
                </a:solidFill>
                <a:latin typeface="DejaVu Sans"/>
              </a:rPr>
              <a:t>Git registra cada mudança nos scripts: tudo o que o agente fez pode ser revisado e desfeito.</a:t>
            </a:r>
            <a:endParaRPr lang="en-US" sz="19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236976937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5.9  O mesmo pedido, duas pastas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1 · BLOCO 5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6B496DF0-FB73-E1AF-094D-45E0633968BA}"/>
              </a:ext>
            </a:extLst>
          </p:cNvPr>
          <p:cNvSpPr txBox="1"/>
          <p:nvPr/>
        </p:nvSpPr>
        <p:spPr>
          <a:xfrm>
            <a:off x="640080" y="1053210"/>
            <a:ext cx="5308600" cy="35661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92000"/>
              </a:lnSpc>
            </a:pPr>
            <a:r>
              <a:rPr lang="en-US" sz="2000" b="1">
                <a:solidFill>
                  <a:srgbClr val="4A7C59"/>
                </a:solidFill>
                <a:latin typeface="DejaVu Sans"/>
              </a:rPr>
              <a:t>Pasta desorganizada:</a:t>
            </a:r>
          </a:p>
        </p:txBody>
      </p:sp>
      <p:sp>
        <p:nvSpPr>
          <p:cNvPr id="14" name="FitCallout">
            <a:extLst>
              <a:ext uri="{FF2B5EF4-FFF2-40B4-BE49-F238E27FC236}">
                <a16:creationId xmlns:a16="http://schemas.microsoft.com/office/drawing/2014/main" id="{F65B0D8A-2A29-1CCA-2652-3169A8A68F35}"/>
              </a:ext>
            </a:extLst>
          </p:cNvPr>
          <p:cNvSpPr/>
          <p:nvPr/>
        </p:nvSpPr>
        <p:spPr>
          <a:xfrm>
            <a:off x="640080" y="1562226"/>
            <a:ext cx="5308600" cy="814832"/>
          </a:xfrm>
          <a:prstGeom prst="roundRect">
            <a:avLst>
              <a:gd name="adj" fmla="val 8000"/>
            </a:avLst>
          </a:prstGeom>
          <a:solidFill>
            <a:srgbClr val="D8E4D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01600" rIns="152400" bIns="101600" rtlCol="0" anchor="ctr"/>
          <a:lstStyle/>
          <a:p>
            <a:pPr>
              <a:lnSpc>
                <a:spcPct val="92000"/>
              </a:lnSpc>
            </a:pPr>
            <a:r>
              <a:rPr lang="pt-BR" sz="2000" b="1">
                <a:solidFill>
                  <a:srgbClr val="2E3A2F"/>
                </a:solidFill>
                <a:latin typeface="DejaVu Sans"/>
              </a:rPr>
              <a:t>"Faz a análise conjunta desses ensaios de milho."</a:t>
            </a:r>
            <a:endParaRPr lang="en-US" sz="2000" b="1">
              <a:solidFill>
                <a:srgbClr val="2E3A2F"/>
              </a:solidFill>
              <a:latin typeface="DejaVu Sans"/>
            </a:endParaRPr>
          </a:p>
        </p:txBody>
      </p:sp>
      <p:sp>
        <p:nvSpPr>
          <p:cNvPr id="15" name="FitCalloutBar">
            <a:extLst>
              <a:ext uri="{FF2B5EF4-FFF2-40B4-BE49-F238E27FC236}">
                <a16:creationId xmlns:a16="http://schemas.microsoft.com/office/drawing/2014/main" id="{2C5F87C7-A7BF-F989-3B39-5B817066DDE8}"/>
              </a:ext>
            </a:extLst>
          </p:cNvPr>
          <p:cNvSpPr/>
          <p:nvPr/>
        </p:nvSpPr>
        <p:spPr>
          <a:xfrm>
            <a:off x="640080" y="1562226"/>
            <a:ext cx="63500" cy="814832"/>
          </a:xfrm>
          <a:prstGeom prst="rect">
            <a:avLst/>
          </a:prstGeom>
          <a:solidFill>
            <a:srgbClr val="B7472A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itText">
            <a:extLst>
              <a:ext uri="{FF2B5EF4-FFF2-40B4-BE49-F238E27FC236}">
                <a16:creationId xmlns:a16="http://schemas.microsoft.com/office/drawing/2014/main" id="{B5305246-DB40-ADE2-257B-39FAEF9AC574}"/>
              </a:ext>
            </a:extLst>
          </p:cNvPr>
          <p:cNvSpPr txBox="1"/>
          <p:nvPr/>
        </p:nvSpPr>
        <p:spPr>
          <a:xfrm>
            <a:off x="640080" y="2529457"/>
            <a:ext cx="5308600" cy="91744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92000"/>
              </a:lnSpc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O agente precisa adivinhar: qual planilha, qual unidade, quais linhas excluir, qual modelo, onde salvar.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  <p:sp>
        <p:nvSpPr>
          <p:cNvPr id="17" name="FitText">
            <a:extLst>
              <a:ext uri="{FF2B5EF4-FFF2-40B4-BE49-F238E27FC236}">
                <a16:creationId xmlns:a16="http://schemas.microsoft.com/office/drawing/2014/main" id="{12ED6118-F6AD-C6DE-9A1D-27919101E1EB}"/>
              </a:ext>
            </a:extLst>
          </p:cNvPr>
          <p:cNvSpPr txBox="1"/>
          <p:nvPr/>
        </p:nvSpPr>
        <p:spPr>
          <a:xfrm>
            <a:off x="6240780" y="1053210"/>
            <a:ext cx="5308600" cy="35661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92000"/>
              </a:lnSpc>
            </a:pPr>
            <a:r>
              <a:rPr lang="en-US" sz="2000" b="1">
                <a:solidFill>
                  <a:srgbClr val="4A7C59"/>
                </a:solidFill>
                <a:latin typeface="DejaVu Sans"/>
              </a:rPr>
              <a:t>Pasta organizada:</a:t>
            </a:r>
          </a:p>
        </p:txBody>
      </p:sp>
      <p:sp>
        <p:nvSpPr>
          <p:cNvPr id="18" name="FitCallout">
            <a:extLst>
              <a:ext uri="{FF2B5EF4-FFF2-40B4-BE49-F238E27FC236}">
                <a16:creationId xmlns:a16="http://schemas.microsoft.com/office/drawing/2014/main" id="{F5BAACC9-1E51-6A9C-9F6F-09E57FBEA51F}"/>
              </a:ext>
            </a:extLst>
          </p:cNvPr>
          <p:cNvSpPr/>
          <p:nvPr/>
        </p:nvSpPr>
        <p:spPr>
          <a:xfrm>
            <a:off x="6240780" y="1562226"/>
            <a:ext cx="5308600" cy="2216912"/>
          </a:xfrm>
          <a:prstGeom prst="roundRect">
            <a:avLst>
              <a:gd name="adj" fmla="val 8000"/>
            </a:avLst>
          </a:prstGeom>
          <a:solidFill>
            <a:srgbClr val="D8E4D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01600" rIns="152400" bIns="101600" rtlCol="0" anchor="ctr"/>
          <a:lstStyle/>
          <a:p>
            <a:pPr>
              <a:lnSpc>
                <a:spcPct val="92000"/>
              </a:lnSpc>
            </a:pPr>
            <a:r>
              <a:rPr lang="pt-BR" sz="2000" b="1">
                <a:solidFill>
                  <a:srgbClr val="2E3A2F"/>
                </a:solidFill>
                <a:latin typeface="DejaVu Sans"/>
              </a:rPr>
              <a:t>"Etapa 02 do README. Escreva R/02_qc.R seguindo o contrato do cabeçalho e as regras do CLAUDE.md. Use o dicionário para os intervalos. Inclua um teste em tests/ com erros injetados. Plano primeiro."</a:t>
            </a:r>
            <a:endParaRPr lang="en-US" sz="2000" b="1">
              <a:solidFill>
                <a:srgbClr val="2E3A2F"/>
              </a:solidFill>
              <a:latin typeface="DejaVu Sans"/>
            </a:endParaRPr>
          </a:p>
        </p:txBody>
      </p:sp>
      <p:sp>
        <p:nvSpPr>
          <p:cNvPr id="19" name="FitCalloutBar">
            <a:extLst>
              <a:ext uri="{FF2B5EF4-FFF2-40B4-BE49-F238E27FC236}">
                <a16:creationId xmlns:a16="http://schemas.microsoft.com/office/drawing/2014/main" id="{AFEF65EA-A75D-D8BD-E542-132C7FC56346}"/>
              </a:ext>
            </a:extLst>
          </p:cNvPr>
          <p:cNvSpPr/>
          <p:nvPr/>
        </p:nvSpPr>
        <p:spPr>
          <a:xfrm>
            <a:off x="6240780" y="1562226"/>
            <a:ext cx="63500" cy="2216912"/>
          </a:xfrm>
          <a:prstGeom prst="rect">
            <a:avLst/>
          </a:prstGeom>
          <a:solidFill>
            <a:srgbClr val="B7472A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itText">
            <a:extLst>
              <a:ext uri="{FF2B5EF4-FFF2-40B4-BE49-F238E27FC236}">
                <a16:creationId xmlns:a16="http://schemas.microsoft.com/office/drawing/2014/main" id="{9A169E31-00AE-7858-07B8-08F83A791E80}"/>
              </a:ext>
            </a:extLst>
          </p:cNvPr>
          <p:cNvSpPr txBox="1"/>
          <p:nvPr/>
        </p:nvSpPr>
        <p:spPr>
          <a:xfrm>
            <a:off x="6240780" y="3931537"/>
            <a:ext cx="5308600" cy="63703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92000"/>
              </a:lnSpc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Todas as decisões importantes já estão escritas na pasta.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218987968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A7C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2377440"/>
            <a:ext cx="10241280" cy="7694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4400" b="1" i="0">
                <a:solidFill>
                  <a:srgbClr val="FFFFFF"/>
                </a:solidFill>
                <a:latin typeface="DejaVu Serif"/>
              </a:rPr>
              <a:t>Síntese e tarefa</a:t>
            </a:r>
            <a:endParaRPr sz="4400" b="1" i="0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05840" y="3703320"/>
            <a:ext cx="10241280" cy="45550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it-IT" sz="2200" b="0" i="0">
                <a:solidFill>
                  <a:srgbClr val="D8E4DA"/>
                </a:solidFill>
                <a:latin typeface="DejaVu Sans"/>
              </a:rPr>
              <a:t>BLOCO 6 · 5 min · SEÇÃO 1 · BLOCO 6</a:t>
            </a:r>
            <a:endParaRPr sz="2200" b="0" i="0">
              <a:solidFill>
                <a:srgbClr val="D8E4DA"/>
              </a:solidFill>
              <a:latin typeface="DejaVu San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005840" y="3584448"/>
            <a:ext cx="2011680" cy="50292"/>
          </a:xfrm>
          <a:prstGeom prst="rect">
            <a:avLst/>
          </a:prstGeom>
          <a:solidFill>
            <a:srgbClr val="F9A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325146811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6.1  Checklist: os dados estão prontos para a IA?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1 · BLOCO 6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1F7E2DB0-86A8-7FB1-C096-04AB9253F216}"/>
              </a:ext>
            </a:extLst>
          </p:cNvPr>
          <p:cNvSpPr txBox="1"/>
          <p:nvPr/>
        </p:nvSpPr>
        <p:spPr>
          <a:xfrm>
            <a:off x="671830" y="1735836"/>
            <a:ext cx="10909300" cy="338632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</a:pPr>
            <a:r>
              <a:rPr lang="pt-BR" sz="2000" dirty="0">
                <a:solidFill>
                  <a:srgbClr val="2E3A2F"/>
                </a:solidFill>
                <a:latin typeface="DejaVu Sans"/>
              </a:rPr>
              <a:t>☐ Os dados estão em um banco (ou em tabelas) com chaves e tipos definidos</a:t>
            </a:r>
          </a:p>
          <a:p>
            <a:pPr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</a:pPr>
            <a:r>
              <a:rPr lang="pt-BR" sz="2000" dirty="0">
                <a:solidFill>
                  <a:srgbClr val="2E3A2F"/>
                </a:solidFill>
                <a:latin typeface="DejaVu Sans"/>
              </a:rPr>
              <a:t>☐ Existe um dicionário com unidades, intervalos e códigos de ausente</a:t>
            </a:r>
          </a:p>
          <a:p>
            <a:pPr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</a:pPr>
            <a:r>
              <a:rPr lang="pt-BR" sz="2000" dirty="0">
                <a:solidFill>
                  <a:srgbClr val="2E3A2F"/>
                </a:solidFill>
                <a:latin typeface="DejaVu Sans"/>
              </a:rPr>
              <a:t>☐ Identificadores seguem um padrão validável e únicos por entidade</a:t>
            </a:r>
          </a:p>
          <a:p>
            <a:pPr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</a:pPr>
            <a:r>
              <a:rPr lang="pt-BR" sz="2000" dirty="0">
                <a:solidFill>
                  <a:srgbClr val="2E3A2F"/>
                </a:solidFill>
                <a:latin typeface="DejaVu Sans"/>
              </a:rPr>
              <a:t>☐ Há camada bruta intocada e camada curada reconstruível</a:t>
            </a:r>
          </a:p>
          <a:p>
            <a:pPr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</a:pPr>
            <a:r>
              <a:rPr lang="pt-BR" sz="2000" dirty="0">
                <a:solidFill>
                  <a:srgbClr val="2E3A2F"/>
                </a:solidFill>
                <a:latin typeface="DejaVu Sans"/>
              </a:rPr>
              <a:t>☐ O QC é um script, com relatório e teste com erros injetados</a:t>
            </a:r>
          </a:p>
          <a:p>
            <a:pPr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</a:pPr>
            <a:r>
              <a:rPr lang="pt-BR" sz="2000" dirty="0">
                <a:solidFill>
                  <a:srgbClr val="2E3A2F"/>
                </a:solidFill>
                <a:latin typeface="DejaVu Sans"/>
              </a:rPr>
              <a:t>☐ Toda correção está registrada com motivo e responsável</a:t>
            </a:r>
          </a:p>
          <a:p>
            <a:pPr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</a:pPr>
            <a:r>
              <a:rPr lang="pt-BR" sz="2000" dirty="0">
                <a:solidFill>
                  <a:srgbClr val="2E3A2F"/>
                </a:solidFill>
                <a:latin typeface="DejaVu Sans"/>
              </a:rPr>
              <a:t>☐ A análise vive em uma pasta organizada, com README e CLAUDE.md</a:t>
            </a:r>
          </a:p>
          <a:p>
            <a:pPr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</a:pPr>
            <a:r>
              <a:rPr lang="pt-BR" sz="2000" dirty="0">
                <a:solidFill>
                  <a:srgbClr val="2E3A2F"/>
                </a:solidFill>
                <a:latin typeface="DejaVu Sans"/>
              </a:rPr>
              <a:t>☐ Apagar os resultados e rodar os scripts recria tudo</a:t>
            </a:r>
            <a:endParaRPr lang="en-US" sz="2000" dirty="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247754153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6.2  Tarefa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1 · BLOCO 6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C20A7FE9-DC51-BD51-DEC9-E6FC21F9295A}"/>
              </a:ext>
            </a:extLst>
          </p:cNvPr>
          <p:cNvSpPr txBox="1"/>
          <p:nvPr/>
        </p:nvSpPr>
        <p:spPr>
          <a:xfrm>
            <a:off x="640080" y="1053211"/>
            <a:ext cx="10909300" cy="236829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Copie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modelos/projeto-analise/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para um ensaio do seu próprio projeto.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Preencha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data/bruto/LEIA-ME.md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e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docs/dicionario_de_dados.csv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Escreva três consultas SQL de QC (duplicatas, intervalos, padrão de ID) e rode-as.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Adapte o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CLAUDE.md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às regras do seu ensaio.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Na próxima seção, essa pasta será aberta no Claude Code.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362863422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6.3  Referências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1 · BLOCO 6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69D06BE7-B62D-4CEC-5F4C-F598BC24F997}"/>
              </a:ext>
            </a:extLst>
          </p:cNvPr>
          <p:cNvSpPr txBox="1"/>
          <p:nvPr/>
        </p:nvSpPr>
        <p:spPr>
          <a:xfrm>
            <a:off x="640080" y="1053211"/>
            <a:ext cx="10909300" cy="491642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en-US" sz="2000">
                <a:solidFill>
                  <a:srgbClr val="2E3A2F"/>
                </a:solidFill>
                <a:latin typeface="DejaVu Sans"/>
              </a:rPr>
              <a:t>Broman, K. W.; Woo, K. H. (2018). Data organization in spreadsheets. </a:t>
            </a:r>
            <a:r>
              <a:rPr lang="en-US" sz="2000" i="1">
                <a:solidFill>
                  <a:srgbClr val="2E3A2F"/>
                </a:solidFill>
                <a:latin typeface="DejaVu Sans"/>
              </a:rPr>
              <a:t>The American Statistician</a:t>
            </a:r>
            <a:r>
              <a:rPr lang="en-US" sz="2000">
                <a:solidFill>
                  <a:srgbClr val="2E3A2F"/>
                </a:solidFill>
                <a:latin typeface="DejaVu Sans"/>
              </a:rPr>
              <a:t>, 72(1), 2–10.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en-US" sz="2000">
                <a:solidFill>
                  <a:srgbClr val="2E3A2F"/>
                </a:solidFill>
                <a:latin typeface="DejaVu Sans"/>
              </a:rPr>
              <a:t>Morales, N. et al. (2022). Breedbase: a digital ecosystem for modern plant breeding. </a:t>
            </a:r>
            <a:r>
              <a:rPr lang="en-US" sz="2000" i="1">
                <a:solidFill>
                  <a:srgbClr val="2E3A2F"/>
                </a:solidFill>
                <a:latin typeface="DejaVu Sans"/>
              </a:rPr>
              <a:t>G3</a:t>
            </a:r>
            <a:r>
              <a:rPr lang="en-US" sz="2000">
                <a:solidFill>
                  <a:srgbClr val="2E3A2F"/>
                </a:solidFill>
                <a:latin typeface="DejaVu Sans"/>
              </a:rPr>
              <a:t>, 12(7), jkac078.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en-US" sz="2000">
                <a:solidFill>
                  <a:srgbClr val="2E3A2F"/>
                </a:solidFill>
                <a:latin typeface="DejaVu Sans"/>
              </a:rPr>
              <a:t>Rife, T. W.; Poland, J. A. (2014). Field Book: an open-source application for field data collection on Android. </a:t>
            </a:r>
            <a:r>
              <a:rPr lang="en-US" sz="2000" i="1">
                <a:solidFill>
                  <a:srgbClr val="2E3A2F"/>
                </a:solidFill>
                <a:latin typeface="DejaVu Sans"/>
              </a:rPr>
              <a:t>Crop Science</a:t>
            </a:r>
            <a:r>
              <a:rPr lang="en-US" sz="2000">
                <a:solidFill>
                  <a:srgbClr val="2E3A2F"/>
                </a:solidFill>
                <a:latin typeface="DejaVu Sans"/>
              </a:rPr>
              <a:t>, 54(4). doi:10.2135/cropsci2013.08.0579.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en-US" sz="2000">
                <a:solidFill>
                  <a:srgbClr val="2E3A2F"/>
                </a:solidFill>
                <a:latin typeface="DejaVu Sans"/>
              </a:rPr>
              <a:t>Wickham, H. (2014). Tidy data. </a:t>
            </a:r>
            <a:r>
              <a:rPr lang="en-US" sz="2000" i="1">
                <a:solidFill>
                  <a:srgbClr val="2E3A2F"/>
                </a:solidFill>
                <a:latin typeface="DejaVu Sans"/>
              </a:rPr>
              <a:t>Journal of Statistical Software</a:t>
            </a:r>
            <a:r>
              <a:rPr lang="en-US" sz="2000">
                <a:solidFill>
                  <a:srgbClr val="2E3A2F"/>
                </a:solidFill>
                <a:latin typeface="DejaVu Sans"/>
              </a:rPr>
              <a:t>, 59(10).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en-US" sz="2000">
                <a:solidFill>
                  <a:srgbClr val="2E3A2F"/>
                </a:solidFill>
                <a:latin typeface="DejaVu Sans"/>
              </a:rPr>
              <a:t>Wilkinson, M. D. et al. (2016). The FAIR Guiding Principles for scientific data management and stewardship. </a:t>
            </a:r>
            <a:r>
              <a:rPr lang="en-US" sz="2000" i="1">
                <a:solidFill>
                  <a:srgbClr val="2E3A2F"/>
                </a:solidFill>
                <a:latin typeface="DejaVu Sans"/>
              </a:rPr>
              <a:t>Scientific Data</a:t>
            </a:r>
            <a:r>
              <a:rPr lang="en-US" sz="2000">
                <a:solidFill>
                  <a:srgbClr val="2E3A2F"/>
                </a:solidFill>
                <a:latin typeface="DejaVu Sans"/>
              </a:rPr>
              <a:t>, 3, 160018.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en-US" sz="2000">
                <a:solidFill>
                  <a:srgbClr val="2E3A2F"/>
                </a:solidFill>
                <a:latin typeface="DejaVu Sans"/>
              </a:rPr>
              <a:t>Wilson, G. et al. (2017). Good enough practices in scientific computing. </a:t>
            </a:r>
            <a:r>
              <a:rPr lang="en-US" sz="2000" i="1">
                <a:solidFill>
                  <a:srgbClr val="2E3A2F"/>
                </a:solidFill>
                <a:latin typeface="DejaVu Sans"/>
              </a:rPr>
              <a:t>PLOS Computational Biology</a:t>
            </a:r>
            <a:r>
              <a:rPr lang="en-US" sz="2000">
                <a:solidFill>
                  <a:srgbClr val="2E3A2F"/>
                </a:solidFill>
                <a:latin typeface="DejaVu Sans"/>
              </a:rPr>
              <a:t>, 13(6), e1005510.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en-US" sz="2000">
                <a:solidFill>
                  <a:srgbClr val="2E3A2F"/>
                </a:solidFill>
                <a:latin typeface="DejaVu Sans"/>
              </a:rPr>
              <a:t>Crop Ontology: https://cropontology.org · BrAPI: https://brapi.org · DuckDB: https://duckdb.org</a:t>
            </a:r>
          </a:p>
        </p:txBody>
      </p:sp>
    </p:spTree>
    <p:extLst>
      <p:ext uri="{BB962C8B-B14F-4D97-AF65-F5344CB8AC3E}">
        <p14:creationId xmlns:p14="http://schemas.microsoft.com/office/powerpoint/2010/main" val="35199717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14310</Words>
  <Application>Microsoft Office PowerPoint</Application>
  <PresentationFormat>Widescreen</PresentationFormat>
  <Paragraphs>1109</Paragraphs>
  <Slides>54</Slides>
  <Notes>54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60" baseType="lpstr">
      <vt:lpstr>Arial</vt:lpstr>
      <vt:lpstr>Calibri</vt:lpstr>
      <vt:lpstr>Consolas</vt:lpstr>
      <vt:lpstr>DejaVu Sans</vt:lpstr>
      <vt:lpstr>DejaVu Serif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Eder Silva</cp:lastModifiedBy>
  <cp:revision>2</cp:revision>
  <dcterms:created xsi:type="dcterms:W3CDTF">2013-01-27T09:14:16Z</dcterms:created>
  <dcterms:modified xsi:type="dcterms:W3CDTF">2026-10-30T20:22:40Z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2c76c141-ac86-40e5-abf2-c6f60e474cee_Enabled">
    <vt:lpwstr>true</vt:lpwstr>
  </property>
  <property fmtid="{D5CDD505-2E9C-101B-9397-08002B2CF9AE}" pid="3" name="MSIP_Label_2c76c141-ac86-40e5-abf2-c6f60e474cee_SetDate">
    <vt:lpwstr>2026-10-27T14:37:50Z</vt:lpwstr>
  </property>
  <property fmtid="{D5CDD505-2E9C-101B-9397-08002B2CF9AE}" pid="4" name="MSIP_Label_2c76c141-ac86-40e5-abf2-c6f60e474cee_Method">
    <vt:lpwstr>Standard</vt:lpwstr>
  </property>
  <property fmtid="{D5CDD505-2E9C-101B-9397-08002B2CF9AE}" pid="5" name="MSIP_Label_2c76c141-ac86-40e5-abf2-c6f60e474cee_Name">
    <vt:lpwstr>2c76c141-ac86-40e5-abf2-c6f60e474cee</vt:lpwstr>
  </property>
  <property fmtid="{D5CDD505-2E9C-101B-9397-08002B2CF9AE}" pid="6" name="MSIP_Label_2c76c141-ac86-40e5-abf2-c6f60e474cee_SiteId">
    <vt:lpwstr>fcb2b37b-5da0-466b-9b83-0014b67a7c78</vt:lpwstr>
  </property>
  <property fmtid="{D5CDD505-2E9C-101B-9397-08002B2CF9AE}" pid="7" name="MSIP_Label_2c76c141-ac86-40e5-abf2-c6f60e474cee_ActionId">
    <vt:lpwstr>7e58aa73-7a3a-42f7-8135-f8ee99152278</vt:lpwstr>
  </property>
  <property fmtid="{D5CDD505-2E9C-101B-9397-08002B2CF9AE}" pid="8" name="MSIP_Label_2c76c141-ac86-40e5-abf2-c6f60e474cee_ContentBits">
    <vt:lpwstr>2</vt:lpwstr>
  </property>
  <property fmtid="{D5CDD505-2E9C-101B-9397-08002B2CF9AE}" pid="9" name="MSIP_Label_2c76c141-ac86-40e5-abf2-c6f60e474cee_Tag">
    <vt:lpwstr>10, 3, 0, 1</vt:lpwstr>
  </property>
  <property fmtid="{D5CDD505-2E9C-101B-9397-08002B2CF9AE}" pid="10" name="ClassificationContentMarkingFooterLocations">
    <vt:lpwstr>Office Theme:8</vt:lpwstr>
  </property>
  <property fmtid="{D5CDD505-2E9C-101B-9397-08002B2CF9AE}" pid="11" name="ClassificationContentMarkingFooterText">
    <vt:lpwstr>RESTRICTED</vt:lpwstr>
  </property>
</Properties>
</file>