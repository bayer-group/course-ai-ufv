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82" r:id="rId53"/>
    <p:sldId id="383" r:id="rId54"/>
    <p:sldId id="384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A2DEC-2261-48AF-B4A8-7B10B1CC645D}" v="1" dt="2026-10-27T15:45:50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6" y="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40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Boas-vindas à sessão de fechamento. Durante o curso vocês usaram IA como ferramenta: escreveram análises com agentes de código, estudaram artigos com LLMs, rodaram seleção genômica e simulação. Hoje a pergunta muda: o que a IA já faz de forma efetiva e que não coube nestes três dias? Três objetivos: (1) recapitular o arco do curso, (2) mostrar a fronteira dentro do melhoramento e, sobretudo, fora dele - moléculas, proteínas, events, agro digital e outras ciências, (3) discutir confiança, ética, propriedade e o que aprender a seguir. Regra do dia: entusiasmo, sempre com evidência. Cada slide tem referência no rodapé; preprints e anúncios de empresa estão marcados.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1675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5000" b="1" i="0">
                <a:solidFill>
                  <a:srgbClr val="FFFFFF"/>
                </a:solidFill>
                <a:latin typeface="DejaVu Serif"/>
              </a:rPr>
              <a:t>Dados: a base de toda IA no melhoramento</a:t>
            </a:r>
            <a:endParaRPr sz="50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607040" cy="4060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900" b="0" i="0">
                <a:solidFill>
                  <a:srgbClr val="D8E4DA"/>
                </a:solidFill>
                <a:latin typeface="DejaVu Sans"/>
              </a:rPr>
              <a:t>Carga: 2 h ·  Projeto: modelos/projeto-analise</a:t>
            </a:r>
            <a:endParaRPr sz="19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181600"/>
            <a:ext cx="10607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i="0">
                <a:solidFill>
                  <a:srgbClr val="4A7C59"/>
                </a:solidFill>
                <a:latin typeface="DejaVu Sans"/>
              </a:rPr>
              <a:t>IA NO MELHORAMENTO GENÉTICO: FUNDAMENTOS E APLICAÇÕES · FIT 796 · UFV · 3 A 5 DE NOVEMBRO DE 2026</a:t>
            </a:r>
            <a:endParaRPr sz="1400" b="1" i="0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709919"/>
            <a:ext cx="10607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0" i="0">
                <a:solidFill>
                  <a:srgbClr val="6B6B6B"/>
                </a:solidFill>
                <a:latin typeface="DejaVu Sans"/>
              </a:rPr>
              <a:t>Fio condutor: nenhum modelo, por mais sofisticado, corrige um dado mal identificado, mal medido ou mal organizado. Antes de usar IA, o programa precisa de dados consultáveis (banco e SQL), confiáveis (QA/QC), consistentes e curados, guardados em uma pasta de análise organizada, que é também o contexto que o Claude Code vai ler.</a:t>
            </a:r>
            <a:endParaRPr sz="1400" b="0" i="0">
              <a:solidFill>
                <a:srgbClr val="6B6B6B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7251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Roteiro da seção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ROTEIRO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BEEDFC21-7E83-02F5-2190-6F15A05B6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793421"/>
              </p:ext>
            </p:extLst>
          </p:nvPr>
        </p:nvGraphicFramePr>
        <p:xfrm>
          <a:off x="640080" y="1053211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1710990032"/>
                    </a:ext>
                  </a:extLst>
                </a:gridCol>
                <a:gridCol w="6451600">
                  <a:extLst>
                    <a:ext uri="{9D8B030D-6E8A-4147-A177-3AD203B41FA5}">
                      <a16:colId xmlns:a16="http://schemas.microsoft.com/office/drawing/2014/main" val="298351371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567620928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Bloco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Tema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Tempo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7964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Por que os dados vêm antes da IA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1838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Bancos de dados relacionais e a linguagem SQL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00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QA/QC: garantir e controlar a qualidade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9209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Consistência e curadoria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6681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 pasta de análise como projeto do Claude Code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20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95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6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Síntese e tarefa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68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01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Por que os dados vêm antes da IA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1 · 15 min · SEÇÃO 1 · BLOCO 1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33836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1.1  Pergunta de abertura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Callout">
            <a:extLst>
              <a:ext uri="{FF2B5EF4-FFF2-40B4-BE49-F238E27FC236}">
                <a16:creationId xmlns:a16="http://schemas.microsoft.com/office/drawing/2014/main" id="{23D690C6-0EAE-5399-7906-51E78F38BCC7}"/>
              </a:ext>
            </a:extLst>
          </p:cNvPr>
          <p:cNvSpPr/>
          <p:nvPr/>
        </p:nvSpPr>
        <p:spPr>
          <a:xfrm>
            <a:off x="640080" y="1053211"/>
            <a:ext cx="5308600" cy="1375664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"Se o seu orientador pedisse hoje para reproduzir a análise conjunta dos ensaios de 2023, quanto tempo você levaria?"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CalloutBar">
            <a:extLst>
              <a:ext uri="{FF2B5EF4-FFF2-40B4-BE49-F238E27FC236}">
                <a16:creationId xmlns:a16="http://schemas.microsoft.com/office/drawing/2014/main" id="{07CF1385-3229-FAE9-443E-8397C4096839}"/>
              </a:ext>
            </a:extLst>
          </p:cNvPr>
          <p:cNvSpPr/>
          <p:nvPr/>
        </p:nvSpPr>
        <p:spPr>
          <a:xfrm>
            <a:off x="640080" y="1053211"/>
            <a:ext cx="63500" cy="1375664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88C8D04B-C78D-111E-7A0E-DEA02BDD8B4B}"/>
              </a:ext>
            </a:extLst>
          </p:cNvPr>
          <p:cNvSpPr txBox="1"/>
          <p:nvPr/>
        </p:nvSpPr>
        <p:spPr>
          <a:xfrm>
            <a:off x="6240780" y="1053210"/>
            <a:ext cx="53086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Perguntas que costumam não ter resposta</a:t>
            </a:r>
            <a:endParaRPr lang="en-US" sz="2000" b="1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16" name="FitText">
            <a:extLst>
              <a:ext uri="{FF2B5EF4-FFF2-40B4-BE49-F238E27FC236}">
                <a16:creationId xmlns:a16="http://schemas.microsoft.com/office/drawing/2014/main" id="{AE4158E6-1E68-B275-7C71-1953543CC9F4}"/>
              </a:ext>
            </a:extLst>
          </p:cNvPr>
          <p:cNvSpPr txBox="1"/>
          <p:nvPr/>
        </p:nvSpPr>
        <p:spPr>
          <a:xfrm>
            <a:off x="6240780" y="1842642"/>
            <a:ext cx="5308600" cy="27767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Onde está o arquivo bruto que veio do campo?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Qual das cinco versões da planilha foi usada?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Quem corrigiu aquele valor de 104.613 kg/ha, e para quanto?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Qual script gerou a Tabela 3 da dissertação, e com quais pacotes?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7469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1.2  O ciclo de vida do dado em um programa de melhoramento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46" name="ProcessBox0">
            <a:extLst>
              <a:ext uri="{FF2B5EF4-FFF2-40B4-BE49-F238E27FC236}">
                <a16:creationId xmlns:a16="http://schemas.microsoft.com/office/drawing/2014/main" id="{C8960CF7-A989-9A32-59D3-53491C922FB9}"/>
              </a:ext>
            </a:extLst>
          </p:cNvPr>
          <p:cNvSpPr/>
          <p:nvPr/>
        </p:nvSpPr>
        <p:spPr>
          <a:xfrm>
            <a:off x="381000" y="1053211"/>
            <a:ext cx="1502228" cy="1104075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350" b="1">
                <a:solidFill>
                  <a:srgbClr val="FFFFFF"/>
                </a:solidFill>
                <a:latin typeface="DejaVu Sans"/>
              </a:rPr>
              <a:t>Planejamento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450">
                <a:solidFill>
                  <a:srgbClr val="FFFFFF"/>
                </a:solidFill>
                <a:latin typeface="DejaVu Sans"/>
              </a:rPr>
              <a:t>delineamento, IDs, croqui</a:t>
            </a:r>
          </a:p>
        </p:txBody>
      </p:sp>
      <p:sp>
        <p:nvSpPr>
          <p:cNvPr id="47" name="ProcessBox1">
            <a:extLst>
              <a:ext uri="{FF2B5EF4-FFF2-40B4-BE49-F238E27FC236}">
                <a16:creationId xmlns:a16="http://schemas.microsoft.com/office/drawing/2014/main" id="{0DA81957-55F3-4EDE-6344-3D6808926561}"/>
              </a:ext>
            </a:extLst>
          </p:cNvPr>
          <p:cNvSpPr/>
          <p:nvPr/>
        </p:nvSpPr>
        <p:spPr>
          <a:xfrm>
            <a:off x="2035629" y="1053211"/>
            <a:ext cx="1502228" cy="1104075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350" b="1">
                <a:solidFill>
                  <a:srgbClr val="2E3A2F"/>
                </a:solidFill>
                <a:latin typeface="DejaVu Sans"/>
              </a:rPr>
              <a:t>Coleta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450">
                <a:solidFill>
                  <a:srgbClr val="2E3A2F"/>
                </a:solidFill>
                <a:latin typeface="DejaVu Sans"/>
              </a:rPr>
              <a:t>campo, laboratório, imagens</a:t>
            </a:r>
          </a:p>
        </p:txBody>
      </p:sp>
      <p:sp>
        <p:nvSpPr>
          <p:cNvPr id="48" name="ProcessBox2">
            <a:extLst>
              <a:ext uri="{FF2B5EF4-FFF2-40B4-BE49-F238E27FC236}">
                <a16:creationId xmlns:a16="http://schemas.microsoft.com/office/drawing/2014/main" id="{CF697353-6BB4-0295-C09E-86198860D38C}"/>
              </a:ext>
            </a:extLst>
          </p:cNvPr>
          <p:cNvSpPr/>
          <p:nvPr/>
        </p:nvSpPr>
        <p:spPr>
          <a:xfrm>
            <a:off x="3690257" y="1053211"/>
            <a:ext cx="1502229" cy="1104075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350" b="1">
                <a:solidFill>
                  <a:srgbClr val="2E3A2F"/>
                </a:solidFill>
                <a:latin typeface="DejaVu Sans"/>
              </a:rPr>
              <a:t>Ingestão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450">
                <a:solidFill>
                  <a:srgbClr val="2E3A2F"/>
                </a:solidFill>
                <a:latin typeface="DejaVu Sans"/>
              </a:rPr>
              <a:t>digitação, importação</a:t>
            </a:r>
          </a:p>
        </p:txBody>
      </p:sp>
      <p:sp>
        <p:nvSpPr>
          <p:cNvPr id="49" name="ProcessBox3">
            <a:extLst>
              <a:ext uri="{FF2B5EF4-FFF2-40B4-BE49-F238E27FC236}">
                <a16:creationId xmlns:a16="http://schemas.microsoft.com/office/drawing/2014/main" id="{995892B9-2C7C-4B23-A888-2861C3A3DB8A}"/>
              </a:ext>
            </a:extLst>
          </p:cNvPr>
          <p:cNvSpPr/>
          <p:nvPr/>
        </p:nvSpPr>
        <p:spPr>
          <a:xfrm>
            <a:off x="5344886" y="1053211"/>
            <a:ext cx="1502229" cy="1104075"/>
          </a:xfrm>
          <a:prstGeom prst="roundRect">
            <a:avLst>
              <a:gd name="adj" fmla="val 8000"/>
            </a:avLst>
          </a:prstGeom>
          <a:solidFill>
            <a:srgbClr val="B7472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350" b="1">
                <a:solidFill>
                  <a:srgbClr val="FFFFFF"/>
                </a:solidFill>
                <a:latin typeface="DejaVu Sans"/>
              </a:rPr>
              <a:t>QA/QC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450">
                <a:solidFill>
                  <a:srgbClr val="FFFFFF"/>
                </a:solidFill>
                <a:latin typeface="DejaVu Sans"/>
              </a:rPr>
              <a:t>regras e estatística</a:t>
            </a:r>
            <a:endParaRPr lang="en-US" sz="145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50" name="ProcessBox4">
            <a:extLst>
              <a:ext uri="{FF2B5EF4-FFF2-40B4-BE49-F238E27FC236}">
                <a16:creationId xmlns:a16="http://schemas.microsoft.com/office/drawing/2014/main" id="{765900ED-8CAA-4E28-5AEC-CE2E9F8F1F25}"/>
              </a:ext>
            </a:extLst>
          </p:cNvPr>
          <p:cNvSpPr/>
          <p:nvPr/>
        </p:nvSpPr>
        <p:spPr>
          <a:xfrm>
            <a:off x="6999515" y="1053211"/>
            <a:ext cx="1502228" cy="1104075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350" b="1">
                <a:solidFill>
                  <a:srgbClr val="FFFFFF"/>
                </a:solidFill>
                <a:latin typeface="DejaVu Sans"/>
              </a:rPr>
              <a:t>Curadoria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450">
                <a:solidFill>
                  <a:srgbClr val="FFFFFF"/>
                </a:solidFill>
                <a:latin typeface="DejaVu Sans"/>
              </a:rPr>
              <a:t>correções registradas</a:t>
            </a:r>
          </a:p>
        </p:txBody>
      </p:sp>
      <p:sp>
        <p:nvSpPr>
          <p:cNvPr id="51" name="ProcessBox5">
            <a:extLst>
              <a:ext uri="{FF2B5EF4-FFF2-40B4-BE49-F238E27FC236}">
                <a16:creationId xmlns:a16="http://schemas.microsoft.com/office/drawing/2014/main" id="{EB8B451A-CB0A-28BB-EE07-6BFEC5EE0F7D}"/>
              </a:ext>
            </a:extLst>
          </p:cNvPr>
          <p:cNvSpPr/>
          <p:nvPr/>
        </p:nvSpPr>
        <p:spPr>
          <a:xfrm>
            <a:off x="8654143" y="1053212"/>
            <a:ext cx="1502229" cy="1104075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350" b="1">
                <a:solidFill>
                  <a:srgbClr val="2E3A2F"/>
                </a:solidFill>
                <a:latin typeface="DejaVu Sans"/>
              </a:rPr>
              <a:t>Análise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450">
                <a:solidFill>
                  <a:srgbClr val="2E3A2F"/>
                </a:solidFill>
                <a:latin typeface="DejaVu Sans"/>
              </a:rPr>
              <a:t>BLUP, GS, IA</a:t>
            </a:r>
          </a:p>
        </p:txBody>
      </p:sp>
      <p:sp>
        <p:nvSpPr>
          <p:cNvPr id="52" name="ProcessBox6">
            <a:extLst>
              <a:ext uri="{FF2B5EF4-FFF2-40B4-BE49-F238E27FC236}">
                <a16:creationId xmlns:a16="http://schemas.microsoft.com/office/drawing/2014/main" id="{C271BAEE-1AAA-A317-F2B0-9862E83DC638}"/>
              </a:ext>
            </a:extLst>
          </p:cNvPr>
          <p:cNvSpPr/>
          <p:nvPr/>
        </p:nvSpPr>
        <p:spPr>
          <a:xfrm>
            <a:off x="10308772" y="1053211"/>
            <a:ext cx="1502228" cy="1104075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350" b="1">
                <a:solidFill>
                  <a:srgbClr val="2E3A2F"/>
                </a:solidFill>
                <a:latin typeface="DejaVu Sans"/>
              </a:rPr>
              <a:t>Decisão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450">
                <a:solidFill>
                  <a:srgbClr val="2E3A2F"/>
                </a:solidFill>
                <a:latin typeface="DejaVu Sans"/>
              </a:rPr>
              <a:t>seleção, cruzamentos</a:t>
            </a:r>
          </a:p>
        </p:txBody>
      </p:sp>
      <p:sp>
        <p:nvSpPr>
          <p:cNvPr id="53" name="ProcessArrow0">
            <a:extLst>
              <a:ext uri="{FF2B5EF4-FFF2-40B4-BE49-F238E27FC236}">
                <a16:creationId xmlns:a16="http://schemas.microsoft.com/office/drawing/2014/main" id="{989AF5DA-0C37-A8B0-2243-B74AFB79C596}"/>
              </a:ext>
            </a:extLst>
          </p:cNvPr>
          <p:cNvSpPr/>
          <p:nvPr/>
        </p:nvSpPr>
        <p:spPr>
          <a:xfrm>
            <a:off x="1921329" y="1516348"/>
            <a:ext cx="76200" cy="177801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rocessArrow1">
            <a:extLst>
              <a:ext uri="{FF2B5EF4-FFF2-40B4-BE49-F238E27FC236}">
                <a16:creationId xmlns:a16="http://schemas.microsoft.com/office/drawing/2014/main" id="{D606C15F-1D7C-A6FF-4CA9-117F9A3284E4}"/>
              </a:ext>
            </a:extLst>
          </p:cNvPr>
          <p:cNvSpPr/>
          <p:nvPr/>
        </p:nvSpPr>
        <p:spPr>
          <a:xfrm>
            <a:off x="3575957" y="1516348"/>
            <a:ext cx="76200" cy="177801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rocessArrow2">
            <a:extLst>
              <a:ext uri="{FF2B5EF4-FFF2-40B4-BE49-F238E27FC236}">
                <a16:creationId xmlns:a16="http://schemas.microsoft.com/office/drawing/2014/main" id="{936CE3BE-1D42-95CF-63FC-9C594D96D1FD}"/>
              </a:ext>
            </a:extLst>
          </p:cNvPr>
          <p:cNvSpPr/>
          <p:nvPr/>
        </p:nvSpPr>
        <p:spPr>
          <a:xfrm>
            <a:off x="5230586" y="1516348"/>
            <a:ext cx="76200" cy="177801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rocessArrow3">
            <a:extLst>
              <a:ext uri="{FF2B5EF4-FFF2-40B4-BE49-F238E27FC236}">
                <a16:creationId xmlns:a16="http://schemas.microsoft.com/office/drawing/2014/main" id="{106D9384-6ABF-2EB6-AEA2-D3F229854ED4}"/>
              </a:ext>
            </a:extLst>
          </p:cNvPr>
          <p:cNvSpPr/>
          <p:nvPr/>
        </p:nvSpPr>
        <p:spPr>
          <a:xfrm>
            <a:off x="6885215" y="1516348"/>
            <a:ext cx="76200" cy="177801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rocessArrow4">
            <a:extLst>
              <a:ext uri="{FF2B5EF4-FFF2-40B4-BE49-F238E27FC236}">
                <a16:creationId xmlns:a16="http://schemas.microsoft.com/office/drawing/2014/main" id="{78B82DA2-4CE9-D71B-3525-59EBDD993893}"/>
              </a:ext>
            </a:extLst>
          </p:cNvPr>
          <p:cNvSpPr/>
          <p:nvPr/>
        </p:nvSpPr>
        <p:spPr>
          <a:xfrm>
            <a:off x="8539843" y="1516348"/>
            <a:ext cx="76200" cy="177801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rocessArrow5">
            <a:extLst>
              <a:ext uri="{FF2B5EF4-FFF2-40B4-BE49-F238E27FC236}">
                <a16:creationId xmlns:a16="http://schemas.microsoft.com/office/drawing/2014/main" id="{5674CF70-1C45-DB5E-BB20-6C917E1023C5}"/>
              </a:ext>
            </a:extLst>
          </p:cNvPr>
          <p:cNvSpPr/>
          <p:nvPr/>
        </p:nvSpPr>
        <p:spPr>
          <a:xfrm>
            <a:off x="10194472" y="1516348"/>
            <a:ext cx="76200" cy="177801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itText">
            <a:extLst>
              <a:ext uri="{FF2B5EF4-FFF2-40B4-BE49-F238E27FC236}">
                <a16:creationId xmlns:a16="http://schemas.microsoft.com/office/drawing/2014/main" id="{203D26A4-028F-E527-8BA1-A733F48964C0}"/>
              </a:ext>
            </a:extLst>
          </p:cNvPr>
          <p:cNvSpPr txBox="1"/>
          <p:nvPr/>
        </p:nvSpPr>
        <p:spPr>
          <a:xfrm>
            <a:off x="640080" y="2360486"/>
            <a:ext cx="10909300" cy="234391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Cada seta é um ponto de entrada de erros: troca de etiqueta, digitação, unidade, cópia e cola, junção errada de tabelas.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custo de corrigir cresce ao longo do ciclo: um ID errado no croqui custa minutos; o mesmo erro descoberto depois da seleção custa um ciclo de melhoramento.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QA atua à esquerda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(prevenir);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QC atua no meio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(detectar);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curadoria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mantém o histórico de tudo que mudou.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5186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1.3  O dado é o ativo de longo prazo do programa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7E6977EF-71C9-4239-BFE1-6304E1616879}"/>
              </a:ext>
            </a:extLst>
          </p:cNvPr>
          <p:cNvSpPr txBox="1"/>
          <p:nvPr/>
        </p:nvSpPr>
        <p:spPr>
          <a:xfrm>
            <a:off x="640080" y="1053211"/>
            <a:ext cx="10909300" cy="234391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Germoplasma e dados de ensaios acumulados por décadas são o que permite estimar G×E, treinar modelos de seleção genômica e comparar ciclos.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Uma população de treinamento de GS é, na prática,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o histórico do banco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se o histórico tem IDs inconsistentes, o modelo aprende com genótipos e fenótipos desemparelhados.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Modelos e ferramentas mudam a cada poucos anos; dados bem estruturados continuam úteis.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Callout">
            <a:extLst>
              <a:ext uri="{FF2B5EF4-FFF2-40B4-BE49-F238E27FC236}">
                <a16:creationId xmlns:a16="http://schemas.microsoft.com/office/drawing/2014/main" id="{9AB7BDBE-A5B3-D4D9-7787-186CC7264287}"/>
              </a:ext>
            </a:extLst>
          </p:cNvPr>
          <p:cNvSpPr/>
          <p:nvPr/>
        </p:nvSpPr>
        <p:spPr>
          <a:xfrm>
            <a:off x="640080" y="3549523"/>
            <a:ext cx="10909300" cy="1095248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Um programa com dados organizados troca de software em semanas. Um programa com dados desorganizados não consegue aproveitar nenhuma ferramenta nova, inclusive IA.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5" name="FitCalloutBar">
            <a:extLst>
              <a:ext uri="{FF2B5EF4-FFF2-40B4-BE49-F238E27FC236}">
                <a16:creationId xmlns:a16="http://schemas.microsoft.com/office/drawing/2014/main" id="{653A728D-3AA2-972C-0D58-99E5B23B77D2}"/>
              </a:ext>
            </a:extLst>
          </p:cNvPr>
          <p:cNvSpPr/>
          <p:nvPr/>
        </p:nvSpPr>
        <p:spPr>
          <a:xfrm>
            <a:off x="640080" y="3549523"/>
            <a:ext cx="63500" cy="1095248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3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1.4  Consequência genética de um erro de dado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A74F7F7F-B65D-36EB-A647-80F4FB329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17745"/>
              </p:ext>
            </p:extLst>
          </p:nvPr>
        </p:nvGraphicFramePr>
        <p:xfrm>
          <a:off x="640080" y="1053211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>
                  <a:extLst>
                    <a:ext uri="{9D8B030D-6E8A-4147-A177-3AD203B41FA5}">
                      <a16:colId xmlns:a16="http://schemas.microsoft.com/office/drawing/2014/main" val="335940108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715092074"/>
                    </a:ext>
                  </a:extLst>
                </a:gridCol>
                <a:gridCol w="4902200">
                  <a:extLst>
                    <a:ext uri="{9D8B030D-6E8A-4147-A177-3AD203B41FA5}">
                      <a16:colId xmlns:a16="http://schemas.microsoft.com/office/drawing/2014/main" val="5018742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Erro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Onde nasce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 que contamina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7879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ID de genótipo trocado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Etiqueta, digitação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Fenótipo atribuído ao genótipo errado → BLUP e GEBV errados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5495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Genitor errado no pedigree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Cadastro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Matriz A errada para toda a família → BLUP de parentes viesados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9237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Amostra de DNA trocada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Laboratório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Genótipo de um indivíduo usado para outro → matriz G e GEBV errados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7318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Unidade misturada (t/ha × kg/ha)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Planilha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Média do ensaio, variância residual e herdabilidade distorcidas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719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Ausente codificado como 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Planilha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Média puxada para baixo; genótipo penalizado sem ter sido avaliado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9373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Parcela duplicada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Digitação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Peso dobrado para uma observação; graus de liberdade inflados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81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96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1.5  A IA amplifica o que encontra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1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934322FE-42AA-F983-BC9B-80D34873DA62}"/>
              </a:ext>
            </a:extLst>
          </p:cNvPr>
          <p:cNvSpPr txBox="1"/>
          <p:nvPr/>
        </p:nvSpPr>
        <p:spPr>
          <a:xfrm>
            <a:off x="640080" y="1053211"/>
            <a:ext cx="5308600" cy="31851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 agente de código lê seus arquivos, infere o significado das colunas e escreve a análise.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Se o dicionário diz kg/ha e alguns valores estão em t/ha, o código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roda sem erro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o resultado sai errado, com aparência de correto.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Se os IDs têm grafias diferentes, a junção de tabelas descarta linhas em silêncio.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7F67CE1F-AFEE-340C-66EE-D2DD18D6261D}"/>
              </a:ext>
            </a:extLst>
          </p:cNvPr>
          <p:cNvSpPr txBox="1"/>
          <p:nvPr/>
        </p:nvSpPr>
        <p:spPr>
          <a:xfrm>
            <a:off x="6240780" y="1053210"/>
            <a:ext cx="53086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O que a IA precisa para acertar</a:t>
            </a:r>
            <a:endParaRPr lang="en-US" sz="2000" b="1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E805BA08-E474-9398-6391-DC46D2B29E05}"/>
              </a:ext>
            </a:extLst>
          </p:cNvPr>
          <p:cNvSpPr txBox="1"/>
          <p:nvPr/>
        </p:nvSpPr>
        <p:spPr>
          <a:xfrm>
            <a:off x="6240780" y="1562226"/>
            <a:ext cx="5308600" cy="23682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Tabelas com chaves e tipos definidos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Dicionário com unidades e intervalos válidos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Identificadores padronizados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Registro do que foi corrigido e por quê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Uma pasta com estrutura previsível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6" name="FitCallout">
            <a:extLst>
              <a:ext uri="{FF2B5EF4-FFF2-40B4-BE49-F238E27FC236}">
                <a16:creationId xmlns:a16="http://schemas.microsoft.com/office/drawing/2014/main" id="{8F6C5F2F-7DA8-E394-CC82-71EF6C3B29AB}"/>
              </a:ext>
            </a:extLst>
          </p:cNvPr>
          <p:cNvSpPr/>
          <p:nvPr/>
        </p:nvSpPr>
        <p:spPr>
          <a:xfrm>
            <a:off x="6240780" y="4082922"/>
            <a:ext cx="5308600" cy="1095248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en-US" sz="2000" b="1" i="1">
                <a:solidFill>
                  <a:srgbClr val="2E3A2F"/>
                </a:solidFill>
                <a:latin typeface="DejaVu Sans"/>
              </a:rPr>
              <a:t>Garbage in, garbage out</a:t>
            </a:r>
            <a:r>
              <a:rPr lang="en-US" sz="2000" b="1">
                <a:solidFill>
                  <a:srgbClr val="2E3A2F"/>
                </a:solidFill>
                <a:latin typeface="DejaVu Sans"/>
              </a:rPr>
              <a:t> virou </a:t>
            </a:r>
            <a:r>
              <a:rPr lang="en-US" sz="2000" b="1" i="1">
                <a:solidFill>
                  <a:srgbClr val="2E3A2F"/>
                </a:solidFill>
                <a:latin typeface="DejaVu Sans"/>
              </a:rPr>
              <a:t>garbage in, confident garbage out</a:t>
            </a:r>
            <a:r>
              <a:rPr lang="en-US" sz="2000" b="1">
                <a:solidFill>
                  <a:srgbClr val="2E3A2F"/>
                </a:solidFill>
                <a:latin typeface="DejaVu Sans"/>
              </a:rPr>
              <a:t>.</a:t>
            </a:r>
          </a:p>
        </p:txBody>
      </p:sp>
      <p:sp>
        <p:nvSpPr>
          <p:cNvPr id="17" name="FitCalloutBar">
            <a:extLst>
              <a:ext uri="{FF2B5EF4-FFF2-40B4-BE49-F238E27FC236}">
                <a16:creationId xmlns:a16="http://schemas.microsoft.com/office/drawing/2014/main" id="{F13B3FB7-2E16-8C7B-1FEE-03F99B412F49}"/>
              </a:ext>
            </a:extLst>
          </p:cNvPr>
          <p:cNvSpPr/>
          <p:nvPr/>
        </p:nvSpPr>
        <p:spPr>
          <a:xfrm>
            <a:off x="6240780" y="4082922"/>
            <a:ext cx="63500" cy="1095248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5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Bancos de dados relacionais e a linguagem SQL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2 · 35 min · SEÇÃO 1 · BLOCO 2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8333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  Planilha ou banco de dados?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177396C1-EC36-8C6E-BE02-359BD155E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13333"/>
              </p:ext>
            </p:extLst>
          </p:nvPr>
        </p:nvGraphicFramePr>
        <p:xfrm>
          <a:off x="640080" y="1053211"/>
          <a:ext cx="109093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0">
                  <a:extLst>
                    <a:ext uri="{9D8B030D-6E8A-4147-A177-3AD203B41FA5}">
                      <a16:colId xmlns:a16="http://schemas.microsoft.com/office/drawing/2014/main" val="17718997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2212422631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68440708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Necessidade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Planilha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Banco relacional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30967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Impedir genótipo sem cadastro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Não há como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Chave estrangeira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010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Impedir duas parcelas na mesma posição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Não há como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UNIQUE (ensaio, linha, coluna)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530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Tipos e intervalos válidos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Validação manual e frágil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Tipos e CHECK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1422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Vários usuários ao mesmo tempo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Cópias divergentes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Acesso concorrente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6928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Cruzar 10 safras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Copiar e colar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Uma consulta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8665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Saber o que mudou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Não há histórico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Camadas + registro de correções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3768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Milhões de observações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Lento ou impossível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Rotina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59658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752D90DD-9EE2-41BE-2A5E-91125C2B8A26}"/>
              </a:ext>
            </a:extLst>
          </p:cNvPr>
          <p:cNvSpPr txBox="1"/>
          <p:nvPr/>
        </p:nvSpPr>
        <p:spPr>
          <a:xfrm>
            <a:off x="640080" y="4199000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Planilhas continuam úteis para coleta e visualização rápida; o problema é usá-las como sistema de armazenamento do programa.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078277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2.2  O modelo relacional de um programa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GridBox00">
            <a:extLst>
              <a:ext uri="{FF2B5EF4-FFF2-40B4-BE49-F238E27FC236}">
                <a16:creationId xmlns:a16="http://schemas.microsoft.com/office/drawing/2014/main" id="{5EC79B01-4660-A18D-93E5-6DF7F428BD58}"/>
              </a:ext>
            </a:extLst>
          </p:cNvPr>
          <p:cNvSpPr/>
          <p:nvPr/>
        </p:nvSpPr>
        <p:spPr>
          <a:xfrm>
            <a:off x="640080" y="1053211"/>
            <a:ext cx="2613025" cy="1351026"/>
          </a:xfrm>
          <a:prstGeom prst="roundRect">
            <a:avLst>
              <a:gd name="adj" fmla="val 6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pt-BR" sz="1500" b="1">
                <a:solidFill>
                  <a:srgbClr val="FFFFFF"/>
                </a:solidFill>
                <a:latin typeface="Consolas" panose="020B0609020204030204" pitchFamily="49" charset="0"/>
              </a:rPr>
              <a:t>ambiente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ambiente_id PK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local, ano, safra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latitude, longitude</a:t>
            </a:r>
            <a:endParaRPr lang="en-US" sz="1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GridBox01">
            <a:extLst>
              <a:ext uri="{FF2B5EF4-FFF2-40B4-BE49-F238E27FC236}">
                <a16:creationId xmlns:a16="http://schemas.microsoft.com/office/drawing/2014/main" id="{C53883CC-704B-DB74-83F9-00C064156588}"/>
              </a:ext>
            </a:extLst>
          </p:cNvPr>
          <p:cNvSpPr/>
          <p:nvPr/>
        </p:nvSpPr>
        <p:spPr>
          <a:xfrm>
            <a:off x="3405505" y="1053211"/>
            <a:ext cx="2613025" cy="1351026"/>
          </a:xfrm>
          <a:prstGeom prst="roundRect">
            <a:avLst>
              <a:gd name="adj" fmla="val 6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pt-BR" sz="1500" b="1">
                <a:solidFill>
                  <a:srgbClr val="2E3A2F"/>
                </a:solidFill>
                <a:latin typeface="Consolas" panose="020B0609020204030204" pitchFamily="49" charset="0"/>
              </a:rPr>
              <a:t>ensaio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ensaio_id PK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ambiente_id FK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delineamento, n_rep</a:t>
            </a:r>
            <a:endParaRPr lang="en-US" sz="1400">
              <a:solidFill>
                <a:srgbClr val="2E3A2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GridBox02">
            <a:extLst>
              <a:ext uri="{FF2B5EF4-FFF2-40B4-BE49-F238E27FC236}">
                <a16:creationId xmlns:a16="http://schemas.microsoft.com/office/drawing/2014/main" id="{E19CF5E6-56AE-8A34-02C6-C754BADF551B}"/>
              </a:ext>
            </a:extLst>
          </p:cNvPr>
          <p:cNvSpPr/>
          <p:nvPr/>
        </p:nvSpPr>
        <p:spPr>
          <a:xfrm>
            <a:off x="6170930" y="1053211"/>
            <a:ext cx="2613025" cy="1351026"/>
          </a:xfrm>
          <a:prstGeom prst="roundRect">
            <a:avLst>
              <a:gd name="adj" fmla="val 6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pt-BR" sz="1500" b="1">
                <a:solidFill>
                  <a:srgbClr val="2E3A2F"/>
                </a:solidFill>
                <a:latin typeface="Consolas" panose="020B0609020204030204" pitchFamily="49" charset="0"/>
              </a:rPr>
              <a:t>parcela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parcela_id PK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ensaio_id FK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germoplasma_id FK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bloco, linha, coluna</a:t>
            </a:r>
            <a:endParaRPr lang="en-US" sz="1400">
              <a:solidFill>
                <a:srgbClr val="2E3A2F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GridBox03">
            <a:extLst>
              <a:ext uri="{FF2B5EF4-FFF2-40B4-BE49-F238E27FC236}">
                <a16:creationId xmlns:a16="http://schemas.microsoft.com/office/drawing/2014/main" id="{CE29660D-B176-67EB-59E3-DDF411FEE4A3}"/>
              </a:ext>
            </a:extLst>
          </p:cNvPr>
          <p:cNvSpPr/>
          <p:nvPr/>
        </p:nvSpPr>
        <p:spPr>
          <a:xfrm>
            <a:off x="8936355" y="1053211"/>
            <a:ext cx="2613025" cy="1351026"/>
          </a:xfrm>
          <a:prstGeom prst="roundRect">
            <a:avLst>
              <a:gd name="adj" fmla="val 6000"/>
            </a:avLst>
          </a:prstGeom>
          <a:solidFill>
            <a:srgbClr val="B7472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en-US" sz="1500" b="1">
                <a:solidFill>
                  <a:srgbClr val="FFFFFF"/>
                </a:solidFill>
                <a:latin typeface="Consolas" panose="020B0609020204030204" pitchFamily="49" charset="0"/>
              </a:rPr>
              <a:t>observacao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en-US" sz="1400">
                <a:solidFill>
                  <a:srgbClr val="FFFFFF"/>
                </a:solidFill>
                <a:latin typeface="Consolas" panose="020B0609020204030204" pitchFamily="49" charset="0"/>
              </a:rPr>
              <a:t>obs_id PK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en-US" sz="1400">
                <a:solidFill>
                  <a:srgbClr val="FFFFFF"/>
                </a:solidFill>
                <a:latin typeface="Consolas" panose="020B0609020204030204" pitchFamily="49" charset="0"/>
              </a:rPr>
              <a:t>parcela_id FK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en-US" sz="1400">
                <a:solidFill>
                  <a:srgbClr val="FFFFFF"/>
                </a:solidFill>
                <a:latin typeface="Consolas" panose="020B0609020204030204" pitchFamily="49" charset="0"/>
              </a:rPr>
              <a:t>variavel_id FK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en-US" sz="1400">
                <a:solidFill>
                  <a:srgbClr val="FFFFFF"/>
                </a:solidFill>
                <a:latin typeface="Consolas" panose="020B0609020204030204" pitchFamily="49" charset="0"/>
              </a:rPr>
              <a:t>valor, data</a:t>
            </a:r>
          </a:p>
        </p:txBody>
      </p:sp>
      <p:sp>
        <p:nvSpPr>
          <p:cNvPr id="17" name="GridBox10">
            <a:extLst>
              <a:ext uri="{FF2B5EF4-FFF2-40B4-BE49-F238E27FC236}">
                <a16:creationId xmlns:a16="http://schemas.microsoft.com/office/drawing/2014/main" id="{CC91C2D4-8FC8-7E7B-C014-881856CBB5EE}"/>
              </a:ext>
            </a:extLst>
          </p:cNvPr>
          <p:cNvSpPr/>
          <p:nvPr/>
        </p:nvSpPr>
        <p:spPr>
          <a:xfrm>
            <a:off x="640080" y="2556637"/>
            <a:ext cx="2613025" cy="1129348"/>
          </a:xfrm>
          <a:prstGeom prst="roundRect">
            <a:avLst>
              <a:gd name="adj" fmla="val 6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pt-BR" sz="1500" b="1">
                <a:solidFill>
                  <a:srgbClr val="FFFFFF"/>
                </a:solidFill>
                <a:latin typeface="Consolas" panose="020B0609020204030204" pitchFamily="49" charset="0"/>
              </a:rPr>
              <a:t>variavel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variavel_id PK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codigo, unidade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minimo, maximo</a:t>
            </a:r>
            <a:endParaRPr lang="en-US" sz="1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GridBox11">
            <a:extLst>
              <a:ext uri="{FF2B5EF4-FFF2-40B4-BE49-F238E27FC236}">
                <a16:creationId xmlns:a16="http://schemas.microsoft.com/office/drawing/2014/main" id="{246CCB12-1FDF-B584-D68C-6CD665CC2DEC}"/>
              </a:ext>
            </a:extLst>
          </p:cNvPr>
          <p:cNvSpPr/>
          <p:nvPr/>
        </p:nvSpPr>
        <p:spPr>
          <a:xfrm>
            <a:off x="3405505" y="2556636"/>
            <a:ext cx="2613025" cy="1129348"/>
          </a:xfrm>
          <a:prstGeom prst="roundRect">
            <a:avLst>
              <a:gd name="adj" fmla="val 6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pt-BR" sz="1500" b="1">
                <a:solidFill>
                  <a:srgbClr val="2E3A2F"/>
                </a:solidFill>
                <a:latin typeface="Consolas" panose="020B0609020204030204" pitchFamily="49" charset="0"/>
              </a:rPr>
              <a:t>germoplasma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germoplasma_id PK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2E3A2F"/>
                </a:solidFill>
                <a:latin typeface="Consolas" panose="020B0609020204030204" pitchFamily="49" charset="0"/>
              </a:rPr>
              <a:t>grupo, coorte, origem</a:t>
            </a:r>
            <a:endParaRPr lang="en-US" sz="1400">
              <a:solidFill>
                <a:srgbClr val="2E3A2F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GridBox12">
            <a:extLst>
              <a:ext uri="{FF2B5EF4-FFF2-40B4-BE49-F238E27FC236}">
                <a16:creationId xmlns:a16="http://schemas.microsoft.com/office/drawing/2014/main" id="{F08D6D2E-809D-6CEB-1A86-68103B5C96C3}"/>
              </a:ext>
            </a:extLst>
          </p:cNvPr>
          <p:cNvSpPr/>
          <p:nvPr/>
        </p:nvSpPr>
        <p:spPr>
          <a:xfrm>
            <a:off x="6170930" y="2556636"/>
            <a:ext cx="2613025" cy="1129348"/>
          </a:xfrm>
          <a:prstGeom prst="roundRect">
            <a:avLst>
              <a:gd name="adj" fmla="val 6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en-US" sz="1500" b="1">
                <a:solidFill>
                  <a:srgbClr val="2E3A2F"/>
                </a:solidFill>
                <a:latin typeface="Consolas" panose="020B0609020204030204" pitchFamily="49" charset="0"/>
              </a:rPr>
              <a:t>pedigree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en-US" sz="1400">
                <a:solidFill>
                  <a:srgbClr val="2E3A2F"/>
                </a:solidFill>
                <a:latin typeface="Consolas" panose="020B0609020204030204" pitchFamily="49" charset="0"/>
              </a:rPr>
              <a:t>germoplasma_id PK/FK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en-US" sz="1400">
                <a:solidFill>
                  <a:srgbClr val="2E3A2F"/>
                </a:solidFill>
                <a:latin typeface="Consolas" panose="020B0609020204030204" pitchFamily="49" charset="0"/>
              </a:rPr>
              <a:t>mae_id FK, pai_id FK</a:t>
            </a:r>
          </a:p>
        </p:txBody>
      </p:sp>
      <p:sp>
        <p:nvSpPr>
          <p:cNvPr id="20" name="GridBox13">
            <a:extLst>
              <a:ext uri="{FF2B5EF4-FFF2-40B4-BE49-F238E27FC236}">
                <a16:creationId xmlns:a16="http://schemas.microsoft.com/office/drawing/2014/main" id="{1BE63A04-DFFE-0F6B-8DD3-DC18D6B0CF3D}"/>
              </a:ext>
            </a:extLst>
          </p:cNvPr>
          <p:cNvSpPr/>
          <p:nvPr/>
        </p:nvSpPr>
        <p:spPr>
          <a:xfrm>
            <a:off x="8936355" y="2556636"/>
            <a:ext cx="2613025" cy="1129348"/>
          </a:xfrm>
          <a:prstGeom prst="roundRect">
            <a:avLst>
              <a:gd name="adj" fmla="val 6000"/>
            </a:avLst>
          </a:prstGeom>
          <a:solidFill>
            <a:srgbClr val="B7472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76200" rIns="76200" bIns="76200" rtlCol="0" anchor="t"/>
          <a:lstStyle/>
          <a:p>
            <a:pPr>
              <a:lnSpc>
                <a:spcPct val="92000"/>
              </a:lnSpc>
              <a:spcAft>
                <a:spcPts val="600"/>
              </a:spcAft>
            </a:pPr>
            <a:r>
              <a:rPr lang="pt-BR" sz="1500" b="1">
                <a:solidFill>
                  <a:srgbClr val="FFFFFF"/>
                </a:solidFill>
                <a:latin typeface="Consolas" panose="020B0609020204030204" pitchFamily="49" charset="0"/>
              </a:rPr>
              <a:t>amostra_genotipo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germoplasma_id PK/FK</a:t>
            </a:r>
          </a:p>
          <a:p>
            <a:pPr>
              <a:lnSpc>
                <a:spcPct val="92000"/>
              </a:lnSpc>
              <a:spcAft>
                <a:spcPts val="200"/>
              </a:spcAft>
            </a:pPr>
            <a:r>
              <a:rPr lang="pt-BR" sz="1400">
                <a:solidFill>
                  <a:srgbClr val="FFFFFF"/>
                </a:solidFill>
                <a:latin typeface="Consolas" panose="020B0609020204030204" pitchFamily="49" charset="0"/>
              </a:rPr>
              <a:t>arquivo da matriz SNP</a:t>
            </a:r>
            <a:endParaRPr lang="en-US" sz="14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FitText">
            <a:extLst>
              <a:ext uri="{FF2B5EF4-FFF2-40B4-BE49-F238E27FC236}">
                <a16:creationId xmlns:a16="http://schemas.microsoft.com/office/drawing/2014/main" id="{2C119FFF-B165-C0EC-28CB-B6345FB7DA1F}"/>
              </a:ext>
            </a:extLst>
          </p:cNvPr>
          <p:cNvSpPr txBox="1"/>
          <p:nvPr/>
        </p:nvSpPr>
        <p:spPr>
          <a:xfrm>
            <a:off x="640080" y="3863785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Cada informação vive em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um único lugar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a latitude está no ambiente, não repetida em 4.800 parcelas.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As chaves estrangeiras (FK) ligam as tabelas e impedem registros órfãos.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493051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2.3  Chaves e restrições: regras do programa escritas no banco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3D71D329-9393-DB25-B597-2E88F12CFD3C}"/>
              </a:ext>
            </a:extLst>
          </p:cNvPr>
          <p:cNvSpPr/>
          <p:nvPr/>
        </p:nvSpPr>
        <p:spPr>
          <a:xfrm>
            <a:off x="640080" y="1053211"/>
            <a:ext cx="10909300" cy="215646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CREATE TABLE parcela (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  parcela_id     TEXT PRIMARY KEY,                                   </a:t>
            </a:r>
            <a:r>
              <a:rPr lang="en-US" sz="1350">
                <a:solidFill>
                  <a:srgbClr val="D8E4DA"/>
                </a:solidFill>
                <a:latin typeface="Consolas" panose="020B0609020204030204" pitchFamily="49" charset="0"/>
              </a:rPr>
              <a:t>-- uma linha por parcela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  ensaio_id      TEXT NOT NULL REFERENCES ensaio(ensaio_id),         </a:t>
            </a:r>
            <a:r>
              <a:rPr lang="en-US" sz="1350">
                <a:solidFill>
                  <a:srgbClr val="D8E4DA"/>
                </a:solidFill>
                <a:latin typeface="Consolas" panose="020B0609020204030204" pitchFamily="49" charset="0"/>
              </a:rPr>
              <a:t>-- ensaio precisa existir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  germoplasma_id TEXT NOT NULL REFERENCES germoplasma(germoplasma_id), </a:t>
            </a:r>
            <a:r>
              <a:rPr lang="en-US" sz="1350">
                <a:solidFill>
                  <a:srgbClr val="D8E4DA"/>
                </a:solidFill>
                <a:latin typeface="Consolas" panose="020B0609020204030204" pitchFamily="49" charset="0"/>
              </a:rPr>
              <a:t>-- genótipo precisa estar cadastrado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  bloco          INTEGER CHECK (bloco BETWEEN 1 AND 4),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  linha          INTEGER,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  coluna         INTEGER,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  UNIQUE (ensaio_id, linha, coluna)                                  </a:t>
            </a:r>
            <a:r>
              <a:rPr lang="en-US" sz="1350">
                <a:solidFill>
                  <a:srgbClr val="D8E4DA"/>
                </a:solidFill>
                <a:latin typeface="Consolas" panose="020B0609020204030204" pitchFamily="49" charset="0"/>
              </a:rPr>
              <a:t>-- uma parcela por posição</a:t>
            </a:r>
          </a:p>
          <a:p>
            <a:r>
              <a:rPr lang="en-US" sz="1350">
                <a:solidFill>
                  <a:srgbClr val="F5F3ED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D76D3013-1171-16C2-0719-4C3135B5AEA2}"/>
              </a:ext>
            </a:extLst>
          </p:cNvPr>
          <p:cNvSpPr/>
          <p:nvPr/>
        </p:nvSpPr>
        <p:spPr>
          <a:xfrm>
            <a:off x="640080" y="1053211"/>
            <a:ext cx="76200" cy="215646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23100294-7F91-9174-7CB7-AD817241E673}"/>
              </a:ext>
            </a:extLst>
          </p:cNvPr>
          <p:cNvSpPr txBox="1"/>
          <p:nvPr/>
        </p:nvSpPr>
        <p:spPr>
          <a:xfrm>
            <a:off x="640080" y="3362071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PRIMARY KEY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identidade única.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REFERENCES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integridade referencial.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UNIQUE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sem duplicatas físicas.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CHECK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valores válidos.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NOT NULL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campo obrigatório.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restrição transforma uma regra que dependia da atenção de alguém em uma regra que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o banco garante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365079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2.4  Normalização: por que não uma tabela única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2AE8F0D3-3F44-B662-F402-1DCD1713CA5A}"/>
              </a:ext>
            </a:extLst>
          </p:cNvPr>
          <p:cNvSpPr txBox="1"/>
          <p:nvPr/>
        </p:nvSpPr>
        <p:spPr>
          <a:xfrm>
            <a:off x="640080" y="1053210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Tabela "larga" (uma linha por parcela, tudo junto):</a:t>
            </a:r>
            <a:endParaRPr lang="en-US" sz="2000" b="1">
              <a:solidFill>
                <a:srgbClr val="4A7C59"/>
              </a:solidFill>
              <a:latin typeface="DejaVu Sans"/>
            </a:endParaRPr>
          </a:p>
        </p:txBody>
      </p:sp>
      <p:graphicFrame>
        <p:nvGraphicFramePr>
          <p:cNvPr id="14" name="Fit796Table">
            <a:extLst>
              <a:ext uri="{FF2B5EF4-FFF2-40B4-BE49-F238E27FC236}">
                <a16:creationId xmlns:a16="http://schemas.microsoft.com/office/drawing/2014/main" id="{A4CD70E9-7ABD-277A-3AB3-E64146B90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774802"/>
              </p:ext>
            </p:extLst>
          </p:nvPr>
        </p:nvGraphicFramePr>
        <p:xfrm>
          <a:off x="640080" y="1562226"/>
          <a:ext cx="109093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166061829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145300099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933477756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7289497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519094426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58232028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71056755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3101806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parcela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genotipo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local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latitude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ano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mae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pai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PROD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6769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P0001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DH24_0012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Uberlandia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−18,92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2024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FA_03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FA_17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10.540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50857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P0002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DH24_0012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Uberlândia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−18,92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2024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FA_03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FA_71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10.210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75730"/>
                  </a:ext>
                </a:extLst>
              </a:tr>
            </a:tbl>
          </a:graphicData>
        </a:graphic>
      </p:graphicFrame>
      <p:sp>
        <p:nvSpPr>
          <p:cNvPr id="15" name="FitText">
            <a:extLst>
              <a:ext uri="{FF2B5EF4-FFF2-40B4-BE49-F238E27FC236}">
                <a16:creationId xmlns:a16="http://schemas.microsoft.com/office/drawing/2014/main" id="{97F33EEC-4329-FC61-DF6F-3AFA41496795}"/>
              </a:ext>
            </a:extLst>
          </p:cNvPr>
          <p:cNvSpPr txBox="1"/>
          <p:nvPr/>
        </p:nvSpPr>
        <p:spPr>
          <a:xfrm>
            <a:off x="640080" y="2658362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Latitude e pedigree repetidos em cada parcela: um erro de digitação cria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duas versões da verdade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(veja "Uberlandia" × "Uberlândia" e o pai FA_17 × FA_71 do mesmo genótipo).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Corrigir exige atualizar milhares de linhas; esquecer uma cria inconsistência.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Normalizar = cada fato registrado uma vez, ligado por chaves.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51842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2.5  Duas camadas: bruta e curada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47" name="ProcessBox0">
            <a:extLst>
              <a:ext uri="{FF2B5EF4-FFF2-40B4-BE49-F238E27FC236}">
                <a16:creationId xmlns:a16="http://schemas.microsoft.com/office/drawing/2014/main" id="{D5AD294C-48B5-6D76-04EA-81F23DE7A0BD}"/>
              </a:ext>
            </a:extLst>
          </p:cNvPr>
          <p:cNvSpPr/>
          <p:nvPr/>
        </p:nvSpPr>
        <p:spPr>
          <a:xfrm>
            <a:off x="381000" y="1053211"/>
            <a:ext cx="2810933" cy="1701673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Camada bruta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bruto_parcelas, bruto_germoplasma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como chegou do campo · sem restrições · nunca editada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48" name="ProcessBox1">
            <a:extLst>
              <a:ext uri="{FF2B5EF4-FFF2-40B4-BE49-F238E27FC236}">
                <a16:creationId xmlns:a16="http://schemas.microsoft.com/office/drawing/2014/main" id="{BFB71F07-1630-AFAC-3913-C985F5BB846D}"/>
              </a:ext>
            </a:extLst>
          </p:cNvPr>
          <p:cNvSpPr/>
          <p:nvPr/>
        </p:nvSpPr>
        <p:spPr>
          <a:xfrm>
            <a:off x="4690533" y="1053211"/>
            <a:ext cx="2810934" cy="1701673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Camada curada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germoplasma, pedigree, parcela, observacao…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com chaves e restrições · reconstruída pelo script de QC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49" name="ProcessBox2">
            <a:extLst>
              <a:ext uri="{FF2B5EF4-FFF2-40B4-BE49-F238E27FC236}">
                <a16:creationId xmlns:a16="http://schemas.microsoft.com/office/drawing/2014/main" id="{F27E9C4A-3CD7-9B7E-594D-EB89A9F69776}"/>
              </a:ext>
            </a:extLst>
          </p:cNvPr>
          <p:cNvSpPr/>
          <p:nvPr/>
        </p:nvSpPr>
        <p:spPr>
          <a:xfrm>
            <a:off x="9000067" y="1053211"/>
            <a:ext cx="2810933" cy="1701673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 b="1">
                <a:solidFill>
                  <a:srgbClr val="2E3A2F"/>
                </a:solidFill>
                <a:latin typeface="DejaVu Sans"/>
              </a:rPr>
              <a:t>Análise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>
                <a:solidFill>
                  <a:srgbClr val="2E3A2F"/>
                </a:solidFill>
                <a:latin typeface="DejaVu Sans"/>
              </a:rPr>
              <a:t>v_prod_parcela → lme4, GBLUP, ML</a:t>
            </a:r>
          </a:p>
        </p:txBody>
      </p:sp>
      <p:sp>
        <p:nvSpPr>
          <p:cNvPr id="50" name="ProcessArrow0">
            <a:extLst>
              <a:ext uri="{FF2B5EF4-FFF2-40B4-BE49-F238E27FC236}">
                <a16:creationId xmlns:a16="http://schemas.microsoft.com/office/drawing/2014/main" id="{3914D00E-D965-E0DE-58E5-9A57185D0C3E}"/>
              </a:ext>
            </a:extLst>
          </p:cNvPr>
          <p:cNvSpPr/>
          <p:nvPr/>
        </p:nvSpPr>
        <p:spPr>
          <a:xfrm>
            <a:off x="3293533" y="1815148"/>
            <a:ext cx="12954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rocessLabel0">
            <a:extLst>
              <a:ext uri="{FF2B5EF4-FFF2-40B4-BE49-F238E27FC236}">
                <a16:creationId xmlns:a16="http://schemas.microsoft.com/office/drawing/2014/main" id="{AC46CE74-AAE4-5108-C6F3-50E70F81D4C8}"/>
              </a:ext>
            </a:extLst>
          </p:cNvPr>
          <p:cNvSpPr txBox="1"/>
          <p:nvPr/>
        </p:nvSpPr>
        <p:spPr>
          <a:xfrm>
            <a:off x="3217333" y="1188211"/>
            <a:ext cx="1447800" cy="588836"/>
          </a:xfrm>
          <a:prstGeom prst="rect">
            <a:avLst/>
          </a:prstGeom>
          <a:noFill/>
        </p:spPr>
        <p:txBody>
          <a:bodyPr vert="horz" wrap="square" lIns="12700" tIns="0" rIns="12700" bIns="0" rtlCol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400" b="1">
                <a:solidFill>
                  <a:srgbClr val="4A7C59"/>
                </a:solidFill>
                <a:latin typeface="DejaVu Sans"/>
              </a:rPr>
              <a:t>QC + correções registradas</a:t>
            </a:r>
          </a:p>
        </p:txBody>
      </p:sp>
      <p:sp>
        <p:nvSpPr>
          <p:cNvPr id="52" name="ProcessArrow1">
            <a:extLst>
              <a:ext uri="{FF2B5EF4-FFF2-40B4-BE49-F238E27FC236}">
                <a16:creationId xmlns:a16="http://schemas.microsoft.com/office/drawing/2014/main" id="{340F094F-1EAF-1CF2-ECA5-8D80E4257D3A}"/>
              </a:ext>
            </a:extLst>
          </p:cNvPr>
          <p:cNvSpPr/>
          <p:nvPr/>
        </p:nvSpPr>
        <p:spPr>
          <a:xfrm>
            <a:off x="7603067" y="1815148"/>
            <a:ext cx="12954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rocessLabel1">
            <a:extLst>
              <a:ext uri="{FF2B5EF4-FFF2-40B4-BE49-F238E27FC236}">
                <a16:creationId xmlns:a16="http://schemas.microsoft.com/office/drawing/2014/main" id="{29C706C8-ACB2-DF03-47E3-A695D0235321}"/>
              </a:ext>
            </a:extLst>
          </p:cNvPr>
          <p:cNvSpPr txBox="1"/>
          <p:nvPr/>
        </p:nvSpPr>
        <p:spPr>
          <a:xfrm>
            <a:off x="7526867" y="1384490"/>
            <a:ext cx="1447800" cy="392557"/>
          </a:xfrm>
          <a:prstGeom prst="rect">
            <a:avLst/>
          </a:prstGeom>
          <a:noFill/>
        </p:spPr>
        <p:txBody>
          <a:bodyPr vert="horz" wrap="square" lIns="12700" tIns="0" rIns="12700" bIns="0" rtlCol="0">
            <a:noAutofit/>
          </a:bodyPr>
          <a:lstStyle/>
          <a:p>
            <a:pPr algn="ctr">
              <a:lnSpc>
                <a:spcPct val="92000"/>
              </a:lnSpc>
            </a:pPr>
            <a:r>
              <a:rPr lang="en-US" sz="1400" b="1">
                <a:solidFill>
                  <a:srgbClr val="4A7C59"/>
                </a:solidFill>
                <a:latin typeface="DejaVu Sans"/>
              </a:rPr>
              <a:t>visões de análise</a:t>
            </a:r>
          </a:p>
        </p:txBody>
      </p:sp>
      <p:sp>
        <p:nvSpPr>
          <p:cNvPr id="54" name="FitText">
            <a:extLst>
              <a:ext uri="{FF2B5EF4-FFF2-40B4-BE49-F238E27FC236}">
                <a16:creationId xmlns:a16="http://schemas.microsoft.com/office/drawing/2014/main" id="{AB659C70-9662-5E49-4E11-527DD2C7F248}"/>
              </a:ext>
            </a:extLst>
          </p:cNvPr>
          <p:cNvSpPr txBox="1"/>
          <p:nvPr/>
        </p:nvSpPr>
        <p:spPr>
          <a:xfrm>
            <a:off x="640080" y="2958084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camada bruta aceita erros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de propósito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só assim eles podem ser carregados, auditados e corrigidos de forma rastreável.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As restrições da camada curada são a última barreira: um erro que passar pelo QC é rejeitado na carga.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229424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2.6  Por que saber SQL, mesmo com IA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Morales et al. (2022), G3, 12: jkac078 — Breedbase.   ·   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88D48667-6B93-BE22-C738-8277710FF804}"/>
              </a:ext>
            </a:extLst>
          </p:cNvPr>
          <p:cNvSpPr txBox="1"/>
          <p:nvPr/>
        </p:nvSpPr>
        <p:spPr>
          <a:xfrm>
            <a:off x="640080" y="1053211"/>
            <a:ext cx="5308600" cy="47396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Linguagem padrão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(ANSI/ISO) há décadas; o mesmo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SELECT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funciona em DuckDB, SQLite, PostgreSQL, MySQL, BigQuery.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Sistemas de gestão de melhoramento são bancos relacionais: o Breedbase, por exemplo, usa PostgreSQL e expõe os dados pela BrAPI.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DuckDB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consulta CSV e Parquet diretamente, sem servidor: ideal para análise local e para ensino.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IA escreve SQL muito bem, mas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você precisa ler e validar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uma consulta errada não dá erro, dá um número errado.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D11080EF-7467-D427-094E-029113BC46B7}"/>
              </a:ext>
            </a:extLst>
          </p:cNvPr>
          <p:cNvSpPr txBox="1"/>
          <p:nvPr/>
        </p:nvSpPr>
        <p:spPr>
          <a:xfrm>
            <a:off x="6240780" y="1053210"/>
            <a:ext cx="53086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O que o pesquisador precisa dominar</a:t>
            </a:r>
            <a:endParaRPr lang="en-US" sz="2000" b="1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97C309BB-CCB9-B1AE-2D41-597791F91E95}"/>
              </a:ext>
            </a:extLst>
          </p:cNvPr>
          <p:cNvSpPr txBox="1"/>
          <p:nvPr/>
        </p:nvSpPr>
        <p:spPr>
          <a:xfrm>
            <a:off x="6240780" y="1842642"/>
            <a:ext cx="5308600" cy="32339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SELECT … FROM … WHERE … ORDER BY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JOIN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(interno 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LEFT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GROUP BY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HAVING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Subconsultas 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WITH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(CTE)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Funções de janela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OVER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Como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NULL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se comporta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Contar linhas antes e depois de cada junção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081835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2.7  SQL essencial (1): selecionar e filtrar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959A4207-C5D5-4F12-BA65-B32246226077}"/>
              </a:ext>
            </a:extLst>
          </p:cNvPr>
          <p:cNvSpPr/>
          <p:nvPr/>
        </p:nvSpPr>
        <p:spPr>
          <a:xfrm>
            <a:off x="640080" y="1053211"/>
            <a:ext cx="10909300" cy="21336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SELECT p.parcela_id, p.germoplasma_id, o.valor AS prod_kg_ha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FROM observacao o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JOIN parcela  p ON o.parcela_id  = p.parcela_id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JOIN ensaio   e ON p.ensaio_id   = e.ensaio_id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JOIN ambiente a ON e.ambiente_id = a.ambiente_id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WHERE a.local = 'Uberlandia' AND a.ano = 2025 AND o.valor IS NOT NULL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ORDER BY o.valor DESC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LIMIT 5;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D22F1C6C-A27F-00A0-5181-752F25C47B2E}"/>
              </a:ext>
            </a:extLst>
          </p:cNvPr>
          <p:cNvSpPr/>
          <p:nvPr/>
        </p:nvSpPr>
        <p:spPr>
          <a:xfrm>
            <a:off x="640080" y="1053211"/>
            <a:ext cx="76200" cy="21336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Fit796Table">
            <a:extLst>
              <a:ext uri="{FF2B5EF4-FFF2-40B4-BE49-F238E27FC236}">
                <a16:creationId xmlns:a16="http://schemas.microsoft.com/office/drawing/2014/main" id="{E33970B1-5DD7-A9AB-57FE-DFF90F4B7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978209"/>
              </p:ext>
            </p:extLst>
          </p:nvPr>
        </p:nvGraphicFramePr>
        <p:xfrm>
          <a:off x="640080" y="3339211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1625049624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1435457359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8577282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parcela_id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germoplasma_id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prod_kg_ha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154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P_UDI_2025_V_0635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DH25_0089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14.435,1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2386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P_UDI_2025_V_0768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DH25_0288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14.358,5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3008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a-DK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P_UDI_2025_V_0448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DH25_0030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14.178,8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606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437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2.8  SQL essencial (2): junções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88EA8975-2F45-D6BB-F028-65144489249A}"/>
              </a:ext>
            </a:extLst>
          </p:cNvPr>
          <p:cNvSpPr txBox="1"/>
          <p:nvPr/>
        </p:nvSpPr>
        <p:spPr>
          <a:xfrm>
            <a:off x="640080" y="1053211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JOIN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(interno): só linhas com correspondência nas duas tabelas.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LEFT JOIN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todas as linhas da esquerda;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NULL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onde não há correspondência. Serve para achar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o que falta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CodeBox">
            <a:extLst>
              <a:ext uri="{FF2B5EF4-FFF2-40B4-BE49-F238E27FC236}">
                <a16:creationId xmlns:a16="http://schemas.microsoft.com/office/drawing/2014/main" id="{85CB1585-F043-FAF5-CA4C-1C666214AE31}"/>
              </a:ext>
            </a:extLst>
          </p:cNvPr>
          <p:cNvSpPr/>
          <p:nvPr/>
        </p:nvSpPr>
        <p:spPr>
          <a:xfrm>
            <a:off x="640080" y="2275459"/>
            <a:ext cx="10909300" cy="16764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-- Germoplasma cadastrado sem nenhuma parcela, por origem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SELECT g.origem, COUNT(*) AS n_sem_parcela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FROM germoplasma g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LEFT JOIN parcela p ON g.germoplasma_id = p.germoplasma_id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WHERE p.parcela_id IS NULL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GROUP BY g.origem;</a:t>
            </a:r>
          </a:p>
        </p:txBody>
      </p:sp>
      <p:sp>
        <p:nvSpPr>
          <p:cNvPr id="15" name="CodeBoxAccent">
            <a:extLst>
              <a:ext uri="{FF2B5EF4-FFF2-40B4-BE49-F238E27FC236}">
                <a16:creationId xmlns:a16="http://schemas.microsoft.com/office/drawing/2014/main" id="{24C4AE32-8253-3330-9A26-BC477291AD36}"/>
              </a:ext>
            </a:extLst>
          </p:cNvPr>
          <p:cNvSpPr/>
          <p:nvPr/>
        </p:nvSpPr>
        <p:spPr>
          <a:xfrm>
            <a:off x="640080" y="2275459"/>
            <a:ext cx="76200" cy="16764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Fit796Table">
            <a:extLst>
              <a:ext uri="{FF2B5EF4-FFF2-40B4-BE49-F238E27FC236}">
                <a16:creationId xmlns:a16="http://schemas.microsoft.com/office/drawing/2014/main" id="{72EA2535-9E1E-A4C5-E383-96089EEC8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33048"/>
              </p:ext>
            </p:extLst>
          </p:nvPr>
        </p:nvGraphicFramePr>
        <p:xfrm>
          <a:off x="640080" y="4104259"/>
          <a:ext cx="109093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377273856"/>
                    </a:ext>
                  </a:extLst>
                </a:gridCol>
                <a:gridCol w="6108700">
                  <a:extLst>
                    <a:ext uri="{9D8B030D-6E8A-4147-A177-3AD203B41FA5}">
                      <a16:colId xmlns:a16="http://schemas.microsoft.com/office/drawing/2014/main" val="17403495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origem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n_sem_parcela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6412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fundador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99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2163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testador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91928"/>
                  </a:ext>
                </a:extLst>
              </a:tr>
            </a:tbl>
          </a:graphicData>
        </a:graphic>
      </p:graphicFrame>
      <p:sp>
        <p:nvSpPr>
          <p:cNvPr id="17" name="FitText">
            <a:extLst>
              <a:ext uri="{FF2B5EF4-FFF2-40B4-BE49-F238E27FC236}">
                <a16:creationId xmlns:a16="http://schemas.microsoft.com/office/drawing/2014/main" id="{E8CAC4D6-EC8D-E53A-E487-74066690F864}"/>
              </a:ext>
            </a:extLst>
          </p:cNvPr>
          <p:cNvSpPr txBox="1"/>
          <p:nvPr/>
        </p:nvSpPr>
        <p:spPr>
          <a:xfrm>
            <a:off x="640080" y="5200395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Resultado esperado: fundadores e testador não são avaliados em parcela. Se aparecesse uma linhagem DH aqui, seria um problema.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966497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2.9  SQL essencial (3): agregar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050015D2-AEAA-BC59-3B35-D51C2D502112}"/>
              </a:ext>
            </a:extLst>
          </p:cNvPr>
          <p:cNvSpPr/>
          <p:nvPr/>
        </p:nvSpPr>
        <p:spPr>
          <a:xfrm>
            <a:off x="640080" y="1053211"/>
            <a:ext cx="10909300" cy="16764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SELECT germoplasma_id, ambiente_id, COUNT(prod) AS n, ROUND(AVG(prod), 0) AS media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FROM v_prod_parcela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GROUP BY germoplasma_id, ambiente_id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HAVING COUNT(prod) = 2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-- só combinações com as duas repetições válidas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ORDER BY media DESC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LIMIT 3;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DCB98E6B-5B20-5CFE-0877-3FBFD6871126}"/>
              </a:ext>
            </a:extLst>
          </p:cNvPr>
          <p:cNvSpPr/>
          <p:nvPr/>
        </p:nvSpPr>
        <p:spPr>
          <a:xfrm>
            <a:off x="640080" y="1053211"/>
            <a:ext cx="76200" cy="16764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Fit796Table">
            <a:extLst>
              <a:ext uri="{FF2B5EF4-FFF2-40B4-BE49-F238E27FC236}">
                <a16:creationId xmlns:a16="http://schemas.microsoft.com/office/drawing/2014/main" id="{C809E70C-4A1E-A43F-3974-C7486D461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888348"/>
              </p:ext>
            </p:extLst>
          </p:nvPr>
        </p:nvGraphicFramePr>
        <p:xfrm>
          <a:off x="640080" y="2882011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4053861269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4192073140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145772532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18326239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germoplasma_id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ambiente_id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n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media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2770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DH25_0046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UDI_2025_V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13.759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9466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DH25_0259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UDI_2025_V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13.568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8122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DH25_0073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UDI_2025_V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13.551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83309"/>
                  </a:ext>
                </a:extLst>
              </a:tr>
            </a:tbl>
          </a:graphicData>
        </a:graphic>
      </p:graphicFrame>
      <p:sp>
        <p:nvSpPr>
          <p:cNvPr id="16" name="FitText">
            <a:extLst>
              <a:ext uri="{FF2B5EF4-FFF2-40B4-BE49-F238E27FC236}">
                <a16:creationId xmlns:a16="http://schemas.microsoft.com/office/drawing/2014/main" id="{E063649C-0BDF-E873-006D-F9A8FB60D501}"/>
              </a:ext>
            </a:extLst>
          </p:cNvPr>
          <p:cNvSpPr txBox="1"/>
          <p:nvPr/>
        </p:nvSpPr>
        <p:spPr>
          <a:xfrm>
            <a:off x="640080" y="4292727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WHERE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filtra linhas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antes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 agrupar;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HAVING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filtra grupos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depois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Tabela de médias G×E serve para exploração e estabilidade; para BLUP, use os dados de parcela.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958391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2.10  SQL intermediário: CTE e funções de janela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24668A43-F66A-B47A-05BB-D7854408F7DE}"/>
              </a:ext>
            </a:extLst>
          </p:cNvPr>
          <p:cNvSpPr/>
          <p:nvPr/>
        </p:nvSpPr>
        <p:spPr>
          <a:xfrm>
            <a:off x="640080" y="1053211"/>
            <a:ext cx="10909300" cy="25908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WITH medias AS (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SELECT ambiente_id, germoplasma_id, AVG(prod) AS media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FROM v_prod_parcela GROUP BY ambiente_id, germoplasma_id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ordenado AS (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SELECT *, RANK() OVER (PARTITION BY ambiente_id ORDER BY media DESC) AS posicao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FROM medias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SELECT ambiente_id, posicao, germoplasma_id, ROUND(media, 0) AS media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FROM ordenado WHERE posicao &lt;= 3 ORDER BY ambiente_id, posicao;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5A1237D0-3C3D-F48F-0E40-8099EE4F7ED5}"/>
              </a:ext>
            </a:extLst>
          </p:cNvPr>
          <p:cNvSpPr/>
          <p:nvPr/>
        </p:nvSpPr>
        <p:spPr>
          <a:xfrm>
            <a:off x="640080" y="1053211"/>
            <a:ext cx="76200" cy="25908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7FA45D52-58B0-5EA6-939B-3E1A6CB85100}"/>
              </a:ext>
            </a:extLst>
          </p:cNvPr>
          <p:cNvSpPr txBox="1"/>
          <p:nvPr/>
        </p:nvSpPr>
        <p:spPr>
          <a:xfrm>
            <a:off x="640080" y="3796411"/>
            <a:ext cx="10909300" cy="15026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WITH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dá nome a etapas intermediárias: a consulta fica legível como um script.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OVER (PARTITION BY …)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calcula por grupo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sem colapsar as linhas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posição no ambiente, desvio da média do ensaio, z-escore por ambiente.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Resultado: as 3 melhores linhagens em cada um dos 6 ambientes (18 linhas).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80430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2.11  Armadilhas que geram números errados sem erro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499E28DC-F2F1-AEBE-26CC-0C356F7F8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050432"/>
              </p:ext>
            </p:extLst>
          </p:nvPr>
        </p:nvGraphicFramePr>
        <p:xfrm>
          <a:off x="640080" y="1053211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400">
                  <a:extLst>
                    <a:ext uri="{9D8B030D-6E8A-4147-A177-3AD203B41FA5}">
                      <a16:colId xmlns:a16="http://schemas.microsoft.com/office/drawing/2014/main" val="1829274774"/>
                    </a:ext>
                  </a:extLst>
                </a:gridCol>
                <a:gridCol w="5803900">
                  <a:extLst>
                    <a:ext uri="{9D8B030D-6E8A-4147-A177-3AD203B41FA5}">
                      <a16:colId xmlns:a16="http://schemas.microsoft.com/office/drawing/2014/main" val="2878746535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Armadilha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No banco do curso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717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COUNT(*) conta linhas; COUNT(valor) ignora NULL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4.800 linhas, 4.790 valores válidos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723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Filtro da tabela da direita no WHERE desfaz o LEFT JOIN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2.400 linhas (WHERE) × 2.500 (ON)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902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valor = NULL nunca é verdadeiro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use valor IS NULL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2144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Junção que multiplica linhas (chave não única)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conte linhas antes e depois de cada JOIN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2453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Média de médias ≠ média das parcelas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10.242 × 10.246 kg/ha aqui; em redes desbalanceadas, a diferença cresce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790709"/>
                  </a:ext>
                </a:extLst>
              </a:tr>
            </a:tbl>
          </a:graphicData>
        </a:graphic>
      </p:graphicFrame>
      <p:sp>
        <p:nvSpPr>
          <p:cNvPr id="14" name="FitCallout">
            <a:extLst>
              <a:ext uri="{FF2B5EF4-FFF2-40B4-BE49-F238E27FC236}">
                <a16:creationId xmlns:a16="http://schemas.microsoft.com/office/drawing/2014/main" id="{0D75826E-EA9F-7548-C048-D04E8690EC81}"/>
              </a:ext>
            </a:extLst>
          </p:cNvPr>
          <p:cNvSpPr/>
          <p:nvPr/>
        </p:nvSpPr>
        <p:spPr>
          <a:xfrm>
            <a:off x="640080" y="4046601"/>
            <a:ext cx="10909300" cy="81483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Ao revisar SQL escrito por IA, pergunte: quantas linhas eu esperava? Quantas vieram?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5" name="FitCalloutBar">
            <a:extLst>
              <a:ext uri="{FF2B5EF4-FFF2-40B4-BE49-F238E27FC236}">
                <a16:creationId xmlns:a16="http://schemas.microsoft.com/office/drawing/2014/main" id="{6C3CB41A-32A6-FB1F-F8AD-C7FD3DCA86FF}"/>
              </a:ext>
            </a:extLst>
          </p:cNvPr>
          <p:cNvSpPr/>
          <p:nvPr/>
        </p:nvSpPr>
        <p:spPr>
          <a:xfrm>
            <a:off x="640080" y="4046601"/>
            <a:ext cx="63500" cy="814832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67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2.12  SQL dentro do 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9F252AE6-F311-B5C6-7011-5A10AF50C090}"/>
              </a:ext>
            </a:extLst>
          </p:cNvPr>
          <p:cNvSpPr/>
          <p:nvPr/>
        </p:nvSpPr>
        <p:spPr>
          <a:xfrm>
            <a:off x="640080" y="1053211"/>
            <a:ext cx="10909300" cy="16764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library(DBI)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con &lt;- dbConnect(duckdb::duckdb(), dbdir = "db/programa_milho.duckdb")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d &lt;- dbGetQuery(con, "SELECT * FROM v_prod_parcela WHERE prod IS NOT NULL ORDER BY parcela_id")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modelo &lt;- lme4::lmer(prod ~ ambiente_id + (1 | ambiente_id:bloco) + (1 | germoplasma_id) +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                     (1 | germoplasma_id:ambiente_id), data = d)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dbDisconnect(con, shutdown = TRUE)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D9348964-E01E-ACF4-CA02-ADEBA0348257}"/>
              </a:ext>
            </a:extLst>
          </p:cNvPr>
          <p:cNvSpPr/>
          <p:nvPr/>
        </p:nvSpPr>
        <p:spPr>
          <a:xfrm>
            <a:off x="640080" y="1053211"/>
            <a:ext cx="76200" cy="16764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3BEF25F7-3FDB-CE1C-B692-ECB7135880EE}"/>
              </a:ext>
            </a:extLst>
          </p:cNvPr>
          <p:cNvSpPr txBox="1"/>
          <p:nvPr/>
        </p:nvSpPr>
        <p:spPr>
          <a:xfrm>
            <a:off x="640080" y="2882011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banco filtra e junta; o R modela. Só o necessário vem para a memória.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ORDER BY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em toda consulta que alimenta sorteios (folds, amostras): sem ele, a ordem das linhas pode mudar entre sistemas e o resultado deixa de ser reproduzível.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305119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2.13  E os dados genômicos?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2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C01352EF-61F5-E642-06D6-4855E999A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852353"/>
              </p:ext>
            </p:extLst>
          </p:nvPr>
        </p:nvGraphicFramePr>
        <p:xfrm>
          <a:off x="640080" y="1053211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41081764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18014135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7393718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Dado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Onde guardar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Por quê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57939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Fenótipos, ensaios, pedigree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Banco relacional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Relações, integridade, consultas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0670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Matriz de marcadores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Arquivo próprio (VCF indexado, PLINK, HDF5, Parquet, RDS)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500 mil SNPs × 2 mil indivíduos = 10⁹ linhas em formato longo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93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Imagens, LiDAR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Armazenamento de arquivos + tabela com caminho e metadados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Arquivos grandes, binários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17019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3A3DC0D3-498E-A888-9C6F-13B058F00624}"/>
              </a:ext>
            </a:extLst>
          </p:cNvPr>
          <p:cNvSpPr txBox="1"/>
          <p:nvPr/>
        </p:nvSpPr>
        <p:spPr>
          <a:xfrm>
            <a:off x="640080" y="3179064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banco guarda 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vínculo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amostra_genotipo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germoplasma ↔ amostra ↔ arquivo), não a matriz.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vínculo é exatamente onde ocorre a troca de amostras: ele também passa por QC (Bloco 3).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893614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QA/QC: garantir e controlar a qualidade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3 · 30 min · SEÇÃO 1 · BLOCO 3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06867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3.1  QA e QC não são a mesma coisa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A322AA47-455E-6A94-AF7E-1E6F9BA65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553107"/>
              </p:ext>
            </p:extLst>
          </p:nvPr>
        </p:nvGraphicFramePr>
        <p:xfrm>
          <a:off x="640080" y="1053211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>
                  <a:extLst>
                    <a:ext uri="{9D8B030D-6E8A-4147-A177-3AD203B41FA5}">
                      <a16:colId xmlns:a16="http://schemas.microsoft.com/office/drawing/2014/main" val="2838413481"/>
                    </a:ext>
                  </a:extLst>
                </a:gridCol>
                <a:gridCol w="5054600">
                  <a:extLst>
                    <a:ext uri="{9D8B030D-6E8A-4147-A177-3AD203B41FA5}">
                      <a16:colId xmlns:a16="http://schemas.microsoft.com/office/drawing/2014/main" val="1278061143"/>
                    </a:ext>
                  </a:extLst>
                </a:gridCol>
                <a:gridCol w="4546600">
                  <a:extLst>
                    <a:ext uri="{9D8B030D-6E8A-4147-A177-3AD203B41FA5}">
                      <a16:colId xmlns:a16="http://schemas.microsoft.com/office/drawing/2014/main" val="319893281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Garantia de qualidade (QA)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Controle de qualidade (QC)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873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Objetivo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Evitar que o erro aconteça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Detectar e tratar o erro que aconteceu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6729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Quando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Antes e durante a coleta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Depois da coleta, antes da análise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1937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Natureza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Processo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Verificação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617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Exemplos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IDs gerados pelo sistema, etiquetas com código de barras, coletor digital com intervalos válidos, calibração de balanças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Consultas de duplicatas e intervalos, resíduos studentizados, checagem de pedigree com marcadores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380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Pergunta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"Como impedir?"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"O que passou?"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9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992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3.2  Dimensões da qualidade de dados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B68A8A1A-0ACB-07E2-B54C-E24F880A6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32777"/>
              </p:ext>
            </p:extLst>
          </p:nvPr>
        </p:nvGraphicFramePr>
        <p:xfrm>
          <a:off x="640080" y="1053211"/>
          <a:ext cx="109093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516639067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540372876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3913457024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36600977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Dimensão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Pergunta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Exemplo no programa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Verificação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4171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Completude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Falta algo?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Parcela sem produtividade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Contagem de ausentes por ensaio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53093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Validade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Está no formato e intervalo?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PROD = 104.613 kg/ha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Intervalo do dicionário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93288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Unicidade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Está registrado uma vez?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Parcela digitada duas vezes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GROUP BY … HAVING COUNT(*) &gt; 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2918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Consistência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Concorda consigo mesmo?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DH24-0094 × DH24_0094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Padrão de ID (regex)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73282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Integridade referencial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As ligações existem?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Mãe FA_91 não cadastrada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LEFT JOIN … IS NULL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5133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Acurácia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Corresponde à realidade?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Amostra de DNA trocada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Marcadores × pedigree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881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Atualidade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Está na versão certa?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Análise com extração antiga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Data e versão da extração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651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580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3.3  QA na origem: prevenir é mais barato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Rife e Poland (2014), Crop Science 54(4) — Field Book; doi:10.2135/cropsci2013.08.0579.   ·   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4A668452-1A86-1806-EA7B-45F523DA1DDA}"/>
              </a:ext>
            </a:extLst>
          </p:cNvPr>
          <p:cNvSpPr txBox="1"/>
          <p:nvPr/>
        </p:nvSpPr>
        <p:spPr>
          <a:xfrm>
            <a:off x="640080" y="1053211"/>
            <a:ext cx="10909300" cy="36423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Identificadores gerados pelo sistema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nunca digitados à mão; impressos em etiquetas com código de barras.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Coletores digitais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 campo (por exemplo, o Field Book, de código aberto) com lista de parcelas importada e intervalos válidos por variável.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Dicionário de variáveis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definido antes da coleta: unidade, método, escala, momento, intervalo, código de ausente.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Calibração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 balanças e medidores de umidade, com registro.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Croqui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plano de ensaio exportados do sistema, não redesenhados à mão.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Dupla checagem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 lotes críticos (cadastro de cruzamentos, envio de amostras ao laboratório).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63311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3.4  QC estrutural com SQL: resultados no banco do curso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89BDAEB0-553A-AF30-E954-EB4379032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11894"/>
              </p:ext>
            </p:extLst>
          </p:nvPr>
        </p:nvGraphicFramePr>
        <p:xfrm>
          <a:off x="640080" y="1053211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796167604"/>
                    </a:ext>
                  </a:extLst>
                </a:gridCol>
                <a:gridCol w="4660900">
                  <a:extLst>
                    <a:ext uri="{9D8B030D-6E8A-4147-A177-3AD203B41FA5}">
                      <a16:colId xmlns:a16="http://schemas.microsoft.com/office/drawing/2014/main" val="228928873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525000589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Verificação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Consulta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Casos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89353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Parcela duplicada (mesma posição)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GROUP BY ensaio, linha, coluna HAVING COUNT(*) &gt; 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2672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Valor fora do intervalo (×10 e t/ha)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WHERE PROD &lt; minimo OR PROD &gt; maximo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35636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ID fora do padrão DH&lt;ano&gt;_&lt;número&gt;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NOT regexp_matches(nome, '^DH[0-9]{2}_[0-9]{4}$')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7570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Nome sem cadastro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LEFT JOIN cadastro … IS NULL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347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Genitor inexistente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mae_id NOT IN (SELECT …)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78894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Linhagem em um só ambiente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HAVING COUNT(DISTINCT ambiente) = 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14 (6 reais)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436295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639A3235-A4BD-300D-003E-3503EE85E49D}"/>
              </a:ext>
            </a:extLst>
          </p:cNvPr>
          <p:cNvSpPr txBox="1"/>
          <p:nvPr/>
        </p:nvSpPr>
        <p:spPr>
          <a:xfrm>
            <a:off x="640080" y="4122801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Os 32 erros injetados no banco do curso foram todos encontrados (sensibilidade de 100%).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 dos IDs fora do padrão tem um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espaço invisível no início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só a regra o encontra; o olho, não.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163145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3.5  A ordem do QC importa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13E08F90-15E6-5BAE-2F3B-20AEA917ECF0}"/>
              </a:ext>
            </a:extLst>
          </p:cNvPr>
          <p:cNvSpPr txBox="1"/>
          <p:nvPr/>
        </p:nvSpPr>
        <p:spPr>
          <a:xfrm>
            <a:off x="640080" y="1053211"/>
            <a:ext cx="5308600" cy="24719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consulta de conectividade encontrou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14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linhagens avaliadas em um único ambiente.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Apenas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6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eram reais. As outras 8 eram grafias divergentes (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dh25_0266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DH25-0287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DH24_0259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): cada grafia aparece como uma "linhagem" com uma só parcela.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07869421-40ED-C263-2363-FB6B2159467B}"/>
              </a:ext>
            </a:extLst>
          </p:cNvPr>
          <p:cNvSpPr txBox="1"/>
          <p:nvPr/>
        </p:nvSpPr>
        <p:spPr>
          <a:xfrm>
            <a:off x="6240780" y="1053210"/>
            <a:ext cx="53086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 b="1">
                <a:solidFill>
                  <a:srgbClr val="4A7C59"/>
                </a:solidFill>
                <a:latin typeface="DejaVu Sans"/>
              </a:rPr>
              <a:t>Ordem recomendada</a:t>
            </a:r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13862202-2DA0-E3D3-A625-101DDEA2D904}"/>
              </a:ext>
            </a:extLst>
          </p:cNvPr>
          <p:cNvSpPr txBox="1"/>
          <p:nvPr/>
        </p:nvSpPr>
        <p:spPr>
          <a:xfrm>
            <a:off x="6240780" y="1562226"/>
            <a:ext cx="5308600" cy="30815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Normalizar identificadores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Remover duplicatas físicas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Verificar chaves (cadastro, pedigree, vínculo genótipo)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Verificar intervalos e unidades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Avaliar conectividade e balanceamento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QC estatístico (resíduos, CV, h²)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559339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3.6  QC estatístico: a qualidade de cada ensaio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984F2AEF-131B-6E32-377B-E3E3BF359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60806"/>
              </p:ext>
            </p:extLst>
          </p:nvPr>
        </p:nvGraphicFramePr>
        <p:xfrm>
          <a:off x="640080" y="1053211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663169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466857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643900726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43811804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41150408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Ensaio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Parcelas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Média (kg/ha)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CV (%)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h² de médias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84125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PGO 2024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791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10.194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5,9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9600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PGO 2025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807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10.381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4,9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0,46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0700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SLG 2024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792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8.398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7,0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2074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SLG 2025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802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9.205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5,4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0,51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4863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UDI 2024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790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11.123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8,1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0,29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8966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UDI 2025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808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12.152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5,2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0,42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1574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89438C62-C4AA-8233-5D4D-37F48CF08025}"/>
              </a:ext>
            </a:extLst>
          </p:cNvPr>
          <p:cNvSpPr txBox="1"/>
          <p:nvPr/>
        </p:nvSpPr>
        <p:spPr>
          <a:xfrm>
            <a:off x="640080" y="3407664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Ensaios com CV alto ou h² baixa merecem investigação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antes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da análise conjunta (falha de estande, heterogeneidade espacial, erro de colheita).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Complementos: mapa de campo (linha × coluna) dos resíduos, consistência entre caracteres (produtividade × umidade × estande).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687615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3.7  Outlier estatístico não é sinônimo de erro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F3C00D93-039A-2F07-52F1-A8121E61B62E}"/>
              </a:ext>
            </a:extLst>
          </p:cNvPr>
          <p:cNvSpPr txBox="1"/>
          <p:nvPr/>
        </p:nvSpPr>
        <p:spPr>
          <a:xfrm>
            <a:off x="640080" y="1053211"/>
            <a:ext cx="5308600" cy="234391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Resíduo studentizado por ensaio (bloco + genótipo):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16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parcelas com |r| &gt; 3.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Esperado só por acaso, com 4.783 parcelas e erros normais: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~13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Regra |z| &gt; 3 em SQL, por ambiente: 18 parcelas.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1772F7F2-CB43-6595-65C1-A9156B6A6B7A}"/>
              </a:ext>
            </a:extLst>
          </p:cNvPr>
          <p:cNvSpPr txBox="1"/>
          <p:nvPr/>
        </p:nvSpPr>
        <p:spPr>
          <a:xfrm>
            <a:off x="6240780" y="1053210"/>
            <a:ext cx="53086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 b="1">
                <a:solidFill>
                  <a:srgbClr val="4A7C59"/>
                </a:solidFill>
                <a:latin typeface="DejaVu Sans"/>
              </a:rPr>
              <a:t>Conduta</a:t>
            </a:r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7CE1B24F-E861-9F6F-7B94-AF78E7655174}"/>
              </a:ext>
            </a:extLst>
          </p:cNvPr>
          <p:cNvSpPr txBox="1"/>
          <p:nvPr/>
        </p:nvSpPr>
        <p:spPr>
          <a:xfrm>
            <a:off x="6240780" y="1562226"/>
            <a:ext cx="5308600" cy="27767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Sinalizar no relatório, nunca excluir automaticamente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Investigar: caderno de campo, foto, croqui, observações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Excluir só com motivo registrado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Erros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estruturais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(×10, t/ha, duplicata) são corrigidos;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valores extremos plausíveis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ficam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6" name="FitCallout">
            <a:extLst>
              <a:ext uri="{FF2B5EF4-FFF2-40B4-BE49-F238E27FC236}">
                <a16:creationId xmlns:a16="http://schemas.microsoft.com/office/drawing/2014/main" id="{41E3F3E1-BFD6-07AA-56E7-EA3307C164A9}"/>
              </a:ext>
            </a:extLst>
          </p:cNvPr>
          <p:cNvSpPr/>
          <p:nvPr/>
        </p:nvSpPr>
        <p:spPr>
          <a:xfrm>
            <a:off x="6240780" y="4491354"/>
            <a:ext cx="5308600" cy="1095248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Excluir todo |r| &gt; 3 remove variação real e infla a herdabilidade.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7" name="FitCalloutBar">
            <a:extLst>
              <a:ext uri="{FF2B5EF4-FFF2-40B4-BE49-F238E27FC236}">
                <a16:creationId xmlns:a16="http://schemas.microsoft.com/office/drawing/2014/main" id="{39E9441A-DE59-CBFF-9BE1-37594991A601}"/>
              </a:ext>
            </a:extLst>
          </p:cNvPr>
          <p:cNvSpPr/>
          <p:nvPr/>
        </p:nvSpPr>
        <p:spPr>
          <a:xfrm>
            <a:off x="6240780" y="4491354"/>
            <a:ext cx="63500" cy="1095248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47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3.8  QC de genótipos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7FA98951-728B-3694-3765-CE35A9C37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666499"/>
              </p:ext>
            </p:extLst>
          </p:nvPr>
        </p:nvGraphicFramePr>
        <p:xfrm>
          <a:off x="640080" y="1053211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3446869575"/>
                    </a:ext>
                  </a:extLst>
                </a:gridCol>
                <a:gridCol w="4025900">
                  <a:extLst>
                    <a:ext uri="{9D8B030D-6E8A-4147-A177-3AD203B41FA5}">
                      <a16:colId xmlns:a16="http://schemas.microsoft.com/office/drawing/2014/main" val="168777649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9440776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Verificação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Problema que revela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No curso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8037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Call rate por marcador e por amostra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Marcador ou amostra de baixa qualidade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100% (dado simulado)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6182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Monomórficos e MAF baixa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Marcadores sem informação na população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384 monomórficos; 219 com MAF &lt; 0,05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1913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Heterozigosidade em linhagens DH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Contaminação, mistura de amostras, falha de duplicação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 (máximo observado)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5651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Identidade entre indivíduos distintos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Duplicata ou troca de amostra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Máximo 0,95 (irmãos DH); nenhum par &gt; 0,99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991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Pedigree × marcadores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Genitor errado no cadastro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 só pode ter alelos da mãe ou do pai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235819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EEF26850-09B9-10FA-27B4-BFDA3062343F}"/>
              </a:ext>
            </a:extLst>
          </p:cNvPr>
          <p:cNvSpPr txBox="1"/>
          <p:nvPr/>
        </p:nvSpPr>
        <p:spPr>
          <a:xfrm>
            <a:off x="640080" y="4284979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Em dados reais, essa é a etapa que mais encontra trocas de amostras e erros de pedigree.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811330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3.9  O que fazer com cada problema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0F6378E3-C282-DA8C-0E9A-92679A553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363865"/>
              </p:ext>
            </p:extLst>
          </p:nvPr>
        </p:nvGraphicFramePr>
        <p:xfrm>
          <a:off x="640080" y="1053211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0">
                  <a:extLst>
                    <a:ext uri="{9D8B030D-6E8A-4147-A177-3AD203B41FA5}">
                      <a16:colId xmlns:a16="http://schemas.microsoft.com/office/drawing/2014/main" val="456205050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893227200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99413176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Situação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Ação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Registro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6056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Erro estrutural com correção conhecida (grafia de ID, unidade)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Corrigir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Registro de correções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2027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Duplicata idêntica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Manter uma ocorrência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Relatório de QC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995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Duplicata com valores diferentes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Valor vira ausente até verificação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Relatório + pendência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0691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Valor impossível sem correção conhecida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Ausente (NA)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Registro com motivo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87955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Valor extremo plausível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Manter e sinalizar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Relatório de QC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6724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Genitor inexistente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Pedigree com NA; investigar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Pendência no cadastro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73280"/>
                  </a:ext>
                </a:extLst>
              </a:tr>
            </a:tbl>
          </a:graphicData>
        </a:graphic>
      </p:graphicFrame>
      <p:sp>
        <p:nvSpPr>
          <p:cNvPr id="14" name="FitCallout">
            <a:extLst>
              <a:ext uri="{FF2B5EF4-FFF2-40B4-BE49-F238E27FC236}">
                <a16:creationId xmlns:a16="http://schemas.microsoft.com/office/drawing/2014/main" id="{E061C9F5-2E49-628A-CBA8-5FCBD436DF35}"/>
              </a:ext>
            </a:extLst>
          </p:cNvPr>
          <p:cNvSpPr/>
          <p:nvPr/>
        </p:nvSpPr>
        <p:spPr>
          <a:xfrm>
            <a:off x="640080" y="3884422"/>
            <a:ext cx="10909300" cy="534416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Nunca apague em silêncio. Cada decisão tem data, motivo e responsável.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5" name="FitCalloutBar">
            <a:extLst>
              <a:ext uri="{FF2B5EF4-FFF2-40B4-BE49-F238E27FC236}">
                <a16:creationId xmlns:a16="http://schemas.microsoft.com/office/drawing/2014/main" id="{D8BF72A5-C15F-206B-FD70-E117245698FB}"/>
              </a:ext>
            </a:extLst>
          </p:cNvPr>
          <p:cNvSpPr/>
          <p:nvPr/>
        </p:nvSpPr>
        <p:spPr>
          <a:xfrm>
            <a:off x="640080" y="3884422"/>
            <a:ext cx="63500" cy="534416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11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3.10  Teste o seu QC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3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50C8B710-D9F6-AA05-D7DF-40A1658418BF}"/>
              </a:ext>
            </a:extLst>
          </p:cNvPr>
          <p:cNvSpPr txBox="1"/>
          <p:nvPr/>
        </p:nvSpPr>
        <p:spPr>
          <a:xfrm>
            <a:off x="640080" y="1053211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Como saber se as regras de QC funcionam?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Injetando erros conhecidos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medindo quantos foram encontrados.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projeto do curso injeta 32 erros de 5 tipos na camada bruta e compara o relatório de QC com a lista injetada.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graphicFrame>
        <p:nvGraphicFramePr>
          <p:cNvPr id="14" name="Fit796Table">
            <a:extLst>
              <a:ext uri="{FF2B5EF4-FFF2-40B4-BE49-F238E27FC236}">
                <a16:creationId xmlns:a16="http://schemas.microsoft.com/office/drawing/2014/main" id="{CCBFDF5D-DBFA-9088-FC16-8484D46D4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44433"/>
              </p:ext>
            </p:extLst>
          </p:nvPr>
        </p:nvGraphicFramePr>
        <p:xfrm>
          <a:off x="640080" y="2555875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1700">
                  <a:extLst>
                    <a:ext uri="{9D8B030D-6E8A-4147-A177-3AD203B41FA5}">
                      <a16:colId xmlns:a16="http://schemas.microsoft.com/office/drawing/2014/main" val="718667337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3462455757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113204231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Tipo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Injetados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Encontrados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0153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Grafia divergente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8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4553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Parcela duplicada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20343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Fora do intervalo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10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97033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Genitor inexistente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3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5684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Linhagem em um ambiente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174824"/>
                  </a:ext>
                </a:extLst>
              </a:tr>
            </a:tbl>
          </a:graphicData>
        </a:graphic>
      </p:graphicFrame>
      <p:sp>
        <p:nvSpPr>
          <p:cNvPr id="15" name="FitText">
            <a:extLst>
              <a:ext uri="{FF2B5EF4-FFF2-40B4-BE49-F238E27FC236}">
                <a16:creationId xmlns:a16="http://schemas.microsoft.com/office/drawing/2014/main" id="{21282302-9565-8F72-9DE9-CF00BF1A8F02}"/>
              </a:ext>
            </a:extLst>
          </p:cNvPr>
          <p:cNvSpPr txBox="1"/>
          <p:nvPr/>
        </p:nvSpPr>
        <p:spPr>
          <a:xfrm>
            <a:off x="640080" y="4595748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mesmo vale para QC escrito por IA: peça o script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o teste com erros injetados.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59234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Consistência e curadoria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4 · 15 min · SEÇÃO 1 · BLOCO 4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05611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4.1  Consistência: o mesmo dado com o mesmo significado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9690DA48-C136-DC4A-9750-4F84A249C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808959"/>
              </p:ext>
            </p:extLst>
          </p:nvPr>
        </p:nvGraphicFramePr>
        <p:xfrm>
          <a:off x="640080" y="1053211"/>
          <a:ext cx="10909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641269273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3483144249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29545412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Elemento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Inconsistente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Consistente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5788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Identificador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DH24-12, dh24_0012, DH24_0012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DH24_0012 (padrão validável)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065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Unidade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kg/parcela, kg/ha, t/ha na mesma coluna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uma unidade por variável, no dicionário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095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Ausente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0, -, ., vazio, NA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NA + coluna de motivo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0525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Data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03/11/26, 11-3-2026, "nov/26"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2026-11-03 (ISO 8601)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6889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Variável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"Prod", "produtividade", "rend"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um código: PROD, com método e escala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67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Local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"Uberlandia", "Uberlândia", "UDI"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tabela de ambientes com código único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105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87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4.2  Identificadores bem projetados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DA5DEAFA-5762-ABCE-E1A4-84583A48A983}"/>
              </a:ext>
            </a:extLst>
          </p:cNvPr>
          <p:cNvSpPr txBox="1"/>
          <p:nvPr/>
        </p:nvSpPr>
        <p:spPr>
          <a:xfrm>
            <a:off x="640080" y="1053211"/>
            <a:ext cx="10909300" cy="29291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Gerados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pelo sistema, nunca digitados.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Únicos e permanentes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nunca reutilizados, nunca renomeados.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Sem significado que possa mudar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o local ou o status não entram no ID; ficam em colunas.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Validáveis por regra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^DH[0-9]{2}_[0-9]{4}$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detecta qualquer desvio, inclusive espaços invisíveis.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Um ID por entidade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germoplasma, parcela, amostra de DNA e ensaio têm identificadores distintos, ligados por tabelas.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20434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4.3  Dicionário de variáveis e ontologias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83325027-0C74-6497-64A2-028114522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142116"/>
              </p:ext>
            </p:extLst>
          </p:nvPr>
        </p:nvGraphicFramePr>
        <p:xfrm>
          <a:off x="640080" y="1053211"/>
          <a:ext cx="109093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400">
                  <a:extLst>
                    <a:ext uri="{9D8B030D-6E8A-4147-A177-3AD203B41FA5}">
                      <a16:colId xmlns:a16="http://schemas.microsoft.com/office/drawing/2014/main" val="4210160408"/>
                    </a:ext>
                  </a:extLst>
                </a:gridCol>
                <a:gridCol w="7200900">
                  <a:extLst>
                    <a:ext uri="{9D8B030D-6E8A-4147-A177-3AD203B41FA5}">
                      <a16:colId xmlns:a16="http://schemas.microsoft.com/office/drawing/2014/main" val="12781877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Campo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Exemplo (PROD)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17012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Código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PROD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46793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Descrição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Produtividade de grãos corrigida a 13% de umidade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195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Unidade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kg/ha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5572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Método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Pesagem da parcela inteira; correção pela umidade medida na colheita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35544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Escala e intervalo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Contínua; 2.000 a 20.000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058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Momento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Colheita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773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Código de ausente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NA, com motivo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520589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79CF6DA9-E7C1-B665-204B-867FEA1F7206}"/>
              </a:ext>
            </a:extLst>
          </p:cNvPr>
          <p:cNvSpPr txBox="1"/>
          <p:nvPr/>
        </p:nvSpPr>
        <p:spPr>
          <a:xfrm>
            <a:off x="640080" y="3960622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Crop Ontology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padroniza variáveis como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caráter + método + escala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duas instituições medindo "produtividade" de formas diferentes têm variáveis diferentes.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dicionário é lido pelas pessoas, pelos scripts de QC e pelo agente de IA.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543273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4.4  Curadoria: um processo contínuo, com registro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239D714E-4A9E-49F4-4C6F-02F3D595C8A3}"/>
              </a:ext>
            </a:extLst>
          </p:cNvPr>
          <p:cNvSpPr txBox="1"/>
          <p:nvPr/>
        </p:nvSpPr>
        <p:spPr>
          <a:xfrm>
            <a:off x="640080" y="1053210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dado bruto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nunca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é editado. Correções são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dados sobre dados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guardados em uma tabela própria: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CodeBox">
            <a:extLst>
              <a:ext uri="{FF2B5EF4-FFF2-40B4-BE49-F238E27FC236}">
                <a16:creationId xmlns:a16="http://schemas.microsoft.com/office/drawing/2014/main" id="{932B0731-8007-D7B0-FA6A-08AF1B041478}"/>
              </a:ext>
            </a:extLst>
          </p:cNvPr>
          <p:cNvSpPr/>
          <p:nvPr/>
        </p:nvSpPr>
        <p:spPr>
          <a:xfrm>
            <a:off x="640080" y="1842642"/>
            <a:ext cx="10909300" cy="80772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100">
                <a:solidFill>
                  <a:srgbClr val="F5F3ED"/>
                </a:solidFill>
                <a:latin typeface="Consolas" panose="020B0609020204030204" pitchFamily="49" charset="0"/>
              </a:rPr>
              <a:t>data,tabela,chave,campo,valor_antigo,valor_novo,motivo,responsavel</a:t>
            </a:r>
          </a:p>
          <a:p>
            <a:r>
              <a:rPr lang="pt-BR" sz="1100">
                <a:solidFill>
                  <a:srgbClr val="F5F3ED"/>
                </a:solidFill>
                <a:latin typeface="Consolas" panose="020B0609020204030204" pitchFamily="49" charset="0"/>
              </a:rPr>
              <a:t>2026-03-20,bruto_parcelas,P_PGO_2025_V_0113,PROD,104613,10461.3,dígito extra na digitação (conferido no caderno de campo),A. Souza</a:t>
            </a:r>
          </a:p>
          <a:p>
            <a:r>
              <a:rPr lang="pt-BR" sz="1100">
                <a:solidFill>
                  <a:srgbClr val="F5F3ED"/>
                </a:solidFill>
                <a:latin typeface="Consolas" panose="020B0609020204030204" pitchFamily="49" charset="0"/>
              </a:rPr>
              <a:t>2026-03-20,bruto_parcelas,P_PGO_2025_V_0436,germoplasma_nome,dh25_0266,DH25_0266,padronização de ID,A. Souza</a:t>
            </a:r>
            <a:endParaRPr lang="en-US" sz="11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CodeBoxAccent">
            <a:extLst>
              <a:ext uri="{FF2B5EF4-FFF2-40B4-BE49-F238E27FC236}">
                <a16:creationId xmlns:a16="http://schemas.microsoft.com/office/drawing/2014/main" id="{6FE0513F-7082-AEE1-9BB5-4A41CEC3CA41}"/>
              </a:ext>
            </a:extLst>
          </p:cNvPr>
          <p:cNvSpPr/>
          <p:nvPr/>
        </p:nvSpPr>
        <p:spPr>
          <a:xfrm>
            <a:off x="640080" y="1842642"/>
            <a:ext cx="76200" cy="80772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tText">
            <a:extLst>
              <a:ext uri="{FF2B5EF4-FFF2-40B4-BE49-F238E27FC236}">
                <a16:creationId xmlns:a16="http://schemas.microsoft.com/office/drawing/2014/main" id="{4E54A616-D7DC-EAF3-1083-D5987FDA56C8}"/>
              </a:ext>
            </a:extLst>
          </p:cNvPr>
          <p:cNvSpPr txBox="1"/>
          <p:nvPr/>
        </p:nvSpPr>
        <p:spPr>
          <a:xfrm>
            <a:off x="640080" y="2802762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 script aplica o registro e reconstrói a camada curada: qualquer pessoa refaz o caminho do bruto ao curado.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Papel do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curador de dados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dono das regras, das correções e do dicionário; ponto de contato entre campo, laboratório e análise.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011081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4.5  Proveniência, versão e FAIR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Wilkinson et al. (2016), Scientific Data 3: 160018.   ·   SEÇÃO 1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AE85D414-2EFD-6E4C-442B-DAB9FD7D103D}"/>
              </a:ext>
            </a:extLst>
          </p:cNvPr>
          <p:cNvSpPr txBox="1"/>
          <p:nvPr/>
        </p:nvSpPr>
        <p:spPr>
          <a:xfrm>
            <a:off x="640080" y="1053211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Toda análise registra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de onde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vieram os dados: data da extração, versão do banco ou hash do arquivo, consulta usada.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Princípios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FAIR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graphicFrame>
        <p:nvGraphicFramePr>
          <p:cNvPr id="14" name="Fit796Table">
            <a:extLst>
              <a:ext uri="{FF2B5EF4-FFF2-40B4-BE49-F238E27FC236}">
                <a16:creationId xmlns:a16="http://schemas.microsoft.com/office/drawing/2014/main" id="{601CAD1E-5C77-ED24-4406-8BD67600A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610214"/>
              </p:ext>
            </p:extLst>
          </p:nvPr>
        </p:nvGraphicFramePr>
        <p:xfrm>
          <a:off x="640080" y="2275459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3910767097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1911571393"/>
                    </a:ext>
                  </a:extLst>
                </a:gridCol>
                <a:gridCol w="5346700">
                  <a:extLst>
                    <a:ext uri="{9D8B030D-6E8A-4147-A177-3AD203B41FA5}">
                      <a16:colId xmlns:a16="http://schemas.microsoft.com/office/drawing/2014/main" val="140413749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Significado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No programa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323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Findable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Encontrável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IDs persistentes; metadados de cada ensaio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55559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Accessible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Acessível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Repositório institucional com controle de acesso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6025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Interoperable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Interoperável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Crop Ontology, BrAPI, formatos abertos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9618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4A7C59"/>
                          </a:solidFill>
                          <a:latin typeface="DejaVu Sans"/>
                        </a:rPr>
                        <a:t>Reusable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Reutilizável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Dicionário, licença, proveniência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551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12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4.6  Doze regras para planilhas (Broman e Woo, 2018)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Broman e Woo (2018), The American Statistician 72: 2–10.   ·   SEÇÃO 1 · BLOCO 4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C032F987-80C8-410C-9B58-B9D724167CAF}"/>
              </a:ext>
            </a:extLst>
          </p:cNvPr>
          <p:cNvSpPr txBox="1"/>
          <p:nvPr/>
        </p:nvSpPr>
        <p:spPr>
          <a:xfrm>
            <a:off x="640080" y="1053211"/>
            <a:ext cx="5308600" cy="25206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Seja consistente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Escolha bons nomes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Datas no formato AAAA-MM-DD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Nenhuma célula vazia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Uma informação por célula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Dados em retângulo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68FAE380-AE7E-FB33-989F-A9CE6887F7F4}"/>
              </a:ext>
            </a:extLst>
          </p:cNvPr>
          <p:cNvSpPr txBox="1"/>
          <p:nvPr/>
        </p:nvSpPr>
        <p:spPr>
          <a:xfrm>
            <a:off x="6240780" y="1053211"/>
            <a:ext cx="5308600" cy="25206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Crie um dicionário de dados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Nenhum cálculo nos dados brutos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Cor e destaque não são dados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Faça cópias de segurança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Use validação de dados na entrada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Salve os dados em texto (CSV)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8077035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A pasta de análise como projeto do Claude Code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5 · 20 min · SEÇÃO 1 · BLOCO 5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58595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5.1  O problema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0EEA7F4F-96E1-63BE-C135-6C1B17067E53}"/>
              </a:ext>
            </a:extLst>
          </p:cNvPr>
          <p:cNvSpPr/>
          <p:nvPr/>
        </p:nvSpPr>
        <p:spPr>
          <a:xfrm>
            <a:off x="640080" y="1053211"/>
            <a:ext cx="10909300" cy="19050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Área de Trabalho/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analise_final.R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analise_final_v2_ESSA.R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dados ensaio milho (1).xlsx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dados ensaio milho corrigido.xlsx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Rplot01.png … Rplot37.png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└── Downloads/resultado_blup???.csv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E5792655-2E10-1E3C-DC79-58453F4D6277}"/>
              </a:ext>
            </a:extLst>
          </p:cNvPr>
          <p:cNvSpPr/>
          <p:nvPr/>
        </p:nvSpPr>
        <p:spPr>
          <a:xfrm>
            <a:off x="640080" y="1053211"/>
            <a:ext cx="76200" cy="19050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C8ED5E55-0484-9244-CF6B-4AEC404EEFD1}"/>
              </a:ext>
            </a:extLst>
          </p:cNvPr>
          <p:cNvSpPr txBox="1"/>
          <p:nvPr/>
        </p:nvSpPr>
        <p:spPr>
          <a:xfrm>
            <a:off x="640080" y="3110611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Ninguém, nem o próprio autor depois de seis meses, sabe qual arquivo gerou qual resultado.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Um agente de IA aberto nesta pasta lê tudo isso como contexto: e escolhe sozinho em qual versão acreditar.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035649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5.2  Princípios de uma boa pasta de projeto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Wilson et al. (2017), PLOS Computational Biology 13: e1005510 — Good enough practices in scientific computing.   ·   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E6862F8F-BD8F-81EF-EA58-8F35A6BC1A3F}"/>
              </a:ext>
            </a:extLst>
          </p:cNvPr>
          <p:cNvSpPr txBox="1"/>
          <p:nvPr/>
        </p:nvSpPr>
        <p:spPr>
          <a:xfrm>
            <a:off x="640080" y="1053211"/>
            <a:ext cx="10909300" cy="25206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Uma pasta por análise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com tudo o que ela precisa.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Dado bruto somente leitura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, guardado exatamente como recebido.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Código separado de dados e de resultados.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Resultados regeneráveis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apagar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output/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rodar os scripts recria tudo.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Documentação na própria pasta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: README, dicionário, decisões.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/>
              </a:rPr>
              <a:t>Nomes de arquivos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que pessoas e máquinas entendem e que ordenam bem.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77261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5.3  Estrutura recomendada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4489588A-1F37-E3D4-66FF-E2D6FD916956}"/>
              </a:ext>
            </a:extLst>
          </p:cNvPr>
          <p:cNvSpPr/>
          <p:nvPr/>
        </p:nvSpPr>
        <p:spPr>
          <a:xfrm>
            <a:off x="640080" y="1053211"/>
            <a:ext cx="10909300" cy="41910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2026-11_vcu-milho-safra-2025/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README.md     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pergunta, como reproduzir, origem dos dados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CLAUDE.md            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contexto e regras para o agente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config/parametros.yaml  parâmetros da análise (nada fixo no código)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data/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│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├── bruto/              somente leitura + LEIA-ME.md com origem e data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│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├── intermediario/      gerado por 01_importar.R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│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└── processado/         gerado por 03_curar.R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docs/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│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├── dicionario_de_dados.csv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│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├── registro_de_correcoes.csv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│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└── decisoes.md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R/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│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├── 01_importar.R  02_qc.R  03_curar.R  04_analisar.R  05_figuras_tabelas.R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output/{figuras,tabelas,relatorios}/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tudo gerado por scripts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├── tests/</a:t>
            </a:r>
          </a:p>
          <a:p>
            <a:r>
              <a:rPr lang="en-US" sz="1500">
                <a:solidFill>
                  <a:srgbClr val="F5F3ED"/>
                </a:solidFill>
                <a:latin typeface="Consolas" panose="020B0609020204030204" pitchFamily="49" charset="0"/>
              </a:rPr>
              <a:t>└── .claude/settings.json   </a:t>
            </a:r>
            <a:r>
              <a:rPr lang="en-US" sz="1500">
                <a:solidFill>
                  <a:srgbClr val="D8E4DA"/>
                </a:solidFill>
                <a:latin typeface="Consolas" panose="020B0609020204030204" pitchFamily="49" charset="0"/>
              </a:rPr>
              <a:t>permissões do agente</a:t>
            </a: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7D7B6432-249A-1C22-2666-9FE00923E51F}"/>
              </a:ext>
            </a:extLst>
          </p:cNvPr>
          <p:cNvSpPr/>
          <p:nvPr/>
        </p:nvSpPr>
        <p:spPr>
          <a:xfrm>
            <a:off x="640080" y="1053211"/>
            <a:ext cx="76200" cy="41910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FF9088D3-969E-3682-D614-3DFB9D3A3B7D}"/>
              </a:ext>
            </a:extLst>
          </p:cNvPr>
          <p:cNvSpPr txBox="1"/>
          <p:nvPr/>
        </p:nvSpPr>
        <p:spPr>
          <a:xfrm>
            <a:off x="640080" y="5396610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Modelo pronto no repositório do curso: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modelos/projeto-analise/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99399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5.4  Nomes de arquivos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AAD8AC93-904F-646A-3B5D-EB1B9C6FC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863698"/>
              </p:ext>
            </p:extLst>
          </p:nvPr>
        </p:nvGraphicFramePr>
        <p:xfrm>
          <a:off x="640080" y="1053211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>
                  <a:extLst>
                    <a:ext uri="{9D8B030D-6E8A-4147-A177-3AD203B41FA5}">
                      <a16:colId xmlns:a16="http://schemas.microsoft.com/office/drawing/2014/main" val="2431458538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55985209"/>
                    </a:ext>
                  </a:extLst>
                </a:gridCol>
                <a:gridCol w="3898900">
                  <a:extLst>
                    <a:ext uri="{9D8B030D-6E8A-4147-A177-3AD203B41FA5}">
                      <a16:colId xmlns:a16="http://schemas.microsoft.com/office/drawing/2014/main" val="50614039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Ruim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Bom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Por quê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554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analise final.R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04_analisar.R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Número dá a ordem; sem espaços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7376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dados nov.xlsx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2026-11-03_vcu-milho_parcelas.csv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Data ISO ordena; texto aberto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19897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grafico.png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fig02_blup-por-ambiente.png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Diz o que é e onde entra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3249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resultado (1).csv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tab03_componentes-variancia.csv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Ligado à tabela do relatório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14636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B4AA576C-B5AF-927D-5B62-90D705846D88}"/>
              </a:ext>
            </a:extLst>
          </p:cNvPr>
          <p:cNvSpPr txBox="1"/>
          <p:nvPr/>
        </p:nvSpPr>
        <p:spPr>
          <a:xfrm>
            <a:off x="640080" y="2778505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Legível por máquina (sem espaços nem acentos), legível por pessoas (diz o conteúdo), ordenável (números com zeros à esquerda, datas AAAA-MM-DD).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873950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5.5  Do bruto ao resultado: uma cadeia de scripts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31" name="ProcessBox0">
            <a:extLst>
              <a:ext uri="{FF2B5EF4-FFF2-40B4-BE49-F238E27FC236}">
                <a16:creationId xmlns:a16="http://schemas.microsoft.com/office/drawing/2014/main" id="{3D932DD7-12FE-DB45-CDE6-BCFB123BDD08}"/>
              </a:ext>
            </a:extLst>
          </p:cNvPr>
          <p:cNvSpPr/>
          <p:nvPr/>
        </p:nvSpPr>
        <p:spPr>
          <a:xfrm>
            <a:off x="381000" y="1053211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 b="1">
                <a:solidFill>
                  <a:srgbClr val="FFFFFF"/>
                </a:solidFill>
                <a:latin typeface="DejaVu Sans"/>
              </a:rPr>
              <a:t>01_importar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>
                <a:solidFill>
                  <a:srgbClr val="FFFFFF"/>
                </a:solidFill>
                <a:latin typeface="DejaVu Sans"/>
              </a:rPr>
              <a:t>bruto → intermediário</a:t>
            </a:r>
          </a:p>
        </p:txBody>
      </p:sp>
      <p:sp>
        <p:nvSpPr>
          <p:cNvPr id="32" name="ProcessBox1">
            <a:extLst>
              <a:ext uri="{FF2B5EF4-FFF2-40B4-BE49-F238E27FC236}">
                <a16:creationId xmlns:a16="http://schemas.microsoft.com/office/drawing/2014/main" id="{F82AB1DA-FEAB-FFCF-7B4A-ED6638306CEE}"/>
              </a:ext>
            </a:extLst>
          </p:cNvPr>
          <p:cNvSpPr/>
          <p:nvPr/>
        </p:nvSpPr>
        <p:spPr>
          <a:xfrm>
            <a:off x="2697480" y="1053212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02_qc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relatório de QC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33" name="ProcessBox2">
            <a:extLst>
              <a:ext uri="{FF2B5EF4-FFF2-40B4-BE49-F238E27FC236}">
                <a16:creationId xmlns:a16="http://schemas.microsoft.com/office/drawing/2014/main" id="{4F579CB6-32EA-A5E7-E62D-861EA36F01FB}"/>
              </a:ext>
            </a:extLst>
          </p:cNvPr>
          <p:cNvSpPr/>
          <p:nvPr/>
        </p:nvSpPr>
        <p:spPr>
          <a:xfrm>
            <a:off x="5013960" y="1053211"/>
            <a:ext cx="2164079" cy="977837"/>
          </a:xfrm>
          <a:prstGeom prst="roundRect">
            <a:avLst>
              <a:gd name="adj" fmla="val 8000"/>
            </a:avLst>
          </a:prstGeom>
          <a:solidFill>
            <a:srgbClr val="F9A62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2E3A2F"/>
                </a:solidFill>
                <a:latin typeface="DejaVu Sans"/>
              </a:rPr>
              <a:t>03_curar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2E3A2F"/>
                </a:solidFill>
                <a:latin typeface="DejaVu Sans"/>
              </a:rPr>
              <a:t>aplica correções registradas</a:t>
            </a:r>
            <a:endParaRPr lang="en-US" sz="16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34" name="ProcessBox3">
            <a:extLst>
              <a:ext uri="{FF2B5EF4-FFF2-40B4-BE49-F238E27FC236}">
                <a16:creationId xmlns:a16="http://schemas.microsoft.com/office/drawing/2014/main" id="{C2C12DE4-B083-CBB7-0C61-CB690A956792}"/>
              </a:ext>
            </a:extLst>
          </p:cNvPr>
          <p:cNvSpPr/>
          <p:nvPr/>
        </p:nvSpPr>
        <p:spPr>
          <a:xfrm>
            <a:off x="7330440" y="1053212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B7472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 b="1">
                <a:solidFill>
                  <a:srgbClr val="FFFFFF"/>
                </a:solidFill>
                <a:latin typeface="DejaVu Sans"/>
              </a:rPr>
              <a:t>04_analisar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en-US" sz="1600">
                <a:solidFill>
                  <a:srgbClr val="FFFFFF"/>
                </a:solidFill>
                <a:latin typeface="DejaVu Sans"/>
              </a:rPr>
              <a:t>modelos</a:t>
            </a:r>
          </a:p>
        </p:txBody>
      </p:sp>
      <p:sp>
        <p:nvSpPr>
          <p:cNvPr id="35" name="ProcessBox4">
            <a:extLst>
              <a:ext uri="{FF2B5EF4-FFF2-40B4-BE49-F238E27FC236}">
                <a16:creationId xmlns:a16="http://schemas.microsoft.com/office/drawing/2014/main" id="{E9CD3C0F-ADC0-0D61-64A8-C00C8B7C8D07}"/>
              </a:ext>
            </a:extLst>
          </p:cNvPr>
          <p:cNvSpPr/>
          <p:nvPr/>
        </p:nvSpPr>
        <p:spPr>
          <a:xfrm>
            <a:off x="9646920" y="1053212"/>
            <a:ext cx="2164080" cy="977837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101600" rIns="38100" bIns="101600" rtlCol="0" anchor="t"/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 b="1">
                <a:solidFill>
                  <a:srgbClr val="FFFFFF"/>
                </a:solidFill>
                <a:latin typeface="DejaVu Sans"/>
              </a:rPr>
              <a:t>05_figuras</a:t>
            </a:r>
          </a:p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lang="pt-BR" sz="1600">
                <a:solidFill>
                  <a:srgbClr val="FFFFFF"/>
                </a:solidFill>
                <a:latin typeface="DejaVu Sans"/>
              </a:rPr>
              <a:t>figuras e tabelas</a:t>
            </a:r>
            <a:endParaRPr lang="en-US" sz="1600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36" name="ProcessArrow0">
            <a:extLst>
              <a:ext uri="{FF2B5EF4-FFF2-40B4-BE49-F238E27FC236}">
                <a16:creationId xmlns:a16="http://schemas.microsoft.com/office/drawing/2014/main" id="{7F2F1B51-D4B5-969D-9FDE-BAA7DB6AD6A8}"/>
              </a:ext>
            </a:extLst>
          </p:cNvPr>
          <p:cNvSpPr/>
          <p:nvPr/>
        </p:nvSpPr>
        <p:spPr>
          <a:xfrm>
            <a:off x="258318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rocessArrow1">
            <a:extLst>
              <a:ext uri="{FF2B5EF4-FFF2-40B4-BE49-F238E27FC236}">
                <a16:creationId xmlns:a16="http://schemas.microsoft.com/office/drawing/2014/main" id="{94380EA4-9C81-6E10-D55C-292C76670F28}"/>
              </a:ext>
            </a:extLst>
          </p:cNvPr>
          <p:cNvSpPr/>
          <p:nvPr/>
        </p:nvSpPr>
        <p:spPr>
          <a:xfrm>
            <a:off x="489966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rocessArrow2">
            <a:extLst>
              <a:ext uri="{FF2B5EF4-FFF2-40B4-BE49-F238E27FC236}">
                <a16:creationId xmlns:a16="http://schemas.microsoft.com/office/drawing/2014/main" id="{FDB3FB50-FF99-8895-2244-DE3A3A8C9B9A}"/>
              </a:ext>
            </a:extLst>
          </p:cNvPr>
          <p:cNvSpPr/>
          <p:nvPr/>
        </p:nvSpPr>
        <p:spPr>
          <a:xfrm>
            <a:off x="721614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rocessArrow3">
            <a:extLst>
              <a:ext uri="{FF2B5EF4-FFF2-40B4-BE49-F238E27FC236}">
                <a16:creationId xmlns:a16="http://schemas.microsoft.com/office/drawing/2014/main" id="{915D504B-0D0B-C677-849C-341B5A023F29}"/>
              </a:ext>
            </a:extLst>
          </p:cNvPr>
          <p:cNvSpPr/>
          <p:nvPr/>
        </p:nvSpPr>
        <p:spPr>
          <a:xfrm>
            <a:off x="9532620" y="1453230"/>
            <a:ext cx="76200" cy="177800"/>
          </a:xfrm>
          <a:prstGeom prst="rightArrow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itText">
            <a:extLst>
              <a:ext uri="{FF2B5EF4-FFF2-40B4-BE49-F238E27FC236}">
                <a16:creationId xmlns:a16="http://schemas.microsoft.com/office/drawing/2014/main" id="{B6EFE6E4-4E54-E42B-E136-27EDC5386F74}"/>
              </a:ext>
            </a:extLst>
          </p:cNvPr>
          <p:cNvSpPr txBox="1"/>
          <p:nvPr/>
        </p:nvSpPr>
        <p:spPr>
          <a:xfrm>
            <a:off x="640080" y="2234247"/>
            <a:ext cx="10909300" cy="20878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Cada script tem um </a:t>
            </a:r>
            <a:r>
              <a:rPr lang="pt-BR" sz="2000" b="1">
                <a:solidFill>
                  <a:srgbClr val="4A7C59"/>
                </a:solidFill>
                <a:latin typeface="DejaVu Sans"/>
              </a:rPr>
              <a:t>contrato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no cabeçalho: entradas, saídas, premissas.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Cada script lê só o que veio antes e grava só na sua pasta de saída.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Caminhos relativos à raiz do projeto: nunca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setwd("C:/Users/…")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Ambiente reprodutível: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renv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registra as versões dos pacotes.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Teste final: apagar as pastas geradas e rodar tudo do zero.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1455566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5.6  A pasta é o contexto do agente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39C3EDF3-6059-5525-EA45-3F4A7795E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730890"/>
              </p:ext>
            </p:extLst>
          </p:nvPr>
        </p:nvGraphicFramePr>
        <p:xfrm>
          <a:off x="640080" y="1053211"/>
          <a:ext cx="109093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600">
                  <a:extLst>
                    <a:ext uri="{9D8B030D-6E8A-4147-A177-3AD203B41FA5}">
                      <a16:colId xmlns:a16="http://schemas.microsoft.com/office/drawing/2014/main" val="436947216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84983236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Arquivo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1" i="0">
                          <a:solidFill>
                            <a:srgbClr val="FFFFFF"/>
                          </a:solidFill>
                          <a:latin typeface="DejaVu Sans"/>
                        </a:rPr>
                        <a:t>O que o Claude Code aprende com ele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158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CLAUDE.md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Pergunta, regras de dados, convenções, o que é proibido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13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README.md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Como o projeto roda, de onde vêm os dados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30085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docs/dicionario_de_dados.csv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Unidades, intervalos, códigos de ausente, padrão de IDs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79671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config/parametros.yaml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Onde estão os números da análise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2138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Cabeçalhos dos scripts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Entradas, saídas e premissas de cada etapa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9425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B7472A"/>
                          </a:solidFill>
                          <a:latin typeface="Consolas" panose="020B0609020204030204" pitchFamily="49" charset="0"/>
                        </a:rPr>
                        <a:t>docs/decisoes.md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 que já foi decidido, para não ser refeito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3384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Estrutura de pastas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/>
                        </a:rPr>
                        <a:t>Onde ler e onde gravar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206680"/>
                  </a:ext>
                </a:extLst>
              </a:tr>
            </a:tbl>
          </a:graphicData>
        </a:graphic>
      </p:graphicFrame>
      <p:sp>
        <p:nvSpPr>
          <p:cNvPr id="14" name="FitCallout">
            <a:extLst>
              <a:ext uri="{FF2B5EF4-FFF2-40B4-BE49-F238E27FC236}">
                <a16:creationId xmlns:a16="http://schemas.microsoft.com/office/drawing/2014/main" id="{280F60B5-C8FF-AA6B-E216-694BD06B6D92}"/>
              </a:ext>
            </a:extLst>
          </p:cNvPr>
          <p:cNvSpPr/>
          <p:nvPr/>
        </p:nvSpPr>
        <p:spPr>
          <a:xfrm>
            <a:off x="640080" y="3722243"/>
            <a:ext cx="10909300" cy="81483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Uma pasta organizada é um prompt permanente: o agente acerta mais e pergunta menos.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5" name="FitCalloutBar">
            <a:extLst>
              <a:ext uri="{FF2B5EF4-FFF2-40B4-BE49-F238E27FC236}">
                <a16:creationId xmlns:a16="http://schemas.microsoft.com/office/drawing/2014/main" id="{82F455E3-4EF0-343B-02FF-A2773B41D661}"/>
              </a:ext>
            </a:extLst>
          </p:cNvPr>
          <p:cNvSpPr/>
          <p:nvPr/>
        </p:nvSpPr>
        <p:spPr>
          <a:xfrm>
            <a:off x="640080" y="3722243"/>
            <a:ext cx="63500" cy="814832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1582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5.7  </a:t>
            </a:r>
            <a:r>
              <a:rPr lang="pt-BR" sz="3200" b="1" i="0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3200" b="1" i="0">
                <a:solidFill>
                  <a:srgbClr val="4A7C59"/>
                </a:solidFill>
                <a:latin typeface="DejaVu Serif"/>
              </a:rPr>
              <a:t> da pasta de análise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CodeBox">
            <a:extLst>
              <a:ext uri="{FF2B5EF4-FFF2-40B4-BE49-F238E27FC236}">
                <a16:creationId xmlns:a16="http://schemas.microsoft.com/office/drawing/2014/main" id="{495A3478-2702-DE57-F7FA-304FE6EBEFBC}"/>
              </a:ext>
            </a:extLst>
          </p:cNvPr>
          <p:cNvSpPr/>
          <p:nvPr/>
        </p:nvSpPr>
        <p:spPr>
          <a:xfrm>
            <a:off x="640080" y="1052576"/>
            <a:ext cx="10909300" cy="304800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pt-BR" sz="1500" b="1">
                <a:solidFill>
                  <a:srgbClr val="F9A620"/>
                </a:solidFill>
                <a:latin typeface="Consolas" panose="020B0609020204030204" pitchFamily="49" charset="0"/>
              </a:rPr>
              <a:t>## Dados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- data/bruto/ é SOMENTE LEITURA: nunca altere, renomeie ou sobrescreva.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- Dicionário em docs/dicionario_de_dados.csv: valide unidades e intervalos.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- Correções só via docs/registro_de_correcoes.csv, aplicadas por R/03_curar.R.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sz="1500" b="1">
                <a:solidFill>
                  <a:srgbClr val="F9A620"/>
                </a:solidFill>
                <a:latin typeface="Consolas" panose="020B0609020204030204" pitchFamily="49" charset="0"/>
              </a:rPr>
              <a:t>## Convenções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- Caminhos relativos; parâmetros em config/parametros.yaml.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- Normalize identificadores antes de cruzar tabelas. Ausentes como NA, nunca 0.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sz="1500" b="1">
                <a:solidFill>
                  <a:srgbClr val="F9A620"/>
                </a:solidFill>
                <a:latin typeface="Consolas" panose="020B0609020204030204" pitchFamily="49" charset="0"/>
              </a:rPr>
              <a:t>## Regras de análise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- Dados de parcela, não médias. Outlier estatístico não é erro: sinalize, não exclua.</a:t>
            </a:r>
          </a:p>
          <a:p>
            <a:r>
              <a:rPr lang="pt-BR" sz="1500">
                <a:solidFill>
                  <a:srgbClr val="F5F3ED"/>
                </a:solidFill>
                <a:latin typeface="Consolas" panose="020B0609020204030204" pitchFamily="49" charset="0"/>
              </a:rPr>
              <a:t>- Decisões em docs/decisoes.md. Plano antes de código; teste para cada script.</a:t>
            </a:r>
            <a:endParaRPr lang="en-US" sz="1500">
              <a:solidFill>
                <a:srgbClr val="F5F3ED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deBoxAccent">
            <a:extLst>
              <a:ext uri="{FF2B5EF4-FFF2-40B4-BE49-F238E27FC236}">
                <a16:creationId xmlns:a16="http://schemas.microsoft.com/office/drawing/2014/main" id="{5F00991B-D565-50CB-906C-DCE300B73C0F}"/>
              </a:ext>
            </a:extLst>
          </p:cNvPr>
          <p:cNvSpPr/>
          <p:nvPr/>
        </p:nvSpPr>
        <p:spPr>
          <a:xfrm>
            <a:off x="640080" y="1052576"/>
            <a:ext cx="76200" cy="304800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80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5.8  Proteger o dado bruto ⚙️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7" name="FitText">
            <a:extLst>
              <a:ext uri="{FF2B5EF4-FFF2-40B4-BE49-F238E27FC236}">
                <a16:creationId xmlns:a16="http://schemas.microsoft.com/office/drawing/2014/main" id="{C8AB4861-9689-FEA5-53B7-757C4A8F50A3}"/>
              </a:ext>
            </a:extLst>
          </p:cNvPr>
          <p:cNvSpPr txBox="1"/>
          <p:nvPr/>
        </p:nvSpPr>
        <p:spPr>
          <a:xfrm>
            <a:off x="640080" y="1049973"/>
            <a:ext cx="10909300" cy="3425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1900" b="1">
                <a:solidFill>
                  <a:srgbClr val="B7472A"/>
                </a:solidFill>
                <a:latin typeface="Consolas" panose="020B0609020204030204" pitchFamily="49" charset="0"/>
              </a:rPr>
              <a:t>.claude/settings.json</a:t>
            </a:r>
            <a:r>
              <a:rPr lang="en-US" sz="1900" b="1">
                <a:solidFill>
                  <a:srgbClr val="4A7C59"/>
                </a:solidFill>
                <a:latin typeface="DejaVu Sans"/>
              </a:rPr>
              <a:t>:</a:t>
            </a:r>
          </a:p>
        </p:txBody>
      </p:sp>
      <p:sp>
        <p:nvSpPr>
          <p:cNvPr id="18" name="CodeBox">
            <a:extLst>
              <a:ext uri="{FF2B5EF4-FFF2-40B4-BE49-F238E27FC236}">
                <a16:creationId xmlns:a16="http://schemas.microsoft.com/office/drawing/2014/main" id="{C72130F4-C434-98A7-1CC7-308575E17D2B}"/>
              </a:ext>
            </a:extLst>
          </p:cNvPr>
          <p:cNvSpPr/>
          <p:nvPr/>
        </p:nvSpPr>
        <p:spPr>
          <a:xfrm>
            <a:off x="640080" y="1544956"/>
            <a:ext cx="10909300" cy="1584960"/>
          </a:xfrm>
          <a:prstGeom prst="roundRect">
            <a:avLst>
              <a:gd name="adj" fmla="val 3000"/>
            </a:avLst>
          </a:prstGeom>
          <a:solidFill>
            <a:srgbClr val="2E3A2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28600" tIns="127000" rIns="152400" bIns="127000" rtlCol="0" anchor="t"/>
          <a:lstStyle/>
          <a:p>
            <a:r>
              <a:rPr lang="en-US" sz="1400">
                <a:solidFill>
                  <a:srgbClr val="F5F3ED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>
                <a:solidFill>
                  <a:srgbClr val="F5F3ED"/>
                </a:solidFill>
                <a:latin typeface="Consolas" panose="020B0609020204030204" pitchFamily="49" charset="0"/>
              </a:rPr>
              <a:t>  "permissions": {</a:t>
            </a:r>
          </a:p>
          <a:p>
            <a:r>
              <a:rPr lang="en-US" sz="1400">
                <a:solidFill>
                  <a:srgbClr val="F5F3ED"/>
                </a:solidFill>
                <a:latin typeface="Consolas" panose="020B0609020204030204" pitchFamily="49" charset="0"/>
              </a:rPr>
              <a:t>    "allow": ["Bash(Rscript *)", "Bash(git status)", "Bash(git diff *)"],</a:t>
            </a:r>
          </a:p>
          <a:p>
            <a:r>
              <a:rPr lang="en-US" sz="1400">
                <a:solidFill>
                  <a:srgbClr val="F5F3ED"/>
                </a:solidFill>
                <a:latin typeface="Consolas" panose="020B0609020204030204" pitchFamily="49" charset="0"/>
              </a:rPr>
              <a:t>    "deny":  ["Edit(/data/bruto/**)", "Bash(rm *)"]</a:t>
            </a:r>
          </a:p>
          <a:p>
            <a:r>
              <a:rPr lang="en-US" sz="1400">
                <a:solidFill>
                  <a:srgbClr val="F5F3ED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400">
                <a:solidFill>
                  <a:srgbClr val="F5F3ED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" name="CodeBoxAccent">
            <a:extLst>
              <a:ext uri="{FF2B5EF4-FFF2-40B4-BE49-F238E27FC236}">
                <a16:creationId xmlns:a16="http://schemas.microsoft.com/office/drawing/2014/main" id="{9EC79538-E021-6DFB-8431-BB5D6E692053}"/>
              </a:ext>
            </a:extLst>
          </p:cNvPr>
          <p:cNvSpPr/>
          <p:nvPr/>
        </p:nvSpPr>
        <p:spPr>
          <a:xfrm>
            <a:off x="640080" y="1544956"/>
            <a:ext cx="76200" cy="1584960"/>
          </a:xfrm>
          <a:prstGeom prst="rect">
            <a:avLst/>
          </a:prstGeom>
          <a:solidFill>
            <a:srgbClr val="F9A62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itText">
            <a:extLst>
              <a:ext uri="{FF2B5EF4-FFF2-40B4-BE49-F238E27FC236}">
                <a16:creationId xmlns:a16="http://schemas.microsoft.com/office/drawing/2014/main" id="{455D883C-4C1F-35CC-F0D1-0927678E8F60}"/>
              </a:ext>
            </a:extLst>
          </p:cNvPr>
          <p:cNvSpPr txBox="1"/>
          <p:nvPr/>
        </p:nvSpPr>
        <p:spPr>
          <a:xfrm>
            <a:off x="640080" y="3282315"/>
            <a:ext cx="10909300" cy="239807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O agente roda scripts, mas suas ferramentas de edição </a:t>
            </a:r>
            <a:r>
              <a:rPr lang="pt-BR" sz="1900" b="1">
                <a:solidFill>
                  <a:srgbClr val="4A7C59"/>
                </a:solidFill>
                <a:latin typeface="DejaVu Sans"/>
              </a:rPr>
              <a:t>não alteram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 os dados brutos e ele não apaga arquivos.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A regra não alcança um script que grave na pasta: proteja </a:t>
            </a:r>
            <a:r>
              <a:rPr lang="pt-BR" sz="1900" b="1">
                <a:solidFill>
                  <a:srgbClr val="B7472A"/>
                </a:solidFill>
                <a:latin typeface="Consolas" panose="020B0609020204030204" pitchFamily="49" charset="0"/>
              </a:rPr>
              <a:t>data/bruto/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 também como somente leitura no sistema (Seção 2).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O agente escreve </a:t>
            </a:r>
            <a:r>
              <a:rPr lang="pt-BR" sz="1900" b="1">
                <a:solidFill>
                  <a:srgbClr val="4A7C59"/>
                </a:solidFill>
                <a:latin typeface="DejaVu Sans"/>
              </a:rPr>
              <a:t>código que transforma dados</a:t>
            </a:r>
            <a:r>
              <a:rPr lang="pt-BR" sz="1900">
                <a:solidFill>
                  <a:srgbClr val="2E3A2F"/>
                </a:solidFill>
                <a:latin typeface="DejaVu Sans"/>
              </a:rPr>
              <a:t>; não transforma dados "na mão".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1900">
                <a:solidFill>
                  <a:srgbClr val="2E3A2F"/>
                </a:solidFill>
                <a:latin typeface="DejaVu Sans"/>
              </a:rPr>
              <a:t>Git registra cada mudança nos scripts: tudo o que o agente fez pode ser revisado e desfeito.</a:t>
            </a:r>
            <a:endParaRPr lang="en-US" sz="19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3697693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5.9  O mesmo pedido, duas pastas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5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6B496DF0-FB73-E1AF-094D-45E0633968BA}"/>
              </a:ext>
            </a:extLst>
          </p:cNvPr>
          <p:cNvSpPr txBox="1"/>
          <p:nvPr/>
        </p:nvSpPr>
        <p:spPr>
          <a:xfrm>
            <a:off x="640080" y="1053210"/>
            <a:ext cx="53086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 b="1">
                <a:solidFill>
                  <a:srgbClr val="4A7C59"/>
                </a:solidFill>
                <a:latin typeface="DejaVu Sans"/>
              </a:rPr>
              <a:t>Pasta desorganizada:</a:t>
            </a:r>
          </a:p>
        </p:txBody>
      </p:sp>
      <p:sp>
        <p:nvSpPr>
          <p:cNvPr id="14" name="FitCallout">
            <a:extLst>
              <a:ext uri="{FF2B5EF4-FFF2-40B4-BE49-F238E27FC236}">
                <a16:creationId xmlns:a16="http://schemas.microsoft.com/office/drawing/2014/main" id="{F65B0D8A-2A29-1CCA-2652-3169A8A68F35}"/>
              </a:ext>
            </a:extLst>
          </p:cNvPr>
          <p:cNvSpPr/>
          <p:nvPr/>
        </p:nvSpPr>
        <p:spPr>
          <a:xfrm>
            <a:off x="640080" y="1562226"/>
            <a:ext cx="5308600" cy="81483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"Faz a análise conjunta desses ensaios de milho."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5" name="FitCalloutBar">
            <a:extLst>
              <a:ext uri="{FF2B5EF4-FFF2-40B4-BE49-F238E27FC236}">
                <a16:creationId xmlns:a16="http://schemas.microsoft.com/office/drawing/2014/main" id="{2C5F87C7-A7BF-F989-3B39-5B817066DDE8}"/>
              </a:ext>
            </a:extLst>
          </p:cNvPr>
          <p:cNvSpPr/>
          <p:nvPr/>
        </p:nvSpPr>
        <p:spPr>
          <a:xfrm>
            <a:off x="640080" y="1562226"/>
            <a:ext cx="63500" cy="814832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tText">
            <a:extLst>
              <a:ext uri="{FF2B5EF4-FFF2-40B4-BE49-F238E27FC236}">
                <a16:creationId xmlns:a16="http://schemas.microsoft.com/office/drawing/2014/main" id="{B5305246-DB40-ADE2-257B-39FAEF9AC574}"/>
              </a:ext>
            </a:extLst>
          </p:cNvPr>
          <p:cNvSpPr txBox="1"/>
          <p:nvPr/>
        </p:nvSpPr>
        <p:spPr>
          <a:xfrm>
            <a:off x="640080" y="2529457"/>
            <a:ext cx="5308600" cy="9174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O agente precisa adivinhar: qual planilha, qual unidade, quais linhas excluir, qual modelo, onde salvar.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7" name="FitText">
            <a:extLst>
              <a:ext uri="{FF2B5EF4-FFF2-40B4-BE49-F238E27FC236}">
                <a16:creationId xmlns:a16="http://schemas.microsoft.com/office/drawing/2014/main" id="{12ED6118-F6AD-C6DE-9A1D-27919101E1EB}"/>
              </a:ext>
            </a:extLst>
          </p:cNvPr>
          <p:cNvSpPr txBox="1"/>
          <p:nvPr/>
        </p:nvSpPr>
        <p:spPr>
          <a:xfrm>
            <a:off x="6240780" y="1053210"/>
            <a:ext cx="53086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2000" b="1">
                <a:solidFill>
                  <a:srgbClr val="4A7C59"/>
                </a:solidFill>
                <a:latin typeface="DejaVu Sans"/>
              </a:rPr>
              <a:t>Pasta organizada:</a:t>
            </a:r>
          </a:p>
        </p:txBody>
      </p:sp>
      <p:sp>
        <p:nvSpPr>
          <p:cNvPr id="18" name="FitCallout">
            <a:extLst>
              <a:ext uri="{FF2B5EF4-FFF2-40B4-BE49-F238E27FC236}">
                <a16:creationId xmlns:a16="http://schemas.microsoft.com/office/drawing/2014/main" id="{F5BAACC9-1E51-6A9C-9F6F-09E57FBEA51F}"/>
              </a:ext>
            </a:extLst>
          </p:cNvPr>
          <p:cNvSpPr/>
          <p:nvPr/>
        </p:nvSpPr>
        <p:spPr>
          <a:xfrm>
            <a:off x="6240780" y="1562226"/>
            <a:ext cx="5308600" cy="2216912"/>
          </a:xfrm>
          <a:prstGeom prst="roundRect">
            <a:avLst>
              <a:gd name="adj" fmla="val 8000"/>
            </a:avLst>
          </a:prstGeom>
          <a:solidFill>
            <a:srgbClr val="D8E4D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1600" rIns="152400" bIns="101600" rtlCol="0" anchor="ctr"/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2E3A2F"/>
                </a:solidFill>
                <a:latin typeface="DejaVu Sans"/>
              </a:rPr>
              <a:t>"Etapa 02 do README. Escreva R/02_qc.R seguindo o contrato do cabeçalho e as regras do CLAUDE.md. Use o dicionário para os intervalos. Inclua um teste em tests/ com erros injetados. Plano primeiro."</a:t>
            </a:r>
            <a:endParaRPr lang="en-US" sz="2000" b="1">
              <a:solidFill>
                <a:srgbClr val="2E3A2F"/>
              </a:solidFill>
              <a:latin typeface="DejaVu Sans"/>
            </a:endParaRPr>
          </a:p>
        </p:txBody>
      </p:sp>
      <p:sp>
        <p:nvSpPr>
          <p:cNvPr id="19" name="FitCalloutBar">
            <a:extLst>
              <a:ext uri="{FF2B5EF4-FFF2-40B4-BE49-F238E27FC236}">
                <a16:creationId xmlns:a16="http://schemas.microsoft.com/office/drawing/2014/main" id="{AFEF65EA-A75D-D8BD-E542-132C7FC56346}"/>
              </a:ext>
            </a:extLst>
          </p:cNvPr>
          <p:cNvSpPr/>
          <p:nvPr/>
        </p:nvSpPr>
        <p:spPr>
          <a:xfrm>
            <a:off x="6240780" y="1562226"/>
            <a:ext cx="63500" cy="2216912"/>
          </a:xfrm>
          <a:prstGeom prst="rect">
            <a:avLst/>
          </a:prstGeom>
          <a:solidFill>
            <a:srgbClr val="B7472A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itText">
            <a:extLst>
              <a:ext uri="{FF2B5EF4-FFF2-40B4-BE49-F238E27FC236}">
                <a16:creationId xmlns:a16="http://schemas.microsoft.com/office/drawing/2014/main" id="{9A169E31-00AE-7858-07B8-08F83A791E80}"/>
              </a:ext>
            </a:extLst>
          </p:cNvPr>
          <p:cNvSpPr txBox="1"/>
          <p:nvPr/>
        </p:nvSpPr>
        <p:spPr>
          <a:xfrm>
            <a:off x="6240780" y="3931537"/>
            <a:ext cx="53086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Todas as decisões importantes já estão escritas na pasta.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1898796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Síntese e tarefa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55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it-IT" sz="2200" b="0" i="0">
                <a:solidFill>
                  <a:srgbClr val="D8E4DA"/>
                </a:solidFill>
                <a:latin typeface="DejaVu Sans"/>
              </a:rPr>
              <a:t>BLOCO 6 · 5 min · SEÇÃO 1 · BLOCO 6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514681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6.1  Checklist: os dados estão prontos para a IA?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6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1F7E2DB0-86A8-7FB1-C096-04AB9253F216}"/>
              </a:ext>
            </a:extLst>
          </p:cNvPr>
          <p:cNvSpPr txBox="1"/>
          <p:nvPr/>
        </p:nvSpPr>
        <p:spPr>
          <a:xfrm>
            <a:off x="640080" y="1053211"/>
            <a:ext cx="10909300" cy="33863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Os dados estão em um banco (ou em tabelas) com chaves e tipos definidos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Existe um dicionário com unidades, intervalos e códigos de ausente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Identificadores seguem um padrão validável e únicos por entidade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Há camada bruta intocada e camada curada reconstruível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O QC é um script, com relatório e teste com erros injetados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Toda correção está registrada com motivo e responsável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A análise vive em uma pasta organizada, com README e CLAUDE.md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☐ Apagar os resultados e rodar os scripts recria tudo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775415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6.2  Tarefa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6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C20A7FE9-DC51-BD51-DEC9-E6FC21F9295A}"/>
              </a:ext>
            </a:extLst>
          </p:cNvPr>
          <p:cNvSpPr txBox="1"/>
          <p:nvPr/>
        </p:nvSpPr>
        <p:spPr>
          <a:xfrm>
            <a:off x="640080" y="1053211"/>
            <a:ext cx="10909300" cy="23682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Copie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modelos/projeto-analise/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para um ensaio do seu próprio projeto.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Preencha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data/bruto/LEIA-ME.md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e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docs/dicionario_de_dados.csv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Escreva três consultas SQL de QC (duplicatas, intervalos, padrão de ID) e rode-as.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Adapte o </a:t>
            </a:r>
            <a:r>
              <a:rPr lang="pt-BR" sz="2000" b="1">
                <a:solidFill>
                  <a:srgbClr val="B7472A"/>
                </a:solidFill>
                <a:latin typeface="Consolas" panose="020B0609020204030204" pitchFamily="49" charset="0"/>
              </a:rPr>
              <a:t>CLAUDE.md</a:t>
            </a:r>
            <a:r>
              <a:rPr lang="pt-BR" sz="2000">
                <a:solidFill>
                  <a:srgbClr val="2E3A2F"/>
                </a:solidFill>
                <a:latin typeface="DejaVu Sans"/>
              </a:rPr>
              <a:t> às regras do seu ensaio.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/>
              </a:rPr>
              <a:t>Na próxima seção, essa pasta será aberta no Claude Code.</a:t>
            </a:r>
            <a:endParaRPr lang="en-US" sz="2000">
              <a:solidFill>
                <a:srgbClr val="2E3A2F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6286342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6.3  Referências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587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/>
              </a:rPr>
              <a:t>SEÇÃO 1 · BLOCO 6</a:t>
            </a:r>
            <a:endParaRPr sz="1100" b="0" i="0">
              <a:solidFill>
                <a:srgbClr val="6B6B6B"/>
              </a:solidFill>
              <a:latin typeface="DejaVu Sans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69D06BE7-B62D-4CEC-5F4C-F598BC24F997}"/>
              </a:ext>
            </a:extLst>
          </p:cNvPr>
          <p:cNvSpPr txBox="1"/>
          <p:nvPr/>
        </p:nvSpPr>
        <p:spPr>
          <a:xfrm>
            <a:off x="640080" y="1053211"/>
            <a:ext cx="10909300" cy="491642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Broman, K. W.; Woo, K. H. (2018). Data organization in spreadsheets. </a:t>
            </a:r>
            <a:r>
              <a:rPr lang="en-US" sz="2000" i="1">
                <a:solidFill>
                  <a:srgbClr val="2E3A2F"/>
                </a:solidFill>
                <a:latin typeface="DejaVu Sans"/>
              </a:rPr>
              <a:t>The American Statistician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, 72(1), 2–10.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Morales, N. et al. (2022). Breedbase: a digital ecosystem for modern plant breeding. </a:t>
            </a:r>
            <a:r>
              <a:rPr lang="en-US" sz="2000" i="1">
                <a:solidFill>
                  <a:srgbClr val="2E3A2F"/>
                </a:solidFill>
                <a:latin typeface="DejaVu Sans"/>
              </a:rPr>
              <a:t>G3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, 12(7), jkac078.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Rife, T. W.; Poland, J. A. (2014). Field Book: an open-source application for field data collection on Android. </a:t>
            </a:r>
            <a:r>
              <a:rPr lang="en-US" sz="2000" i="1">
                <a:solidFill>
                  <a:srgbClr val="2E3A2F"/>
                </a:solidFill>
                <a:latin typeface="DejaVu Sans"/>
              </a:rPr>
              <a:t>Crop Science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, 54(4). doi:10.2135/cropsci2013.08.0579.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Wickham, H. (2014). Tidy data. </a:t>
            </a:r>
            <a:r>
              <a:rPr lang="en-US" sz="2000" i="1">
                <a:solidFill>
                  <a:srgbClr val="2E3A2F"/>
                </a:solidFill>
                <a:latin typeface="DejaVu Sans"/>
              </a:rPr>
              <a:t>Journal of Statistical Software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, 59(10).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Wilkinson, M. D. et al. (2016). The FAIR Guiding Principles for scientific data management and stewardship. </a:t>
            </a:r>
            <a:r>
              <a:rPr lang="en-US" sz="2000" i="1">
                <a:solidFill>
                  <a:srgbClr val="2E3A2F"/>
                </a:solidFill>
                <a:latin typeface="DejaVu Sans"/>
              </a:rPr>
              <a:t>Scientific Data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, 3, 160018.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Wilson, G. et al. (2017). Good enough practices in scientific computing. </a:t>
            </a:r>
            <a:r>
              <a:rPr lang="en-US" sz="2000" i="1">
                <a:solidFill>
                  <a:srgbClr val="2E3A2F"/>
                </a:solidFill>
                <a:latin typeface="DejaVu Sans"/>
              </a:rPr>
              <a:t>PLOS Computational Biology</a:t>
            </a:r>
            <a:r>
              <a:rPr lang="en-US" sz="2000">
                <a:solidFill>
                  <a:srgbClr val="2E3A2F"/>
                </a:solidFill>
                <a:latin typeface="DejaVu Sans"/>
              </a:rPr>
              <a:t>, 13(6), e1005510.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en-US" sz="2000">
                <a:solidFill>
                  <a:srgbClr val="2E3A2F"/>
                </a:solidFill>
                <a:latin typeface="DejaVu Sans"/>
              </a:rPr>
              <a:t>Crop Ontology: https://cropontology.org · BrAPI: https://brapi.org · DuckDB: https://duckdb.org</a:t>
            </a:r>
          </a:p>
        </p:txBody>
      </p:sp>
    </p:spTree>
    <p:extLst>
      <p:ext uri="{BB962C8B-B14F-4D97-AF65-F5344CB8AC3E}">
        <p14:creationId xmlns:p14="http://schemas.microsoft.com/office/powerpoint/2010/main" val="351997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14310</Words>
  <Application>Microsoft Office PowerPoint</Application>
  <PresentationFormat>Widescreen</PresentationFormat>
  <Paragraphs>1109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Consolas</vt:lpstr>
      <vt:lpstr>DejaVu Sans</vt:lpstr>
      <vt:lpstr>DejaVu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Eder Silva</cp:lastModifiedBy>
  <cp:revision>2</cp:revision>
  <dcterms:created xsi:type="dcterms:W3CDTF">2013-01-27T09:14:16Z</dcterms:created>
  <dcterms:modified xsi:type="dcterms:W3CDTF">2026-10-27T19:56:25Z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2026-10-27T14:37:50Z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7e58aa73-7a3a-42f7-8135-f8ee99152278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RESTRICTED</vt:lpwstr>
  </property>
</Properties>
</file>