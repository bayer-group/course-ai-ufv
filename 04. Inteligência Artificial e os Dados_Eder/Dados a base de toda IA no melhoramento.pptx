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A7BDC14-5DCA-E2E5-D245-52D33FD9A31E}">
          <p14:sldIdLst>
            <p14:sldId id="256"/>
            <p14:sldId id="257"/>
          </p14:sldIdLst>
        </p14:section>
        <p14:section name="Bloco 1 — Por que os dados vêm antes da IA" id="{1CB30894-D481-0A00-9F4B-B97D3E1D83F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Bloco 2 — Bancos de dados relacionais e a linguagem SQL" id="{0799A9C7-2420-8D2D-3887-6BCB626AE71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Bloco 3 — QA/QC: garantir e controlar a qualidade" id="{1FF2921A-D26E-3438-6C38-D0E9F4132FB7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Bloco 4 — Consistência e curadoria" id="{9BEDC550-836A-68D9-5650-861511492E15}">
          <p14:sldIdLst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Bloco 5 — A pasta de análise como projeto do Claude Code" id="{90A6C6D5-E587-71CF-ACF6-95D762C04BF7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Bloco 6 — Síntese e tarefa" id="{6ECAC32C-75F4-CCE7-3618-FF071CB6DE8C}">
          <p14:sldIdLst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8" y="3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Silva" userId="9b7f41b4-798d-40cf-8f87-8e33ae7a0417" providerId="ADAL" clId="{DFF9E84E-5922-4F26-9EAD-8AB4E668133E}"/>
    <pc:docChg chg="mod modSld modMainMaster">
      <pc:chgData name="Eder Silva" userId="9b7f41b4-798d-40cf-8f87-8e33ae7a0417" providerId="ADAL" clId="{DFF9E84E-5922-4F26-9EAD-8AB4E668133E}" dt="2026-10-26T11:35:50.709" v="5" actId="6549"/>
      <pc:docMkLst>
        <pc:docMk/>
      </pc:docMkLst>
      <pc:sldChg chg="modSp mod">
        <pc:chgData name="Eder Silva" userId="9b7f41b4-798d-40cf-8f87-8e33ae7a0417" providerId="ADAL" clId="{DFF9E84E-5922-4F26-9EAD-8AB4E668133E}" dt="2026-10-26T11:35:50.709" v="5" actId="6549"/>
        <pc:sldMkLst>
          <pc:docMk/>
          <pc:sldMk cId="0" sldId="256"/>
        </pc:sldMkLst>
        <pc:spChg chg="mod">
          <ac:chgData name="Eder Silva" userId="9b7f41b4-798d-40cf-8f87-8e33ae7a0417" providerId="ADAL" clId="{DFF9E84E-5922-4F26-9EAD-8AB4E668133E}" dt="2026-10-20T12:21:31.999" v="3" actId="6549"/>
          <ac:spMkLst>
            <pc:docMk/>
            <pc:sldMk cId="0" sldId="256"/>
            <ac:spMk id="86" creationId="{00000000-0000-0000-0000-000000000000}"/>
          </ac:spMkLst>
        </pc:spChg>
        <pc:spChg chg="mod">
          <ac:chgData name="Eder Silva" userId="9b7f41b4-798d-40cf-8f87-8e33ae7a0417" providerId="ADAL" clId="{DFF9E84E-5922-4F26-9EAD-8AB4E668133E}" dt="2026-10-26T11:35:50.709" v="5" actId="6549"/>
          <ac:spMkLst>
            <pc:docMk/>
            <pc:sldMk cId="0" sldId="256"/>
            <ac:spMk id="87" creationId="{00000000-0000-0000-0000-000000000000}"/>
          </ac:spMkLst>
        </pc:spChg>
      </pc:sldChg>
      <pc:sldMasterChg chg="addSp mod">
        <pc:chgData name="Eder Silva" userId="9b7f41b4-798d-40cf-8f87-8e33ae7a0417" providerId="ADAL" clId="{DFF9E84E-5922-4F26-9EAD-8AB4E668133E}" dt="2026-10-20T12:05:10.720" v="1" actId="33475"/>
        <pc:sldMasterMkLst>
          <pc:docMk/>
          <pc:sldMasterMk cId="0" sldId="2147483648"/>
        </pc:sldMasterMkLst>
        <pc:spChg chg="add">
          <ac:chgData name="Eder Silva" userId="9b7f41b4-798d-40cf-8f87-8e33ae7a0417" providerId="ADAL" clId="{DFF9E84E-5922-4F26-9EAD-8AB4E668133E}" dt="2026-10-20T12:05:10.720" v="1" actId="33475"/>
          <ac:spMkLst>
            <pc:docMk/>
            <pc:sldMasterMk cId="0" sldId="2147483648"/>
            <ac:spMk id="3" creationId="{15B5BAA2-43DA-D791-3F32-1BFB9DF1BF5B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71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Dados: a base de toda IA no melhoramento</a:t>
            </a:r>
            <a:endParaRPr lang="en-US" sz="4000" dirty="0"/>
          </a:p>
        </p:txBody>
      </p:sp>
      <p:sp>
        <p:nvSpPr>
          <p:cNvPr id="3" name="texto-0"/>
          <p:cNvSpPr txBox="1"/>
          <p:nvPr/>
        </p:nvSpPr>
        <p:spPr>
          <a:xfrm>
            <a:off x="658368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kern="0" spc="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NO MELHORAMENTO GENÉTICO: FUNDAMENTOS E APLICAÇÕES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796 · UFV · 3 A 5 DE NOVEMBRO DE 2026</a:t>
            </a:r>
            <a:endParaRPr lang="en-US" sz="1200" dirty="0"/>
          </a:p>
        </p:txBody>
      </p:sp>
      <p:sp>
        <p:nvSpPr>
          <p:cNvPr id="4" name="texto-1"/>
          <p:cNvSpPr txBox="1"/>
          <p:nvPr/>
        </p:nvSpPr>
        <p:spPr>
          <a:xfrm>
            <a:off x="9974275" y="502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800" dirty="0"/>
          </a:p>
        </p:txBody>
      </p:sp>
      <p:sp>
        <p:nvSpPr>
          <p:cNvPr id="5" name="ret-2"/>
          <p:cNvSpPr/>
          <p:nvPr/>
        </p:nvSpPr>
        <p:spPr>
          <a:xfrm>
            <a:off x="99742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101342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et-4"/>
          <p:cNvSpPr/>
          <p:nvPr/>
        </p:nvSpPr>
        <p:spPr>
          <a:xfrm>
            <a:off x="102943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et-5"/>
          <p:cNvSpPr/>
          <p:nvPr/>
        </p:nvSpPr>
        <p:spPr>
          <a:xfrm>
            <a:off x="104543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106143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t-7"/>
          <p:cNvSpPr/>
          <p:nvPr/>
        </p:nvSpPr>
        <p:spPr>
          <a:xfrm>
            <a:off x="107743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t-8"/>
          <p:cNvSpPr/>
          <p:nvPr/>
        </p:nvSpPr>
        <p:spPr>
          <a:xfrm>
            <a:off x="109343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110944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ret-10"/>
          <p:cNvSpPr/>
          <p:nvPr/>
        </p:nvSpPr>
        <p:spPr>
          <a:xfrm>
            <a:off x="112544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t-11"/>
          <p:cNvSpPr/>
          <p:nvPr/>
        </p:nvSpPr>
        <p:spPr>
          <a:xfrm>
            <a:off x="114144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9742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t-13"/>
          <p:cNvSpPr/>
          <p:nvPr/>
        </p:nvSpPr>
        <p:spPr>
          <a:xfrm>
            <a:off x="101342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t-14"/>
          <p:cNvSpPr/>
          <p:nvPr/>
        </p:nvSpPr>
        <p:spPr>
          <a:xfrm>
            <a:off x="102943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104543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t-16"/>
          <p:cNvSpPr/>
          <p:nvPr/>
        </p:nvSpPr>
        <p:spPr>
          <a:xfrm>
            <a:off x="106143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et-17"/>
          <p:cNvSpPr/>
          <p:nvPr/>
        </p:nvSpPr>
        <p:spPr>
          <a:xfrm>
            <a:off x="107743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t-18"/>
          <p:cNvSpPr/>
          <p:nvPr/>
        </p:nvSpPr>
        <p:spPr>
          <a:xfrm>
            <a:off x="109343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t-19"/>
          <p:cNvSpPr/>
          <p:nvPr/>
        </p:nvSpPr>
        <p:spPr>
          <a:xfrm>
            <a:off x="110944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t-20"/>
          <p:cNvSpPr/>
          <p:nvPr/>
        </p:nvSpPr>
        <p:spPr>
          <a:xfrm>
            <a:off x="112544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et-21"/>
          <p:cNvSpPr/>
          <p:nvPr/>
        </p:nvSpPr>
        <p:spPr>
          <a:xfrm>
            <a:off x="114144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ret-22"/>
          <p:cNvSpPr/>
          <p:nvPr/>
        </p:nvSpPr>
        <p:spPr>
          <a:xfrm>
            <a:off x="99742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ret-23"/>
          <p:cNvSpPr/>
          <p:nvPr/>
        </p:nvSpPr>
        <p:spPr>
          <a:xfrm>
            <a:off x="101342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t-24"/>
          <p:cNvSpPr/>
          <p:nvPr/>
        </p:nvSpPr>
        <p:spPr>
          <a:xfrm>
            <a:off x="102943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ret-25"/>
          <p:cNvSpPr/>
          <p:nvPr/>
        </p:nvSpPr>
        <p:spPr>
          <a:xfrm>
            <a:off x="104543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ret-26"/>
          <p:cNvSpPr/>
          <p:nvPr/>
        </p:nvSpPr>
        <p:spPr>
          <a:xfrm>
            <a:off x="106143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ret-27"/>
          <p:cNvSpPr/>
          <p:nvPr/>
        </p:nvSpPr>
        <p:spPr>
          <a:xfrm>
            <a:off x="107743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ret-28"/>
          <p:cNvSpPr/>
          <p:nvPr/>
        </p:nvSpPr>
        <p:spPr>
          <a:xfrm>
            <a:off x="109343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et-29"/>
          <p:cNvSpPr/>
          <p:nvPr/>
        </p:nvSpPr>
        <p:spPr>
          <a:xfrm>
            <a:off x="110944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ret-30"/>
          <p:cNvSpPr/>
          <p:nvPr/>
        </p:nvSpPr>
        <p:spPr>
          <a:xfrm>
            <a:off x="112544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ret-31"/>
          <p:cNvSpPr/>
          <p:nvPr/>
        </p:nvSpPr>
        <p:spPr>
          <a:xfrm>
            <a:off x="114144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ret-32"/>
          <p:cNvSpPr/>
          <p:nvPr/>
        </p:nvSpPr>
        <p:spPr>
          <a:xfrm>
            <a:off x="99742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ret-33"/>
          <p:cNvSpPr/>
          <p:nvPr/>
        </p:nvSpPr>
        <p:spPr>
          <a:xfrm>
            <a:off x="101342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ret-34"/>
          <p:cNvSpPr/>
          <p:nvPr/>
        </p:nvSpPr>
        <p:spPr>
          <a:xfrm>
            <a:off x="102943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ret-35"/>
          <p:cNvSpPr/>
          <p:nvPr/>
        </p:nvSpPr>
        <p:spPr>
          <a:xfrm>
            <a:off x="104543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ret-36"/>
          <p:cNvSpPr/>
          <p:nvPr/>
        </p:nvSpPr>
        <p:spPr>
          <a:xfrm>
            <a:off x="106143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ret-37"/>
          <p:cNvSpPr/>
          <p:nvPr/>
        </p:nvSpPr>
        <p:spPr>
          <a:xfrm>
            <a:off x="107743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ret-38"/>
          <p:cNvSpPr/>
          <p:nvPr/>
        </p:nvSpPr>
        <p:spPr>
          <a:xfrm>
            <a:off x="109343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t-39"/>
          <p:cNvSpPr/>
          <p:nvPr/>
        </p:nvSpPr>
        <p:spPr>
          <a:xfrm>
            <a:off x="110944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ret-40"/>
          <p:cNvSpPr/>
          <p:nvPr/>
        </p:nvSpPr>
        <p:spPr>
          <a:xfrm>
            <a:off x="112544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ret-41"/>
          <p:cNvSpPr/>
          <p:nvPr/>
        </p:nvSpPr>
        <p:spPr>
          <a:xfrm>
            <a:off x="114144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o-42"/>
          <p:cNvSpPr txBox="1"/>
          <p:nvPr/>
        </p:nvSpPr>
        <p:spPr>
          <a:xfrm>
            <a:off x="9974275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800" dirty="0"/>
          </a:p>
        </p:txBody>
      </p:sp>
      <p:sp>
        <p:nvSpPr>
          <p:cNvPr id="46" name="ret-43"/>
          <p:cNvSpPr/>
          <p:nvPr/>
        </p:nvSpPr>
        <p:spPr>
          <a:xfrm>
            <a:off x="99742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ret-44"/>
          <p:cNvSpPr/>
          <p:nvPr/>
        </p:nvSpPr>
        <p:spPr>
          <a:xfrm>
            <a:off x="101342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ret-45"/>
          <p:cNvSpPr/>
          <p:nvPr/>
        </p:nvSpPr>
        <p:spPr>
          <a:xfrm>
            <a:off x="102943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ret-46"/>
          <p:cNvSpPr/>
          <p:nvPr/>
        </p:nvSpPr>
        <p:spPr>
          <a:xfrm>
            <a:off x="104543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ret-47"/>
          <p:cNvSpPr/>
          <p:nvPr/>
        </p:nvSpPr>
        <p:spPr>
          <a:xfrm>
            <a:off x="106143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ret-48"/>
          <p:cNvSpPr/>
          <p:nvPr/>
        </p:nvSpPr>
        <p:spPr>
          <a:xfrm>
            <a:off x="107743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ret-49"/>
          <p:cNvSpPr/>
          <p:nvPr/>
        </p:nvSpPr>
        <p:spPr>
          <a:xfrm>
            <a:off x="109343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ret-50"/>
          <p:cNvSpPr/>
          <p:nvPr/>
        </p:nvSpPr>
        <p:spPr>
          <a:xfrm>
            <a:off x="110944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ret-51"/>
          <p:cNvSpPr/>
          <p:nvPr/>
        </p:nvSpPr>
        <p:spPr>
          <a:xfrm>
            <a:off x="112544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ret-52"/>
          <p:cNvSpPr/>
          <p:nvPr/>
        </p:nvSpPr>
        <p:spPr>
          <a:xfrm>
            <a:off x="114144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ret-53"/>
          <p:cNvSpPr/>
          <p:nvPr/>
        </p:nvSpPr>
        <p:spPr>
          <a:xfrm>
            <a:off x="99742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ret-54"/>
          <p:cNvSpPr/>
          <p:nvPr/>
        </p:nvSpPr>
        <p:spPr>
          <a:xfrm>
            <a:off x="101342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ret-55"/>
          <p:cNvSpPr/>
          <p:nvPr/>
        </p:nvSpPr>
        <p:spPr>
          <a:xfrm>
            <a:off x="102943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ret-56"/>
          <p:cNvSpPr/>
          <p:nvPr/>
        </p:nvSpPr>
        <p:spPr>
          <a:xfrm>
            <a:off x="104543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ret-57"/>
          <p:cNvSpPr/>
          <p:nvPr/>
        </p:nvSpPr>
        <p:spPr>
          <a:xfrm>
            <a:off x="106143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ret-58"/>
          <p:cNvSpPr/>
          <p:nvPr/>
        </p:nvSpPr>
        <p:spPr>
          <a:xfrm>
            <a:off x="107743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et-59"/>
          <p:cNvSpPr/>
          <p:nvPr/>
        </p:nvSpPr>
        <p:spPr>
          <a:xfrm>
            <a:off x="109343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ret-60"/>
          <p:cNvSpPr/>
          <p:nvPr/>
        </p:nvSpPr>
        <p:spPr>
          <a:xfrm>
            <a:off x="110944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ret-61"/>
          <p:cNvSpPr/>
          <p:nvPr/>
        </p:nvSpPr>
        <p:spPr>
          <a:xfrm>
            <a:off x="112544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ret-62"/>
          <p:cNvSpPr/>
          <p:nvPr/>
        </p:nvSpPr>
        <p:spPr>
          <a:xfrm>
            <a:off x="114144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ret-63"/>
          <p:cNvSpPr/>
          <p:nvPr/>
        </p:nvSpPr>
        <p:spPr>
          <a:xfrm>
            <a:off x="99742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ret-64"/>
          <p:cNvSpPr/>
          <p:nvPr/>
        </p:nvSpPr>
        <p:spPr>
          <a:xfrm>
            <a:off x="101342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ret-65"/>
          <p:cNvSpPr/>
          <p:nvPr/>
        </p:nvSpPr>
        <p:spPr>
          <a:xfrm>
            <a:off x="102943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ret-66"/>
          <p:cNvSpPr/>
          <p:nvPr/>
        </p:nvSpPr>
        <p:spPr>
          <a:xfrm>
            <a:off x="104543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ret-67"/>
          <p:cNvSpPr/>
          <p:nvPr/>
        </p:nvSpPr>
        <p:spPr>
          <a:xfrm>
            <a:off x="106143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ret-68"/>
          <p:cNvSpPr/>
          <p:nvPr/>
        </p:nvSpPr>
        <p:spPr>
          <a:xfrm>
            <a:off x="107743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ret-69"/>
          <p:cNvSpPr/>
          <p:nvPr/>
        </p:nvSpPr>
        <p:spPr>
          <a:xfrm>
            <a:off x="109343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ret-70"/>
          <p:cNvSpPr/>
          <p:nvPr/>
        </p:nvSpPr>
        <p:spPr>
          <a:xfrm>
            <a:off x="110944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ret-71"/>
          <p:cNvSpPr/>
          <p:nvPr/>
        </p:nvSpPr>
        <p:spPr>
          <a:xfrm>
            <a:off x="112544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ret-72"/>
          <p:cNvSpPr/>
          <p:nvPr/>
        </p:nvSpPr>
        <p:spPr>
          <a:xfrm>
            <a:off x="114144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ret-73"/>
          <p:cNvSpPr/>
          <p:nvPr/>
        </p:nvSpPr>
        <p:spPr>
          <a:xfrm>
            <a:off x="99742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ret-74"/>
          <p:cNvSpPr/>
          <p:nvPr/>
        </p:nvSpPr>
        <p:spPr>
          <a:xfrm>
            <a:off x="101342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ret-75"/>
          <p:cNvSpPr/>
          <p:nvPr/>
        </p:nvSpPr>
        <p:spPr>
          <a:xfrm>
            <a:off x="102943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ret-76"/>
          <p:cNvSpPr/>
          <p:nvPr/>
        </p:nvSpPr>
        <p:spPr>
          <a:xfrm>
            <a:off x="104543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ret-77"/>
          <p:cNvSpPr/>
          <p:nvPr/>
        </p:nvSpPr>
        <p:spPr>
          <a:xfrm>
            <a:off x="106143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ret-78"/>
          <p:cNvSpPr/>
          <p:nvPr/>
        </p:nvSpPr>
        <p:spPr>
          <a:xfrm>
            <a:off x="107743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ret-79"/>
          <p:cNvSpPr/>
          <p:nvPr/>
        </p:nvSpPr>
        <p:spPr>
          <a:xfrm>
            <a:off x="109343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ret-80"/>
          <p:cNvSpPr/>
          <p:nvPr/>
        </p:nvSpPr>
        <p:spPr>
          <a:xfrm>
            <a:off x="110944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ret-81"/>
          <p:cNvSpPr/>
          <p:nvPr/>
        </p:nvSpPr>
        <p:spPr>
          <a:xfrm>
            <a:off x="112544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ret-82"/>
          <p:cNvSpPr/>
          <p:nvPr/>
        </p:nvSpPr>
        <p:spPr>
          <a:xfrm>
            <a:off x="114144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o-83"/>
          <p:cNvSpPr txBox="1"/>
          <p:nvPr/>
        </p:nvSpPr>
        <p:spPr>
          <a:xfrm>
            <a:off x="658368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7" name="texto-84"/>
          <p:cNvSpPr txBox="1"/>
          <p:nvPr/>
        </p:nvSpPr>
        <p:spPr>
          <a:xfrm>
            <a:off x="658368" y="3727704"/>
            <a:ext cx="10515600" cy="26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Carga:</a:t>
            </a:r>
            <a:r>
              <a:rPr lang="en-US" sz="1500" dirty="0">
                <a:solidFill>
                  <a:schemeClr val="tx2"/>
                </a:solidFill>
              </a:rPr>
              <a:t> 2 h ·  </a:t>
            </a:r>
            <a:r>
              <a:rPr lang="en-US" sz="1500" b="1" dirty="0">
                <a:solidFill>
                  <a:schemeClr val="tx2"/>
                </a:solidFill>
              </a:rPr>
              <a:t>Projeto: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 err="1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/projeto-analise</a:t>
            </a:r>
            <a:endParaRPr lang="en-US" sz="1500" dirty="0"/>
          </a:p>
        </p:txBody>
      </p:sp>
      <p:sp>
        <p:nvSpPr>
          <p:cNvPr id="88" name="ret-85"/>
          <p:cNvSpPr/>
          <p:nvPr/>
        </p:nvSpPr>
        <p:spPr>
          <a:xfrm>
            <a:off x="658368" y="4856086"/>
            <a:ext cx="10515600" cy="1316114"/>
          </a:xfrm>
          <a:prstGeom prst="roundRect">
            <a:avLst>
              <a:gd name="adj" fmla="val 5558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o-86"/>
          <p:cNvSpPr txBox="1"/>
          <p:nvPr/>
        </p:nvSpPr>
        <p:spPr>
          <a:xfrm>
            <a:off x="886968" y="4993246"/>
            <a:ext cx="10104120" cy="106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Fio condutor:</a:t>
            </a:r>
            <a:r>
              <a:rPr lang="en-US" sz="1600" dirty="0">
                <a:solidFill>
                  <a:schemeClr val="tx1"/>
                </a:solidFill>
              </a:rPr>
              <a:t> nenhum modelo, por mais sofisticado, corrige um dado mal identificado, mal medido ou mal organizado. Antes de usar IA, o programa precisa de dados </a:t>
            </a:r>
            <a:r>
              <a:rPr lang="en-US" sz="1600" b="1" dirty="0">
                <a:solidFill>
                  <a:schemeClr val="tx1"/>
                </a:solidFill>
              </a:rPr>
              <a:t>consultáveis</a:t>
            </a:r>
            <a:r>
              <a:rPr lang="en-US" sz="1600" dirty="0">
                <a:solidFill>
                  <a:schemeClr val="tx1"/>
                </a:solidFill>
              </a:rPr>
              <a:t> (banco e SQL), </a:t>
            </a:r>
            <a:r>
              <a:rPr lang="en-US" sz="1600" b="1" dirty="0">
                <a:solidFill>
                  <a:schemeClr val="tx1"/>
                </a:solidFill>
              </a:rPr>
              <a:t>confiáveis</a:t>
            </a:r>
            <a:r>
              <a:rPr lang="en-US" sz="1600" dirty="0">
                <a:solidFill>
                  <a:schemeClr val="tx1"/>
                </a:solidFill>
              </a:rPr>
              <a:t> (QA/QC), </a:t>
            </a:r>
            <a:r>
              <a:rPr lang="en-US" sz="1600" b="1" dirty="0">
                <a:solidFill>
                  <a:schemeClr val="tx1"/>
                </a:solidFill>
              </a:rPr>
              <a:t>consistentes e curados</a:t>
            </a:r>
            <a:r>
              <a:rPr lang="en-US" sz="1600" dirty="0">
                <a:solidFill>
                  <a:schemeClr val="tx1"/>
                </a:solidFill>
              </a:rPr>
              <a:t>, guardados em uma </a:t>
            </a:r>
            <a:r>
              <a:rPr lang="en-US" sz="1600" b="1" dirty="0">
                <a:solidFill>
                  <a:schemeClr val="tx1"/>
                </a:solidFill>
              </a:rPr>
              <a:t>pasta de análise organizada</a:t>
            </a:r>
            <a:r>
              <a:rPr lang="en-US" sz="1600" dirty="0">
                <a:solidFill>
                  <a:schemeClr val="tx1"/>
                </a:solidFill>
              </a:rPr>
              <a:t>, que é também o contexto que o Claude Code vai ler.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seção</a:t>
            </a:r>
            <a:endParaRPr lang="en-US" sz="2800" dirty="0"/>
          </a:p>
        </p:txBody>
      </p:sp>
      <p:graphicFrame>
        <p:nvGraphicFramePr>
          <p:cNvPr id="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2508800"/>
        </p:xfrm>
        <a:graphic>
          <a:graphicData uri="http://schemas.openxmlformats.org/drawingml/2006/table">
            <a:tbl>
              <a:tblPr/>
              <a:tblGrid>
                <a:gridCol w="1218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Bloco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Por que os dados vêm antes da 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Bancos de dados relacionais e a linguagem SQL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QA/QC: garantir e controlar a qualidade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30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Consistência e curadoria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 pasta de análise como projeto do Claude Code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Síntese e tarefa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ROTEIRO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Por que os dados vêm antes da IA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 </a:t>
            </a:r>
            <a:r>
              <a:rPr lang="en-US" sz="2800" b="1" dirty="0">
                <a:solidFill>
                  <a:schemeClr val="tx1"/>
                </a:solidFill>
              </a:rPr>
              <a:t>Pergunta de abertura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5346040" cy="1244972"/>
          </a:xfrm>
          <a:prstGeom prst="roundRect">
            <a:avLst>
              <a:gd name="adj" fmla="val 58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49808" y="1194968"/>
            <a:ext cx="498028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"Se o seu orientador pedisse hoje para reproduzir a análise conjunta dos ensaios de 2023, quanto tempo você levaria?"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Perguntas que costumam não ter resposta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6278728" y="1481086"/>
            <a:ext cx="5346040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Onde está o arquivo bruto que veio do campo?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Qual das cinco versões da planilha foi usada?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Quem corrigiu aquele valor de 104.613 kg/ha, e para quanto?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Qual script gerou a Tabela 3 da dissertação, e com quais pacotes?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 </a:t>
            </a:r>
            <a:r>
              <a:rPr lang="en-US" sz="2800" b="1" dirty="0">
                <a:solidFill>
                  <a:schemeClr val="tx1"/>
                </a:solidFill>
              </a:rPr>
              <a:t>O ciclo de vida do dado em um programa de melhoramento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585265"/>
            <a:ext cx="1161680" cy="98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Planejamento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delineamento, IDs, croqui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195720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18580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277248" y="1585265"/>
            <a:ext cx="1161680" cy="95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Coleta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campo, laboratório, imagens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357608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380468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3896128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Ingestão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digitação, importação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519496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542356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5515008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QA/QC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regras e estatística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681384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704244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7133888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Curadoria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correções registradas</a:t>
            </a:r>
            <a:endParaRPr lang="en-US" sz="1554" dirty="0"/>
          </a:p>
        </p:txBody>
      </p:sp>
      <p:sp>
        <p:nvSpPr>
          <p:cNvPr id="17" name="seta-14"/>
          <p:cNvSpPr/>
          <p:nvPr/>
        </p:nvSpPr>
        <p:spPr>
          <a:xfrm>
            <a:off x="8432727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8661327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o-16"/>
          <p:cNvSpPr txBox="1"/>
          <p:nvPr/>
        </p:nvSpPr>
        <p:spPr>
          <a:xfrm>
            <a:off x="8752767" y="1585265"/>
            <a:ext cx="1161680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Análise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BLUP, GS, IA</a:t>
            </a:r>
            <a:endParaRPr lang="en-US" sz="1554" dirty="0"/>
          </a:p>
        </p:txBody>
      </p:sp>
      <p:sp>
        <p:nvSpPr>
          <p:cNvPr id="20" name="seta-17"/>
          <p:cNvSpPr/>
          <p:nvPr/>
        </p:nvSpPr>
        <p:spPr>
          <a:xfrm>
            <a:off x="10051607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t-18"/>
          <p:cNvSpPr/>
          <p:nvPr/>
        </p:nvSpPr>
        <p:spPr>
          <a:xfrm>
            <a:off x="10280207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o-19"/>
          <p:cNvSpPr txBox="1"/>
          <p:nvPr/>
        </p:nvSpPr>
        <p:spPr>
          <a:xfrm>
            <a:off x="10371647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Decisão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seleção, cruzamentos</a:t>
            </a:r>
            <a:endParaRPr lang="en-US" sz="1554" dirty="0"/>
          </a:p>
        </p:txBody>
      </p:sp>
      <p:sp>
        <p:nvSpPr>
          <p:cNvPr id="23" name="texto-20"/>
          <p:cNvSpPr txBox="1"/>
          <p:nvPr/>
        </p:nvSpPr>
        <p:spPr>
          <a:xfrm>
            <a:off x="566928" y="2753560"/>
            <a:ext cx="11057839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seta é um ponto de entrada de erros: troca de etiqueta, digitação, unidade, cópia e cola, junção errada de tabelas.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custo de corrigir cresce ao longo do ciclo: um ID errado no croqui custa minutos; o mesmo erro descoberto depois da seleção custa um ciclo de melhoramento.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QA atua à esquerda</a:t>
            </a:r>
            <a:r>
              <a:rPr lang="en-US" sz="2100" dirty="0">
                <a:solidFill>
                  <a:schemeClr val="tx1"/>
                </a:solidFill>
              </a:rPr>
              <a:t> (prevenir); </a:t>
            </a:r>
            <a:r>
              <a:rPr lang="en-US" sz="2100" b="1" dirty="0">
                <a:solidFill>
                  <a:schemeClr val="tx1"/>
                </a:solidFill>
              </a:rPr>
              <a:t>QC atua no meio</a:t>
            </a:r>
            <a:r>
              <a:rPr lang="en-US" sz="2100" dirty="0">
                <a:solidFill>
                  <a:schemeClr val="tx1"/>
                </a:solidFill>
              </a:rPr>
              <a:t> (detectar); </a:t>
            </a:r>
            <a:r>
              <a:rPr lang="en-US" sz="2100" b="1" dirty="0">
                <a:solidFill>
                  <a:schemeClr val="tx1"/>
                </a:solidFill>
              </a:rPr>
              <a:t>curadoria</a:t>
            </a:r>
            <a:r>
              <a:rPr lang="en-US" sz="2100" dirty="0">
                <a:solidFill>
                  <a:schemeClr val="tx1"/>
                </a:solidFill>
              </a:rPr>
              <a:t> mantém o histórico de tudo que mudou.</a:t>
            </a:r>
            <a:endParaRPr lang="en-US" sz="2100" dirty="0"/>
          </a:p>
        </p:txBody>
      </p:sp>
      <p:sp>
        <p:nvSpPr>
          <p:cNvPr id="2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 </a:t>
            </a:r>
            <a:r>
              <a:rPr lang="en-US" sz="2800" b="1" dirty="0">
                <a:solidFill>
                  <a:schemeClr val="tx1"/>
                </a:solidFill>
              </a:rPr>
              <a:t>O dado é o ativo de longo prazo do programa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Germoplasma e dados de ensaios acumulados por décadas são o que permite estimar G×E, treinar modelos de seleção genômica e comparar ciclos.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população de treinamento de GS é, na prática, </a:t>
            </a:r>
            <a:r>
              <a:rPr lang="en-US" sz="2100" b="1" dirty="0">
                <a:solidFill>
                  <a:schemeClr val="tx1"/>
                </a:solidFill>
              </a:rPr>
              <a:t>o histórico do banco</a:t>
            </a:r>
            <a:r>
              <a:rPr lang="en-US" sz="2100" dirty="0">
                <a:solidFill>
                  <a:schemeClr val="tx1"/>
                </a:solidFill>
              </a:rPr>
              <a:t>: se o histórico tem IDs inconsistentes, o modelo aprende com genótipos e fenótipos desemparelhados.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Modelos e ferramentas mudam a cada poucos anos; dados bem estruturados continuam úteis.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3125142"/>
            <a:ext cx="11057839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3234870"/>
            <a:ext cx="1069207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Um programa com dados organizados troca de software em semanas. Um programa com dados desorganizados não consegue aproveitar nenhuma ferramenta nova, inclusive IA.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 </a:t>
            </a:r>
            <a:r>
              <a:rPr lang="en-US" sz="2800" b="1" dirty="0">
                <a:solidFill>
                  <a:schemeClr val="tx1"/>
                </a:solidFill>
              </a:rPr>
              <a:t>Consequência genética de um erro de dado</a:t>
            </a:r>
            <a:endParaRPr lang="en-US" sz="2800" dirty="0"/>
          </a:p>
        </p:txBody>
      </p:sp>
      <p:graphicFrame>
        <p:nvGraphicFramePr>
          <p:cNvPr id="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309680"/>
        </p:xfrm>
        <a:graphic>
          <a:graphicData uri="http://schemas.openxmlformats.org/drawingml/2006/table">
            <a:tbl>
              <a:tblPr/>
              <a:tblGrid>
                <a:gridCol w="3275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2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Erro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Onde nasce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contamina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 de genótipo trocado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Etiqueta, digitação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Fenótipo atribuído ao genótipo errado → BLUP e GEBV errados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errado no pedigree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Matriz A errada para toda a família → BLUP de parentes viesados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Amostra de DNA trocada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Laboratório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Genótipo de um indivíduo usado para outro → matriz G e GEBV errados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 misturada (t/ha × kg/ha)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Planilha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Média do ensaio, variância residual e herdabilidade distorcidas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Ausente codificado como 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Planilha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Média puxada para baixo; genótipo penalizado sem ter sido avaliado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duplicada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Digitação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Peso dobrado para uma observação; graus de liberdade inflados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  </a:t>
            </a:r>
            <a:r>
              <a:rPr lang="en-US" sz="2800" b="1" dirty="0">
                <a:solidFill>
                  <a:schemeClr val="tx1"/>
                </a:solidFill>
              </a:rPr>
              <a:t>A IA amplifica o que encontra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3265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agente de código lê seus arquivos, infere o significado das colunas e escreve a análise.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 o dicionário diz kg/ha e alguns valores estão em t/ha, o código </a:t>
            </a:r>
            <a:r>
              <a:rPr lang="en-US" sz="2100" b="1" dirty="0">
                <a:solidFill>
                  <a:schemeClr val="tx1"/>
                </a:solidFill>
              </a:rPr>
              <a:t>roda sem erro</a:t>
            </a:r>
            <a:r>
              <a:rPr lang="en-US" sz="2100" dirty="0">
                <a:solidFill>
                  <a:schemeClr val="tx1"/>
                </a:solidFill>
              </a:rPr>
              <a:t> e o resultado sai errado, com aparência de correto.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 os IDs têm grafias diferentes, a junção de tabelas descarta linhas em silêncio.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O que a IA precisa para acertar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Tabelas com chaves e tipos definidos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Dicionário com unidades e intervalos válidos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Identificadores padronizados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Registro do que foi corrigido e por quê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pasta com estrutura previsível</a:t>
            </a:r>
            <a:endParaRPr lang="en-US" sz="2100" dirty="0"/>
          </a:p>
        </p:txBody>
      </p:sp>
      <p:sp>
        <p:nvSpPr>
          <p:cNvPr id="6" name="ret-3"/>
          <p:cNvSpPr/>
          <p:nvPr/>
        </p:nvSpPr>
        <p:spPr>
          <a:xfrm>
            <a:off x="6278728" y="3651670"/>
            <a:ext cx="5346040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6461608" y="3761398"/>
            <a:ext cx="498028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Garbage in, garbage out</a:t>
            </a:r>
            <a:r>
              <a:rPr lang="en-US" sz="2100" dirty="0">
                <a:solidFill>
                  <a:schemeClr val="tx1"/>
                </a:solidFill>
              </a:rPr>
              <a:t> virou </a:t>
            </a:r>
            <a:r>
              <a:rPr lang="en-US" sz="2100" i="1" dirty="0">
                <a:solidFill>
                  <a:schemeClr val="tx1"/>
                </a:solidFill>
              </a:rPr>
              <a:t>garbage in, confident garbage out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Bancos de dados relacionais e a linguagem SQL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 </a:t>
            </a:r>
            <a:r>
              <a:rPr lang="en-US" sz="2800" b="1" dirty="0">
                <a:solidFill>
                  <a:schemeClr val="tx1"/>
                </a:solidFill>
              </a:rPr>
              <a:t>Planilha ou banco de dados?</a:t>
            </a:r>
            <a:endParaRPr lang="en-US" sz="2800" dirty="0"/>
          </a:p>
        </p:txBody>
      </p:sp>
      <p:graphicFrame>
        <p:nvGraphicFramePr>
          <p:cNvPr id="11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867200"/>
        </p:xfrm>
        <a:graphic>
          <a:graphicData uri="http://schemas.openxmlformats.org/drawingml/2006/table">
            <a:tbl>
              <a:tblPr/>
              <a:tblGrid>
                <a:gridCol w="42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2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Necessidade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Planilha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Banco relacional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Impedir genótipo sem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 há 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Chave estrangeira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Impedir duas parcelas na mesma posição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 há 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 (ensaio, linha, coluna)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Tipos e intervalos válidos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Validação manual e frágil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Tipos e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Vários usuários ao mesmo 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Cópias divergentes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Acesso concorrente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Cruzar 10 safras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Copiar e colar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consulta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Saber o que mudou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 há histórico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Camadas + registro de correções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Milhões de observações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Lento ou impossível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Rotina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Planilhas continuam úteis para coleta e visualização rápida; o problema é usá-las como sistema de armazenamento do programa.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 </a:t>
            </a:r>
            <a:r>
              <a:rPr lang="en-US" sz="2800" b="1" dirty="0">
                <a:solidFill>
                  <a:schemeClr val="tx1"/>
                </a:solidFill>
              </a:rPr>
              <a:t>O modelo relacional de um programa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</a:t>
            </a:r>
            <a:endParaRPr lang="en-US" sz="1386" dirty="0"/>
          </a:p>
        </p:txBody>
      </p:sp>
      <p:sp>
        <p:nvSpPr>
          <p:cNvPr id="5" name="linha-2"/>
          <p:cNvSpPr/>
          <p:nvPr/>
        </p:nvSpPr>
        <p:spPr>
          <a:xfrm>
            <a:off x="658368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o-3"/>
          <p:cNvSpPr txBox="1"/>
          <p:nvPr/>
        </p:nvSpPr>
        <p:spPr>
          <a:xfrm>
            <a:off x="658368" y="1442771"/>
            <a:ext cx="2485568" cy="60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local, ano, safra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latitude, longitude</a:t>
            </a:r>
            <a:endParaRPr lang="en-US" sz="1218" dirty="0"/>
          </a:p>
        </p:txBody>
      </p:sp>
      <p:sp>
        <p:nvSpPr>
          <p:cNvPr id="7" name="ret-4"/>
          <p:cNvSpPr/>
          <p:nvPr/>
        </p:nvSpPr>
        <p:spPr>
          <a:xfrm>
            <a:off x="3363392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o-5"/>
          <p:cNvSpPr txBox="1"/>
          <p:nvPr/>
        </p:nvSpPr>
        <p:spPr>
          <a:xfrm>
            <a:off x="3454832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ensaio</a:t>
            </a:r>
            <a:endParaRPr lang="en-US" sz="1386" dirty="0"/>
          </a:p>
        </p:txBody>
      </p:sp>
      <p:sp>
        <p:nvSpPr>
          <p:cNvPr id="9" name="linha-6"/>
          <p:cNvSpPr/>
          <p:nvPr/>
        </p:nvSpPr>
        <p:spPr>
          <a:xfrm>
            <a:off x="3454832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3454832" y="1442771"/>
            <a:ext cx="2485568" cy="60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ensaio_id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delineamento, n_rep</a:t>
            </a:r>
            <a:endParaRPr lang="en-US" sz="1218" dirty="0"/>
          </a:p>
        </p:txBody>
      </p:sp>
      <p:sp>
        <p:nvSpPr>
          <p:cNvPr id="11" name="ret-8"/>
          <p:cNvSpPr/>
          <p:nvPr/>
        </p:nvSpPr>
        <p:spPr>
          <a:xfrm>
            <a:off x="6159856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o-9"/>
          <p:cNvSpPr txBox="1"/>
          <p:nvPr/>
        </p:nvSpPr>
        <p:spPr>
          <a:xfrm>
            <a:off x="6251296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</a:t>
            </a:r>
            <a:endParaRPr lang="en-US" sz="1386" dirty="0"/>
          </a:p>
        </p:txBody>
      </p:sp>
      <p:sp>
        <p:nvSpPr>
          <p:cNvPr id="13" name="linha-10"/>
          <p:cNvSpPr/>
          <p:nvPr/>
        </p:nvSpPr>
        <p:spPr>
          <a:xfrm>
            <a:off x="6251296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o-11"/>
          <p:cNvSpPr txBox="1"/>
          <p:nvPr/>
        </p:nvSpPr>
        <p:spPr>
          <a:xfrm>
            <a:off x="6251296" y="1442771"/>
            <a:ext cx="2485568" cy="797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ensaio_id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bloco, linha, coluna</a:t>
            </a:r>
            <a:endParaRPr lang="en-US" sz="1218" dirty="0"/>
          </a:p>
        </p:txBody>
      </p:sp>
      <p:sp>
        <p:nvSpPr>
          <p:cNvPr id="15" name="ret-12"/>
          <p:cNvSpPr/>
          <p:nvPr/>
        </p:nvSpPr>
        <p:spPr>
          <a:xfrm>
            <a:off x="8956319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047759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observacao</a:t>
            </a:r>
            <a:endParaRPr lang="en-US" sz="1386" dirty="0"/>
          </a:p>
        </p:txBody>
      </p:sp>
      <p:sp>
        <p:nvSpPr>
          <p:cNvPr id="17" name="linha-14"/>
          <p:cNvSpPr/>
          <p:nvPr/>
        </p:nvSpPr>
        <p:spPr>
          <a:xfrm>
            <a:off x="9047759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o-15"/>
          <p:cNvSpPr txBox="1"/>
          <p:nvPr/>
        </p:nvSpPr>
        <p:spPr>
          <a:xfrm>
            <a:off x="9047759" y="1442771"/>
            <a:ext cx="2485568" cy="797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variavel_id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valor, data</a:t>
            </a:r>
            <a:endParaRPr lang="en-US" sz="1218" dirty="0"/>
          </a:p>
        </p:txBody>
      </p:sp>
      <p:sp>
        <p:nvSpPr>
          <p:cNvPr id="19" name="ret-16"/>
          <p:cNvSpPr/>
          <p:nvPr/>
        </p:nvSpPr>
        <p:spPr>
          <a:xfrm>
            <a:off x="566928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o-17"/>
          <p:cNvSpPr txBox="1"/>
          <p:nvPr/>
        </p:nvSpPr>
        <p:spPr>
          <a:xfrm>
            <a:off x="658368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variavel</a:t>
            </a:r>
            <a:endParaRPr lang="en-US" sz="1386" dirty="0"/>
          </a:p>
        </p:txBody>
      </p:sp>
      <p:sp>
        <p:nvSpPr>
          <p:cNvPr id="21" name="linha-18"/>
          <p:cNvSpPr/>
          <p:nvPr/>
        </p:nvSpPr>
        <p:spPr>
          <a:xfrm>
            <a:off x="658368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o-19"/>
          <p:cNvSpPr txBox="1"/>
          <p:nvPr/>
        </p:nvSpPr>
        <p:spPr>
          <a:xfrm>
            <a:off x="658368" y="2743962"/>
            <a:ext cx="2485568" cy="60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variavel_id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codigo, unidade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minimo, maximo</a:t>
            </a:r>
            <a:endParaRPr lang="en-US" sz="1218" dirty="0"/>
          </a:p>
        </p:txBody>
      </p:sp>
      <p:sp>
        <p:nvSpPr>
          <p:cNvPr id="23" name="ret-20"/>
          <p:cNvSpPr/>
          <p:nvPr/>
        </p:nvSpPr>
        <p:spPr>
          <a:xfrm>
            <a:off x="3363392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o-21"/>
          <p:cNvSpPr txBox="1"/>
          <p:nvPr/>
        </p:nvSpPr>
        <p:spPr>
          <a:xfrm>
            <a:off x="3454832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</a:t>
            </a:r>
            <a:endParaRPr lang="en-US" sz="1386" dirty="0"/>
          </a:p>
        </p:txBody>
      </p:sp>
      <p:sp>
        <p:nvSpPr>
          <p:cNvPr id="25" name="linha-22"/>
          <p:cNvSpPr/>
          <p:nvPr/>
        </p:nvSpPr>
        <p:spPr>
          <a:xfrm>
            <a:off x="3454832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o-23"/>
          <p:cNvSpPr txBox="1"/>
          <p:nvPr/>
        </p:nvSpPr>
        <p:spPr>
          <a:xfrm>
            <a:off x="3454832" y="2743962"/>
            <a:ext cx="2485568" cy="408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grupo, coorte, origem</a:t>
            </a:r>
            <a:endParaRPr lang="en-US" sz="1218" dirty="0"/>
          </a:p>
        </p:txBody>
      </p:sp>
      <p:sp>
        <p:nvSpPr>
          <p:cNvPr id="27" name="ret-24"/>
          <p:cNvSpPr/>
          <p:nvPr/>
        </p:nvSpPr>
        <p:spPr>
          <a:xfrm>
            <a:off x="6159856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o-25"/>
          <p:cNvSpPr txBox="1"/>
          <p:nvPr/>
        </p:nvSpPr>
        <p:spPr>
          <a:xfrm>
            <a:off x="6251296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pedigree</a:t>
            </a:r>
            <a:endParaRPr lang="en-US" sz="1386" dirty="0"/>
          </a:p>
        </p:txBody>
      </p:sp>
      <p:sp>
        <p:nvSpPr>
          <p:cNvPr id="29" name="linha-26"/>
          <p:cNvSpPr/>
          <p:nvPr/>
        </p:nvSpPr>
        <p:spPr>
          <a:xfrm>
            <a:off x="6251296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o-27"/>
          <p:cNvSpPr txBox="1"/>
          <p:nvPr/>
        </p:nvSpPr>
        <p:spPr>
          <a:xfrm>
            <a:off x="6251296" y="2743962"/>
            <a:ext cx="2485568" cy="408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PK/FK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mae_id FK, pai_id FK</a:t>
            </a:r>
            <a:endParaRPr lang="en-US" sz="1218" dirty="0"/>
          </a:p>
        </p:txBody>
      </p:sp>
      <p:sp>
        <p:nvSpPr>
          <p:cNvPr id="31" name="ret-28"/>
          <p:cNvSpPr/>
          <p:nvPr/>
        </p:nvSpPr>
        <p:spPr>
          <a:xfrm>
            <a:off x="8956319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o-29"/>
          <p:cNvSpPr txBox="1"/>
          <p:nvPr/>
        </p:nvSpPr>
        <p:spPr>
          <a:xfrm>
            <a:off x="9047759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amostra_genotipo</a:t>
            </a:r>
            <a:endParaRPr lang="en-US" sz="1386" dirty="0"/>
          </a:p>
        </p:txBody>
      </p:sp>
      <p:sp>
        <p:nvSpPr>
          <p:cNvPr id="33" name="linha-30"/>
          <p:cNvSpPr/>
          <p:nvPr/>
        </p:nvSpPr>
        <p:spPr>
          <a:xfrm>
            <a:off x="9047759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o-31"/>
          <p:cNvSpPr txBox="1"/>
          <p:nvPr/>
        </p:nvSpPr>
        <p:spPr>
          <a:xfrm>
            <a:off x="9047759" y="2743962"/>
            <a:ext cx="2485568" cy="408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PK/FK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 da matriz SNP</a:t>
            </a:r>
            <a:endParaRPr lang="en-US" sz="1218" dirty="0"/>
          </a:p>
        </p:txBody>
      </p:sp>
      <p:sp>
        <p:nvSpPr>
          <p:cNvPr id="35" name="texto-32"/>
          <p:cNvSpPr txBox="1"/>
          <p:nvPr/>
        </p:nvSpPr>
        <p:spPr>
          <a:xfrm>
            <a:off x="566928" y="3534004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informação vive em </a:t>
            </a:r>
            <a:r>
              <a:rPr lang="en-US" sz="2100" b="1" dirty="0">
                <a:solidFill>
                  <a:schemeClr val="tx1"/>
                </a:solidFill>
              </a:rPr>
              <a:t>um único lugar</a:t>
            </a:r>
            <a:r>
              <a:rPr lang="en-US" sz="2100" dirty="0">
                <a:solidFill>
                  <a:schemeClr val="tx1"/>
                </a:solidFill>
              </a:rPr>
              <a:t>: a latitude está no ambiente, não repetida em 4.800 parcelas.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As chaves estrangeiras (FK) ligam as tabelas e impedem registros órfãos.</a:t>
            </a:r>
            <a:endParaRPr lang="en-US" sz="2100" dirty="0"/>
          </a:p>
        </p:txBody>
      </p:sp>
      <p:sp>
        <p:nvSpPr>
          <p:cNvPr id="3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 </a:t>
            </a:r>
            <a:r>
              <a:rPr lang="en-US" sz="2800" b="1" dirty="0">
                <a:solidFill>
                  <a:schemeClr val="tx1"/>
                </a:solidFill>
              </a:rPr>
              <a:t>Chaves e restrições: regras do programa escritas no banco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493825"/>
            <a:ext cx="11057839" cy="2134199"/>
          </a:xfrm>
          <a:prstGeom prst="roundRect">
            <a:avLst>
              <a:gd name="adj" fmla="val 2571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585265"/>
            <a:ext cx="10765231" cy="1969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parcela (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parcela_id     TEXT PRIMARY KEY,                                  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uma linha por parcela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ensaio_id      TEXT NOT NULL REFERENCES ensaio(ensaio_id),        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ensaio precisa existir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germoplasma_id TEXT NOT NULL REFERENCES germoplasma(germoplasma_id),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genótipo precisa estar cadastrado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bloco          INTEGER CHECK (bloco BETWEEN 1 AND 4),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linha          INTEGER,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coluna         INTEGER,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(ensaio_id, linha, coluna)                                 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uma parcela por posição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8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788044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r>
              <a:rPr lang="en-US" sz="2100" dirty="0">
                <a:solidFill>
                  <a:schemeClr val="tx1"/>
                </a:solidFill>
              </a:rPr>
              <a:t>: identidade única.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r>
              <a:rPr lang="en-US" sz="2100" dirty="0">
                <a:solidFill>
                  <a:schemeClr val="tx1"/>
                </a:solidFill>
              </a:rPr>
              <a:t>: integridade referencial.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2100" dirty="0">
                <a:solidFill>
                  <a:schemeClr val="tx1"/>
                </a:solidFill>
              </a:rPr>
              <a:t>: sem duplicatas físicas.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2100" dirty="0">
                <a:solidFill>
                  <a:schemeClr val="tx1"/>
                </a:solidFill>
              </a:rPr>
              <a:t>: valores válidos.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r>
              <a:rPr lang="en-US" sz="2100" dirty="0">
                <a:solidFill>
                  <a:schemeClr val="tx1"/>
                </a:solidFill>
              </a:rPr>
              <a:t>: campo obrigatório.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restrição transforma uma regra que dependia da atenção de alguém em uma regra que </a:t>
            </a:r>
            <a:r>
              <a:rPr lang="en-US" sz="2100" b="1" dirty="0">
                <a:solidFill>
                  <a:schemeClr val="tx1"/>
                </a:solidFill>
              </a:rPr>
              <a:t>o banco garante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1932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  </a:t>
            </a:r>
            <a:r>
              <a:rPr lang="en-US" sz="2800" b="1" dirty="0">
                <a:solidFill>
                  <a:schemeClr val="tx1"/>
                </a:solidFill>
              </a:rPr>
              <a:t>Normalização: por que não uma tabela única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Tabela "larga" (uma linha por parcela, tudo junto):</a:t>
            </a:r>
            <a:endParaRPr lang="en-US" sz="2100" dirty="0"/>
          </a:p>
        </p:txBody>
      </p:sp>
      <p:graphicFrame>
        <p:nvGraphicFramePr>
          <p:cNvPr id="14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9088"/>
          <a:ext cx="11057838" cy="1075200"/>
        </p:xfrm>
        <a:graphic>
          <a:graphicData uri="http://schemas.openxmlformats.org/drawingml/2006/table">
            <a:tbl>
              <a:tblPr/>
              <a:tblGrid>
                <a:gridCol w="1333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4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parcela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genotipo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latitude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mae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P0001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DH24_0012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Uberlandia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−18,92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FA_03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FA_17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10.540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P0002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DH24_0012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Uberlândia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−18,92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FA_03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FA_71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10.210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2734307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Latitude e pedigree repetidos em cada parcela: um erro de digitação cria </a:t>
            </a:r>
            <a:r>
              <a:rPr lang="en-US" sz="2100" b="1" dirty="0">
                <a:solidFill>
                  <a:schemeClr val="tx1"/>
                </a:solidFill>
              </a:rPr>
              <a:t>duas versões da verdade</a:t>
            </a:r>
            <a:r>
              <a:rPr lang="en-US" sz="2100" dirty="0">
                <a:solidFill>
                  <a:schemeClr val="tx1"/>
                </a:solidFill>
              </a:rPr>
              <a:t> (veja "Uberlandia" × "Uberlândia" e o pai FA_17 × FA_71 do mesmo genótipo).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Corrigir exige atualizar milhares de linhas; esquecer uma cria inconsistência.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Normalizar = cada fato registrado uma vez, ligado por chaves.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  </a:t>
            </a:r>
            <a:r>
              <a:rPr lang="en-US" sz="2800" b="1" dirty="0">
                <a:solidFill>
                  <a:schemeClr val="tx1"/>
                </a:solidFill>
              </a:rPr>
              <a:t>Duas camadas: bruta e curada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2741066" cy="1366958"/>
          </a:xfrm>
          <a:prstGeom prst="roundRect">
            <a:avLst>
              <a:gd name="adj" fmla="val 468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85800" y="1194968"/>
            <a:ext cx="2503322" cy="122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tx2"/>
                </a:solidFill>
              </a:rPr>
              <a:t>Camada bruta</a:t>
            </a:r>
            <a:endParaRPr lang="en-US" sz="1554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44" dirty="0">
                <a:solidFill>
                  <a:schemeClr val="tx2"/>
                </a:solidFill>
              </a:rPr>
              <a:t>bruto_parcelas, bruto_germoplasma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como chegou do campo · sem restrições · nunca editada</a:t>
            </a:r>
            <a:endParaRPr lang="en-US" sz="1554" dirty="0"/>
          </a:p>
        </p:txBody>
      </p:sp>
      <p:sp>
        <p:nvSpPr>
          <p:cNvPr id="5" name="texto-2"/>
          <p:cNvSpPr txBox="1"/>
          <p:nvPr/>
        </p:nvSpPr>
        <p:spPr>
          <a:xfrm>
            <a:off x="3399434" y="1381014"/>
            <a:ext cx="1234440" cy="367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+ correções registradas</a:t>
            </a:r>
            <a:endParaRPr lang="en-US" sz="1092" dirty="0"/>
          </a:p>
        </p:txBody>
      </p:sp>
      <p:sp>
        <p:nvSpPr>
          <p:cNvPr id="6" name="seta-3"/>
          <p:cNvSpPr/>
          <p:nvPr/>
        </p:nvSpPr>
        <p:spPr>
          <a:xfrm>
            <a:off x="3490874" y="1841872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ret-4"/>
          <p:cNvSpPr/>
          <p:nvPr/>
        </p:nvSpPr>
        <p:spPr>
          <a:xfrm>
            <a:off x="4725314" y="1085240"/>
            <a:ext cx="2741066" cy="1366958"/>
          </a:xfrm>
          <a:prstGeom prst="roundRect">
            <a:avLst>
              <a:gd name="adj" fmla="val 468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o-5"/>
          <p:cNvSpPr txBox="1"/>
          <p:nvPr/>
        </p:nvSpPr>
        <p:spPr>
          <a:xfrm>
            <a:off x="4844186" y="1194968"/>
            <a:ext cx="2503322" cy="122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Camada curada</a:t>
            </a:r>
            <a:endParaRPr lang="en-US" sz="1554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44" dirty="0">
                <a:solidFill>
                  <a:schemeClr val="tx2"/>
                </a:solidFill>
              </a:rPr>
              <a:t>germoplasma, pedigree, parcela, observacao…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com chaves e restrições · reconstruída pelo script de QC</a:t>
            </a:r>
            <a:endParaRPr lang="en-US" sz="1554" dirty="0"/>
          </a:p>
        </p:txBody>
      </p:sp>
      <p:sp>
        <p:nvSpPr>
          <p:cNvPr id="9" name="texto-6"/>
          <p:cNvSpPr txBox="1"/>
          <p:nvPr/>
        </p:nvSpPr>
        <p:spPr>
          <a:xfrm>
            <a:off x="7557821" y="1381014"/>
            <a:ext cx="1234440" cy="367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visões de análise</a:t>
            </a:r>
            <a:endParaRPr lang="en-US" sz="1092" dirty="0"/>
          </a:p>
        </p:txBody>
      </p:sp>
      <p:sp>
        <p:nvSpPr>
          <p:cNvPr id="10" name="seta-7"/>
          <p:cNvSpPr/>
          <p:nvPr/>
        </p:nvSpPr>
        <p:spPr>
          <a:xfrm>
            <a:off x="7649261" y="1841872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t-8"/>
          <p:cNvSpPr/>
          <p:nvPr/>
        </p:nvSpPr>
        <p:spPr>
          <a:xfrm>
            <a:off x="8883701" y="1085240"/>
            <a:ext cx="2741066" cy="1366958"/>
          </a:xfrm>
          <a:prstGeom prst="roundRect">
            <a:avLst>
              <a:gd name="adj" fmla="val 468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o-9"/>
          <p:cNvSpPr txBox="1"/>
          <p:nvPr/>
        </p:nvSpPr>
        <p:spPr>
          <a:xfrm>
            <a:off x="9002573" y="1194968"/>
            <a:ext cx="2503322" cy="74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2"/>
                </a:solidFill>
              </a:rPr>
              <a:t>Análise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v_prod_parcela → lme4, GBLUP, ML</a:t>
            </a:r>
            <a:endParaRPr lang="en-US" sz="1554" dirty="0"/>
          </a:p>
        </p:txBody>
      </p:sp>
      <p:sp>
        <p:nvSpPr>
          <p:cNvPr id="13" name="texto-10"/>
          <p:cNvSpPr txBox="1"/>
          <p:nvPr/>
        </p:nvSpPr>
        <p:spPr>
          <a:xfrm>
            <a:off x="566928" y="2612219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camada bruta aceita erros </a:t>
            </a:r>
            <a:r>
              <a:rPr lang="en-US" sz="2100" b="1" dirty="0">
                <a:solidFill>
                  <a:schemeClr val="tx1"/>
                </a:solidFill>
              </a:rPr>
              <a:t>de propósito</a:t>
            </a:r>
            <a:r>
              <a:rPr lang="en-US" sz="2100" dirty="0">
                <a:solidFill>
                  <a:schemeClr val="tx1"/>
                </a:solidFill>
              </a:rPr>
              <a:t>: só assim eles podem ser carregados, auditados e corrigidos de forma rastreável.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As restrições da camada curada são a última barreira: um erro que passar pelo QC é rejeitado na carga.</a:t>
            </a:r>
            <a:endParaRPr lang="en-US" sz="2100" dirty="0"/>
          </a:p>
        </p:txBody>
      </p:sp>
      <p:sp>
        <p:nvSpPr>
          <p:cNvPr id="1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   </a:t>
            </a:r>
            <a:r>
              <a:rPr lang="en-US" sz="2800" b="1" dirty="0">
                <a:solidFill>
                  <a:schemeClr val="tx1"/>
                </a:solidFill>
              </a:rPr>
              <a:t>Por que saber SQL, mesmo com IA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471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Linguagem padrão</a:t>
            </a:r>
            <a:r>
              <a:rPr lang="en-US" sz="2100" dirty="0">
                <a:solidFill>
                  <a:schemeClr val="tx1"/>
                </a:solidFill>
              </a:rPr>
              <a:t> (ANSI/ISO) há décadas; o mesmo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2100" dirty="0">
                <a:solidFill>
                  <a:schemeClr val="tx1"/>
                </a:solidFill>
              </a:rPr>
              <a:t> funciona em DuckDB, SQLite, PostgreSQL, MySQL, BigQuery.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Sistemas de gestão de melhoramento são bancos relacionais: o Breedbase, por exemplo, usa PostgreSQL e expõe os dados pela BrAPI.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DuckDB</a:t>
            </a:r>
            <a:r>
              <a:rPr lang="en-US" sz="2100" dirty="0">
                <a:solidFill>
                  <a:schemeClr val="tx1"/>
                </a:solidFill>
              </a:rPr>
              <a:t> consulta CSV e Parquet diretamente, sem servidor: ideal para análise local e para ensino.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IA escreve SQL muito bem, mas </a:t>
            </a:r>
            <a:r>
              <a:rPr lang="en-US" sz="2100" b="1" dirty="0">
                <a:solidFill>
                  <a:schemeClr val="tx1"/>
                </a:solidFill>
              </a:rPr>
              <a:t>você precisa ler e validar</a:t>
            </a:r>
            <a:r>
              <a:rPr lang="en-US" sz="2100" dirty="0">
                <a:solidFill>
                  <a:schemeClr val="tx1"/>
                </a:solidFill>
              </a:rPr>
              <a:t>: uma consulta errada não dá erro, dá um número errado.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O que o pesquisador precisa dominar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292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 FROM … WHERE … ORDER BY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2100" dirty="0">
                <a:solidFill>
                  <a:schemeClr val="tx1"/>
                </a:solidFill>
              </a:rPr>
              <a:t> (interno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2100" dirty="0">
                <a:solidFill>
                  <a:schemeClr val="tx1"/>
                </a:solidFill>
              </a:rPr>
              <a:t>)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Subconsultas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2100" dirty="0">
                <a:solidFill>
                  <a:schemeClr val="tx1"/>
                </a:solidFill>
              </a:rPr>
              <a:t> (CTE)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Funções de janela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r>
              <a:rPr lang="en-US" sz="2100" dirty="0">
                <a:solidFill>
                  <a:schemeClr val="tx1"/>
                </a:solidFill>
              </a:rPr>
              <a:t>)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2100" dirty="0">
                <a:solidFill>
                  <a:schemeClr val="tx1"/>
                </a:solidFill>
              </a:rPr>
              <a:t> se comporta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Contar linhas antes e depois de cada junção</a:t>
            </a:r>
            <a:endParaRPr lang="en-US" sz="1932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Morales et al. (2022), G3, 12: jkac078 — Breedbase.</a:t>
            </a:r>
            <a:endParaRPr lang="en-US" sz="1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   </a:t>
            </a:r>
            <a:r>
              <a:rPr lang="en-US" sz="2800" b="1" dirty="0">
                <a:solidFill>
                  <a:schemeClr val="tx1"/>
                </a:solidFill>
              </a:rPr>
              <a:t>SQL essencial (1): selecionar e filtrar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p.parcela_id, p.germoplasma_id, o.valor AS prod_kg_ha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observacao o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parcela  p ON o.parcela_id  = p.parcela_id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ensaio   e ON p.ensaio_id   = e.ensaio_id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ambiente a ON e.ambiente_id = a.ambiente_id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a.local = 'Uberlandia' AND a.ano = 2025 AND o.valor IS NOT NULL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o.valor DESC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386" dirty="0"/>
          </a:p>
        </p:txBody>
      </p:sp>
      <p:graphicFrame>
        <p:nvGraphicFramePr>
          <p:cNvPr id="17" name="tabela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117952"/>
          <a:ext cx="11057840" cy="1433600"/>
        </p:xfrm>
        <a:graphic>
          <a:graphicData uri="http://schemas.openxmlformats.org/drawingml/2006/table">
            <a:tbl>
              <a:tblPr/>
              <a:tblGrid>
                <a:gridCol w="457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parcela_id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germoplasma_id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prod_kg_ha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P_UDI_2025_V_0635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DH25_0089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14.435,1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P_UDI_2025_V_0768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DH25_0288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14.358,5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P_UDI_2025_V_0448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DH25_0030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14.178,8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   </a:t>
            </a:r>
            <a:r>
              <a:rPr lang="en-US" sz="2800" b="1" dirty="0">
                <a:solidFill>
                  <a:schemeClr val="tx1"/>
                </a:solidFill>
              </a:rPr>
              <a:t>SQL essencial (2): junções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2100" dirty="0">
                <a:solidFill>
                  <a:schemeClr val="tx1"/>
                </a:solidFill>
              </a:rPr>
              <a:t> (interno): só linhas com correspondência nas duas tabelas.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2100" dirty="0">
                <a:solidFill>
                  <a:schemeClr val="tx1"/>
                </a:solidFill>
              </a:rPr>
              <a:t>: todas as linhas da esquerda;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2100" dirty="0">
                <a:solidFill>
                  <a:schemeClr val="tx1"/>
                </a:solidFill>
              </a:rPr>
              <a:t> onde não há correspondência. Serve para achar </a:t>
            </a:r>
            <a:r>
              <a:rPr lang="en-US" sz="2100" b="1" dirty="0">
                <a:solidFill>
                  <a:schemeClr val="tx1"/>
                </a:solidFill>
              </a:rPr>
              <a:t>o que falta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2356121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447561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Germoplasma cadastrado sem nenhuma parcela, por origem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g.origem, COUNT(*) AS n_sem_parcela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germoplasma g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parcela p ON g.germoplasma_id = p.germoplasma_id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p.parcela_id IS NULL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g.origem;</a:t>
            </a:r>
            <a:endParaRPr lang="en-US" sz="1386" dirty="0"/>
          </a:p>
        </p:txBody>
      </p:sp>
      <p:graphicFrame>
        <p:nvGraphicFramePr>
          <p:cNvPr id="18" name="tabela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66379"/>
          <a:ext cx="11057839" cy="1075200"/>
        </p:xfrm>
        <a:graphic>
          <a:graphicData uri="http://schemas.openxmlformats.org/drawingml/2006/table">
            <a:tbl>
              <a:tblPr/>
              <a:tblGrid>
                <a:gridCol w="429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9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origem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n_sem_parcela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fundador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testador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o-4"/>
          <p:cNvSpPr txBox="1"/>
          <p:nvPr/>
        </p:nvSpPr>
        <p:spPr>
          <a:xfrm>
            <a:off x="566928" y="5201598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Resultado esperado: fundadores e testador não são avaliados em parcela. Se aparecesse uma linhagem DH aqui, seria um problema.</a:t>
            </a:r>
            <a:endParaRPr lang="en-US" sz="2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   </a:t>
            </a:r>
            <a:r>
              <a:rPr lang="en-US" sz="2800" b="1" dirty="0">
                <a:solidFill>
                  <a:schemeClr val="tx1"/>
                </a:solidFill>
              </a:rPr>
              <a:t>SQL essencial (3): agregar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germoplasma_id, ambiente_id, COUNT(prod) AS n, ROUND(AVG(prod), 0) AS media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v_prod_parcela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germoplasma_id, ambiente_id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COUNT(prod) = 2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só combinações com as duas repetições válidas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media DESC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3;</a:t>
            </a:r>
            <a:endParaRPr lang="en-US" sz="1386" dirty="0"/>
          </a:p>
        </p:txBody>
      </p:sp>
      <p:graphicFrame>
        <p:nvGraphicFramePr>
          <p:cNvPr id="19" name="tabela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5499"/>
          <a:ext cx="11057839" cy="1433600"/>
        </p:xfrm>
        <a:graphic>
          <a:graphicData uri="http://schemas.openxmlformats.org/drawingml/2006/table">
            <a:tbl>
              <a:tblPr/>
              <a:tblGrid>
                <a:gridCol w="464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germoplasma_id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ambiente_id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UDI_2025_V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13.759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DH25_0259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UDI_2025_V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13.568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DH25_0073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UDI_2025_V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13.551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o-3"/>
          <p:cNvSpPr txBox="1"/>
          <p:nvPr/>
        </p:nvSpPr>
        <p:spPr>
          <a:xfrm>
            <a:off x="566928" y="428911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2100" dirty="0">
                <a:solidFill>
                  <a:schemeClr val="tx1"/>
                </a:solidFill>
              </a:rPr>
              <a:t> filtra linhas </a:t>
            </a:r>
            <a:r>
              <a:rPr lang="en-US" sz="2100" b="1" dirty="0">
                <a:solidFill>
                  <a:schemeClr val="tx1"/>
                </a:solidFill>
              </a:rPr>
              <a:t>antes</a:t>
            </a:r>
            <a:r>
              <a:rPr lang="en-US" sz="2100" dirty="0">
                <a:solidFill>
                  <a:schemeClr val="tx1"/>
                </a:solidFill>
              </a:rPr>
              <a:t> de agrupar;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2100" dirty="0">
                <a:solidFill>
                  <a:schemeClr val="tx1"/>
                </a:solidFill>
              </a:rPr>
              <a:t> filtra grupos </a:t>
            </a:r>
            <a:r>
              <a:rPr lang="en-US" sz="2100" b="1" dirty="0">
                <a:solidFill>
                  <a:schemeClr val="tx1"/>
                </a:solidFill>
              </a:rPr>
              <a:t>depois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Tabela de médias G×E serve para exploração e estabilidade; para BLUP, use os dados de parcela.</a:t>
            </a:r>
            <a:endParaRPr lang="en-US" sz="1932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2.10   </a:t>
            </a:r>
            <a:r>
              <a:rPr lang="en-US" sz="2800" b="1" dirty="0">
                <a:solidFill>
                  <a:schemeClr val="tx1"/>
                </a:solidFill>
              </a:rPr>
              <a:t>SQL intermediário: CTE e funções de janela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2295144"/>
          </a:xfrm>
          <a:prstGeom prst="roundRect">
            <a:avLst>
              <a:gd name="adj" fmla="val 239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medias AS (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ambiente_id, germoplasma_id, AVG(prod) AS media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v_prod_parcela GROUP BY ambiente_id, germoplasma_id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ordenado AS (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 RANK() OVER (PARTITION BY ambiente_id ORDER BY media DESC) AS posicao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medias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ambiente_id, posicao, germoplasma_id, ROUND(media, 0) AS media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ordenado WHERE posicao &lt;= 3 ORDER BY ambiente_id, posicao;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540404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2100" dirty="0">
                <a:solidFill>
                  <a:schemeClr val="tx1"/>
                </a:solidFill>
              </a:rPr>
              <a:t> dá nome a etapas intermediárias: a consulta fica legível como um script.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(PARTITION BY …)</a:t>
            </a:r>
            <a:r>
              <a:rPr lang="en-US" sz="2100" dirty="0">
                <a:solidFill>
                  <a:schemeClr val="tx1"/>
                </a:solidFill>
              </a:rPr>
              <a:t> calcula por grupo </a:t>
            </a:r>
            <a:r>
              <a:rPr lang="en-US" sz="2100" b="1" dirty="0">
                <a:solidFill>
                  <a:schemeClr val="tx1"/>
                </a:solidFill>
              </a:rPr>
              <a:t>sem colapsar as linhas</a:t>
            </a:r>
            <a:r>
              <a:rPr lang="en-US" sz="2100" dirty="0">
                <a:solidFill>
                  <a:schemeClr val="tx1"/>
                </a:solidFill>
              </a:rPr>
              <a:t>: posição no ambiente, desvio da média do ensaio, z-escore por ambiente.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Resultado: as 3 melhores linhagens em cada um dos 6 ambientes (18 linhas).</a:t>
            </a:r>
            <a:endParaRPr lang="en-US" sz="1932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2.11   </a:t>
            </a:r>
            <a:r>
              <a:rPr lang="en-US" sz="2800" b="1" dirty="0">
                <a:solidFill>
                  <a:schemeClr val="tx1"/>
                </a:solidFill>
              </a:rPr>
              <a:t>Armadilhas que geram números errados sem erro</a:t>
            </a:r>
            <a:endParaRPr lang="en-US" sz="2800" dirty="0"/>
          </a:p>
        </p:txBody>
      </p:sp>
      <p:graphicFrame>
        <p:nvGraphicFramePr>
          <p:cNvPr id="21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2417360"/>
        </p:xfrm>
        <a:graphic>
          <a:graphicData uri="http://schemas.openxmlformats.org/drawingml/2006/table">
            <a:tbl>
              <a:tblPr/>
              <a:tblGrid>
                <a:gridCol w="5483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Armadilha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No banco do curso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COUNT(*)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conta linhas;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COUNT(valor)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ignora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4.800 linhas, 4.790 valores válidos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Filtro da tabela da direita no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desfaz 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JOIN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2.400 linhas (WHERE) × 2.500 (ON)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 = NULL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nunca é verdadeiro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use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 IS 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Junção que multiplica linhas (chave não única)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conte linhas antes e depois de cada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Média de médias ≠ média das parcelas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10.242 × 10.246 kg/ha aqui; em redes desbalanceadas, a diferença cresce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3662619"/>
            <a:ext cx="11057839" cy="561295"/>
          </a:xfrm>
          <a:prstGeom prst="roundRect">
            <a:avLst>
              <a:gd name="adj" fmla="val 130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3772347"/>
            <a:ext cx="1069207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Ao revisar SQL escrito por IA, pergunte: quantas linhas eu esperava? Quantas vieram?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2.12   </a:t>
            </a:r>
            <a:r>
              <a:rPr lang="en-US" sz="2800" b="1" dirty="0">
                <a:solidFill>
                  <a:schemeClr val="tx1"/>
                </a:solidFill>
              </a:rPr>
              <a:t>SQL dentro do 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library(DBI)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&lt;- dbConnect(duckdb::duckdb(), dbdir = "db/programa_milho.duckdb")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dbGetQuery(con, "SELECT * FROM v_prod_parcela WHERE prod IS NOT NULL ORDER BY parcela_id")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&lt;- lme4::lmer(prod ~ ambiente_id + (1 | ambiente_id:bloco) + (1 | germoplasma_id) +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(1 | germoplasma_id:ambiente_id), data = d)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dbDisconnect(con, shutdown = TRUE)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69549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banco filtra e junta; o R modela. Só o necessário vem para a memória.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2100" dirty="0">
                <a:solidFill>
                  <a:schemeClr val="tx1"/>
                </a:solidFill>
              </a:rPr>
              <a:t> em toda consulta que alimenta sorteios (folds, amostras): sem ele, a ordem das linhas pode mudar entre sistemas e o resultado deixa de ser reproduzível.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2.13   </a:t>
            </a:r>
            <a:r>
              <a:rPr lang="en-US" sz="2800" b="1" dirty="0">
                <a:solidFill>
                  <a:schemeClr val="tx1"/>
                </a:solidFill>
              </a:rPr>
              <a:t>E os dados genômicos?</a:t>
            </a:r>
            <a:endParaRPr lang="en-US" sz="2800" dirty="0"/>
          </a:p>
        </p:txBody>
      </p:sp>
      <p:graphicFrame>
        <p:nvGraphicFramePr>
          <p:cNvPr id="2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967520"/>
        </p:xfrm>
        <a:graphic>
          <a:graphicData uri="http://schemas.openxmlformats.org/drawingml/2006/table">
            <a:tbl>
              <a:tblPr/>
              <a:tblGrid>
                <a:gridCol w="280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Dado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Onde guardar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Por quê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Fenótipos, ensaios, pedigree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Banco relacional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Relações, integridade, consultas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Matriz de marcadores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 próprio (VCF indexado, PLINK, HDF5, Parquet, RDS)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500 mil SNPs × 2 mil indivíduos = 10⁹ linhas em formato longo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Imagens, LiDAR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Armazenamento de arquivos + tabela com caminho e metadados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Arquivos grandes, binários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21277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banco guarda o </a:t>
            </a:r>
            <a:r>
              <a:rPr lang="en-US" sz="2100" b="1" dirty="0">
                <a:solidFill>
                  <a:schemeClr val="tx1"/>
                </a:solidFill>
              </a:rPr>
              <a:t>vínculo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amostra_genotipo</a:t>
            </a:r>
            <a:r>
              <a:rPr lang="en-US" sz="2100" dirty="0">
                <a:solidFill>
                  <a:schemeClr val="tx1"/>
                </a:solidFill>
              </a:rPr>
              <a:t>: germoplasma ↔ amostra ↔ arquivo), não a matriz.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vínculo é exatamente onde ocorre a troca de amostras: ele também passa por QC (Bloco 3).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QA/QC: garantir e controlar a qualidade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r>
              <a:rPr lang="en-US" sz="2800" b="1" dirty="0">
                <a:solidFill>
                  <a:schemeClr val="tx1"/>
                </a:solidFill>
              </a:rPr>
              <a:t>QA e QC não são a mesma coisa</a:t>
            </a:r>
            <a:endParaRPr lang="en-US" sz="2800" dirty="0"/>
          </a:p>
        </p:txBody>
      </p:sp>
      <p:graphicFrame>
        <p:nvGraphicFramePr>
          <p:cNvPr id="2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684319"/>
        </p:xfrm>
        <a:graphic>
          <a:graphicData uri="http://schemas.openxmlformats.org/drawingml/2006/table">
            <a:tbl>
              <a:tblPr/>
              <a:tblGrid>
                <a:gridCol w="1036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Garantia de qualidade (QA)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Controle de qualidade (QC)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Objetivo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Evitar que o erro aconteça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Detectar e tratar o erro que aconteceu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Quando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Antes e durante a coleta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Depois da coleta, antes da análise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Natureza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Processo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Exemplos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IDs gerados pelo sistema, etiquetas com código de barras, coletor digital com intervalos válidos, calibração de balanças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Consultas de duplicatas e intervalos, resíduos studentizados, checagem de pedigree com marcadores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"Como impedir?"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"O que passou?"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  </a:t>
            </a:r>
            <a:r>
              <a:rPr lang="en-US" sz="2800" b="1" dirty="0">
                <a:solidFill>
                  <a:schemeClr val="tx1"/>
                </a:solidFill>
              </a:rPr>
              <a:t>Dimensões da qualidade de dados</a:t>
            </a:r>
            <a:endParaRPr lang="en-US" sz="2800" dirty="0"/>
          </a:p>
        </p:txBody>
      </p:sp>
      <p:graphicFrame>
        <p:nvGraphicFramePr>
          <p:cNvPr id="2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3134160"/>
        </p:xfrm>
        <a:graphic>
          <a:graphicData uri="http://schemas.openxmlformats.org/drawingml/2006/table">
            <a:tbl>
              <a:tblPr/>
              <a:tblGrid>
                <a:gridCol w="2267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3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Dimensão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Pergunta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Exemplo no programa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Completude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Falta algo?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sem produtividade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Contagem de ausentes por ensaio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Está no formato e intervalo?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PROD = 104.613 kg/ha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Intervalo do dicionário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Unicidade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Está registrado uma vez?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digitada duas vezes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 … HAVING COUNT(*) &gt; 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Consistência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Concorda consigo mesmo?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DH24-0094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×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DH24_0094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Padrão de ID (regex)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Integridade referencial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As ligações existem?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Mãe FA_91 não cadastrada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JOIN … IS 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Acurácia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Corresponde à realidade?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Amostra de DNA trocada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Marcadores × pedigree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Atualidade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Está na versão certa?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Análise com extração antiga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Data e versão da extração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   </a:t>
            </a:r>
            <a:r>
              <a:rPr lang="en-US" sz="2800" b="1" dirty="0">
                <a:solidFill>
                  <a:schemeClr val="tx1"/>
                </a:solidFill>
              </a:rPr>
              <a:t>QA na origem: prevenir é mais barato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8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Identificadores gerados pelo sistema</a:t>
            </a:r>
            <a:r>
              <a:rPr lang="en-US" sz="2100" dirty="0">
                <a:solidFill>
                  <a:schemeClr val="tx1"/>
                </a:solidFill>
              </a:rPr>
              <a:t>, nunca digitados à mão; impressos em etiquetas com código de barras.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Coletores digitais</a:t>
            </a:r>
            <a:r>
              <a:rPr lang="en-US" sz="2100" dirty="0">
                <a:solidFill>
                  <a:schemeClr val="tx1"/>
                </a:solidFill>
              </a:rPr>
              <a:t> de campo (por exemplo, o Field Book, de código aberto) com lista de parcelas importada e intervalos válidos por variável.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Dicionário de variáveis</a:t>
            </a:r>
            <a:r>
              <a:rPr lang="en-US" sz="2100" dirty="0">
                <a:solidFill>
                  <a:schemeClr val="tx1"/>
                </a:solidFill>
              </a:rPr>
              <a:t> definido antes da coleta: unidade, método, escala, momento, intervalo, código de ausente.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Calibração</a:t>
            </a:r>
            <a:r>
              <a:rPr lang="en-US" sz="2100" dirty="0">
                <a:solidFill>
                  <a:schemeClr val="tx1"/>
                </a:solidFill>
              </a:rPr>
              <a:t> de balanças e medidores de umidade, com registro.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Croqui</a:t>
            </a:r>
            <a:r>
              <a:rPr lang="en-US" sz="2100" dirty="0">
                <a:solidFill>
                  <a:schemeClr val="tx1"/>
                </a:solidFill>
              </a:rPr>
              <a:t> e plano de ensaio exportados do sistema, não redesenhados à mão.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Dupla checagem</a:t>
            </a:r>
            <a:r>
              <a:rPr lang="en-US" sz="2100" dirty="0">
                <a:solidFill>
                  <a:schemeClr val="tx1"/>
                </a:solidFill>
              </a:rPr>
              <a:t> de lotes críticos (cadastro de cruzamentos, envio de amostras ao laboratório).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Rife e Poland (2014), Crop Science 54(4) — Field Book; doi:10.2135/cropsci2013.08.0579.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   </a:t>
            </a:r>
            <a:r>
              <a:rPr lang="en-US" sz="2800" b="1" dirty="0">
                <a:solidFill>
                  <a:schemeClr val="tx1"/>
                </a:solidFill>
              </a:rPr>
              <a:t>QC estrutural com SQL: resultados no banco do curso</a:t>
            </a:r>
            <a:endParaRPr lang="en-US" sz="2800" dirty="0"/>
          </a:p>
        </p:txBody>
      </p:sp>
      <p:graphicFrame>
        <p:nvGraphicFramePr>
          <p:cNvPr id="2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042720"/>
        </p:xfrm>
        <a:graphic>
          <a:graphicData uri="http://schemas.openxmlformats.org/drawingml/2006/table">
            <a:tbl>
              <a:tblPr/>
              <a:tblGrid>
                <a:gridCol w="3862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Consulta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Casos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duplicada (mesma posição)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 ensaio, linha, coluna HAVING COUNT(*) &gt; 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fora do intervalo (×10 e t/ha)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PROD &lt; minimo OR PROD &gt; maximo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 fora do padrão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DH&lt;ano&gt;_&lt;número&gt;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regexp_matches(nome, '^DH[0-9]{2}_[0-9]{4}$')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Nome sem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JOIN cadastro … IS 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inexistente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mae_id NOT IN (SELECT …)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Linhagem em um só ambiente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HAVING COUNT(DISTINCT ambiente) = 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 (6 reais)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28797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32 erros injetados no banco do curso foram todos encontrados (sensibilidade de 100%).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dos IDs fora do padrão tem um </a:t>
            </a:r>
            <a:r>
              <a:rPr lang="en-US" sz="2100" b="1" dirty="0">
                <a:solidFill>
                  <a:schemeClr val="tx1"/>
                </a:solidFill>
              </a:rPr>
              <a:t>espaço invisível no início</a:t>
            </a:r>
            <a:r>
              <a:rPr lang="en-US" sz="2100" dirty="0">
                <a:solidFill>
                  <a:schemeClr val="tx1"/>
                </a:solidFill>
              </a:rPr>
              <a:t>: só a regra o encontra; o olho, não.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  </a:t>
            </a:r>
            <a:r>
              <a:rPr lang="en-US" sz="2800" b="1" dirty="0">
                <a:solidFill>
                  <a:schemeClr val="tx1"/>
                </a:solidFill>
              </a:rPr>
              <a:t>A ordem do QC importa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24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consulta de conectividade encontrou </a:t>
            </a:r>
            <a:r>
              <a:rPr lang="en-US" sz="2100" b="1" dirty="0">
                <a:solidFill>
                  <a:schemeClr val="tx1"/>
                </a:solidFill>
              </a:rPr>
              <a:t>14</a:t>
            </a:r>
            <a:r>
              <a:rPr lang="en-US" sz="2100" dirty="0">
                <a:solidFill>
                  <a:schemeClr val="tx1"/>
                </a:solidFill>
              </a:rPr>
              <a:t> linhagens avaliadas em um único ambiente.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Apenas </a:t>
            </a:r>
            <a:r>
              <a:rPr lang="en-US" sz="2100" b="1" dirty="0">
                <a:solidFill>
                  <a:schemeClr val="tx1"/>
                </a:solidFill>
              </a:rPr>
              <a:t>6</a:t>
            </a:r>
            <a:r>
              <a:rPr lang="en-US" sz="2100" dirty="0">
                <a:solidFill>
                  <a:schemeClr val="tx1"/>
                </a:solidFill>
              </a:rPr>
              <a:t> eram reais. As outras 8 eram grafias divergentes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dh25_0266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DH25-0287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DH24_0259</a:t>
            </a:r>
            <a:r>
              <a:rPr lang="en-US" sz="2100" dirty="0">
                <a:solidFill>
                  <a:schemeClr val="tx1"/>
                </a:solidFill>
              </a:rPr>
              <a:t>): cada grafia aparece como uma "linhagem" com uma só parcela.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Ordem recomendada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2837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Normalizar identificadores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Remover duplicatas físicas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Verificar chaves (cadastro, pedigree, vínculo genótipo)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Verificar intervalos e unidades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Avaliar conectividade e balanceamento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QC estatístico (resíduos, CV, h²)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   </a:t>
            </a:r>
            <a:r>
              <a:rPr lang="en-US" sz="2800" b="1" dirty="0">
                <a:solidFill>
                  <a:schemeClr val="tx1"/>
                </a:solidFill>
              </a:rPr>
              <a:t>QC estatístico: a qualidade de cada ensaio</a:t>
            </a:r>
            <a:endParaRPr lang="en-US" sz="2800" dirty="0"/>
          </a:p>
        </p:txBody>
      </p:sp>
      <p:graphicFrame>
        <p:nvGraphicFramePr>
          <p:cNvPr id="3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2508800"/>
        </p:xfrm>
        <a:graphic>
          <a:graphicData uri="http://schemas.openxmlformats.org/drawingml/2006/table">
            <a:tbl>
              <a:tblPr/>
              <a:tblGrid>
                <a:gridCol w="21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86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Ensaio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Parcelas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Média (kg/ha)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(%)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de médias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PGO 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791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10.194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PGO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807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10.381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SLG 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792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8.398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7,0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SLG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9.205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0,51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 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790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11.123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8,1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0,29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808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12.152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754059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Ensaios com CV alto ou h² baixa merecem investigação </a:t>
            </a:r>
            <a:r>
              <a:rPr lang="en-US" sz="2100" b="1" dirty="0">
                <a:solidFill>
                  <a:schemeClr val="tx1"/>
                </a:solidFill>
              </a:rPr>
              <a:t>antes</a:t>
            </a:r>
            <a:r>
              <a:rPr lang="en-US" sz="2100" dirty="0">
                <a:solidFill>
                  <a:schemeClr val="tx1"/>
                </a:solidFill>
              </a:rPr>
              <a:t> da análise conjunta (falha de estande, heterogeneidade espacial, erro de colheita).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Complementos: mapa de campo (linha × coluna) dos resíduos, consistência entre caracteres (produtividade × umidade × estande).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   </a:t>
            </a:r>
            <a:r>
              <a:rPr lang="en-US" sz="2800" b="1" dirty="0">
                <a:solidFill>
                  <a:schemeClr val="tx1"/>
                </a:solidFill>
              </a:rPr>
              <a:t>Outlier estatístico não é sinônimo de erro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Resíduo studentizado por ensaio (bloco + genótipo): </a:t>
            </a:r>
            <a:r>
              <a:rPr lang="en-US" sz="2100" b="1" dirty="0">
                <a:solidFill>
                  <a:schemeClr val="tx1"/>
                </a:solidFill>
              </a:rPr>
              <a:t>16</a:t>
            </a:r>
            <a:r>
              <a:rPr lang="en-US" sz="2100" dirty="0">
                <a:solidFill>
                  <a:schemeClr val="tx1"/>
                </a:solidFill>
              </a:rPr>
              <a:t> parcelas com |r| &gt; 3.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Esperado só por acaso, com 4.783 parcelas e erros normais: </a:t>
            </a:r>
            <a:r>
              <a:rPr lang="en-US" sz="2100" b="1" dirty="0">
                <a:solidFill>
                  <a:schemeClr val="tx1"/>
                </a:solidFill>
              </a:rPr>
              <a:t>~13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Regra |z| &gt; 3 em SQL, por ambiente: 18 parcelas.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Conduta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Sinalizar no relatório, nunca excluir automaticamente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Investigar: caderno de campo, foto, croqui, observações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Excluir só com motivo registrado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Erros </a:t>
            </a:r>
            <a:r>
              <a:rPr lang="en-US" sz="2100" b="1" dirty="0">
                <a:solidFill>
                  <a:schemeClr val="tx1"/>
                </a:solidFill>
              </a:rPr>
              <a:t>estruturais</a:t>
            </a:r>
            <a:r>
              <a:rPr lang="en-US" sz="2100" dirty="0">
                <a:solidFill>
                  <a:schemeClr val="tx1"/>
                </a:solidFill>
              </a:rPr>
              <a:t> (×10, t/ha, duplicata) são corrigidos; </a:t>
            </a:r>
            <a:r>
              <a:rPr lang="en-US" sz="2100" b="1" dirty="0">
                <a:solidFill>
                  <a:schemeClr val="tx1"/>
                </a:solidFill>
              </a:rPr>
              <a:t>valores extremos plausíveis</a:t>
            </a:r>
            <a:r>
              <a:rPr lang="en-US" sz="2100" dirty="0">
                <a:solidFill>
                  <a:schemeClr val="tx1"/>
                </a:solidFill>
              </a:rPr>
              <a:t> ficam</a:t>
            </a:r>
            <a:endParaRPr lang="en-US" sz="2100" dirty="0"/>
          </a:p>
        </p:txBody>
      </p:sp>
      <p:sp>
        <p:nvSpPr>
          <p:cNvPr id="6" name="ret-3"/>
          <p:cNvSpPr/>
          <p:nvPr/>
        </p:nvSpPr>
        <p:spPr>
          <a:xfrm>
            <a:off x="6278728" y="4591843"/>
            <a:ext cx="5346040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6461608" y="4701571"/>
            <a:ext cx="498028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Excluir todo |r| &gt; 3 remove variação real e infla a herdabilidade.</a:t>
            </a:r>
            <a:endParaRPr lang="en-US" sz="2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  </a:t>
            </a:r>
            <a:r>
              <a:rPr lang="en-US" sz="2800" b="1" dirty="0">
                <a:solidFill>
                  <a:schemeClr val="tx1"/>
                </a:solidFill>
              </a:rPr>
              <a:t>QC de genótipos</a:t>
            </a:r>
            <a:endParaRPr lang="en-US" sz="2800" dirty="0"/>
          </a:p>
        </p:txBody>
      </p:sp>
      <p:graphicFrame>
        <p:nvGraphicFramePr>
          <p:cNvPr id="32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218240"/>
        </p:xfrm>
        <a:graphic>
          <a:graphicData uri="http://schemas.openxmlformats.org/drawingml/2006/table">
            <a:tbl>
              <a:tblPr/>
              <a:tblGrid>
                <a:gridCol w="359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1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1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Problema que revela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No curso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Call rate por marcador e por amostra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Marcador ou amostra de baixa qualidade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100% (dado simulado)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Monomórficos e MAF baixa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Marcadores sem informação na população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384 monomórficos; 219 com MAF &lt; 0,05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Heterozigosidade em linhagens DH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Contaminação, mistura de amostras, falha de duplicação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 (máximo observado)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Identidade entre indivíduos distintos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ou troca de amostra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Máximo 0,95 (irmãos DH); nenhum par &gt; 0,99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Pedigree × marcadores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errado no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 só pode ter alelos da mãe ou do pai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463498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Em dados reais, essa é a etapa que mais encontra trocas de amostras e erros de pedigree.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   </a:t>
            </a:r>
            <a:r>
              <a:rPr lang="en-US" sz="2800" b="1" dirty="0">
                <a:solidFill>
                  <a:schemeClr val="tx1"/>
                </a:solidFill>
              </a:rPr>
              <a:t>O que fazer com cada problema</a:t>
            </a:r>
            <a:endParaRPr lang="en-US" sz="2800" dirty="0"/>
          </a:p>
        </p:txBody>
      </p:sp>
      <p:graphicFrame>
        <p:nvGraphicFramePr>
          <p:cNvPr id="3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775760"/>
        </p:xfrm>
        <a:graphic>
          <a:graphicData uri="http://schemas.openxmlformats.org/drawingml/2006/table">
            <a:tbl>
              <a:tblPr/>
              <a:tblGrid>
                <a:gridCol w="5574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Situação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Registro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Erro estrutural com correção conhecida (grafia de ID, unidade)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Corrigir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Registro de correções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idêntica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Manter uma ocorrência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Relatório de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com valores diferentes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vira ausente até 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Relatório + pendência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impossível sem correção conhecida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Ausente (NA)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Registro com motivo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extremo plausível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Manter e sinalizar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Relatório de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inexistente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Pedigree com NA; investigar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Pendência no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4021019"/>
            <a:ext cx="11057839" cy="561295"/>
          </a:xfrm>
          <a:prstGeom prst="roundRect">
            <a:avLst>
              <a:gd name="adj" fmla="val 130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4130747"/>
            <a:ext cx="1069207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Nunca apague em silêncio. Cada decisão tem data, motivo e responsável.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3.10   </a:t>
            </a:r>
            <a:r>
              <a:rPr lang="en-US" sz="2800" b="1" dirty="0">
                <a:solidFill>
                  <a:schemeClr val="tx1"/>
                </a:solidFill>
              </a:rPr>
              <a:t>Teste o seu QC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Como saber se as regras de QC funcionam? </a:t>
            </a:r>
            <a:r>
              <a:rPr lang="en-US" sz="2100" b="1" dirty="0">
                <a:solidFill>
                  <a:schemeClr val="tx1"/>
                </a:solidFill>
              </a:rPr>
              <a:t>Injetando erros conhecidos</a:t>
            </a:r>
            <a:r>
              <a:rPr lang="en-US" sz="2100" dirty="0">
                <a:solidFill>
                  <a:schemeClr val="tx1"/>
                </a:solidFill>
              </a:rPr>
              <a:t> e medindo quantos foram encontrados.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projeto do curso injeta 32 erros de 5 tipos na camada bruta e compara o relatório de QC com a lista injetada.</a:t>
            </a:r>
            <a:endParaRPr lang="en-US" sz="2100" dirty="0"/>
          </a:p>
        </p:txBody>
      </p:sp>
      <p:graphicFrame>
        <p:nvGraphicFramePr>
          <p:cNvPr id="34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959"/>
          <a:ext cx="11057839" cy="2150400"/>
        </p:xfrm>
        <a:graphic>
          <a:graphicData uri="http://schemas.openxmlformats.org/drawingml/2006/table">
            <a:tbl>
              <a:tblPr/>
              <a:tblGrid>
                <a:gridCol w="5896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Injetados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Encontrados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Grafia divergente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duplicada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Fora do intervalo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inexistente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Linhagem em um ambiente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5008378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mesmo vale para QC escrito por IA: peça o script </a:t>
            </a:r>
            <a:r>
              <a:rPr lang="en-US" sz="2100" b="1" dirty="0">
                <a:solidFill>
                  <a:schemeClr val="tx1"/>
                </a:solidFill>
              </a:rPr>
              <a:t>e</a:t>
            </a:r>
            <a:r>
              <a:rPr lang="en-US" sz="2100" dirty="0">
                <a:solidFill>
                  <a:schemeClr val="tx1"/>
                </a:solidFill>
              </a:rPr>
              <a:t> o teste com erros injetados.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Consistência e curadoria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4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   </a:t>
            </a:r>
            <a:r>
              <a:rPr lang="en-US" sz="2800" b="1" dirty="0">
                <a:solidFill>
                  <a:schemeClr val="tx1"/>
                </a:solidFill>
              </a:rPr>
              <a:t>Consistência: o mesmo dado com o mesmo significado</a:t>
            </a:r>
            <a:endParaRPr lang="en-US" sz="2800" dirty="0"/>
          </a:p>
        </p:txBody>
      </p:sp>
      <p:graphicFrame>
        <p:nvGraphicFramePr>
          <p:cNvPr id="3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3825"/>
          <a:ext cx="11057839" cy="2508800"/>
        </p:xfrm>
        <a:graphic>
          <a:graphicData uri="http://schemas.openxmlformats.org/drawingml/2006/table">
            <a:tbl>
              <a:tblPr/>
              <a:tblGrid>
                <a:gridCol w="1610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Elemento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Inconsistente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Consistente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Identificador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DH24-12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dh24_0012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DH24_0012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DH24_0012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(padrão validável)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kg/parcela, kg/ha, t/ha na mesma coluna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unidade por variável, no dicionário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Ausente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vazio,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+ coluna de motivo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03/11/26, 11-3-2026, "nov/26"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2026-11-03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(ISO 8601)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Variável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"Prod", "produtividade", "rend"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 código: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com método e escala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"Uberlandia", "Uberlândia", "UDI"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tabela de ambientes com código único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r>
              <a:rPr lang="en-US" sz="2800" b="1" dirty="0">
                <a:solidFill>
                  <a:schemeClr val="tx1"/>
                </a:solidFill>
              </a:rPr>
              <a:t>Identificadores bem projetados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75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Gerados</a:t>
            </a:r>
            <a:r>
              <a:rPr lang="en-US" sz="2100" dirty="0">
                <a:solidFill>
                  <a:schemeClr val="tx1"/>
                </a:solidFill>
              </a:rPr>
              <a:t> pelo sistema, nunca digitados.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Únicos e permanentes</a:t>
            </a:r>
            <a:r>
              <a:rPr lang="en-US" sz="2100" dirty="0">
                <a:solidFill>
                  <a:schemeClr val="tx1"/>
                </a:solidFill>
              </a:rPr>
              <a:t>: nunca reutilizados, nunca renomeados.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Sem significado que possa mudar</a:t>
            </a:r>
            <a:r>
              <a:rPr lang="en-US" sz="2100" dirty="0">
                <a:solidFill>
                  <a:schemeClr val="tx1"/>
                </a:solidFill>
              </a:rPr>
              <a:t>: o local ou o status não entram no ID; ficam em colunas.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Validáveis por regra</a:t>
            </a:r>
            <a:r>
              <a:rPr lang="en-US" sz="2100" dirty="0">
                <a:solidFill>
                  <a:schemeClr val="tx1"/>
                </a:solidFill>
              </a:rPr>
              <a:t>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^DH[0-9]{2}_[0-9]{4}$</a:t>
            </a:r>
            <a:r>
              <a:rPr lang="en-US" sz="2100" dirty="0">
                <a:solidFill>
                  <a:schemeClr val="tx1"/>
                </a:solidFill>
              </a:rPr>
              <a:t> detecta qualquer desvio, inclusive espaços invisíveis.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 ID por entidade</a:t>
            </a:r>
            <a:r>
              <a:rPr lang="en-US" sz="2100" dirty="0">
                <a:solidFill>
                  <a:schemeClr val="tx1"/>
                </a:solidFill>
              </a:rPr>
              <a:t>: germoplasma, parcela, amostra de DNA e ensaio têm identificadores distintos, ligados por tabelas.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  </a:t>
            </a:r>
            <a:r>
              <a:rPr lang="en-US" sz="2800" b="1" dirty="0">
                <a:solidFill>
                  <a:schemeClr val="tx1"/>
                </a:solidFill>
              </a:rPr>
              <a:t>Dicionário de variáveis e ontologias</a:t>
            </a:r>
            <a:endParaRPr lang="en-US" sz="2800" dirty="0"/>
          </a:p>
        </p:txBody>
      </p:sp>
      <p:graphicFrame>
        <p:nvGraphicFramePr>
          <p:cNvPr id="3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867200"/>
        </p:xfrm>
        <a:graphic>
          <a:graphicData uri="http://schemas.openxmlformats.org/drawingml/2006/table">
            <a:tbl>
              <a:tblPr/>
              <a:tblGrid>
                <a:gridCol w="2407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Exemplo (PROD)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Produtividade de grãos corrigida a 13% de umidade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kg/ha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Pesagem da parcela inteira; correção pela umidade medida na colheita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Escala e intervalo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Contínua; 2.000 a 20.000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Colheita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Código de ausente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NA, com motivo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11245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</a:t>
            </a:r>
            <a:r>
              <a:rPr lang="en-US" sz="2100" b="1" dirty="0">
                <a:solidFill>
                  <a:schemeClr val="tx1"/>
                </a:solidFill>
              </a:rPr>
              <a:t>Crop Ontology</a:t>
            </a:r>
            <a:r>
              <a:rPr lang="en-US" sz="2100" dirty="0">
                <a:solidFill>
                  <a:schemeClr val="tx1"/>
                </a:solidFill>
              </a:rPr>
              <a:t> padroniza variáveis como </a:t>
            </a:r>
            <a:r>
              <a:rPr lang="en-US" sz="2100" b="1" dirty="0">
                <a:solidFill>
                  <a:schemeClr val="tx1"/>
                </a:solidFill>
              </a:rPr>
              <a:t>caráter + método + escala</a:t>
            </a:r>
            <a:r>
              <a:rPr lang="en-US" sz="2100" dirty="0">
                <a:solidFill>
                  <a:schemeClr val="tx1"/>
                </a:solidFill>
              </a:rPr>
              <a:t>: duas instituições medindo "produtividade" de formas diferentes têm variáveis diferentes.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dicionário é lido pelas pessoas, pelos scripts de QC e pelo agente de IA.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   </a:t>
            </a:r>
            <a:r>
              <a:rPr lang="en-US" sz="2800" b="1" dirty="0">
                <a:solidFill>
                  <a:schemeClr val="tx1"/>
                </a:solidFill>
              </a:rPr>
              <a:t>Curadoria: um processo contínuo, com registro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dado bruto </a:t>
            </a:r>
            <a:r>
              <a:rPr lang="en-US" sz="2100" b="1" dirty="0">
                <a:solidFill>
                  <a:schemeClr val="tx1"/>
                </a:solidFill>
              </a:rPr>
              <a:t>nunca</a:t>
            </a:r>
            <a:r>
              <a:rPr lang="en-US" sz="2100" dirty="0">
                <a:solidFill>
                  <a:schemeClr val="tx1"/>
                </a:solidFill>
              </a:rPr>
              <a:t> é editado. Correções são </a:t>
            </a:r>
            <a:r>
              <a:rPr lang="en-US" sz="2100" b="1" dirty="0">
                <a:solidFill>
                  <a:schemeClr val="tx1"/>
                </a:solidFill>
              </a:rPr>
              <a:t>dados sobre dados</a:t>
            </a:r>
            <a:r>
              <a:rPr lang="en-US" sz="2100" dirty="0">
                <a:solidFill>
                  <a:schemeClr val="tx1"/>
                </a:solidFill>
              </a:rPr>
              <a:t>, guardados em uma tabela própria: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928938"/>
            <a:ext cx="11057839" cy="664706"/>
          </a:xfrm>
          <a:prstGeom prst="roundRect">
            <a:avLst>
              <a:gd name="adj" fmla="val 8254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020378"/>
            <a:ext cx="10765231" cy="50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4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data,tabela,chave,campo,valor_antigo,valor_novo,motivo,responsavel</a:t>
            </a:r>
            <a:endParaRPr lang="en-US" sz="1054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4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2026-03-20,bruto_parcelas,P_PGO_2025_V_0113,PROD,104613,10461.3,dígito extra na digitação (conferido no caderno de campo),A. Souza</a:t>
            </a:r>
            <a:endParaRPr lang="en-US" sz="1054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4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2026-03-20,bruto_parcelas,P_PGO_2025_V_0436,germoplasma_nome,dh25_0266,DH25_0266,padronização de ID,A. Souza</a:t>
            </a:r>
            <a:endParaRPr lang="en-US" sz="1054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2753663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script aplica o registro e reconstrói a camada curada: qualquer pessoa refaz o caminho do bruto ao curado.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Papel do </a:t>
            </a:r>
            <a:r>
              <a:rPr lang="en-US" sz="2100" b="1" dirty="0">
                <a:solidFill>
                  <a:schemeClr val="tx1"/>
                </a:solidFill>
              </a:rPr>
              <a:t>curador de dados</a:t>
            </a:r>
            <a:r>
              <a:rPr lang="en-US" sz="2100" dirty="0">
                <a:solidFill>
                  <a:schemeClr val="tx1"/>
                </a:solidFill>
              </a:rPr>
              <a:t>: dono das regras, das correções e do dicionário; ponto de contato entre campo, laboratório e análise.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  </a:t>
            </a:r>
            <a:r>
              <a:rPr lang="en-US" sz="2800" b="1" dirty="0">
                <a:solidFill>
                  <a:schemeClr val="tx1"/>
                </a:solidFill>
              </a:rPr>
              <a:t>Proveniência, versão e FAIR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Toda análise registra </a:t>
            </a:r>
            <a:r>
              <a:rPr lang="en-US" sz="2100" b="1" dirty="0">
                <a:solidFill>
                  <a:schemeClr val="tx1"/>
                </a:solidFill>
              </a:rPr>
              <a:t>de onde</a:t>
            </a:r>
            <a:r>
              <a:rPr lang="en-US" sz="2100" dirty="0">
                <a:solidFill>
                  <a:schemeClr val="tx1"/>
                </a:solidFill>
              </a:rPr>
              <a:t> vieram os dados: data da extração, versão do banco ou hash do arquivo, consulta usada.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Princípios </a:t>
            </a:r>
            <a:r>
              <a:rPr lang="en-US" sz="2100" b="1" dirty="0">
                <a:solidFill>
                  <a:schemeClr val="tx1"/>
                </a:solidFill>
              </a:rPr>
              <a:t>FAIR</a:t>
            </a:r>
            <a:r>
              <a:rPr lang="en-US" sz="2100" dirty="0">
                <a:solidFill>
                  <a:schemeClr val="tx1"/>
                </a:solidFill>
              </a:rPr>
              <a:t>:</a:t>
            </a:r>
            <a:endParaRPr lang="en-US" sz="2100" dirty="0"/>
          </a:p>
        </p:txBody>
      </p:sp>
      <p:graphicFrame>
        <p:nvGraphicFramePr>
          <p:cNvPr id="40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56121"/>
          <a:ext cx="11057839" cy="1792000"/>
        </p:xfrm>
        <a:graphic>
          <a:graphicData uri="http://schemas.openxmlformats.org/drawingml/2006/table">
            <a:tbl>
              <a:tblPr/>
              <a:tblGrid>
                <a:gridCol w="2100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1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Significado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No programa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Findable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Encontrável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IDs persistentes; metadados de cada ensaio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Accessible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Acessível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Repositório institucional com controle de acesso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Interoperable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Interoperável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Crop Ontology, BrAPI, formatos abertos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Reusable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Reutilizável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Dicionário, licença, proveniência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Wilkinson et al. (2016), Scientific Data 3: 160018.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   </a:t>
            </a:r>
            <a:r>
              <a:rPr lang="en-US" sz="2800" b="1" dirty="0">
                <a:solidFill>
                  <a:schemeClr val="tx1"/>
                </a:solidFill>
              </a:rPr>
              <a:t>Doze regras para planilhas (Broman e Woo, 2018)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249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Seja consistente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Escolha bons nomes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Datas no formato AAAA-MM-DD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Nenhuma célula vazia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Uma informação por célula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Dados em retângulo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249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Crie um dicionário de dados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Nenhum cálculo nos dados brutos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Cor e destaque não são dados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Faça cópias de segurança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Use validação de dados na entrada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Salve os dados em texto (CSV)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Broman e Woo (2018), The American Statistician 72: 2–10.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A pasta de análise como projeto do Claude Code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5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   </a:t>
            </a:r>
            <a:r>
              <a:rPr lang="en-US" sz="2800" b="1" dirty="0">
                <a:solidFill>
                  <a:schemeClr val="tx1"/>
                </a:solidFill>
              </a:rPr>
              <a:t>O problema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661465"/>
          </a:xfrm>
          <a:prstGeom prst="roundRect">
            <a:avLst>
              <a:gd name="adj" fmla="val 3302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49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de Trabalho/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analise_final.R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analise_final_v2_ESSA.R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dados ensaio milho (1).xlsx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dados ensaio milho corrigido.xlsx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Rplot01.png … Rplot37.png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Downloads/resultado_blup???.csv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906725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Ninguém, nem o próprio autor depois de seis meses, sabe qual arquivo gerou qual resultado.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agente de IA aberto nesta pasta lê tudo isso como contexto: e escolhe sozinho em qual versão acreditar.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   </a:t>
            </a:r>
            <a:r>
              <a:rPr lang="en-US" sz="2800" b="1" dirty="0">
                <a:solidFill>
                  <a:schemeClr val="tx1"/>
                </a:solidFill>
              </a:rPr>
              <a:t>Princípios de uma boa pasta de projeto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49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Uma pasta por análise</a:t>
            </a:r>
            <a:r>
              <a:rPr lang="en-US" sz="2100" dirty="0">
                <a:solidFill>
                  <a:schemeClr val="tx1"/>
                </a:solidFill>
              </a:rPr>
              <a:t>, com tudo o que ela precisa.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Dado bruto somente leitura</a:t>
            </a:r>
            <a:r>
              <a:rPr lang="en-US" sz="2100" dirty="0">
                <a:solidFill>
                  <a:schemeClr val="tx1"/>
                </a:solidFill>
              </a:rPr>
              <a:t>, guardado exatamente como recebido.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Código separado de dados e de resultados.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Resultados regeneráveis</a:t>
            </a:r>
            <a:r>
              <a:rPr lang="en-US" sz="2100" dirty="0">
                <a:solidFill>
                  <a:schemeClr val="tx1"/>
                </a:solidFill>
              </a:rPr>
              <a:t>: apagar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output/</a:t>
            </a:r>
            <a:r>
              <a:rPr lang="en-US" sz="2100" dirty="0">
                <a:solidFill>
                  <a:schemeClr val="tx1"/>
                </a:solidFill>
              </a:rPr>
              <a:t> e rodar os scripts recria tudo.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Documentação na própria pasta</a:t>
            </a:r>
            <a:r>
              <a:rPr lang="en-US" sz="2100" dirty="0">
                <a:solidFill>
                  <a:schemeClr val="tx1"/>
                </a:solidFill>
              </a:rPr>
              <a:t>: README, dicionário, decisões.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Nomes de arquivos</a:t>
            </a:r>
            <a:r>
              <a:rPr lang="en-US" sz="2100" dirty="0">
                <a:solidFill>
                  <a:schemeClr val="tx1"/>
                </a:solidFill>
              </a:rPr>
              <a:t> que pessoas e máquinas entendem e que ordenam bem.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Wilson et al. (2017), PLOS Computational Biology 13: e1005510 — Good enough practices in scientific computing.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   </a:t>
            </a:r>
            <a:r>
              <a:rPr lang="en-US" sz="2800" b="1" dirty="0">
                <a:solidFill>
                  <a:schemeClr val="tx1"/>
                </a:solidFill>
              </a:rPr>
              <a:t>Estrutura recomendada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3773729"/>
          </a:xfrm>
          <a:prstGeom prst="roundRect">
            <a:avLst>
              <a:gd name="adj" fmla="val 1454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360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2026-11_vcu-milho-safra-2025/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    pergunta, como reproduzir, origem dos dados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     contexto e regras para o agente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config/parametros.yaml  parâmetros da análise (nada fixo no código)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bruto/              somente leitura + LEIA-ME.md com origem e data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intermediario/      gerado por 01_importar.R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processado/         gerado por 03_curar.R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dicionario_de_dados.csv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registro_de_correcoes.csv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decisoes.md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01_importar.R  02_qc.R  03_curar.R  04_analisar.R  05_figuras_tabelas.R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output/{figuras,tabelas,relatorios}/   tudo gerado por scripts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.claude/settings.json   permissões do agente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5018989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Modelo pronto no repositório do curso: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modelos/projeto-analise/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   </a:t>
            </a:r>
            <a:r>
              <a:rPr lang="en-US" sz="2800" b="1" dirty="0">
                <a:solidFill>
                  <a:schemeClr val="tx1"/>
                </a:solidFill>
              </a:rPr>
              <a:t>Nomes de arquivos</a:t>
            </a:r>
            <a:endParaRPr lang="en-US" sz="2800" dirty="0"/>
          </a:p>
        </p:txBody>
      </p:sp>
      <p:graphicFrame>
        <p:nvGraphicFramePr>
          <p:cNvPr id="4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792000"/>
        </p:xfrm>
        <a:graphic>
          <a:graphicData uri="http://schemas.openxmlformats.org/drawingml/2006/table">
            <a:tbl>
              <a:tblPr/>
              <a:tblGrid>
                <a:gridCol w="255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3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Ruim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Bom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Por quê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analise final.R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04_analisar.R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Número dá a ordem; sem espaços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dados nov.xlsx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2026-11-03_vcu-milho_parcelas.csv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Data ISO ordena; texto aberto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grafico.png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fig02_blup-por-ambiente.png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Diz o que é e onde entra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resultado (1).csv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tab03_componentes-variancia.csv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Ligado à tabela do relatório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37259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Legível por máquina (sem espaços nem acentos), legível por pessoas (diz o conteúdo), ordenável (números com zeros à esquerda, datas AAAA-MM-DD).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   </a:t>
            </a:r>
            <a:r>
              <a:rPr lang="en-US" sz="2800" b="1" dirty="0">
                <a:solidFill>
                  <a:schemeClr val="tx1"/>
                </a:solidFill>
              </a:rPr>
              <a:t>Do bruto ao resultado: uma cadeia de scripts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01_importar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bruto → intermediário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604760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833360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924800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02_qc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relatório de QC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871192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5099792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5191232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03_curar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aplica correções registradas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713762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7366224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7457664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04_analisar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modelos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9404055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632655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724095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05_figuras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figuras e tabelas</a:t>
            </a:r>
            <a:endParaRPr lang="en-US" sz="1554" dirty="0"/>
          </a:p>
        </p:txBody>
      </p:sp>
      <p:sp>
        <p:nvSpPr>
          <p:cNvPr id="17" name="texto-14"/>
          <p:cNvSpPr txBox="1"/>
          <p:nvPr/>
        </p:nvSpPr>
        <p:spPr>
          <a:xfrm>
            <a:off x="566928" y="2104061"/>
            <a:ext cx="11057839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script tem um </a:t>
            </a:r>
            <a:r>
              <a:rPr lang="en-US" sz="2100" b="1" dirty="0">
                <a:solidFill>
                  <a:schemeClr val="tx1"/>
                </a:solidFill>
              </a:rPr>
              <a:t>contrato</a:t>
            </a:r>
            <a:r>
              <a:rPr lang="en-US" sz="2100" dirty="0">
                <a:solidFill>
                  <a:schemeClr val="tx1"/>
                </a:solidFill>
              </a:rPr>
              <a:t> no cabeçalho: entradas, saídas, premissas.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script lê só o que veio antes e grava só na sua pasta de saída.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Caminhos relativos à raiz do projeto: nunca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setwd("C:/Users/…")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Ambiente reprodutível: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</a:t>
            </a:r>
            <a:r>
              <a:rPr lang="en-US" sz="2100" dirty="0">
                <a:solidFill>
                  <a:schemeClr val="tx1"/>
                </a:solidFill>
              </a:rPr>
              <a:t> registra as versões dos pacotes.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Teste final: apagar as pastas geradas e rodar tudo do zero.</a:t>
            </a:r>
            <a:endParaRPr lang="en-US" sz="2100" dirty="0"/>
          </a:p>
        </p:txBody>
      </p:sp>
      <p:sp>
        <p:nvSpPr>
          <p:cNvPr id="1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   </a:t>
            </a:r>
            <a:r>
              <a:rPr lang="en-US" sz="2800" b="1" dirty="0">
                <a:solidFill>
                  <a:schemeClr val="tx1"/>
                </a:solidFill>
              </a:rPr>
              <a:t>A pasta é o contexto do agente</a:t>
            </a:r>
            <a:endParaRPr lang="en-US" sz="2800" dirty="0"/>
          </a:p>
        </p:txBody>
      </p:sp>
      <p:graphicFrame>
        <p:nvGraphicFramePr>
          <p:cNvPr id="4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867200"/>
        </p:xfrm>
        <a:graphic>
          <a:graphicData uri="http://schemas.openxmlformats.org/drawingml/2006/table">
            <a:tbl>
              <a:tblPr/>
              <a:tblGrid>
                <a:gridCol w="4489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8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o Claude Code aprende com ele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Pergunta, regras de dados, convenções, o que é proibido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README.md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Como o projeto roda, de onde vêm os dados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docs/dicionario_de_dados.csv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Unidades, intervalos, códigos de ausente, padrão de IDs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config/parametros.yaml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Onde estão os números da análise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Cabeçalhos dos scripts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Entradas, saídas e premissas de cada etapa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docs/decisoes.md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já foi decidido, para não ser refeito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Estrutura de pastas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Onde ler e onde gravar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4112459"/>
            <a:ext cx="11057839" cy="561295"/>
          </a:xfrm>
          <a:prstGeom prst="roundRect">
            <a:avLst>
              <a:gd name="adj" fmla="val 130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4222187"/>
            <a:ext cx="1069207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Uma pasta organizada é um prompt permanente: o agente acerta mais e pergunta menos.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  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800" b="1" dirty="0">
                <a:solidFill>
                  <a:schemeClr val="tx1"/>
                </a:solidFill>
              </a:rPr>
              <a:t> da pasta de análise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2717597"/>
          </a:xfrm>
          <a:prstGeom prst="roundRect">
            <a:avLst>
              <a:gd name="adj" fmla="val 20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2553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Dados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data/bruto/ é SOMENTE LEITURA: nunca altere, renomeie ou sobrescreva.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Dicionário em docs/dicionario_de_dados.csv: valide unidades e intervalos.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Correções só via docs/registro_de_correcoes.csv, aplicadas por R/03_curar.R.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Convenções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Caminhos relativos; parâmetros em config/parametros.yaml.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Normalize identificadores antes de cruzar tabelas. Ausentes como NA, nunca 0.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Regras de análise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Dados de parcela, não médias. Outlier estatístico não é erro: sinalize, não exclua.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Decisões em docs/decisoes.md. Plano antes de código; teste para cada script.</a:t>
            </a:r>
            <a:endParaRPr lang="en-US" sz="1386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   </a:t>
            </a:r>
            <a:r>
              <a:rPr lang="en-US" sz="2800" b="1" dirty="0">
                <a:solidFill>
                  <a:schemeClr val="tx1"/>
                </a:solidFill>
              </a:rPr>
              <a:t>Proteger o dado bruto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: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1587099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1678539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"permissions": 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"allow": ["Bash(Rscript *)", "Bash(git status)", "Bash(git diff *)"],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"deny":  ["Edit(/data/bruto/**)", "Bash(rm *)"]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3197358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roda scripts, mas suas ferramentas de edição </a:t>
            </a:r>
            <a:r>
              <a:rPr lang="en-US" sz="2100" b="1" dirty="0">
                <a:solidFill>
                  <a:schemeClr val="tx1"/>
                </a:solidFill>
              </a:rPr>
              <a:t>não alteram</a:t>
            </a:r>
            <a:r>
              <a:rPr lang="en-US" sz="2100" dirty="0">
                <a:solidFill>
                  <a:schemeClr val="tx1"/>
                </a:solidFill>
              </a:rPr>
              <a:t> os dados brutos e ele não apaga arquivos.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regra não alcança um script que grave na pasta: proteja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data/bruto/</a:t>
            </a:r>
            <a:r>
              <a:rPr lang="en-US" sz="2100" dirty="0">
                <a:solidFill>
                  <a:schemeClr val="tx1"/>
                </a:solidFill>
              </a:rPr>
              <a:t> também como somente leitura no sistema (Seção 2).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escreve </a:t>
            </a:r>
            <a:r>
              <a:rPr lang="en-US" sz="2100" b="1" dirty="0">
                <a:solidFill>
                  <a:schemeClr val="tx1"/>
                </a:solidFill>
              </a:rPr>
              <a:t>código que transforma dados</a:t>
            </a:r>
            <a:r>
              <a:rPr lang="en-US" sz="2100" dirty="0">
                <a:solidFill>
                  <a:schemeClr val="tx1"/>
                </a:solidFill>
              </a:rPr>
              <a:t>; não transforma dados "na mão".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Git registra cada mudança nos scripts: tudo o que o agente fez pode ser revisado e desfeito.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5.9   </a:t>
            </a:r>
            <a:r>
              <a:rPr lang="en-US" sz="2800" b="1" dirty="0">
                <a:solidFill>
                  <a:schemeClr val="tx1"/>
                </a:solidFill>
              </a:rPr>
              <a:t>O mesmo pedido, duas pastas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Pasta desorganizada: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481086"/>
            <a:ext cx="5346040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1590814"/>
            <a:ext cx="498028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"Faz a análise conjunta desses ensaios de milho."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2504234"/>
            <a:ext cx="534604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O agente precisa adivinhar: qual planilha, qual unidade, quais linhas excluir, qual modelo, onde salvar.</a:t>
            </a:r>
            <a:endParaRPr lang="en-US" sz="2100" dirty="0"/>
          </a:p>
        </p:txBody>
      </p:sp>
      <p:sp>
        <p:nvSpPr>
          <p:cNvPr id="7" name="texto-4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Pasta organizada:</a:t>
            </a:r>
            <a:endParaRPr lang="en-US" sz="2100" dirty="0"/>
          </a:p>
        </p:txBody>
      </p:sp>
      <p:sp>
        <p:nvSpPr>
          <p:cNvPr id="8" name="ret-5"/>
          <p:cNvSpPr/>
          <p:nvPr/>
        </p:nvSpPr>
        <p:spPr>
          <a:xfrm>
            <a:off x="6278728" y="1481086"/>
            <a:ext cx="5346040" cy="1928650"/>
          </a:xfrm>
          <a:prstGeom prst="roundRect">
            <a:avLst>
              <a:gd name="adj" fmla="val 379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o-6"/>
          <p:cNvSpPr txBox="1"/>
          <p:nvPr/>
        </p:nvSpPr>
        <p:spPr>
          <a:xfrm>
            <a:off x="6461608" y="1590814"/>
            <a:ext cx="4980280" cy="1727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"Etapa 02 do README. Escreva R/02_qc.R seguindo o contrato do cabeçalho e as regras do CLAUDE.md. Use o dicionário para os intervalos. Inclua um teste em tests/ com erros injetados. Plano primeiro."</a:t>
            </a:r>
            <a:endParaRPr lang="en-US" sz="2100" dirty="0"/>
          </a:p>
        </p:txBody>
      </p:sp>
      <p:sp>
        <p:nvSpPr>
          <p:cNvPr id="10" name="texto-7"/>
          <p:cNvSpPr txBox="1"/>
          <p:nvPr/>
        </p:nvSpPr>
        <p:spPr>
          <a:xfrm>
            <a:off x="6278728" y="3529750"/>
            <a:ext cx="534604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Todas as decisões importantes já estão escritas na pasta.</a:t>
            </a:r>
            <a:endParaRPr lang="en-US" sz="2100" dirty="0"/>
          </a:p>
        </p:txBody>
      </p:sp>
      <p:sp>
        <p:nvSpPr>
          <p:cNvPr id="11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Síntese e tarefa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6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   </a:t>
            </a:r>
            <a:r>
              <a:rPr lang="en-US" sz="2800" b="1" dirty="0">
                <a:solidFill>
                  <a:schemeClr val="tx1"/>
                </a:solidFill>
              </a:rPr>
              <a:t>Checklist: os dados estão prontos para a IA?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350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Os dados estão em um banco (ou em tabelas) com chaves e tipos definidos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Existe um dicionário com unidades, intervalos e códigos de ausente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Identificadores seguem um padrão validável e únicos por entidade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Há camada bruta intocada e camada curada reconstruível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O QC é um script, com relatório e teste com erros injetados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Toda correção está registrada com motivo e responsável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A análise vive em uma pasta organizada, com README e CLAUDE.md</a:t>
            </a:r>
            <a:endParaRPr lang="en-US" sz="2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☐ Apagar os resultados e rodar os scripts recria tudo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   </a:t>
            </a:r>
            <a:r>
              <a:rPr lang="en-US" sz="2800" b="1" dirty="0">
                <a:solidFill>
                  <a:schemeClr val="tx1"/>
                </a:solidFill>
              </a:rPr>
              <a:t>Tarefa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Copie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modelos/projeto-analise/</a:t>
            </a:r>
            <a:r>
              <a:rPr lang="en-US" sz="2100" dirty="0">
                <a:solidFill>
                  <a:schemeClr val="tx1"/>
                </a:solidFill>
              </a:rPr>
              <a:t> para um ensaio do seu próprio projeto.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Preencha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data/bruto/LEIA-ME.md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docs/dicionario_de_dados.csv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Escreva três consultas SQL de QC (duplicatas, intervalos, padrão de ID) e rode-as.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Adapte 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 às regras do seu ensaio.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Na próxima seção, essa pasta será aberta no Claude Code.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   </a:t>
            </a:r>
            <a:r>
              <a:rPr lang="en-US" sz="2800" b="1" dirty="0">
                <a:solidFill>
                  <a:schemeClr val="tx1"/>
                </a:solidFill>
              </a:rPr>
              <a:t>Referências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497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Broman, K. W.; Woo, K. H. (2018). Data organization in spreadsheets. </a:t>
            </a:r>
            <a:r>
              <a:rPr lang="en-US" sz="2100" i="1" dirty="0">
                <a:solidFill>
                  <a:schemeClr val="tx1"/>
                </a:solidFill>
              </a:rPr>
              <a:t>The American Statistician</a:t>
            </a:r>
            <a:r>
              <a:rPr lang="en-US" sz="2100" dirty="0">
                <a:solidFill>
                  <a:schemeClr val="tx1"/>
                </a:solidFill>
              </a:rPr>
              <a:t>, 72(1), 2–10.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Morales, N. et al. (2022). Breedbase: a digital ecosystem for modern plant breeding. </a:t>
            </a:r>
            <a:r>
              <a:rPr lang="en-US" sz="2100" i="1" dirty="0">
                <a:solidFill>
                  <a:schemeClr val="tx1"/>
                </a:solidFill>
              </a:rPr>
              <a:t>G3</a:t>
            </a:r>
            <a:r>
              <a:rPr lang="en-US" sz="2100" dirty="0">
                <a:solidFill>
                  <a:schemeClr val="tx1"/>
                </a:solidFill>
              </a:rPr>
              <a:t>, 12(7), jkac078.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Rife, T. W.; Poland, J. A. (2014). Field Book: an open-source application for field data collection on Android. </a:t>
            </a:r>
            <a:r>
              <a:rPr lang="en-US" sz="2100" i="1" dirty="0">
                <a:solidFill>
                  <a:schemeClr val="tx1"/>
                </a:solidFill>
              </a:rPr>
              <a:t>Crop Science</a:t>
            </a:r>
            <a:r>
              <a:rPr lang="en-US" sz="2100" dirty="0">
                <a:solidFill>
                  <a:schemeClr val="tx1"/>
                </a:solidFill>
              </a:rPr>
              <a:t>, 54(4). doi:10.2135/cropsci2013.08.0579.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Wickham, H. (2014). Tidy data. </a:t>
            </a:r>
            <a:r>
              <a:rPr lang="en-US" sz="2100" i="1" dirty="0">
                <a:solidFill>
                  <a:schemeClr val="tx1"/>
                </a:solidFill>
              </a:rPr>
              <a:t>Journal of Statistical Software</a:t>
            </a:r>
            <a:r>
              <a:rPr lang="en-US" sz="2100" dirty="0">
                <a:solidFill>
                  <a:schemeClr val="tx1"/>
                </a:solidFill>
              </a:rPr>
              <a:t>, 59(10).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Wilkinson, M. D. et al. (2016). The FAIR Guiding Principles for scientific data management and stewardship. </a:t>
            </a:r>
            <a:r>
              <a:rPr lang="en-US" sz="2100" i="1" dirty="0">
                <a:solidFill>
                  <a:schemeClr val="tx1"/>
                </a:solidFill>
              </a:rPr>
              <a:t>Scientific Data</a:t>
            </a:r>
            <a:r>
              <a:rPr lang="en-US" sz="2100" dirty="0">
                <a:solidFill>
                  <a:schemeClr val="tx1"/>
                </a:solidFill>
              </a:rPr>
              <a:t>, 3, 160018.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Wilson, G. et al. (2017). Good enough practices in scientific computing. </a:t>
            </a:r>
            <a:r>
              <a:rPr lang="en-US" sz="2100" i="1" dirty="0">
                <a:solidFill>
                  <a:schemeClr val="tx1"/>
                </a:solidFill>
              </a:rPr>
              <a:t>PLOS Computational Biology</a:t>
            </a:r>
            <a:r>
              <a:rPr lang="en-US" sz="2100" dirty="0">
                <a:solidFill>
                  <a:schemeClr val="tx1"/>
                </a:solidFill>
              </a:rPr>
              <a:t>, 13(6), e1005510.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Crop Ontology: https://cropontology.org · BrAPI: https://brapi.org · DuckDB: https://duckdb.org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 796">
  <a:themeElements>
    <a:clrScheme name="FIT 796">
      <a:dk1>
        <a:srgbClr val="E6F2EE"/>
      </a:dk1>
      <a:lt1>
        <a:srgbClr val="071419"/>
      </a:lt1>
      <a:dk2>
        <a:srgbClr val="8FA9A3"/>
      </a:dk2>
      <a:lt2>
        <a:srgbClr val="0B2F2A"/>
      </a:lt2>
      <a:accent1>
        <a:srgbClr val="A6E35A"/>
      </a:accent1>
      <a:accent2>
        <a:srgbClr val="3EC7C1"/>
      </a:accent2>
      <a:accent3>
        <a:srgbClr val="0D2229"/>
      </a:accent3>
      <a:accent4>
        <a:srgbClr val="1D3A41"/>
      </a:accent4>
      <a:accent5>
        <a:srgbClr val="0A1C22"/>
      </a:accent5>
      <a:accent6>
        <a:srgbClr val="15301F"/>
      </a:accent6>
      <a:hlink>
        <a:srgbClr val="3EC7C1"/>
      </a:hlink>
      <a:folHlink>
        <a:srgbClr val="A6E35A"/>
      </a:folHlink>
    </a:clrScheme>
    <a:fontScheme name="FIT 79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6103</Words>
  <Application>Microsoft Office PowerPoint</Application>
  <PresentationFormat>Widescreen</PresentationFormat>
  <Paragraphs>947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Aptos</vt:lpstr>
      <vt:lpstr>Arial</vt:lpstr>
      <vt:lpstr>Courier New</vt:lpstr>
      <vt:lpstr>FIT 796</vt:lpstr>
      <vt:lpstr>Dados: a base de toda IA no melhoramento</vt:lpstr>
      <vt:lpstr>Roteiro da seção</vt:lpstr>
      <vt:lpstr>Por que os dados vêm antes da IA</vt:lpstr>
      <vt:lpstr>1.1   Pergunta de abertura</vt:lpstr>
      <vt:lpstr>1.2   O ciclo de vida do dado em um programa de melhoramento</vt:lpstr>
      <vt:lpstr>1.3   O dado é o ativo de longo prazo do programa</vt:lpstr>
      <vt:lpstr>1.4   Consequência genética de um erro de dado</vt:lpstr>
      <vt:lpstr>1.5   A IA amplifica o que encontra</vt:lpstr>
      <vt:lpstr>Bancos de dados relacionais e a linguagem SQL</vt:lpstr>
      <vt:lpstr>2.1   Planilha ou banco de dados?</vt:lpstr>
      <vt:lpstr>2.2   O modelo relacional de um programa</vt:lpstr>
      <vt:lpstr>2.3   Chaves e restrições: regras do programa escritas no banco</vt:lpstr>
      <vt:lpstr>2.4   Normalização: por que não uma tabela única</vt:lpstr>
      <vt:lpstr>2.5   Duas camadas: bruta e curada</vt:lpstr>
      <vt:lpstr>2.6   Por que saber SQL, mesmo com IA</vt:lpstr>
      <vt:lpstr>2.7   SQL essencial (1): selecionar e filtrar</vt:lpstr>
      <vt:lpstr>2.8   SQL essencial (2): junções</vt:lpstr>
      <vt:lpstr>2.9   SQL essencial (3): agregar</vt:lpstr>
      <vt:lpstr>2.10   SQL intermediário: CTE e funções de janela</vt:lpstr>
      <vt:lpstr>2.11   Armadilhas que geram números errados sem erro</vt:lpstr>
      <vt:lpstr>2.12   SQL dentro do R</vt:lpstr>
      <vt:lpstr>2.13   E os dados genômicos?</vt:lpstr>
      <vt:lpstr>QA/QC: garantir e controlar a qualidade</vt:lpstr>
      <vt:lpstr>3.1   QA e QC não são a mesma coisa</vt:lpstr>
      <vt:lpstr>3.2   Dimensões da qualidade de dados</vt:lpstr>
      <vt:lpstr>3.3   QA na origem: prevenir é mais barato</vt:lpstr>
      <vt:lpstr>3.4   QC estrutural com SQL: resultados no banco do curso</vt:lpstr>
      <vt:lpstr>3.5   A ordem do QC importa</vt:lpstr>
      <vt:lpstr>3.6   QC estatístico: a qualidade de cada ensaio</vt:lpstr>
      <vt:lpstr>3.7   Outlier estatístico não é sinônimo de erro</vt:lpstr>
      <vt:lpstr>3.8   QC de genótipos</vt:lpstr>
      <vt:lpstr>3.9   O que fazer com cada problema</vt:lpstr>
      <vt:lpstr>3.10   Teste o seu QC</vt:lpstr>
      <vt:lpstr>Consistência e curadoria</vt:lpstr>
      <vt:lpstr>4.1   Consistência: o mesmo dado com o mesmo significado</vt:lpstr>
      <vt:lpstr>4.2   Identificadores bem projetados</vt:lpstr>
      <vt:lpstr>4.3   Dicionário de variáveis e ontologias</vt:lpstr>
      <vt:lpstr>4.4   Curadoria: um processo contínuo, com registro</vt:lpstr>
      <vt:lpstr>4.5   Proveniência, versão e FAIR</vt:lpstr>
      <vt:lpstr>4.6   Doze regras para planilhas (Broman e Woo, 2018)</vt:lpstr>
      <vt:lpstr>A pasta de análise como projeto do Claude Code</vt:lpstr>
      <vt:lpstr>5.1   O problema</vt:lpstr>
      <vt:lpstr>5.2   Princípios de uma boa pasta de projeto</vt:lpstr>
      <vt:lpstr>5.3   Estrutura recomendada</vt:lpstr>
      <vt:lpstr>5.4   Nomes de arquivos</vt:lpstr>
      <vt:lpstr>5.5   Do bruto ao resultado: uma cadeia de scripts</vt:lpstr>
      <vt:lpstr>5.6   A pasta é o contexto do agente</vt:lpstr>
      <vt:lpstr>5.7   CLAUDE.md da pasta de análise</vt:lpstr>
      <vt:lpstr>5.8   Proteger o dado bruto ⚙️</vt:lpstr>
      <vt:lpstr>5.9   O mesmo pedido, duas pastas</vt:lpstr>
      <vt:lpstr>Síntese e tarefa</vt:lpstr>
      <vt:lpstr>6.1   Checklist: os dados estão prontos para a IA?</vt:lpstr>
      <vt:lpstr>6.2   Tarefa</vt:lpstr>
      <vt:lpstr>6.3   Referências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Seção 1 — Dados: a base de toda IA no melhoramento</dc:title>
  <dc:subject>IA no Melhoramento Genético: Fundamentos e Aplicações</dc:subject>
  <dc:creator>FIT 796 · UFV</dc:creator>
  <cp:lastModifiedBy>Eder Silva</cp:lastModifiedBy>
  <cp:revision>1</cp:revision>
  <dcterms:created xsi:type="dcterms:W3CDTF">2026-10-17T17:47:55Z</dcterms:created>
  <dcterms:modified xsi:type="dcterms:W3CDTF">2026-10-26T11:35:59Z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2026-10-20T12:05:10Z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b34163ae-cb13-44a4-aa18-32794f35e78c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FIT 796:3</vt:lpwstr>
  </property>
  <property fmtid="{D5CDD505-2E9C-101B-9397-08002B2CF9AE}" pid="11" name="ClassificationContentMarkingFooterText">
    <vt:lpwstr>RESTRICTED</vt:lpwstr>
  </property>
</Properties>
</file>