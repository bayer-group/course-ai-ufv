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5A2DEC-2261-48AF-B4A8-7B10B1CC645D}" v="1" dt="2026-10-27T15:45:50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66" y="8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404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Boas-vindas à sessão de fechamento. Durante o curso vocês usaram IA como ferramenta: escreveram análises com agentes de código, estudaram artigos com LLMs, rodaram seleção genômica e simulação. Hoje a pergunta muda: o que a IA já faz de forma efetiva e que não coube nestes três dias? Três objetivos: (1) recapitular o arco do curso, (2) mostrar a fronteira dentro do melhoramento e, sobretudo, fora dele - moléculas, proteínas, events, agro digital e outras ciências, (3) discutir confiança, ética, propriedade e o que aprender a seguir. Regra do dia: entusiasmo, sempre com evidência. Cada slide tem referência no rodapé; preprints e anúncios de empresa estão marcados.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5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607040" cy="246856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5000" b="1" i="0">
                <a:solidFill>
                  <a:srgbClr val="FFFFFF"/>
                </a:solidFill>
                <a:latin typeface="DejaVu Serif"/>
              </a:rPr>
              <a:t>Estudar e reproduzir um artigo científico com Claude Code</a:t>
            </a:r>
            <a:endParaRPr sz="50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607040" cy="4147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900" b="0" i="0">
                <a:solidFill>
                  <a:srgbClr val="D8E4DA"/>
                </a:solidFill>
                <a:latin typeface="DejaVu Sans"/>
              </a:rPr>
              <a:t>PRATICA 01 · Carga: 2 h . Roteiro: roteiro_aula.Rmd . Repositorio: estudo-artigo</a:t>
            </a:r>
            <a:endParaRPr sz="19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5181600"/>
            <a:ext cx="10607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i="0">
                <a:solidFill>
                  <a:srgbClr val="4A7C59"/>
                </a:solidFill>
                <a:latin typeface="DejaVu Sans"/>
              </a:rPr>
              <a:t>IA NO MELHORAMENTO GENETICO: FUNDAMENTOS E APLICACOES · FIT 796 . UFV . Novembro 2026</a:t>
            </a:r>
            <a:endParaRPr sz="1400" b="1" i="0">
              <a:solidFill>
                <a:srgbClr val="4A7C59"/>
              </a:solidFill>
              <a:latin typeface="DejaVu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5496559"/>
            <a:ext cx="1060704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BR" sz="1400" b="0" i="0">
                <a:solidFill>
                  <a:srgbClr val="6B6B6B"/>
                </a:solidFill>
                <a:latin typeface="DejaVu Sans"/>
              </a:rPr>
              <a:t>Objetivo: usar o Claude Code como parceiro de estudo do artigo de Meuwissen, Hayes &amp; Goddard (2001) sobre selecao genomica. O aluno sai capaz de explicar o artigo, reproduzir o padrao LS &lt; RR-BLUP e ter um repositorio auditavel.</a:t>
            </a:r>
          </a:p>
          <a:p>
            <a:pPr algn="l">
              <a:lnSpc>
                <a:spcPct val="100000"/>
              </a:lnSpc>
            </a:pPr>
            <a:r>
              <a:rPr lang="pt-BR" sz="1400" b="0" i="0">
                <a:solidFill>
                  <a:srgbClr val="6B6B6B"/>
                </a:solidFill>
                <a:latin typeface="DejaVu Sans"/>
              </a:rPr>
              <a:t>Mensagem: a IA acelera a compreensao quando e obrigada a citar a fonte, a separar o que o artigo diz do que ela infere e a testar o entendimento com numeros.</a:t>
            </a:r>
            <a:endParaRPr sz="1400" b="0" i="0">
              <a:solidFill>
                <a:srgbClr val="6B6B6B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579312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Roteiro da seção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PRATICA 01 . ROTEIRO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515685AE-875A-59DD-8889-B48994BF46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981256"/>
              </p:ext>
            </p:extLst>
          </p:nvPr>
        </p:nvGraphicFramePr>
        <p:xfrm>
          <a:off x="640080" y="1043813"/>
          <a:ext cx="109093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3077083312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496682128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1343989319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1331981406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Etapa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Tema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Conceito de Claude Code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Tempo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6813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0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Estudar, nao terceirizar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Riscos do resumo sem fonte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 panose="020B0603030804020204" pitchFamily="34" charset="0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10 min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3639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1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Projeto de estudo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CLAUDE.md em modo estudo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 panose="020B0603030804020204" pitchFamily="34" charset="0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15 min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26386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2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Leitura em camadas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Extracao com citacao de pagina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 panose="020B0603030804020204" pitchFamily="34" charset="0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30 min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4174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3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Perguntas e critica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Modo socratico; aluno pergunta e e perguntado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 panose="020B0603030804020204" pitchFamily="34" charset="0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20 min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88523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4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Modelo minimo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LS vs RR-BLUP; equacao do melhorista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 panose="020B0603030804020204" pitchFamily="34" charset="0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30 min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81148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-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Fechamento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Relatorio e checklist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15 min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089672"/>
                  </a:ext>
                </a:extLst>
              </a:tr>
            </a:tbl>
          </a:graphicData>
        </a:graphic>
      </p:graphicFrame>
      <p:sp>
        <p:nvSpPr>
          <p:cNvPr id="14" name="FitText">
            <a:extLst>
              <a:ext uri="{FF2B5EF4-FFF2-40B4-BE49-F238E27FC236}">
                <a16:creationId xmlns:a16="http://schemas.microsoft.com/office/drawing/2014/main" id="{56B0CBBA-A08A-DC80-F49B-5168D78B3C9D}"/>
              </a:ext>
            </a:extLst>
          </p:cNvPr>
          <p:cNvSpPr txBox="1"/>
          <p:nvPr/>
        </p:nvSpPr>
        <p:spPr>
          <a:xfrm>
            <a:off x="640080" y="3636644"/>
            <a:ext cx="10909300" cy="91744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en-US" sz="2000" b="1">
                <a:solidFill>
                  <a:srgbClr val="4A7C59"/>
                </a:solidFill>
                <a:latin typeface="DejaVu Sans" panose="020B0603030804020204" pitchFamily="34" charset="0"/>
              </a:rPr>
              <a:t>Artigo-guia: Meuwissen, T.H.E., Hayes, B.J. &amp; Goddard, M.E. (2001). Prediction of Total Genetic Value Using Genome-Wide Dense Marker Maps. Genetics, 157, 1819-1829.</a:t>
            </a:r>
          </a:p>
        </p:txBody>
      </p:sp>
    </p:spTree>
    <p:extLst>
      <p:ext uri="{BB962C8B-B14F-4D97-AF65-F5344CB8AC3E}">
        <p14:creationId xmlns:p14="http://schemas.microsoft.com/office/powerpoint/2010/main" val="2098812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4400" b="1" i="0">
                <a:solidFill>
                  <a:srgbClr val="FFFFFF"/>
                </a:solidFill>
                <a:latin typeface="DejaVu Serif"/>
              </a:rPr>
              <a:t>Estudar, nao terceirizar</a:t>
            </a:r>
            <a:endParaRPr sz="44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65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2200" b="0" i="0">
                <a:solidFill>
                  <a:srgbClr val="D8E4DA"/>
                </a:solidFill>
                <a:latin typeface="DejaVu Sans"/>
              </a:rPr>
              <a:t>ETAPA 0 · 10 min · PRATICA 01 . ETAPA 0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92479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0.1  O experimento de abertura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PRATICA 01 . ETAPA 0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4A4A994B-3237-2BB3-36CE-40A8565497D1}"/>
              </a:ext>
            </a:extLst>
          </p:cNvPr>
          <p:cNvSpPr txBox="1"/>
          <p:nvPr/>
        </p:nvSpPr>
        <p:spPr>
          <a:xfrm>
            <a:off x="640080" y="1043813"/>
            <a:ext cx="10909300" cy="22158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Sem o PDF na pasta: Resuma o artigo de Meuwissen, Hayes e Goddard sobre predicao de valor genetico com mapas de marcadores densos.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O agente leu o artigo ou reconstruiu o tema com base no treinamento?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Os numeros citados (acuracias, tamanho do genoma, Ne) estao no artigo? Em qual pagina?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Ele confundiu com outros trabalhos dos mesmos autores sobre selecao genomica?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415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0.2  Três modos de uso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PRATICA 01 . ETAPA 0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AC42FC20-593B-2B7A-C605-C96081A0D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654358"/>
              </p:ext>
            </p:extLst>
          </p:nvPr>
        </p:nvGraphicFramePr>
        <p:xfrm>
          <a:off x="640080" y="1043813"/>
          <a:ext cx="10909300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604586539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415173631"/>
                    </a:ext>
                  </a:extLst>
                </a:gridCol>
                <a:gridCol w="4203700">
                  <a:extLst>
                    <a:ext uri="{9D8B030D-6E8A-4147-A177-3AD203B41FA5}">
                      <a16:colId xmlns:a16="http://schemas.microsoft.com/office/drawing/2014/main" val="296178322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Modo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Pedido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Resultado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62791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Terceirizar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"Resuma o artigo"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Repete frases; não explica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49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Consultar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O que e BayesB?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Entende pedaços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3758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Estudar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Faca perguntas ate eu explicar a Tabela 2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 panose="020B0603030804020204" pitchFamily="34" charset="0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Constrói entendimento e expõe lacunas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 panose="020B0603030804020204" pitchFamily="34" charset="0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380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0439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0.3  Regras do estudo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PRATICA 01 . ETAPA 0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0CDA5E7C-A6D3-060B-BE28-0651089A87ED}"/>
              </a:ext>
            </a:extLst>
          </p:cNvPr>
          <p:cNvSpPr txBox="1"/>
          <p:nvPr/>
        </p:nvSpPr>
        <p:spPr>
          <a:xfrm>
            <a:off x="640080" y="1043812"/>
            <a:ext cx="10909300" cy="16550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Toda afirmação tem seção, página, figura ou tabela.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Rótulos: </a:t>
            </a:r>
            <a:r>
              <a:rPr lang="pt-BR" sz="2000" b="1">
                <a:solidFill>
                  <a:srgbClr val="4A7C59"/>
                </a:solidFill>
                <a:latin typeface="DejaVu Sans" panose="020B0603030804020204" pitchFamily="34" charset="0"/>
              </a:rPr>
              <a:t>[ARTIGO]</a:t>
            </a: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, </a:t>
            </a:r>
            <a:r>
              <a:rPr lang="pt-BR" sz="2000" b="1">
                <a:solidFill>
                  <a:srgbClr val="4A7C59"/>
                </a:solidFill>
                <a:latin typeface="DejaVu Sans" panose="020B0603030804020204" pitchFamily="34" charset="0"/>
              </a:rPr>
              <a:t>[INFERÊNCIA]</a:t>
            </a: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, </a:t>
            </a:r>
            <a:r>
              <a:rPr lang="pt-BR" sz="2000" b="1">
                <a:solidFill>
                  <a:srgbClr val="4A7C59"/>
                </a:solidFill>
                <a:latin typeface="DejaVu Sans" panose="020B0603030804020204" pitchFamily="34" charset="0"/>
              </a:rPr>
              <a:t>[CONHECIMENTO GERAL]</a:t>
            </a: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Informação ausente → "NÃO CONSTA NO ARTIGO".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Entendimento só é aceito quando reproduz um número.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82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4400" b="1" i="0">
                <a:solidFill>
                  <a:srgbClr val="FFFFFF"/>
                </a:solidFill>
                <a:latin typeface="DejaVu Serif"/>
              </a:rPr>
              <a:t>Projeto de estudo</a:t>
            </a:r>
            <a:endParaRPr sz="44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65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2200" b="0" i="0">
                <a:solidFill>
                  <a:srgbClr val="D8E4DA"/>
                </a:solidFill>
                <a:latin typeface="DejaVu Sans"/>
              </a:rPr>
              <a:t>ETAPA 1 · 15 min · PRATICA 01 . ETAPA 1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14384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1.1  Estrutura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PRATICA 01 . ETAPA 1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Callout">
            <a:extLst>
              <a:ext uri="{FF2B5EF4-FFF2-40B4-BE49-F238E27FC236}">
                <a16:creationId xmlns:a16="http://schemas.microsoft.com/office/drawing/2014/main" id="{ACF34070-BB56-41D9-5BCA-4765BAEB7B1E}"/>
              </a:ext>
            </a:extLst>
          </p:cNvPr>
          <p:cNvSpPr/>
          <p:nvPr/>
        </p:nvSpPr>
        <p:spPr>
          <a:xfrm>
            <a:off x="640080" y="1043813"/>
            <a:ext cx="10909300" cy="3131312"/>
          </a:xfrm>
          <a:prstGeom prst="roundRect">
            <a:avLst>
              <a:gd name="adj" fmla="val 8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1600" rIns="152400" bIns="101600" rtlCol="0" anchor="ctr"/>
          <a:lstStyle/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2E3A2F"/>
                </a:solidFill>
                <a:latin typeface="DejaVu Sans" panose="020B0603030804020204" pitchFamily="34" charset="0"/>
              </a:rPr>
              <a:t>estudo-artigo/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2E3A2F"/>
                </a:solidFill>
                <a:latin typeface="DejaVu Sans" panose="020B0603030804020204" pitchFamily="34" charset="0"/>
              </a:rPr>
              <a:t>  CLAUDE.md, PLANO.md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2E3A2F"/>
                </a:solidFill>
                <a:latin typeface="DejaVu Sans" panose="020B0603030804020204" pitchFamily="34" charset="0"/>
              </a:rPr>
              <a:t>  artigo/Meuwissen_Hayes_Goddard_GS.pdf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2E3A2F"/>
                </a:solidFill>
                <a:latin typeface="DejaVu Sans" panose="020B0603030804020204" pitchFamily="34" charset="0"/>
              </a:rPr>
              <a:t>  notas/ (mapa, glossario, perguntas)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2E3A2F"/>
                </a:solidFill>
                <a:latin typeface="DejaVu Sans" panose="020B0603030804020204" pitchFamily="34" charset="0"/>
              </a:rPr>
              <a:t>  config/parametros_artigo.yaml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2E3A2F"/>
                </a:solidFill>
                <a:latin typeface="DejaVu Sans" panose="020B0603030804020204" pitchFamily="34" charset="0"/>
              </a:rPr>
              <a:t>  R/10_modelo_minimo.R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2E3A2F"/>
                </a:solidFill>
                <a:latin typeface="DejaVu Sans" panose="020B0603030804020204" pitchFamily="34" charset="0"/>
              </a:rPr>
              <a:t>  DESVIOS.md, REPRODUTIBILIDADE.md</a:t>
            </a:r>
          </a:p>
        </p:txBody>
      </p:sp>
      <p:sp>
        <p:nvSpPr>
          <p:cNvPr id="14" name="FitCalloutBar">
            <a:extLst>
              <a:ext uri="{FF2B5EF4-FFF2-40B4-BE49-F238E27FC236}">
                <a16:creationId xmlns:a16="http://schemas.microsoft.com/office/drawing/2014/main" id="{14A91A5A-D5D3-08F0-F59F-312AA4829228}"/>
              </a:ext>
            </a:extLst>
          </p:cNvPr>
          <p:cNvSpPr/>
          <p:nvPr/>
        </p:nvSpPr>
        <p:spPr>
          <a:xfrm>
            <a:off x="640080" y="1043813"/>
            <a:ext cx="63500" cy="3131312"/>
          </a:xfrm>
          <a:prstGeom prst="rect">
            <a:avLst/>
          </a:prstGeom>
          <a:solidFill>
            <a:srgbClr val="B7472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38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1.2  CLAUDE.md: contrato de comportamento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PRATICA 01 . ETAPA 1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FF3792F6-5658-E1D5-704D-06B72B2E9613}"/>
              </a:ext>
            </a:extLst>
          </p:cNvPr>
          <p:cNvSpPr txBox="1"/>
          <p:nvPr/>
        </p:nvSpPr>
        <p:spPr>
          <a:xfrm>
            <a:off x="640080" y="1043813"/>
            <a:ext cx="10909300" cy="295351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Regras que o agente segue durante toda a sessao: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1. Origem: toda afirmacao com (Secao X, p. Y) ou (Tab. N)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2. Rotulos: [ARTIGO], [INFERENCIA], [CONHECIMENTO GERAL]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3. Ausente -&gt; "NAO CONSTA NO ARTIGO" (nunca inventar)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4. Nao confundir com outros artigos dos mesmos autores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5. Todo parametro de config/ com campo fonte e status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Verifique que o CLAUDE.md esta correto antes de continuar.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007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4400" b="1" i="0">
                <a:solidFill>
                  <a:srgbClr val="FFFFFF"/>
                </a:solidFill>
                <a:latin typeface="DejaVu Serif"/>
              </a:rPr>
              <a:t>Leitura em camadas</a:t>
            </a:r>
            <a:endParaRPr sz="44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65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2200" b="0" i="0">
                <a:solidFill>
                  <a:srgbClr val="D8E4DA"/>
                </a:solidFill>
                <a:latin typeface="DejaVu Sans"/>
              </a:rPr>
              <a:t>ETAPA 2 · 30 min · PRATICA 01 . ETAPA 2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992378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2.1  Camada 1: Mapa do artigo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PRATICA 01 . ETAPA 2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Callout">
            <a:extLst>
              <a:ext uri="{FF2B5EF4-FFF2-40B4-BE49-F238E27FC236}">
                <a16:creationId xmlns:a16="http://schemas.microsoft.com/office/drawing/2014/main" id="{D41E5F8A-A721-E35A-4A35-7C479E73B2C5}"/>
              </a:ext>
            </a:extLst>
          </p:cNvPr>
          <p:cNvSpPr/>
          <p:nvPr/>
        </p:nvSpPr>
        <p:spPr>
          <a:xfrm>
            <a:off x="640080" y="1043813"/>
            <a:ext cx="10909300" cy="3996944"/>
          </a:xfrm>
          <a:prstGeom prst="roundRect">
            <a:avLst>
              <a:gd name="adj" fmla="val 8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1600" rIns="152400" bIns="101600" rtlCol="0" anchor="ctr"/>
          <a:lstStyle/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 b="1">
                <a:solidFill>
                  <a:srgbClr val="2E3A2F"/>
                </a:solidFill>
                <a:latin typeface="DejaVu Sans" panose="020B0603030804020204" pitchFamily="34" charset="0"/>
              </a:rPr>
              <a:t>Prompt: Leia artigo/...pdf. Escreva notas/01_mapa_do_artigo.md: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 b="1">
                <a:solidFill>
                  <a:srgbClr val="2E3A2F"/>
                </a:solidFill>
                <a:latin typeface="DejaVu Sans" panose="020B0603030804020204" pitchFamily="34" charset="0"/>
              </a:rPr>
              <a:t>  1. Pergunta cientifica central, em uma frase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 b="1">
                <a:solidFill>
                  <a:srgbClr val="2E3A2F"/>
                </a:solidFill>
                <a:latin typeface="DejaVu Sans" panose="020B0603030804020204" pitchFamily="34" charset="0"/>
              </a:rPr>
              <a:t>  2. Problema tecnico (graus de liberdade)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 b="1">
                <a:solidFill>
                  <a:srgbClr val="2E3A2F"/>
                </a:solidFill>
                <a:latin typeface="DejaVu Sans" panose="020B0603030804020204" pitchFamily="34" charset="0"/>
              </a:rPr>
              <a:t>  3. Os 4 metodos comparados (nomes exatos)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 b="1">
                <a:solidFill>
                  <a:srgbClr val="2E3A2F"/>
                </a:solidFill>
                <a:latin typeface="DejaVu Sans" panose="020B0603030804020204" pitchFamily="34" charset="0"/>
              </a:rPr>
              <a:t>  4. Metrica principal e como e calculada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 b="1">
                <a:solidFill>
                  <a:srgbClr val="2E3A2F"/>
                </a:solidFill>
                <a:latin typeface="DejaVu Sans" panose="020B0603030804020204" pitchFamily="34" charset="0"/>
              </a:rPr>
              <a:t>  5. As 4 conclusoes com figura/tabela de suporte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 b="1">
                <a:solidFill>
                  <a:srgbClr val="2E3A2F"/>
                </a:solidFill>
                <a:latin typeface="DejaVu Sans" panose="020B0603030804020204" pitchFamily="34" charset="0"/>
              </a:rPr>
              <a:t>Use rotulos [ARTIGO] e [INFERENCIA] com paginas.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endParaRPr lang="pt-BR" sz="2000" b="1">
              <a:solidFill>
                <a:srgbClr val="2E3A2F"/>
              </a:solidFill>
              <a:latin typeface="DejaVu Sans" panose="020B0603030804020204" pitchFamily="34" charset="0"/>
            </a:endParaRP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 b="1">
                <a:solidFill>
                  <a:srgbClr val="2E3A2F"/>
                </a:solidFill>
                <a:latin typeface="DejaVu Sans" panose="020B0603030804020204" pitchFamily="34" charset="0"/>
              </a:rPr>
              <a:t>VERIFICACAO: abra o PDF e confira pelo menos 3 afirmacoes.</a:t>
            </a:r>
            <a:endParaRPr lang="en-US" sz="2000" b="1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  <p:sp>
        <p:nvSpPr>
          <p:cNvPr id="14" name="FitCalloutBar">
            <a:extLst>
              <a:ext uri="{FF2B5EF4-FFF2-40B4-BE49-F238E27FC236}">
                <a16:creationId xmlns:a16="http://schemas.microsoft.com/office/drawing/2014/main" id="{543CB9D4-7069-D072-1007-D58E87A8A957}"/>
              </a:ext>
            </a:extLst>
          </p:cNvPr>
          <p:cNvSpPr/>
          <p:nvPr/>
        </p:nvSpPr>
        <p:spPr>
          <a:xfrm>
            <a:off x="640080" y="1043813"/>
            <a:ext cx="63500" cy="3996944"/>
          </a:xfrm>
          <a:prstGeom prst="rect">
            <a:avLst/>
          </a:prstGeom>
          <a:solidFill>
            <a:srgbClr val="B7472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266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2.2  Camada 2: Glossario operacional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PRATICA 01 . ETAPA 2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F40105BD-DB00-1A5E-CBA9-40CDDB80E4F8}"/>
              </a:ext>
            </a:extLst>
          </p:cNvPr>
          <p:cNvSpPr txBox="1"/>
          <p:nvPr/>
        </p:nvSpPr>
        <p:spPr>
          <a:xfrm>
            <a:off x="640080" y="1043813"/>
            <a:ext cx="10909300" cy="33863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Prompt: Crie notas/02_glossario.md com definicao do artigo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(com pagina), definicao usual e diferencas quando houver.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endParaRPr lang="pt-BR" sz="2000">
              <a:solidFill>
                <a:srgbClr val="2E3A2F"/>
              </a:solidFill>
              <a:latin typeface="DejaVu Sans" panose="020B0603030804020204" pitchFamily="34" charset="0"/>
            </a:endParaRP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Termos obrigatorios: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  haplotipo de marcadores . desequilibrio de ligacao (LD)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  acuracia r_TBV,EBV (como difere de h2) . shrinkage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  BayesA vs BayesB (diferenca na priori) . Gibbs sampling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  coeficiente de regressao b (por que b &lt; 1 = inflacao)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422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2.3  Camada 3: Parametros em YAML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PRATICA 01 . ETAPA 2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4" name="FitText">
            <a:extLst>
              <a:ext uri="{FF2B5EF4-FFF2-40B4-BE49-F238E27FC236}">
                <a16:creationId xmlns:a16="http://schemas.microsoft.com/office/drawing/2014/main" id="{13B63F24-6C32-63B3-E553-1A9246AB2A52}"/>
              </a:ext>
            </a:extLst>
          </p:cNvPr>
          <p:cNvSpPr txBox="1"/>
          <p:nvPr/>
        </p:nvSpPr>
        <p:spPr>
          <a:xfrm>
            <a:off x="640080" y="1043813"/>
            <a:ext cx="10909300" cy="494919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900">
                <a:solidFill>
                  <a:srgbClr val="2E3A2F"/>
                </a:solidFill>
                <a:latin typeface="DejaVu Sans" panose="020B0603030804020204" pitchFamily="34" charset="0"/>
              </a:rPr>
              <a:t>Prompt: Extraia para config/parametros_artigo.yaml TODOS os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900">
                <a:solidFill>
                  <a:srgbClr val="2E3A2F"/>
                </a:solidFill>
                <a:latin typeface="DejaVu Sans" panose="020B0603030804020204" pitchFamily="34" charset="0"/>
              </a:rPr>
              <a:t>parametros da simulacao (p. 1820-1823). Cada um com: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900">
                <a:solidFill>
                  <a:srgbClr val="2E3A2F"/>
                </a:solidFill>
                <a:latin typeface="DejaVu Sans" panose="020B0603030804020204" pitchFamily="34" charset="0"/>
              </a:rPr>
              <a:t>  valor, unidade, fonte (pagina/tabela), status.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endParaRPr lang="pt-BR" sz="1900">
              <a:solidFill>
                <a:srgbClr val="2E3A2F"/>
              </a:solidFill>
              <a:latin typeface="DejaVu Sans" panose="020B0603030804020204" pitchFamily="34" charset="0"/>
            </a:endParaRP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900">
                <a:solidFill>
                  <a:srgbClr val="2E3A2F"/>
                </a:solidFill>
                <a:latin typeface="DejaVu Sans" panose="020B0603030804020204" pitchFamily="34" charset="0"/>
              </a:rPr>
              <a:t>Exemplo de saida esperada: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900">
                <a:solidFill>
                  <a:srgbClr val="2E3A2F"/>
                </a:solidFill>
                <a:latin typeface="DejaVu Sans" panose="020B0603030804020204" pitchFamily="34" charset="0"/>
              </a:rPr>
              <a:t>  h2: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900">
                <a:solidFill>
                  <a:srgbClr val="2E3A2F"/>
                </a:solidFill>
                <a:latin typeface="DejaVu Sans" panose="020B0603030804020204" pitchFamily="34" charset="0"/>
              </a:rPr>
              <a:t>    valor: 0.5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900">
                <a:solidFill>
                  <a:srgbClr val="2E3A2F"/>
                </a:solidFill>
                <a:latin typeface="DejaVu Sans" panose="020B0603030804020204" pitchFamily="34" charset="0"/>
              </a:rPr>
              <a:t>    fonte: "Metodos, p. 1821"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900">
                <a:solidFill>
                  <a:srgbClr val="2E3A2F"/>
                </a:solidFill>
                <a:latin typeface="DejaVu Sans" panose="020B0603030804020204" pitchFamily="34" charset="0"/>
              </a:rPr>
              <a:t>    status: informado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endParaRPr lang="pt-BR" sz="1900">
              <a:solidFill>
                <a:srgbClr val="2E3A2F"/>
              </a:solidFill>
              <a:latin typeface="DejaVu Sans" panose="020B0603030804020204" pitchFamily="34" charset="0"/>
            </a:endParaRP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900">
                <a:solidFill>
                  <a:srgbClr val="2E3A2F"/>
                </a:solidFill>
                <a:latin typeface="DejaVu Sans" panose="020B0603030804020204" pitchFamily="34" charset="0"/>
              </a:rPr>
              <a:t>E a etapa com mais parametros "inventados" pelo agente.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900">
                <a:solidFill>
                  <a:srgbClr val="2E3A2F"/>
                </a:solidFill>
                <a:latin typeface="DejaVu Sans" panose="020B0603030804020204" pitchFamily="34" charset="0"/>
              </a:rPr>
              <a:t>O YAML com fonte em cada linha torna a invencao visivel.</a:t>
            </a:r>
            <a:endParaRPr lang="en-US" sz="19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023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2.4  Camada 4: Tabela 2 em detalhe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PRATICA 01 . ETAPA 2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E71CEBD3-ED1E-3FA9-E4C4-F5F4E45EBBB1}"/>
              </a:ext>
            </a:extLst>
          </p:cNvPr>
          <p:cNvSpPr txBox="1"/>
          <p:nvPr/>
        </p:nvSpPr>
        <p:spPr>
          <a:xfrm>
            <a:off x="640080" y="1043813"/>
            <a:ext cx="10909300" cy="425196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Prompt: Para a Tabela 2 (p. 1824):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  O que sao as colunas b e r? Diferenca entre elas?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  Por que b &lt;&lt; 1 para LS e b ~ 1 para BayesB?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  Que numero devo reproduzir a partir desta tabela?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endParaRPr lang="pt-BR" sz="2000">
              <a:solidFill>
                <a:srgbClr val="2E3A2F"/>
              </a:solidFill>
              <a:latin typeface="DejaVu Sans" panose="020B0603030804020204" pitchFamily="34" charset="0"/>
            </a:endParaRP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Valores de referencia (Tabela 2, geracao 1003):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  LS:     r = 0,318   b = 0,285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  BLUP:   r = 0,732   b = 0,896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  BayesA: r = 0,798   b = 0,827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  BayesB: r = 0,848   b = 0,946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789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4400" b="1" i="0">
                <a:solidFill>
                  <a:srgbClr val="FFFFFF"/>
                </a:solidFill>
                <a:latin typeface="DejaVu Serif"/>
              </a:rPr>
              <a:t>Perguntas e modo socratico</a:t>
            </a:r>
            <a:endParaRPr sz="44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65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2200" b="0" i="0">
                <a:solidFill>
                  <a:srgbClr val="D8E4DA"/>
                </a:solidFill>
                <a:latin typeface="DejaVu Sans"/>
              </a:rPr>
              <a:t>ETAPA 3 · 20 min · PRATICA 01 . ETAPA 3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63296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3.1  O aluno pergunta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PRATICA 01 . ETAPA 3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7AB9FF3A-33E2-EE18-4694-8263A0DA9DC5}"/>
              </a:ext>
            </a:extLst>
          </p:cNvPr>
          <p:cNvSpPr txBox="1"/>
          <p:nvPr/>
        </p:nvSpPr>
        <p:spPr>
          <a:xfrm>
            <a:off x="640080" y="1043812"/>
            <a:ext cx="10909300" cy="208788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Por que LS e insoluvel com ~50.000 haplotipos e 2.200 fenotipos?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Como o BLUP contorna o problema? Qual premissa ele impoe?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Qual a diferenca entre BayesA e BayesB? Por que BayesB e mais preciso?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O que a diferenca r = 0,32 (LS) vs 0,85 (BayesB) significa na pratica?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Por que a acuracia cai ao longo das geracoes (Tabela 5)?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656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3.2  O agente pergunta (modo socratico)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PRATICA 01 . ETAPA 3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2FC453B5-55C4-076E-845C-BBDA3428B378}"/>
              </a:ext>
            </a:extLst>
          </p:cNvPr>
          <p:cNvSpPr txBox="1"/>
          <p:nvPr/>
        </p:nvSpPr>
        <p:spPr>
          <a:xfrm>
            <a:off x="640080" y="1043813"/>
            <a:ext cx="10909300" cy="381914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Prompt: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Aja como examinador de qualificacao em genetica quantitativa.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Faca-me uma pergunta por vez sobre Meuwissen et al. (2001),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comecando pelo problema dos graus de liberdade e aumentando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a dificuldade. Espere minha resposta, avalie-a com base no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artigo (com pagina) e so entao avance.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Registre as perguntas em notas/03_perguntas.md.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endParaRPr lang="pt-BR" sz="2000">
              <a:solidFill>
                <a:srgbClr val="2E3A2F"/>
              </a:solidFill>
              <a:latin typeface="DejaVu Sans" panose="020B0603030804020204" pitchFamily="34" charset="0"/>
            </a:endParaRP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Explicar e a forma mais rapida de descobrir o que nao se entendeu.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28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4400" b="1" i="0">
                <a:solidFill>
                  <a:srgbClr val="FFFFFF"/>
                </a:solidFill>
                <a:latin typeface="DejaVu Serif"/>
              </a:rPr>
              <a:t>Modelo minimo</a:t>
            </a:r>
            <a:endParaRPr sz="44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65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2200" b="0" i="0">
                <a:solidFill>
                  <a:srgbClr val="D8E4DA"/>
                </a:solidFill>
                <a:latin typeface="DejaVu Sans"/>
              </a:rPr>
              <a:t>ETAPA 4 · 30 min · PRATICA 01 . ETAPA 4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39922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4.1  Gabarito teorico antes do codigo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PRATICA 01 . ETAPA 4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C35DF7D5-F46F-904C-2B72-A83C5D7C3A3D}"/>
              </a:ext>
            </a:extLst>
          </p:cNvPr>
          <p:cNvSpPr txBox="1"/>
          <p:nvPr/>
        </p:nvSpPr>
        <p:spPr>
          <a:xfrm>
            <a:off x="640080" y="1043813"/>
            <a:ext cx="10909300" cy="33863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deltaG/ano = i . r . sigma_g / L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endParaRPr lang="pt-BR" sz="2000">
              <a:solidFill>
                <a:srgbClr val="2E3A2F"/>
              </a:solidFill>
              <a:latin typeface="DejaVu Sans" panose="020B0603030804020204" pitchFamily="34" charset="0"/>
            </a:endParaRP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Convencional (progenies): r = 0,70; L = 5 anos -&gt; deltaG = 0,20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Genomica (BayesB):        r = 0,85; L = 1 ano  -&gt; deltaG = 1,19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i = 1,4 (20% selecionados), sigma_g = 1,0 (Vg = 1, Metodos p.1821)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endParaRPr lang="pt-BR" sz="2000">
              <a:solidFill>
                <a:srgbClr val="2E3A2F"/>
              </a:solidFill>
              <a:latin typeface="DejaVu Sans" panose="020B0603030804020204" pitchFamily="34" charset="0"/>
            </a:endParaRP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Razao de ganho esperada: ~6x a favor da selecao genomica.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Confira na p. 1821 e Tabela 2 antes de continuar.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338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4.2  Simulacao minima: LS vs RR-BLUP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PRATICA 01 . ETAPA 4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0E0D310A-6F8A-560C-C377-61DC0BF7E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281381"/>
              </p:ext>
            </p:extLst>
          </p:nvPr>
        </p:nvGraphicFramePr>
        <p:xfrm>
          <a:off x="640080" y="1043813"/>
          <a:ext cx="10909300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4181050578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2869262248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420895017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3896818469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Parametro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Modelo minimo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Artigo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Fonte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95753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n_ind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200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2.200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p. 1821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97507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n_markers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100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~50.000 haplotipos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Abstract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60097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n_qtl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5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~1.000 posicoes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p. 1820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866164"/>
                  </a:ext>
                </a:extLst>
              </a:tr>
            </a:tbl>
          </a:graphicData>
        </a:graphic>
      </p:graphicFrame>
      <p:sp>
        <p:nvSpPr>
          <p:cNvPr id="14" name="FitText">
            <a:extLst>
              <a:ext uri="{FF2B5EF4-FFF2-40B4-BE49-F238E27FC236}">
                <a16:creationId xmlns:a16="http://schemas.microsoft.com/office/drawing/2014/main" id="{47362410-40AD-9345-85B8-9174E8E92C63}"/>
              </a:ext>
            </a:extLst>
          </p:cNvPr>
          <p:cNvSpPr txBox="1"/>
          <p:nvPr/>
        </p:nvSpPr>
        <p:spPr>
          <a:xfrm>
            <a:off x="640080" y="2454528"/>
            <a:ext cx="10909300" cy="208788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Prompt: Crie R/10_modelo_minimo.R com set.seed(2001):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  n_ind=200, n_markers=100, n_qtl=5, h2=0.5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  Simular X, beta_true, fenotipos, particionar treino/teste,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  LS (solve+crossprod), RR-BLUP (lambda), calcular r e b.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  So base R, sem dependencias externas.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990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4.3  Comparacao com a Tabela 2 (p. 1824)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PRATICA 01 . ETAPA 4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pic>
        <p:nvPicPr>
          <p:cNvPr id="26" name="FitPicture">
            <a:extLst>
              <a:ext uri="{FF2B5EF4-FFF2-40B4-BE49-F238E27FC236}">
                <a16:creationId xmlns:a16="http://schemas.microsoft.com/office/drawing/2014/main" id="{038E16B8-628B-FA7F-1B1E-86066007C9E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39030" y="1043813"/>
            <a:ext cx="2311400" cy="1651000"/>
          </a:xfrm>
          <a:prstGeom prst="rect">
            <a:avLst/>
          </a:prstGeom>
        </p:spPr>
      </p:pic>
      <p:sp>
        <p:nvSpPr>
          <p:cNvPr id="27" name="FitText">
            <a:extLst>
              <a:ext uri="{FF2B5EF4-FFF2-40B4-BE49-F238E27FC236}">
                <a16:creationId xmlns:a16="http://schemas.microsoft.com/office/drawing/2014/main" id="{1CF72A76-B4AB-0C1F-A545-3104038E03A0}"/>
              </a:ext>
            </a:extLst>
          </p:cNvPr>
          <p:cNvSpPr txBox="1"/>
          <p:nvPr/>
        </p:nvSpPr>
        <p:spPr>
          <a:xfrm>
            <a:off x="640080" y="2847213"/>
            <a:ext cx="10909300" cy="29377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600">
                <a:solidFill>
                  <a:srgbClr val="2E3A2F"/>
                </a:solidFill>
                <a:latin typeface="DejaVu Sans" panose="020B0603030804020204" pitchFamily="34" charset="0"/>
              </a:rPr>
              <a:t>Tabela que o modelo minimo deve imprimir: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endParaRPr lang="pt-BR" sz="1600">
              <a:solidFill>
                <a:srgbClr val="2E3A2F"/>
              </a:solidFill>
              <a:latin typeface="DejaVu Sans" panose="020B0603030804020204" pitchFamily="34" charset="0"/>
            </a:endParaRP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600">
                <a:solidFill>
                  <a:srgbClr val="2E3A2F"/>
                </a:solidFill>
                <a:latin typeface="DejaVu Sans" panose="020B0603030804020204" pitchFamily="34" charset="0"/>
              </a:rPr>
              <a:t>  Metodo   r_modelo  b_modelo  r_artigo  b_artigo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600">
                <a:solidFill>
                  <a:srgbClr val="2E3A2F"/>
                </a:solidFill>
                <a:latin typeface="DejaVu Sans" panose="020B0603030804020204" pitchFamily="34" charset="0"/>
              </a:rPr>
              <a:t>  LS       ???       ???       0,318     0,285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600">
                <a:solidFill>
                  <a:srgbClr val="2E3A2F"/>
                </a:solidFill>
                <a:latin typeface="DejaVu Sans" panose="020B0603030804020204" pitchFamily="34" charset="0"/>
              </a:rPr>
              <a:t>  RR-BLUP  ???       ???       0,732     ---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endParaRPr lang="pt-BR" sz="1600">
              <a:solidFill>
                <a:srgbClr val="2E3A2F"/>
              </a:solidFill>
              <a:latin typeface="DejaVu Sans" panose="020B0603030804020204" pitchFamily="34" charset="0"/>
            </a:endParaRP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600">
                <a:solidFill>
                  <a:srgbClr val="2E3A2F"/>
                </a:solidFill>
                <a:latin typeface="DejaVu Sans" panose="020B0603030804020204" pitchFamily="34" charset="0"/>
              </a:rPr>
              <a:t>Padrao esperado: r(LS) &lt; r(RR-BLUP) e b(LS) &lt;&lt; 1.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600">
                <a:solidFill>
                  <a:srgbClr val="2E3A2F"/>
                </a:solidFill>
                <a:latin typeface="DejaVu Sans" panose="020B0603030804020204" pitchFamily="34" charset="0"/>
              </a:rPr>
              <a:t>Se nao, ha erro no codigo.</a:t>
            </a:r>
            <a:endParaRPr lang="en-US" sz="16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202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4.4  O que o modelo minimo ensina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PRATICA 01 . ETAPA 4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83AD4758-D9D6-1BA2-DF9C-83693C541C1A}"/>
              </a:ext>
            </a:extLst>
          </p:cNvPr>
          <p:cNvSpPr txBox="1"/>
          <p:nvPr/>
        </p:nvSpPr>
        <p:spPr>
          <a:xfrm>
            <a:off x="640080" y="1043812"/>
            <a:ext cx="10909300" cy="16550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Com p &gt; n, solve(crossprod(X)) falha: precisa lambda*I para solucao unica.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O encolhimento muda b, nao apenas r: LS infla variancia dos GEBVs.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lambda = sigma2_e / sigma2_beta tem interpretacao biologica (derivado de h2).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Mesmo com 100x menos marcadores, a ordenacao LS &lt; RR-BLUP se mantem.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673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4.5  Checkpoint: responda antes de continuar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PRATICA 01 . ETAPA 4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18DBCA82-B3CE-910F-D697-6040F3F62DC2}"/>
              </a:ext>
            </a:extLst>
          </p:cNvPr>
          <p:cNvSpPr txBox="1"/>
          <p:nvPr/>
        </p:nvSpPr>
        <p:spPr>
          <a:xfrm>
            <a:off x="640080" y="1043813"/>
            <a:ext cx="10909300" cy="381914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1. A acuracia do RR-BLUP e maior que a do LS?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   Por que o encolhimento ajuda?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endParaRPr lang="pt-BR" sz="2000">
              <a:solidFill>
                <a:srgbClr val="2E3A2F"/>
              </a:solidFill>
              <a:latin typeface="DejaVu Sans" panose="020B0603030804020204" pitchFamily="34" charset="0"/>
            </a:endParaRP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2. O valor de b para LS esta abaixo de 1?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   (EBVs inflados)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endParaRPr lang="pt-BR" sz="2000">
              <a:solidFill>
                <a:srgbClr val="2E3A2F"/>
              </a:solidFill>
              <a:latin typeface="DejaVu Sans" panose="020B0603030804020204" pitchFamily="34" charset="0"/>
            </a:endParaRP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3. O padrao (LS &lt; RR-BLUP) e coerente com a Tabela 2?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endParaRPr lang="pt-BR" sz="2000">
              <a:solidFill>
                <a:srgbClr val="2E3A2F"/>
              </a:solidFill>
              <a:latin typeface="DejaVu Sans" panose="020B0603030804020204" pitchFamily="34" charset="0"/>
            </a:endParaRP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So avance para o fechamento quando responder as tres.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196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4400" b="1" i="0">
                <a:solidFill>
                  <a:srgbClr val="FFFFFF"/>
                </a:solidFill>
                <a:latin typeface="DejaVu Serif"/>
              </a:rPr>
              <a:t>Relatorio e checklist</a:t>
            </a:r>
            <a:endParaRPr sz="44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65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2200" b="0" i="0">
                <a:solidFill>
                  <a:srgbClr val="D8E4DA"/>
                </a:solidFill>
                <a:latin typeface="DejaVu Sans"/>
              </a:rPr>
              <a:t>FECHAMENTO · 15 min · PRATICA 01 . FECHAMENTO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18755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F.1  Sintese da pratica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PRATICA 01 . FECHAMENTO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Callout">
            <a:extLst>
              <a:ext uri="{FF2B5EF4-FFF2-40B4-BE49-F238E27FC236}">
                <a16:creationId xmlns:a16="http://schemas.microsoft.com/office/drawing/2014/main" id="{6F215B91-2ABD-24C6-1D4E-EC043AF37984}"/>
              </a:ext>
            </a:extLst>
          </p:cNvPr>
          <p:cNvSpPr/>
          <p:nvPr/>
        </p:nvSpPr>
        <p:spPr>
          <a:xfrm>
            <a:off x="640080" y="1043813"/>
            <a:ext cx="10909300" cy="1832864"/>
          </a:xfrm>
          <a:prstGeom prst="roundRect">
            <a:avLst>
              <a:gd name="adj" fmla="val 8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1600" rIns="152400" bIns="101600" rtlCol="0" anchor="ctr"/>
          <a:lstStyle/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 b="1">
                <a:solidFill>
                  <a:srgbClr val="2E3A2F"/>
                </a:solidFill>
                <a:latin typeface="DejaVu Sans" panose="020B0603030804020204" pitchFamily="34" charset="0"/>
              </a:rPr>
              <a:t>Contexto controlado -&gt; PDF na pasta; rotulos no CLAUDE.md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 b="1">
                <a:solidFill>
                  <a:srgbClr val="2E3A2F"/>
                </a:solidFill>
                <a:latin typeface="DejaVu Sans" panose="020B0603030804020204" pitchFamily="34" charset="0"/>
              </a:rPr>
              <a:t>Leitura em camadas -&gt; mapa, glossario, parametros, Tabela 2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 b="1">
                <a:solidFill>
                  <a:srgbClr val="2E3A2F"/>
                </a:solidFill>
                <a:latin typeface="DejaVu Sans" panose="020B0603030804020204" pitchFamily="34" charset="0"/>
              </a:rPr>
              <a:t>Perguntas nos dois sentidos -&gt; aluno pergunta; agente examina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 b="1">
                <a:solidFill>
                  <a:srgbClr val="2E3A2F"/>
                </a:solidFill>
                <a:latin typeface="DejaVu Sans" panose="020B0603030804020204" pitchFamily="34" charset="0"/>
              </a:rPr>
              <a:t>Entendimento testavel -&gt; modelo minimo + equacao do melhorista</a:t>
            </a:r>
            <a:endParaRPr lang="en-US" sz="2000" b="1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  <p:sp>
        <p:nvSpPr>
          <p:cNvPr id="14" name="FitCalloutBar">
            <a:extLst>
              <a:ext uri="{FF2B5EF4-FFF2-40B4-BE49-F238E27FC236}">
                <a16:creationId xmlns:a16="http://schemas.microsoft.com/office/drawing/2014/main" id="{2EBA7A65-B553-C63F-68DA-2A71AA2BDE3D}"/>
              </a:ext>
            </a:extLst>
          </p:cNvPr>
          <p:cNvSpPr/>
          <p:nvPr/>
        </p:nvSpPr>
        <p:spPr>
          <a:xfrm>
            <a:off x="640080" y="1043813"/>
            <a:ext cx="63500" cy="1832864"/>
          </a:xfrm>
          <a:prstGeom prst="rect">
            <a:avLst/>
          </a:prstGeom>
          <a:solidFill>
            <a:srgbClr val="B7472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tCallout">
            <a:extLst>
              <a:ext uri="{FF2B5EF4-FFF2-40B4-BE49-F238E27FC236}">
                <a16:creationId xmlns:a16="http://schemas.microsoft.com/office/drawing/2014/main" id="{9FB653B7-1F67-072F-43F7-8B40E6DB2694}"/>
              </a:ext>
            </a:extLst>
          </p:cNvPr>
          <p:cNvSpPr/>
          <p:nvPr/>
        </p:nvSpPr>
        <p:spPr>
          <a:xfrm>
            <a:off x="640080" y="3029077"/>
            <a:ext cx="10909300" cy="1400048"/>
          </a:xfrm>
          <a:prstGeom prst="roundRect">
            <a:avLst>
              <a:gd name="adj" fmla="val 8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1600" rIns="152400" bIns="101600" rtlCol="0" anchor="ctr"/>
          <a:lstStyle/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 b="1">
                <a:solidFill>
                  <a:srgbClr val="2E3A2F"/>
                </a:solidFill>
                <a:latin typeface="DejaVu Sans" panose="020B0603030804020204" pitchFamily="34" charset="0"/>
              </a:rPr>
              <a:t>O agente nao leu o artigo por voce: organizou a leitura,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 b="1">
                <a:solidFill>
                  <a:srgbClr val="2E3A2F"/>
                </a:solidFill>
                <a:latin typeface="DejaVu Sans" panose="020B0603030804020204" pitchFamily="34" charset="0"/>
              </a:rPr>
              <a:t>testou seu entendimento e ajudou a transformar o texto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 b="1">
                <a:solidFill>
                  <a:srgbClr val="2E3A2F"/>
                </a:solidFill>
                <a:latin typeface="DejaVu Sans" panose="020B0603030804020204" pitchFamily="34" charset="0"/>
              </a:rPr>
              <a:t>em codigo verificavel.</a:t>
            </a:r>
            <a:endParaRPr lang="en-US" sz="2000" b="1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  <p:sp>
        <p:nvSpPr>
          <p:cNvPr id="16" name="FitCalloutBar">
            <a:extLst>
              <a:ext uri="{FF2B5EF4-FFF2-40B4-BE49-F238E27FC236}">
                <a16:creationId xmlns:a16="http://schemas.microsoft.com/office/drawing/2014/main" id="{90FC7D2B-33D7-402F-E626-45233F0CD6B6}"/>
              </a:ext>
            </a:extLst>
          </p:cNvPr>
          <p:cNvSpPr/>
          <p:nvPr/>
        </p:nvSpPr>
        <p:spPr>
          <a:xfrm>
            <a:off x="640080" y="3029077"/>
            <a:ext cx="63500" cy="1400048"/>
          </a:xfrm>
          <a:prstGeom prst="rect">
            <a:avLst/>
          </a:prstGeom>
          <a:solidFill>
            <a:srgbClr val="B7472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6784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F.2  Checklist do aluno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PRATICA 01 . FECHAMENTO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EFE5D998-199A-6F06-87F7-DF037BAB98CE}"/>
              </a:ext>
            </a:extLst>
          </p:cNvPr>
          <p:cNvSpPr txBox="1"/>
          <p:nvPr/>
        </p:nvSpPr>
        <p:spPr>
          <a:xfrm>
            <a:off x="640080" y="1043813"/>
            <a:ext cx="10909300" cy="25206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[ ] Explicar LS vs BLUP vs BayesB em 2 min sem notas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[ ] Toda afirmacao das notas tem pagina, figura ou tabela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[ ] Conferi manualmente 3+ afirmacoes do agente no PDF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[ ] Sei por que o coeficiente b importa alem de r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[ ] Modelo minimo mostra r(RR-BLUP) &gt; r(LS), ou sei explicar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[ ] Identifiquei 2+ premissas que podem nao valer na pratica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3757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F.3  Tarefa para casa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PRATICA 01 . FECHAMENTO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3B658B35-D74A-8D73-4088-2F6E723A75B8}"/>
              </a:ext>
            </a:extLst>
          </p:cNvPr>
          <p:cNvSpPr txBox="1"/>
          <p:nvPr/>
        </p:nvSpPr>
        <p:spPr>
          <a:xfrm>
            <a:off x="640080" y="1043813"/>
            <a:ext cx="10909300" cy="33863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Aplicar o mesmo fluxo (Etapas 0-4) ao artigo da sua area.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endParaRPr lang="pt-BR" sz="2000">
              <a:solidFill>
                <a:srgbClr val="2E3A2F"/>
              </a:solidFill>
              <a:latin typeface="DejaVu Sans" panose="020B0603030804020204" pitchFamily="34" charset="0"/>
            </a:endParaRP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Entregar o repositorio com: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  notas/01_mapa_do_artigo.md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  config/parametros_artigo.yaml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  modelo minimo rodando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endParaRPr lang="pt-BR" sz="2000">
              <a:solidFill>
                <a:srgbClr val="2E3A2F"/>
              </a:solidFill>
              <a:latin typeface="DejaVu Sans" panose="020B0603030804020204" pitchFamily="34" charset="0"/>
            </a:endParaRP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Use o estudo-artigo/ como modelo de projeto.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365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5660</Words>
  <Application>Microsoft Office PowerPoint</Application>
  <PresentationFormat>Widescreen</PresentationFormat>
  <Paragraphs>371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DejaVu Sans</vt:lpstr>
      <vt:lpstr>DejaVu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Eder Silva</cp:lastModifiedBy>
  <cp:revision>2</cp:revision>
  <dcterms:created xsi:type="dcterms:W3CDTF">2013-01-27T09:14:16Z</dcterms:created>
  <dcterms:modified xsi:type="dcterms:W3CDTF">2026-10-27T20:02:37Z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c76c141-ac86-40e5-abf2-c6f60e474cee_Enabled">
    <vt:lpwstr>true</vt:lpwstr>
  </property>
  <property fmtid="{D5CDD505-2E9C-101B-9397-08002B2CF9AE}" pid="3" name="MSIP_Label_2c76c141-ac86-40e5-abf2-c6f60e474cee_SetDate">
    <vt:lpwstr>2026-10-27T14:37:50Z</vt:lpwstr>
  </property>
  <property fmtid="{D5CDD505-2E9C-101B-9397-08002B2CF9AE}" pid="4" name="MSIP_Label_2c76c141-ac86-40e5-abf2-c6f60e474cee_Method">
    <vt:lpwstr>Standard</vt:lpwstr>
  </property>
  <property fmtid="{D5CDD505-2E9C-101B-9397-08002B2CF9AE}" pid="5" name="MSIP_Label_2c76c141-ac86-40e5-abf2-c6f60e474cee_Name">
    <vt:lpwstr>2c76c141-ac86-40e5-abf2-c6f60e474cee</vt:lpwstr>
  </property>
  <property fmtid="{D5CDD505-2E9C-101B-9397-08002B2CF9AE}" pid="6" name="MSIP_Label_2c76c141-ac86-40e5-abf2-c6f60e474cee_SiteId">
    <vt:lpwstr>fcb2b37b-5da0-466b-9b83-0014b67a7c78</vt:lpwstr>
  </property>
  <property fmtid="{D5CDD505-2E9C-101B-9397-08002B2CF9AE}" pid="7" name="MSIP_Label_2c76c141-ac86-40e5-abf2-c6f60e474cee_ActionId">
    <vt:lpwstr>7e58aa73-7a3a-42f7-8135-f8ee99152278</vt:lpwstr>
  </property>
  <property fmtid="{D5CDD505-2E9C-101B-9397-08002B2CF9AE}" pid="8" name="MSIP_Label_2c76c141-ac86-40e5-abf2-c6f60e474cee_ContentBits">
    <vt:lpwstr>2</vt:lpwstr>
  </property>
  <property fmtid="{D5CDD505-2E9C-101B-9397-08002B2CF9AE}" pid="9" name="MSIP_Label_2c76c141-ac86-40e5-abf2-c6f60e474cee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RESTRICTED</vt:lpwstr>
  </property>
</Properties>
</file>