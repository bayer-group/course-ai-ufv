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7aebda1-7b03-0b6c-9b5d-a04ca6c9f316}">
          <p14:sldIdLst>
            <p14:sldId id="256"/>
            <p14:sldId id="257"/>
          </p14:sldIdLst>
        </p14:section>
        <p14:section name="Bloco 1 — O problema" id="{851c1f55-90e4-a7ec-a6de-69a0d9f3d6ba}">
          <p14:sldIdLst>
            <p14:sldId id="258"/>
            <p14:sldId id="259"/>
            <p14:sldId id="260"/>
            <p14:sldId id="261"/>
            <p14:sldId id="262"/>
          </p14:sldIdLst>
        </p14:section>
        <p14:section name="Bloco 2 — Métodos" id="{a95cfcc5-7919-cfc6-bad1-655ebd1293d3}">
          <p14:sldIdLst>
            <p14:sldId id="263"/>
            <p14:sldId id="264"/>
            <p14:sldId id="265"/>
            <p14:sldId id="266"/>
            <p14:sldId id="267"/>
          </p14:sldIdLst>
        </p14:section>
        <p14:section name="Bloco 3 — Resultados de referência (200 candidatos da coorte 3, ΔF = 3%)" id="{8e7d62b1-be77-3534-5d5f-f4f326c96301}">
          <p14:sldIdLst>
            <p14:sldId id="268"/>
            <p14:sldId id="269"/>
            <p14:sldId id="270"/>
            <p14:sldId id="271"/>
          </p14:sldIdLst>
        </p14:section>
        <p14:section name="Bloco 4 — Longo prazo (AlphaSimR, 10 repetições, 20 ciclos)" id="{922945cb-8554-cbeb-a238-cb99b70b3810}">
          <p14:sldIdLst>
            <p14:sldId id="272"/>
            <p14:sldId id="273"/>
            <p14:sldId id="274"/>
            <p14:sldId id="275"/>
            <p14:sldId id="276"/>
          </p14:sldIdLst>
        </p14:section>
        <p14:section name="Bloco 5 — Decisão, índices e escala" id="{48417308-05bc-726d-fb3f-747147deb4a0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Otimização da seleção e tomada de decisão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spc="15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NO MELHORAMENTO GENÉTICO: FUNDAMENTOS E APLICAÇÕES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spc="15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796 · UFV · 3 A 5 DE NOVEMBRO DE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</a:t>
            </a: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3727704"/>
            <a:ext cx="10515600" cy="26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Carga: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 2 h ·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Prática: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pPr algn="l"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caderno.md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 ·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Projeto: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pPr algn="l"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ciclo-gs-milho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 (a partir de </a:t>
            </a:r>
            <a:pPr algn="l"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etapa-6-novo-ciclo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)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4782934"/>
            <a:ext cx="10515600" cy="1389266"/>
          </a:xfrm>
          <a:prstGeom prst="roundRect">
            <a:avLst>
              <a:gd name="adj" fmla="val 5266"/>
            </a:avLst>
          </a:prstGeom>
          <a:solidFill>
            <a:schemeClr val="accent6"/>
          </a:solidFill>
          <a:ln/>
        </p:spPr>
      </p:sp>
      <p:sp>
        <p:nvSpPr>
          <p:cNvPr id="89" name="texto-86"/>
          <p:cNvSpPr txBox="1"/>
          <p:nvPr/>
        </p:nvSpPr>
        <p:spPr>
          <a:xfrm>
            <a:off x="886968" y="4920094"/>
            <a:ext cx="10104120" cy="1136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Objetivo:</a:t>
            </a:r>
            <a:pPr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tratar a escolha de genitores como problema de otimização explícito — ganho versus perda de variância genética — e usar o Claude Code para formular, implementar, validar e tornar reproduzível o otimizador.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Mensagem: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 a confiança vem de três verificações: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restrições satisfeitas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,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comparação com o ótimo exato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 e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desempenho de longo prazo na simulação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. O ponto de equilíbrio é decisão do melhorista.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1143625"/>
                <a:gridCol w="8573650"/>
                <a:gridCol w="1340565"/>
              </a:tblGrid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Bloco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problema: ganho versus diversidade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QP, programação linear inteira e evolução diferencial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Construção com Claude Code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45 min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Longo prazo no AlphaSimR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25 min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Decisão, índices e escala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O problema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dilema do truncamento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melhores GEBV tendem a ser aparentados (irmãos DH).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Truncamento maximiza o ganho imediato e acelera a perda de variância genética.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Formulação (Meuwissen, 1997)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max c'ĝ sujeito a c'Gc/2 ≤ θ, Σc = 1, c ≥ 0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1587099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θ a partir da taxa de endogamia desejada: C_{t+1} = C_t + ΔF (1 − C_t).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 G de VanRaden calculada nos próprios candidatos, C_t = 0 e θ = ΔF.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significado genético de c'Gc/2 em linhagens DH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Para DH, diag(G) ≈ 2 e c'Gc/2 = Σⱼ(p'ⱼ − pⱼ)² / Σⱼ pⱼqⱼ: a 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perda relativa de heterozigosidade esperada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 do conjunto de gametas dos selecionados (sem o efeito da seleção).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Identidade verificada numericamente em 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tests/test_ocs.R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Linhagens DH perdem diversidade mais depressa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DH contribui um genoma inteiro: k genitores DH com contribuições iguais têm autocoancestria ≈ 1/k (e não 1/2k).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 200 candidatos do programa, a OCS exata precisou de 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77 genitores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 para ΔF = 1%.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 20 genitores de contribuição igual, ΔF = 1% é 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inviável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: só a autocoancestria já dá 0,05.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Métodos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Três ferramentas</a:t>
            </a:r>
            <a:endParaRPr lang="en-US" sz="2800" dirty="0"/>
          </a:p>
        </p:txBody>
      </p:sp>
      <p:graphicFrame>
        <p:nvGraphicFramePr>
          <p:cNvPr id="1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0615"/>
                <a:gridCol w="3010615"/>
                <a:gridCol w="2025993"/>
                <a:gridCol w="3010615"/>
              </a:tblGrid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Problema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Ótimo garantido?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Uso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Programação quadrática (QP)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Contínuo, convexo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com contribuições contínuas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Programação linear inteira (PLI)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Decisões discretas, objetivo linear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Sim (na formulação)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Plano de acasalamento, restrições operacionais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Evolução diferencial (DE)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Discreto, não convexo, caixa-preta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Escolher k genitores com contribuições iguais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OCS como QP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Forma penalizada max c'ĝ − λ c'Gc/2: convexa; ótimo global para cada λ.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Bisseção em λ até c'Gc/2 = θ.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É o gabarito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 de qualquer heurística.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Onde entra a PLI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restrição de coancestria é quadrática: PL pura não resolve a OCS.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Depois da OCS: cada genitor usado exatamente nᵢ vezes (das contribuições); minimizar a coancestria total dos pares. A coancestria de um par é constante → problema linear.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Evolução diferencial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Mutação: a + F·(b − c); recombinação (CR); seleção.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Restrições por penalização; versão discreta por chaves aleatórias (os k maiores valores).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Sempre devolve 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i="1" dirty="0">
                <a:solidFill>
                  <a:schemeClr val="tx1"/>
                </a:solidFill>
              </a:rPr>
              <a:t>uma</a:t>
            </a:r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 resposta. Sem o gabarito, não há como saber se é boa.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Resultados de referência (200 candidatos da coorte 3, ΔF = 3%)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Comparação</a:t>
            </a:r>
            <a:endParaRPr lang="en-US" sz="2800" dirty="0"/>
          </a:p>
        </p:txBody>
      </p:sp>
      <p:graphicFrame>
        <p:nvGraphicFramePr>
          <p:cNvPr id="1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4280647"/>
                <a:gridCol w="1505126"/>
                <a:gridCol w="1489825"/>
                <a:gridCol w="1452806"/>
                <a:gridCol w="1310565"/>
                <a:gridCol w="1018869"/>
              </a:tblGrid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Ganho (GEBV)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Coancestria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Contribuintes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Razão vs QP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Truncamento (top 20)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201,6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0,162 (viola θ)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1,25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OCS exata (QP)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161,5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1,1 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 contínua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152,8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0,95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26 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 discreta, k = 20 (melhor de 10 sementes)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149,0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0,029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0,92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 s cada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37259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 discreta nas 10 sementes: 0,91 ± 0,004 do limite superior contínuo; nenhuma violação.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OCS manteve 80% do ganho do truncamento com coancestria 5,4 vezes menor.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Plano de acasalamento por PLI: 50 cruzamentos, 44 genitores; coancestria média dos pares −0,19 (média da população −0,005).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Fronteira ganho × coancestria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2763995" y="1085240"/>
            <a:ext cx="6663705" cy="4822491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imagem-1" descr="Fronteira ganho × coancest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723" y="1194968"/>
            <a:ext cx="6444249" cy="4603035"/>
          </a:xfrm>
          <a:prstGeom prst="rect">
            <a:avLst/>
          </a:prstGeom>
        </p:spPr>
      </p:pic>
      <p:sp>
        <p:nvSpPr>
          <p:cNvPr id="5" name="texto-2"/>
          <p:cNvSpPr txBox="1"/>
          <p:nvPr/>
        </p:nvSpPr>
        <p:spPr>
          <a:xfrm>
            <a:off x="566928" y="6044892"/>
            <a:ext cx="11057839" cy="24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OCS exata para ΔF de 0,2% a 10%, com truncamento e evolução diferencial (ΔF = 3%).</a:t>
            </a:r>
            <a:endParaRPr lang="en-US" sz="14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Lições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Sem o QP, a solução da DE pareceria perfeitamente razoável.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DE contínua espalhou contribuições por 96 indivíduos: custo operacional.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Reescrever a função objetivo para avaliar só os k selecionados (Σ G[s, s]) deixou a DE discreta ~10× mais rápida — o mesmo princípio da avaliação incremental usada em problemas grandes.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Longo prazo (AlphaSimR, 10 repetições, 20 ciclos)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Desenho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200 candidatos DH por ciclo; EBV com acurácia 0,6 (simplificação: acurácia constante).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Truncamento (top 20) × OCS com ΔF de 1% e 3%; 50 cruzamentos, 4 DH por cruzamento.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Resultados</a:t>
            </a:r>
            <a:endParaRPr lang="en-US" sz="2800" dirty="0"/>
          </a:p>
        </p:txBody>
      </p:sp>
      <p:graphicFrame>
        <p:nvGraphicFramePr>
          <p:cNvPr id="2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1559633"/>
                <a:gridCol w="2006753"/>
                <a:gridCol w="1468460"/>
                <a:gridCol w="1468460"/>
                <a:gridCol w="4554532"/>
              </a:tblGrid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Estratégia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Ganho em 1 ciclo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Em 10 ciclos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Em 20 ciclos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Variância genética final (fração da inicial)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Truncamento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1,10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7,34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11,22 ± 0,87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0,06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3%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0,84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6,61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10,94 ± 0,89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0,14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1%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0,64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5,53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9,79 ± 1,05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0,37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2678859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Ganho em unidades de DP genético inicial.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18071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Em 20 ciclos o truncamento ainda lidera por pouco, mas resta só 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6%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 da variância genética: o ganho futuro está quase esgotado.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OCS 3% está a ~0,3 DP e conserva 2,5× mais variância.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Média e variância genética em 20 ciclos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807705" y="1085240"/>
            <a:ext cx="10576285" cy="4822491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imagem-1" descr="Média e variância genética em 20 cic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33" y="1194968"/>
            <a:ext cx="10356829" cy="4603035"/>
          </a:xfrm>
          <a:prstGeom prst="rect">
            <a:avLst/>
          </a:prstGeom>
        </p:spPr>
      </p:pic>
      <p:sp>
        <p:nvSpPr>
          <p:cNvPr id="5" name="texto-2"/>
          <p:cNvSpPr txBox="1"/>
          <p:nvPr/>
        </p:nvSpPr>
        <p:spPr>
          <a:xfrm>
            <a:off x="566928" y="6044892"/>
            <a:ext cx="11057839" cy="24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Média de 10 repetições; ganho em unidades de desvio-padrão genético inicial.</a:t>
            </a:r>
            <a:endParaRPr lang="en-US" sz="14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ΔF planejado versus realizado</a:t>
            </a:r>
            <a:endParaRPr lang="en-US" sz="2800" dirty="0"/>
          </a:p>
        </p:txBody>
      </p:sp>
      <p:graphicFrame>
        <p:nvGraphicFramePr>
          <p:cNvPr id="22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1949354"/>
                <a:gridCol w="1544793"/>
                <a:gridCol w="6065958"/>
                <a:gridCol w="1497734"/>
              </a:tblGrid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Estratégia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Planejado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Esperado (planejado + amostragem das DH)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Realizado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Truncamento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0,062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0,085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3%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0,033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0,049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1%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0,010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0,013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0,020</a:t>
                      </a:r>
                      <a:endParaRPr lang="en-US" sz="1722" dirty="0"/>
                    </a:p>
                  </a:txBody>
                  <a:tcPr marL="73152" marR="73152" marT="32004" marB="3200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267885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excesso realizado vem da 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seleção</a:t>
            </a:r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: SNPs ligados a QTL mudam de frequência na direção favorável (arraste), o que a coancestria não prevê.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ΔF planejado é um limite inferior, não uma garantia.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Decisão, índices e escala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5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decisão é do melhorista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θ reflete horizonte, tamanho da base genética e introdução de germoplasma externo.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otimizador mostra o custo de cada escolha; não elimina a escolha.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 caráter único ao índice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Na prática, seleciona-se para vários caracteres (produtividade, acamamento, florescimento).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OCS recebe qualquer valor a maximizar: ĝ pode ser um índice de seleção (por exemplo, Smith-Hazel, b = P⁻¹Ga, ou índice de ganhos desejados).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escolha dos pesos econômicos também é decisão do melhorista.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Escala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200 candidatos: o QP é imbatível (1,1 s).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Dezenas de milhares de candidatos: memória da matriz G e custo da função objetivo passam a dominar; heurísticas com avaliação incremental e código compilado tornam-se relevantes.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Solvers convexos podem esbarrar em memória nessa escala — hipótese a testar em cada caso, não regra.</a:t>
            </a:r>
            <a:endParaRPr lang="en-US" sz="2100" dirty="0"/>
          </a:p>
          <a:p>
            <a:pPr algn="l" marL="279400" indent="-279400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ajuda na engenharia (perfilamento, porte para C++, testes de equivalência numérica), desde que exista uma versão de referência para comparar.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   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Checklist de reprodutibilidade de um otimizador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Formulação escrita antes do código, com referência</a:t>
            </a:r>
            <a:endParaRPr lang="en-US" sz="2100" dirty="0"/>
          </a:p>
          <a:p>
            <a:pPr algn="l" indent="0" marL="0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Parâmetros do problema e do otimizador registrados; sementes; várias execuções</a:t>
            </a:r>
            <a:endParaRPr lang="en-US" sz="2100" dirty="0"/>
          </a:p>
          <a:p>
            <a:pPr algn="l" indent="0" marL="0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Solução exata em instância pequena como gabarito</a:t>
            </a:r>
            <a:endParaRPr lang="en-US" sz="2100" dirty="0"/>
          </a:p>
          <a:p>
            <a:pPr algn="l" indent="0" marL="0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Testes de restrições</a:t>
            </a:r>
            <a:endParaRPr lang="en-US" sz="2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☐ Validação de longo prazo com repetições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5 — Otimização da seleção e tomada de decisão</dc:title>
  <dc:subject>IA no Melhoramento Genético: Fundamentos e Aplicações</dc:subject>
  <dc:creator>FIT 796 · UFV</dc:creator>
  <cp:lastModifiedBy>FIT 796 · UFV</cp:lastModifiedBy>
  <cp:revision>1</cp:revision>
  <dcterms:created xsi:type="dcterms:W3CDTF">2026-10-17T17:47:56Z</dcterms:created>
  <dcterms:modified xsi:type="dcterms:W3CDTF">2026-10-17T17:47:56Z</dcterms:modified>
</cp:coreProperties>
</file>