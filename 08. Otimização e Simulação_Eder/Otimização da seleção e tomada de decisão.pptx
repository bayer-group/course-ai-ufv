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77AEBDA1-7B03-0B6C-9B5D-A04CA6C9F316}">
          <p14:sldIdLst>
            <p14:sldId id="256"/>
            <p14:sldId id="257"/>
          </p14:sldIdLst>
        </p14:section>
        <p14:section name="Bloco 1 — O problema" id="{851C1F55-90E4-A7EC-A6DE-69A0D9F3D6BA}">
          <p14:sldIdLst>
            <p14:sldId id="258"/>
            <p14:sldId id="259"/>
            <p14:sldId id="260"/>
            <p14:sldId id="261"/>
            <p14:sldId id="262"/>
          </p14:sldIdLst>
        </p14:section>
        <p14:section name="Bloco 2 — Métodos" id="{A95CFCC5-7919-CFC6-BAD1-655EBD1293D3}">
          <p14:sldIdLst>
            <p14:sldId id="263"/>
            <p14:sldId id="264"/>
            <p14:sldId id="265"/>
            <p14:sldId id="266"/>
            <p14:sldId id="267"/>
          </p14:sldIdLst>
        </p14:section>
        <p14:section name="Bloco 3 — Resultados de referência (200 candidatos da coorte 3, ΔF = 3%)" id="{8E7D62B1-BE77-3534-5D5F-F4F326C96301}">
          <p14:sldIdLst>
            <p14:sldId id="268"/>
            <p14:sldId id="269"/>
            <p14:sldId id="270"/>
            <p14:sldId id="271"/>
          </p14:sldIdLst>
        </p14:section>
        <p14:section name="Bloco 4 — Longo prazo (AlphaSimR, 10 repetições, 20 ciclos)" id="{922945CB-8554-CBEB-A238-CB99B70B3810}">
          <p14:sldIdLst>
            <p14:sldId id="272"/>
            <p14:sldId id="273"/>
            <p14:sldId id="274"/>
            <p14:sldId id="275"/>
            <p14:sldId id="276"/>
          </p14:sldIdLst>
        </p14:section>
        <p14:section name="Bloco 5 — Decisão, índices e escala" id="{48417308-05BC-726D-FB3F-747147DEB4A0}">
          <p14:sldIdLst>
            <p14:sldId id="277"/>
            <p14:sldId id="278"/>
            <p14:sldId id="279"/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8" y="3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r Silva" userId="9b7f41b4-798d-40cf-8f87-8e33ae7a0417" providerId="ADAL" clId="{DFF9E84E-5922-4F26-9EAD-8AB4E668133E}"/>
    <pc:docChg chg="mod modSld modMainMaster">
      <pc:chgData name="Eder Silva" userId="9b7f41b4-798d-40cf-8f87-8e33ae7a0417" providerId="ADAL" clId="{DFF9E84E-5922-4F26-9EAD-8AB4E668133E}" dt="2026-10-26T14:11:22.407" v="5" actId="6549"/>
      <pc:docMkLst>
        <pc:docMk/>
      </pc:docMkLst>
      <pc:sldChg chg="modSp mod">
        <pc:chgData name="Eder Silva" userId="9b7f41b4-798d-40cf-8f87-8e33ae7a0417" providerId="ADAL" clId="{DFF9E84E-5922-4F26-9EAD-8AB4E668133E}" dt="2026-10-26T14:11:22.407" v="5" actId="6549"/>
        <pc:sldMkLst>
          <pc:docMk/>
          <pc:sldMk cId="0" sldId="256"/>
        </pc:sldMkLst>
        <pc:spChg chg="mod">
          <ac:chgData name="Eder Silva" userId="9b7f41b4-798d-40cf-8f87-8e33ae7a0417" providerId="ADAL" clId="{DFF9E84E-5922-4F26-9EAD-8AB4E668133E}" dt="2026-10-26T14:11:22.407" v="5" actId="6549"/>
          <ac:spMkLst>
            <pc:docMk/>
            <pc:sldMk cId="0" sldId="256"/>
            <ac:spMk id="87" creationId="{00000000-0000-0000-0000-000000000000}"/>
          </ac:spMkLst>
        </pc:spChg>
      </pc:sldChg>
      <pc:sldMasterChg chg="addSp mod">
        <pc:chgData name="Eder Silva" userId="9b7f41b4-798d-40cf-8f87-8e33ae7a0417" providerId="ADAL" clId="{DFF9E84E-5922-4F26-9EAD-8AB4E668133E}" dt="2026-10-26T14:11:16.791" v="2" actId="33475"/>
        <pc:sldMasterMkLst>
          <pc:docMk/>
          <pc:sldMasterMk cId="0" sldId="2147483648"/>
        </pc:sldMasterMkLst>
        <pc:spChg chg="add">
          <ac:chgData name="Eder Silva" userId="9b7f41b4-798d-40cf-8f87-8e33ae7a0417" providerId="ADAL" clId="{DFF9E84E-5922-4F26-9EAD-8AB4E668133E}" dt="2026-10-26T14:11:16.791" v="2" actId="33475"/>
          <ac:spMkLst>
            <pc:docMk/>
            <pc:sldMasterMk cId="0" sldId="2147483648"/>
            <ac:spMk id="3" creationId="{EF4B34D7-6E75-C6DD-778C-4422DF0C7910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4902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I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B34D7-6E75-C6DD-778C-4422DF0C791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0593388" y="6459220"/>
            <a:ext cx="1592262" cy="3352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2200">
                <a:solidFill>
                  <a:srgbClr val="FF8939">
                    <a:alpha val="50000"/>
                  </a:srgbClr>
                </a:solidFill>
                <a:latin typeface="Aptos" panose="020B0004020202020204" pitchFamily="34" charset="0"/>
              </a:rPr>
              <a:t>RESTRICTED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58368" y="2331720"/>
            <a:ext cx="9326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tx1"/>
                </a:solidFill>
              </a:rPr>
              <a:t>Otimização da seleção e tomada de decisão</a:t>
            </a:r>
            <a:endParaRPr lang="en-US" sz="4000" dirty="0"/>
          </a:p>
        </p:txBody>
      </p:sp>
      <p:sp>
        <p:nvSpPr>
          <p:cNvPr id="3" name="texto-0"/>
          <p:cNvSpPr txBox="1"/>
          <p:nvPr/>
        </p:nvSpPr>
        <p:spPr>
          <a:xfrm>
            <a:off x="658368" y="502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00"/>
              </a:spcAft>
              <a:buNone/>
            </a:pPr>
            <a:r>
              <a:rPr lang="en-US" sz="1200" kern="0" spc="1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 NO MELHORAMENTO GENÉTICO: FUNDAMENTOS E APLICAÇÕES</a:t>
            </a:r>
            <a:endParaRPr lang="en-US" sz="12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15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796 · UFV · 3 A 5 DE NOVEMBRO DE 2026</a:t>
            </a:r>
            <a:endParaRPr lang="en-US" sz="1200" dirty="0"/>
          </a:p>
        </p:txBody>
      </p:sp>
      <p:sp>
        <p:nvSpPr>
          <p:cNvPr id="4" name="texto-1"/>
          <p:cNvSpPr txBox="1"/>
          <p:nvPr/>
        </p:nvSpPr>
        <p:spPr>
          <a:xfrm>
            <a:off x="9974275" y="5029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800" dirty="0"/>
          </a:p>
        </p:txBody>
      </p:sp>
      <p:sp>
        <p:nvSpPr>
          <p:cNvPr id="5" name="ret-2"/>
          <p:cNvSpPr/>
          <p:nvPr/>
        </p:nvSpPr>
        <p:spPr>
          <a:xfrm>
            <a:off x="99742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ret-3"/>
          <p:cNvSpPr/>
          <p:nvPr/>
        </p:nvSpPr>
        <p:spPr>
          <a:xfrm>
            <a:off x="101342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ret-4"/>
          <p:cNvSpPr/>
          <p:nvPr/>
        </p:nvSpPr>
        <p:spPr>
          <a:xfrm>
            <a:off x="102943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t-5"/>
          <p:cNvSpPr/>
          <p:nvPr/>
        </p:nvSpPr>
        <p:spPr>
          <a:xfrm>
            <a:off x="104543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ret-6"/>
          <p:cNvSpPr/>
          <p:nvPr/>
        </p:nvSpPr>
        <p:spPr>
          <a:xfrm>
            <a:off x="106143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ret-7"/>
          <p:cNvSpPr/>
          <p:nvPr/>
        </p:nvSpPr>
        <p:spPr>
          <a:xfrm>
            <a:off x="1077437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ret-8"/>
          <p:cNvSpPr/>
          <p:nvPr/>
        </p:nvSpPr>
        <p:spPr>
          <a:xfrm>
            <a:off x="1093439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ret-9"/>
          <p:cNvSpPr/>
          <p:nvPr/>
        </p:nvSpPr>
        <p:spPr>
          <a:xfrm>
            <a:off x="1109441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et-10"/>
          <p:cNvSpPr/>
          <p:nvPr/>
        </p:nvSpPr>
        <p:spPr>
          <a:xfrm>
            <a:off x="1125443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ret-11"/>
          <p:cNvSpPr/>
          <p:nvPr/>
        </p:nvSpPr>
        <p:spPr>
          <a:xfrm>
            <a:off x="11414455" y="72237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ret-12"/>
          <p:cNvSpPr/>
          <p:nvPr/>
        </p:nvSpPr>
        <p:spPr>
          <a:xfrm>
            <a:off x="99742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ret-13"/>
          <p:cNvSpPr/>
          <p:nvPr/>
        </p:nvSpPr>
        <p:spPr>
          <a:xfrm>
            <a:off x="101342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ret-14"/>
          <p:cNvSpPr/>
          <p:nvPr/>
        </p:nvSpPr>
        <p:spPr>
          <a:xfrm>
            <a:off x="102943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ret-15"/>
          <p:cNvSpPr/>
          <p:nvPr/>
        </p:nvSpPr>
        <p:spPr>
          <a:xfrm>
            <a:off x="104543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et-16"/>
          <p:cNvSpPr/>
          <p:nvPr/>
        </p:nvSpPr>
        <p:spPr>
          <a:xfrm>
            <a:off x="106143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ret-17"/>
          <p:cNvSpPr/>
          <p:nvPr/>
        </p:nvSpPr>
        <p:spPr>
          <a:xfrm>
            <a:off x="1077437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ret-18"/>
          <p:cNvSpPr/>
          <p:nvPr/>
        </p:nvSpPr>
        <p:spPr>
          <a:xfrm>
            <a:off x="1093439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ret-19"/>
          <p:cNvSpPr/>
          <p:nvPr/>
        </p:nvSpPr>
        <p:spPr>
          <a:xfrm>
            <a:off x="1109441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ret-20"/>
          <p:cNvSpPr/>
          <p:nvPr/>
        </p:nvSpPr>
        <p:spPr>
          <a:xfrm>
            <a:off x="1125443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t-21"/>
          <p:cNvSpPr/>
          <p:nvPr/>
        </p:nvSpPr>
        <p:spPr>
          <a:xfrm>
            <a:off x="11414455" y="88239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ret-22"/>
          <p:cNvSpPr/>
          <p:nvPr/>
        </p:nvSpPr>
        <p:spPr>
          <a:xfrm>
            <a:off x="99742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ret-23"/>
          <p:cNvSpPr/>
          <p:nvPr/>
        </p:nvSpPr>
        <p:spPr>
          <a:xfrm>
            <a:off x="101342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ret-24"/>
          <p:cNvSpPr/>
          <p:nvPr/>
        </p:nvSpPr>
        <p:spPr>
          <a:xfrm>
            <a:off x="102943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ret-25"/>
          <p:cNvSpPr/>
          <p:nvPr/>
        </p:nvSpPr>
        <p:spPr>
          <a:xfrm>
            <a:off x="104543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ret-26"/>
          <p:cNvSpPr/>
          <p:nvPr/>
        </p:nvSpPr>
        <p:spPr>
          <a:xfrm>
            <a:off x="106143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ret-27"/>
          <p:cNvSpPr/>
          <p:nvPr/>
        </p:nvSpPr>
        <p:spPr>
          <a:xfrm>
            <a:off x="1077437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ret-28"/>
          <p:cNvSpPr/>
          <p:nvPr/>
        </p:nvSpPr>
        <p:spPr>
          <a:xfrm>
            <a:off x="1093439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ret-29"/>
          <p:cNvSpPr/>
          <p:nvPr/>
        </p:nvSpPr>
        <p:spPr>
          <a:xfrm>
            <a:off x="1109441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ret-30"/>
          <p:cNvSpPr/>
          <p:nvPr/>
        </p:nvSpPr>
        <p:spPr>
          <a:xfrm>
            <a:off x="1125443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ret-31"/>
          <p:cNvSpPr/>
          <p:nvPr/>
        </p:nvSpPr>
        <p:spPr>
          <a:xfrm>
            <a:off x="11414455" y="104241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ret-32"/>
          <p:cNvSpPr/>
          <p:nvPr/>
        </p:nvSpPr>
        <p:spPr>
          <a:xfrm>
            <a:off x="99742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ret-33"/>
          <p:cNvSpPr/>
          <p:nvPr/>
        </p:nvSpPr>
        <p:spPr>
          <a:xfrm>
            <a:off x="101342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ret-34"/>
          <p:cNvSpPr/>
          <p:nvPr/>
        </p:nvSpPr>
        <p:spPr>
          <a:xfrm>
            <a:off x="102943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et-35"/>
          <p:cNvSpPr/>
          <p:nvPr/>
        </p:nvSpPr>
        <p:spPr>
          <a:xfrm>
            <a:off x="104543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ret-36"/>
          <p:cNvSpPr/>
          <p:nvPr/>
        </p:nvSpPr>
        <p:spPr>
          <a:xfrm>
            <a:off x="106143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ret-37"/>
          <p:cNvSpPr/>
          <p:nvPr/>
        </p:nvSpPr>
        <p:spPr>
          <a:xfrm>
            <a:off x="1077437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ret-38"/>
          <p:cNvSpPr/>
          <p:nvPr/>
        </p:nvSpPr>
        <p:spPr>
          <a:xfrm>
            <a:off x="1093439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ret-39"/>
          <p:cNvSpPr/>
          <p:nvPr/>
        </p:nvSpPr>
        <p:spPr>
          <a:xfrm>
            <a:off x="1109441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ret-40"/>
          <p:cNvSpPr/>
          <p:nvPr/>
        </p:nvSpPr>
        <p:spPr>
          <a:xfrm>
            <a:off x="1125443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ret-41"/>
          <p:cNvSpPr/>
          <p:nvPr/>
        </p:nvSpPr>
        <p:spPr>
          <a:xfrm>
            <a:off x="11414455" y="1202436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o-42"/>
          <p:cNvSpPr txBox="1"/>
          <p:nvPr/>
        </p:nvSpPr>
        <p:spPr>
          <a:xfrm>
            <a:off x="9974275" y="14356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0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800" dirty="0"/>
          </a:p>
        </p:txBody>
      </p:sp>
      <p:sp>
        <p:nvSpPr>
          <p:cNvPr id="46" name="ret-43"/>
          <p:cNvSpPr/>
          <p:nvPr/>
        </p:nvSpPr>
        <p:spPr>
          <a:xfrm>
            <a:off x="99742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ret-44"/>
          <p:cNvSpPr/>
          <p:nvPr/>
        </p:nvSpPr>
        <p:spPr>
          <a:xfrm>
            <a:off x="101342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ret-45"/>
          <p:cNvSpPr/>
          <p:nvPr/>
        </p:nvSpPr>
        <p:spPr>
          <a:xfrm>
            <a:off x="102943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ret-46"/>
          <p:cNvSpPr/>
          <p:nvPr/>
        </p:nvSpPr>
        <p:spPr>
          <a:xfrm>
            <a:off x="104543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ret-47"/>
          <p:cNvSpPr/>
          <p:nvPr/>
        </p:nvSpPr>
        <p:spPr>
          <a:xfrm>
            <a:off x="106143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ret-48"/>
          <p:cNvSpPr/>
          <p:nvPr/>
        </p:nvSpPr>
        <p:spPr>
          <a:xfrm>
            <a:off x="1077437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ret-49"/>
          <p:cNvSpPr/>
          <p:nvPr/>
        </p:nvSpPr>
        <p:spPr>
          <a:xfrm>
            <a:off x="1093439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ret-50"/>
          <p:cNvSpPr/>
          <p:nvPr/>
        </p:nvSpPr>
        <p:spPr>
          <a:xfrm>
            <a:off x="1109441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ret-51"/>
          <p:cNvSpPr/>
          <p:nvPr/>
        </p:nvSpPr>
        <p:spPr>
          <a:xfrm>
            <a:off x="1125443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ret-52"/>
          <p:cNvSpPr/>
          <p:nvPr/>
        </p:nvSpPr>
        <p:spPr>
          <a:xfrm>
            <a:off x="11414455" y="165506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ret-53"/>
          <p:cNvSpPr/>
          <p:nvPr/>
        </p:nvSpPr>
        <p:spPr>
          <a:xfrm>
            <a:off x="99742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ret-54"/>
          <p:cNvSpPr/>
          <p:nvPr/>
        </p:nvSpPr>
        <p:spPr>
          <a:xfrm>
            <a:off x="101342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ret-55"/>
          <p:cNvSpPr/>
          <p:nvPr/>
        </p:nvSpPr>
        <p:spPr>
          <a:xfrm>
            <a:off x="102943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ret-56"/>
          <p:cNvSpPr/>
          <p:nvPr/>
        </p:nvSpPr>
        <p:spPr>
          <a:xfrm>
            <a:off x="104543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ret-57"/>
          <p:cNvSpPr/>
          <p:nvPr/>
        </p:nvSpPr>
        <p:spPr>
          <a:xfrm>
            <a:off x="106143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ret-58"/>
          <p:cNvSpPr/>
          <p:nvPr/>
        </p:nvSpPr>
        <p:spPr>
          <a:xfrm>
            <a:off x="1077437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ret-59"/>
          <p:cNvSpPr/>
          <p:nvPr/>
        </p:nvSpPr>
        <p:spPr>
          <a:xfrm>
            <a:off x="1093439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ret-60"/>
          <p:cNvSpPr/>
          <p:nvPr/>
        </p:nvSpPr>
        <p:spPr>
          <a:xfrm>
            <a:off x="1109441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ret-61"/>
          <p:cNvSpPr/>
          <p:nvPr/>
        </p:nvSpPr>
        <p:spPr>
          <a:xfrm>
            <a:off x="1125443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ret-62"/>
          <p:cNvSpPr/>
          <p:nvPr/>
        </p:nvSpPr>
        <p:spPr>
          <a:xfrm>
            <a:off x="11414455" y="181508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et-63"/>
          <p:cNvSpPr/>
          <p:nvPr/>
        </p:nvSpPr>
        <p:spPr>
          <a:xfrm>
            <a:off x="99742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ret-64"/>
          <p:cNvSpPr/>
          <p:nvPr/>
        </p:nvSpPr>
        <p:spPr>
          <a:xfrm>
            <a:off x="101342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ret-65"/>
          <p:cNvSpPr/>
          <p:nvPr/>
        </p:nvSpPr>
        <p:spPr>
          <a:xfrm>
            <a:off x="102943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ret-66"/>
          <p:cNvSpPr/>
          <p:nvPr/>
        </p:nvSpPr>
        <p:spPr>
          <a:xfrm>
            <a:off x="104543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ret-67"/>
          <p:cNvSpPr/>
          <p:nvPr/>
        </p:nvSpPr>
        <p:spPr>
          <a:xfrm>
            <a:off x="106143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ret-68"/>
          <p:cNvSpPr/>
          <p:nvPr/>
        </p:nvSpPr>
        <p:spPr>
          <a:xfrm>
            <a:off x="1077437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ret-69"/>
          <p:cNvSpPr/>
          <p:nvPr/>
        </p:nvSpPr>
        <p:spPr>
          <a:xfrm>
            <a:off x="1093439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ret-70"/>
          <p:cNvSpPr/>
          <p:nvPr/>
        </p:nvSpPr>
        <p:spPr>
          <a:xfrm>
            <a:off x="1109441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ret-71"/>
          <p:cNvSpPr/>
          <p:nvPr/>
        </p:nvSpPr>
        <p:spPr>
          <a:xfrm>
            <a:off x="1125443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ret-72"/>
          <p:cNvSpPr/>
          <p:nvPr/>
        </p:nvSpPr>
        <p:spPr>
          <a:xfrm>
            <a:off x="11414455" y="197510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ret-73"/>
          <p:cNvSpPr/>
          <p:nvPr/>
        </p:nvSpPr>
        <p:spPr>
          <a:xfrm>
            <a:off x="99742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ret-74"/>
          <p:cNvSpPr/>
          <p:nvPr/>
        </p:nvSpPr>
        <p:spPr>
          <a:xfrm>
            <a:off x="101342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ret-75"/>
          <p:cNvSpPr/>
          <p:nvPr/>
        </p:nvSpPr>
        <p:spPr>
          <a:xfrm>
            <a:off x="102943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ret-76"/>
          <p:cNvSpPr/>
          <p:nvPr/>
        </p:nvSpPr>
        <p:spPr>
          <a:xfrm>
            <a:off x="104543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ret-77"/>
          <p:cNvSpPr/>
          <p:nvPr/>
        </p:nvSpPr>
        <p:spPr>
          <a:xfrm>
            <a:off x="106143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ret-78"/>
          <p:cNvSpPr/>
          <p:nvPr/>
        </p:nvSpPr>
        <p:spPr>
          <a:xfrm>
            <a:off x="1077437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ret-79"/>
          <p:cNvSpPr/>
          <p:nvPr/>
        </p:nvSpPr>
        <p:spPr>
          <a:xfrm>
            <a:off x="1093439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ret-80"/>
          <p:cNvSpPr/>
          <p:nvPr/>
        </p:nvSpPr>
        <p:spPr>
          <a:xfrm>
            <a:off x="1109441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ret-81"/>
          <p:cNvSpPr/>
          <p:nvPr/>
        </p:nvSpPr>
        <p:spPr>
          <a:xfrm>
            <a:off x="1125443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5" name="ret-82"/>
          <p:cNvSpPr/>
          <p:nvPr/>
        </p:nvSpPr>
        <p:spPr>
          <a:xfrm>
            <a:off x="11414455" y="2135124"/>
            <a:ext cx="118872" cy="118872"/>
          </a:xfrm>
          <a:prstGeom prst="roundRect">
            <a:avLst>
              <a:gd name="adj" fmla="val 11538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o-83"/>
          <p:cNvSpPr txBox="1"/>
          <p:nvPr/>
        </p:nvSpPr>
        <p:spPr>
          <a:xfrm>
            <a:off x="658368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b="1" kern="0" spc="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</a:t>
            </a:r>
            <a:endParaRPr lang="en-US" sz="1800" dirty="0"/>
          </a:p>
        </p:txBody>
      </p:sp>
      <p:sp>
        <p:nvSpPr>
          <p:cNvPr id="87" name="texto-84"/>
          <p:cNvSpPr txBox="1"/>
          <p:nvPr/>
        </p:nvSpPr>
        <p:spPr>
          <a:xfrm>
            <a:off x="658368" y="3727704"/>
            <a:ext cx="10515600" cy="262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b="1" dirty="0">
                <a:solidFill>
                  <a:schemeClr val="tx2"/>
                </a:solidFill>
              </a:rPr>
              <a:t>Carga:</a:t>
            </a:r>
            <a:r>
              <a:rPr lang="en-US" sz="1500" dirty="0">
                <a:solidFill>
                  <a:schemeClr val="tx2"/>
                </a:solidFill>
              </a:rPr>
              <a:t> 2 h ·  </a:t>
            </a:r>
            <a:r>
              <a:rPr lang="en-US" sz="1500" b="1" dirty="0">
                <a:solidFill>
                  <a:schemeClr val="tx2"/>
                </a:solidFill>
              </a:rPr>
              <a:t>Projeto:</a:t>
            </a:r>
            <a:r>
              <a:rPr lang="en-US" sz="1500" dirty="0">
                <a:solidFill>
                  <a:schemeClr val="tx2"/>
                </a:solidFill>
              </a:rPr>
              <a:t> </a:t>
            </a:r>
            <a:r>
              <a:rPr lang="en-US" sz="1380" dirty="0" err="1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ciclo</a:t>
            </a:r>
            <a:r>
              <a:rPr lang="en-US" sz="138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-gs-</a:t>
            </a:r>
            <a:r>
              <a:rPr lang="en-US" sz="1380" dirty="0" err="1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milho</a:t>
            </a:r>
            <a:endParaRPr lang="en-US" sz="1500" dirty="0"/>
          </a:p>
        </p:txBody>
      </p:sp>
      <p:sp>
        <p:nvSpPr>
          <p:cNvPr id="88" name="ret-85"/>
          <p:cNvSpPr/>
          <p:nvPr/>
        </p:nvSpPr>
        <p:spPr>
          <a:xfrm>
            <a:off x="658368" y="4782934"/>
            <a:ext cx="10515600" cy="1389266"/>
          </a:xfrm>
          <a:prstGeom prst="roundRect">
            <a:avLst>
              <a:gd name="adj" fmla="val 5266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o-86"/>
          <p:cNvSpPr txBox="1"/>
          <p:nvPr/>
        </p:nvSpPr>
        <p:spPr>
          <a:xfrm>
            <a:off x="886968" y="4920094"/>
            <a:ext cx="10104120" cy="1136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Objetivo:</a:t>
            </a:r>
            <a:r>
              <a:rPr lang="en-US" sz="1600" dirty="0">
                <a:solidFill>
                  <a:schemeClr val="tx1"/>
                </a:solidFill>
              </a:rPr>
              <a:t> tratar a escolha de genitores como problema de otimização explícito — ganho versus perda de variância genética — e usar o Claude Code para formular, implementar, validar e tornar reproduzível o otimizador.</a:t>
            </a:r>
            <a:endParaRPr lang="en-US" sz="1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b="1" dirty="0">
                <a:solidFill>
                  <a:schemeClr val="tx1"/>
                </a:solidFill>
              </a:rPr>
              <a:t>Mensagem:</a:t>
            </a:r>
            <a:r>
              <a:rPr lang="en-US" sz="1600" dirty="0">
                <a:solidFill>
                  <a:schemeClr val="tx1"/>
                </a:solidFill>
              </a:rPr>
              <a:t> a confiança vem de três verificações: </a:t>
            </a:r>
            <a:r>
              <a:rPr lang="en-US" sz="1600" b="1" dirty="0">
                <a:solidFill>
                  <a:schemeClr val="tx1"/>
                </a:solidFill>
              </a:rPr>
              <a:t>restrições satisfeitas</a:t>
            </a:r>
            <a:r>
              <a:rPr lang="en-US" sz="1600" dirty="0">
                <a:solidFill>
                  <a:schemeClr val="tx1"/>
                </a:solidFill>
              </a:rPr>
              <a:t>, </a:t>
            </a:r>
            <a:r>
              <a:rPr lang="en-US" sz="1600" b="1" dirty="0">
                <a:solidFill>
                  <a:schemeClr val="tx1"/>
                </a:solidFill>
              </a:rPr>
              <a:t>comparação com o ótimo exato</a:t>
            </a:r>
            <a:r>
              <a:rPr lang="en-US" sz="1600" dirty="0">
                <a:solidFill>
                  <a:schemeClr val="tx1"/>
                </a:solidFill>
              </a:rPr>
              <a:t> e </a:t>
            </a:r>
            <a:r>
              <a:rPr lang="en-US" sz="1600" b="1" dirty="0">
                <a:solidFill>
                  <a:schemeClr val="tx1"/>
                </a:solidFill>
              </a:rPr>
              <a:t>desempenho de longo prazo na simulação</a:t>
            </a:r>
            <a:r>
              <a:rPr lang="en-US" sz="1600" dirty="0">
                <a:solidFill>
                  <a:schemeClr val="tx1"/>
                </a:solidFill>
              </a:rPr>
              <a:t>. O ponto de equilíbrio é decisão do melhorista.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Roteiro da seção</a:t>
            </a:r>
            <a:endParaRPr lang="en-US" sz="2800" dirty="0"/>
          </a:p>
        </p:txBody>
      </p:sp>
      <p:graphicFrame>
        <p:nvGraphicFramePr>
          <p:cNvPr id="3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14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3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0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Bloco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 problema: ganho versus diversidade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QP, programação linear inteira e evolução diferencial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Construção com Claude Code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Longo prazo no AlphaSimR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Decisão, índices e escala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 min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ROTEIRO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O problema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1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   </a:t>
            </a:r>
            <a:r>
              <a:rPr lang="en-US" sz="2800" b="1" dirty="0">
                <a:solidFill>
                  <a:schemeClr val="tx1"/>
                </a:solidFill>
              </a:rPr>
              <a:t>O dilema do truncamento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Os melhores GEBV tendem a ser aparentados (irmãos DH).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Truncamento maximiza o ganho imediato e acelera a perda de variância genética.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  </a:t>
            </a:r>
            <a:r>
              <a:rPr lang="en-US" sz="2800" b="1" dirty="0">
                <a:solidFill>
                  <a:schemeClr val="tx1"/>
                </a:solidFill>
              </a:rPr>
              <a:t>Formulação (Meuwissen, 1997)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max c'ĝ sujeito a c'Gc/2 ≤ θ, Σc = 1, c ≥ 0</a:t>
            </a:r>
            <a:endParaRPr lang="en-US" sz="2100" dirty="0"/>
          </a:p>
        </p:txBody>
      </p:sp>
      <p:sp>
        <p:nvSpPr>
          <p:cNvPr id="4" name="texto-1"/>
          <p:cNvSpPr txBox="1"/>
          <p:nvPr/>
        </p:nvSpPr>
        <p:spPr>
          <a:xfrm>
            <a:off x="566928" y="1587099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θ a partir da taxa de endogamia desejada: C_{t+1} = C_t + ΔF (1 − C_t).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G de VanRaden calculada nos próprios candidatos, C_t = 0 e θ = ΔF.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1.3   </a:t>
            </a:r>
            <a:r>
              <a:rPr lang="en-US" sz="2800" b="1" dirty="0">
                <a:solidFill>
                  <a:schemeClr val="tx1"/>
                </a:solidFill>
              </a:rPr>
              <a:t>O significado genético de c'Gc/2 em linhagens DH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Para DH, diag(G) ≈ 2 e c'Gc/2 = Σⱼ(p'ⱼ − pⱼ)² / Σⱼ pⱼqⱼ: a </a:t>
            </a:r>
            <a:r>
              <a:rPr lang="en-US" sz="2100" b="1" dirty="0">
                <a:solidFill>
                  <a:schemeClr val="tx1"/>
                </a:solidFill>
              </a:rPr>
              <a:t>perda relativa de heterozigosidade esperada</a:t>
            </a:r>
            <a:r>
              <a:rPr lang="en-US" sz="2100" dirty="0">
                <a:solidFill>
                  <a:schemeClr val="tx1"/>
                </a:solidFill>
              </a:rPr>
              <a:t> do conjunto de gametas dos selecionados (sem o efeito da seleção).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Identidade verificada numericamente em </a:t>
            </a:r>
            <a:r>
              <a:rPr lang="en-US" sz="1932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tests/test_ocs.R</a:t>
            </a:r>
            <a:r>
              <a:rPr lang="en-US" sz="2100" dirty="0">
                <a:solidFill>
                  <a:schemeClr val="tx1"/>
                </a:solidFill>
              </a:rPr>
              <a:t>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  </a:t>
            </a:r>
            <a:r>
              <a:rPr lang="en-US" sz="2800" b="1" dirty="0">
                <a:solidFill>
                  <a:schemeClr val="tx1"/>
                </a:solidFill>
              </a:rPr>
              <a:t>Linhagens DH perdem diversidade mais depressa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Cada DH contribui um genoma inteiro: k genitores DH com contribuições iguais têm autocoancestria ≈ 1/k (e não 1/2k).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200 candidatos do programa, a OCS exata precisou de </a:t>
            </a:r>
            <a:r>
              <a:rPr lang="en-US" sz="2100" b="1" dirty="0">
                <a:solidFill>
                  <a:schemeClr val="tx1"/>
                </a:solidFill>
              </a:rPr>
              <a:t>77 genitores</a:t>
            </a:r>
            <a:r>
              <a:rPr lang="en-US" sz="2100" dirty="0">
                <a:solidFill>
                  <a:schemeClr val="tx1"/>
                </a:solidFill>
              </a:rPr>
              <a:t> para ΔF = 1%.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Com 20 genitores de contribuição igual, ΔF = 1% é </a:t>
            </a:r>
            <a:r>
              <a:rPr lang="en-US" sz="2100" b="1" dirty="0">
                <a:solidFill>
                  <a:schemeClr val="tx1"/>
                </a:solidFill>
              </a:rPr>
              <a:t>inviável</a:t>
            </a:r>
            <a:r>
              <a:rPr lang="en-US" sz="2100" dirty="0">
                <a:solidFill>
                  <a:schemeClr val="tx1"/>
                </a:solidFill>
              </a:rPr>
              <a:t>: só a autocoancestria já dá 0,05.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1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Métodos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2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2.1   </a:t>
            </a:r>
            <a:r>
              <a:rPr lang="en-US" sz="2800" b="1" dirty="0">
                <a:solidFill>
                  <a:schemeClr val="tx1"/>
                </a:solidFill>
              </a:rPr>
              <a:t>Três ferramentas</a:t>
            </a:r>
            <a:endParaRPr lang="en-US" sz="2800" dirty="0"/>
          </a:p>
        </p:txBody>
      </p:sp>
      <p:graphicFrame>
        <p:nvGraphicFramePr>
          <p:cNvPr id="1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301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0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59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06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Problema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Ótimo garantido?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Uso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Programação quadrática (QP)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Contínuo, convexo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Sim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com contribuições contínuas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Programação linear inteira (PLI)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Decisões discretas, objetivo linear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Sim (na formulação)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Plano de acasalamento, restrições operacionais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Evolução diferencial (DE)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Discreto, não convexo, caixa-preta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Não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Escolher k genitores com contribuições iguais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2.2   </a:t>
            </a:r>
            <a:r>
              <a:rPr lang="en-US" sz="2800" b="1" dirty="0">
                <a:solidFill>
                  <a:schemeClr val="tx1"/>
                </a:solidFill>
              </a:rPr>
              <a:t>OCS como QP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Forma penalizada max c'ĝ − λ c'Gc/2: convexa; ótimo global para cada λ.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Bisseção em λ até c'Gc/2 = θ.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b="1" dirty="0">
                <a:solidFill>
                  <a:schemeClr val="tx1"/>
                </a:solidFill>
              </a:rPr>
              <a:t>É o gabarito</a:t>
            </a:r>
            <a:r>
              <a:rPr lang="en-US" sz="2100" dirty="0">
                <a:solidFill>
                  <a:schemeClr val="tx1"/>
                </a:solidFill>
              </a:rPr>
              <a:t> de qualquer heurística.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2.3   </a:t>
            </a:r>
            <a:r>
              <a:rPr lang="en-US" sz="2800" b="1" dirty="0">
                <a:solidFill>
                  <a:schemeClr val="tx1"/>
                </a:solidFill>
              </a:rPr>
              <a:t>Onde entra a PLI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restrição de coancestria é quadrática: PL pura não resolve a OCS.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Depois da OCS: cada genitor usado exatamente nᵢ vezes (das contribuições); minimizar a coancestria total dos pares. A coancestria de um par é constante → problema linear.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2.4   </a:t>
            </a:r>
            <a:r>
              <a:rPr lang="en-US" sz="2800" b="1" dirty="0">
                <a:solidFill>
                  <a:schemeClr val="tx1"/>
                </a:solidFill>
              </a:rPr>
              <a:t>Evolução diferencial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214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Mutação: a + F·(b − c); recombinação (CR); seleção.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Restrições por penalização; versão discreta por chaves aleatórias (os k maiores valores).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Sempre devolve </a:t>
            </a:r>
            <a:r>
              <a:rPr lang="en-US" sz="2100" i="1" dirty="0">
                <a:solidFill>
                  <a:schemeClr val="tx1"/>
                </a:solidFill>
              </a:rPr>
              <a:t>uma</a:t>
            </a:r>
            <a:r>
              <a:rPr lang="en-US" sz="2100" dirty="0">
                <a:solidFill>
                  <a:schemeClr val="tx1"/>
                </a:solidFill>
              </a:rPr>
              <a:t> resposta. Sem o gabarito, não há como saber se é boa.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2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Resultados de referência (200 candidatos da coorte 3, ΔF = 3%)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3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Comparação</a:t>
            </a:r>
            <a:endParaRPr lang="en-US" sz="2800" dirty="0"/>
          </a:p>
        </p:txBody>
      </p:sp>
      <p:graphicFrame>
        <p:nvGraphicFramePr>
          <p:cNvPr id="15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428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5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9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2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105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88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Método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Ganho (GEBV)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Coancestria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Contribuintes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Razão vs QP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Tempo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 (top 20)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201,6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0,162 (viola θ)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1,25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OCS exata (QP)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161,5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1,00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1,1 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 contínua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152,8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0,95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26 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DE discreta, k = 20 (melhor de 10 sementes)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149,0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0,92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13 s cada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3037259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 discreta nas 10 sementes: 0,91 ± 0,004 do limite superior contínuo; nenhuma violação.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manteve 80% do ganho do truncamento com coancestria 5,4 vezes menor.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Plano de acasalamento por PLI: 50 cruzamentos, 44 genitores; coancestria média dos pares −0,19 (média da população −0,005).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3.1   </a:t>
            </a:r>
            <a:r>
              <a:rPr lang="en-US" sz="2800" b="1" dirty="0">
                <a:solidFill>
                  <a:schemeClr val="tx1"/>
                </a:solidFill>
              </a:rPr>
              <a:t>Fronteira ganho × coancestria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2763995" y="1085240"/>
            <a:ext cx="6663705" cy="4822491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m-1" descr="Fronteira ganho × coancestr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3723" y="1194968"/>
            <a:ext cx="6444249" cy="4603035"/>
          </a:xfrm>
          <a:prstGeom prst="rect">
            <a:avLst/>
          </a:prstGeom>
        </p:spPr>
      </p:pic>
      <p:sp>
        <p:nvSpPr>
          <p:cNvPr id="5" name="texto-2"/>
          <p:cNvSpPr txBox="1"/>
          <p:nvPr/>
        </p:nvSpPr>
        <p:spPr>
          <a:xfrm>
            <a:off x="566928" y="6044892"/>
            <a:ext cx="11057839" cy="2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OCS exata para ΔF de 0,2% a 10%, com truncamento e evolução diferencial (ΔF = 3%).</a:t>
            </a:r>
            <a:endParaRPr lang="en-US" sz="14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3.2   </a:t>
            </a:r>
            <a:r>
              <a:rPr lang="en-US" sz="2800" b="1" dirty="0">
                <a:solidFill>
                  <a:schemeClr val="tx1"/>
                </a:solidFill>
              </a:rPr>
              <a:t>Lições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898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Sem o QP, a solução da DE pareceria perfeitamente razoável.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DE contínua espalhou contribuições por 96 indivíduos: custo operacional.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Reescrever a função objetivo para avaliar só os k selecionados (Σ G[s, s]) deixou a DE discreta ~10× mais rápida — o mesmo princípio da avaliação incremental usada em problemas grandes.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3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Longo prazo (AlphaSimR, 10 repetições, 20 ciclos)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4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4.1   </a:t>
            </a:r>
            <a:r>
              <a:rPr lang="en-US" sz="2800" b="1" dirty="0">
                <a:solidFill>
                  <a:schemeClr val="tx1"/>
                </a:solidFill>
              </a:rPr>
              <a:t>Desenho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200 candidatos DH por ciclo; EBV com acurácia 0,6 (simplificação: acurácia constante).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Truncamento (top 20) × OCS com ΔF de 1% e 3%; 50 cruzamentos, 4 DH por cruzamento.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Resultados</a:t>
            </a:r>
            <a:endParaRPr lang="en-US" sz="2800" dirty="0"/>
          </a:p>
        </p:txBody>
      </p:sp>
      <p:graphicFrame>
        <p:nvGraphicFramePr>
          <p:cNvPr id="20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559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67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84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45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Estratégia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Ganho em 1 ciclo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Em 10 ciclos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Em 20 ciclos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Variância genética final (fração da inicial)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1,10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7,34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11,22 ± 0,87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0,06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3%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0,84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6,61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10,94 ± 0,89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0,14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1%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0,64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5,53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9,79 ± 1,05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0,37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360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Ganho em unidades de DP genético inicial.</a:t>
            </a:r>
            <a:endParaRPr lang="en-US" sz="2100" dirty="0"/>
          </a:p>
        </p:txBody>
      </p:sp>
      <p:sp>
        <p:nvSpPr>
          <p:cNvPr id="5" name="texto-2"/>
          <p:cNvSpPr txBox="1"/>
          <p:nvPr/>
        </p:nvSpPr>
        <p:spPr>
          <a:xfrm>
            <a:off x="566928" y="3180718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Em 20 ciclos o truncamento ainda lidera por pouco, mas resta só </a:t>
            </a:r>
            <a:r>
              <a:rPr lang="en-US" sz="2100" b="1" dirty="0">
                <a:solidFill>
                  <a:schemeClr val="tx1"/>
                </a:solidFill>
              </a:rPr>
              <a:t>6%</a:t>
            </a:r>
            <a:r>
              <a:rPr lang="en-US" sz="2100" dirty="0">
                <a:solidFill>
                  <a:schemeClr val="tx1"/>
                </a:solidFill>
              </a:rPr>
              <a:t> da variância genética: o ganho futuro está quase esgotado.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3% está a ~0,3 DP e conserva 2,5× mais variância.</a:t>
            </a:r>
            <a:endParaRPr lang="en-US" sz="21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4.2   </a:t>
            </a:r>
            <a:r>
              <a:rPr lang="en-US" sz="2800" b="1" dirty="0">
                <a:solidFill>
                  <a:schemeClr val="tx1"/>
                </a:solidFill>
              </a:rPr>
              <a:t>Média e variância genética em 20 ciclos</a:t>
            </a:r>
            <a:endParaRPr lang="en-US" sz="2800" dirty="0"/>
          </a:p>
        </p:txBody>
      </p:sp>
      <p:sp>
        <p:nvSpPr>
          <p:cNvPr id="3" name="ret-0"/>
          <p:cNvSpPr/>
          <p:nvPr/>
        </p:nvSpPr>
        <p:spPr>
          <a:xfrm>
            <a:off x="807705" y="1085240"/>
            <a:ext cx="10576285" cy="4822491"/>
          </a:xfrm>
          <a:prstGeom prst="roundRect">
            <a:avLst>
              <a:gd name="adj" fmla="val 1517"/>
            </a:avLst>
          </a:prstGeom>
          <a:solidFill>
            <a:srgbClr val="FFFFFF"/>
          </a:solidFill>
          <a:ln w="9525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m-1" descr="Média e variância genética em 20 ciclo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433" y="1194968"/>
            <a:ext cx="10356829" cy="4603035"/>
          </a:xfrm>
          <a:prstGeom prst="rect">
            <a:avLst/>
          </a:prstGeom>
        </p:spPr>
      </p:pic>
      <p:sp>
        <p:nvSpPr>
          <p:cNvPr id="5" name="texto-2"/>
          <p:cNvSpPr txBox="1"/>
          <p:nvPr/>
        </p:nvSpPr>
        <p:spPr>
          <a:xfrm>
            <a:off x="566928" y="6044892"/>
            <a:ext cx="11057839" cy="24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dirty="0">
                <a:solidFill>
                  <a:schemeClr val="tx2"/>
                </a:solidFill>
              </a:rPr>
              <a:t>Média de 10 repetições; ganho em unidades de desvio-padrão genético inicial.</a:t>
            </a:r>
            <a:endParaRPr lang="en-US" sz="1400" dirty="0"/>
          </a:p>
        </p:txBody>
      </p:sp>
      <p:sp>
        <p:nvSpPr>
          <p:cNvPr id="6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   </a:t>
            </a:r>
            <a:r>
              <a:rPr lang="en-US" sz="2800" b="1" dirty="0">
                <a:solidFill>
                  <a:schemeClr val="tx1"/>
                </a:solidFill>
              </a:rPr>
              <a:t>ΔF planejado versus realizado</a:t>
            </a:r>
            <a:endParaRPr lang="en-US" sz="2800" dirty="0"/>
          </a:p>
        </p:txBody>
      </p:sp>
      <p:graphicFrame>
        <p:nvGraphicFramePr>
          <p:cNvPr id="22" name="tabela-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085240"/>
          <a:ext cx="11057839" cy="914400"/>
        </p:xfrm>
        <a:graphic>
          <a:graphicData uri="http://schemas.openxmlformats.org/drawingml/2006/table">
            <a:tbl>
              <a:tblPr/>
              <a:tblGrid>
                <a:gridCol w="19493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4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59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7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Estratégia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Planejado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Esperado (planejado + amostragem das DH)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b="1" dirty="0">
                          <a:solidFill>
                            <a:schemeClr val="tx1"/>
                          </a:solidFill>
                        </a:rPr>
                        <a:t>Realizado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Truncamento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0,062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0,085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A6E3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3%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0,033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0,049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OCS 1%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0,013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22" dirty="0">
                          <a:solidFill>
                            <a:schemeClr val="tx1"/>
                          </a:solidFill>
                        </a:rPr>
                        <a:t>0,020</a:t>
                      </a:r>
                      <a:endParaRPr lang="en-US" sz="1722" dirty="0"/>
                    </a:p>
                  </a:txBody>
                  <a:tcPr marL="73152" marR="73152" marT="32004" marB="32004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D3A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o-1"/>
          <p:cNvSpPr txBox="1"/>
          <p:nvPr/>
        </p:nvSpPr>
        <p:spPr>
          <a:xfrm>
            <a:off x="566928" y="2678859"/>
            <a:ext cx="11057839" cy="1129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excesso realizado vem da </a:t>
            </a:r>
            <a:r>
              <a:rPr lang="en-US" sz="2100" b="1" dirty="0">
                <a:solidFill>
                  <a:schemeClr val="tx1"/>
                </a:solidFill>
              </a:rPr>
              <a:t>seleção</a:t>
            </a:r>
            <a:r>
              <a:rPr lang="en-US" sz="2100" dirty="0">
                <a:solidFill>
                  <a:schemeClr val="tx1"/>
                </a:solidFill>
              </a:rPr>
              <a:t>: SNPs ligados a QTL mudam de frequência na direção favorável (arraste), o que a coancestria não prevê.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ΔF planejado é um limite inferior, não uma garantia.</a:t>
            </a:r>
            <a:endParaRPr lang="en-US" sz="21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4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914400" y="256032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600" b="1" dirty="0">
                <a:solidFill>
                  <a:schemeClr val="tx1"/>
                </a:solidFill>
              </a:rPr>
              <a:t>Decisão, índices e escala</a:t>
            </a:r>
            <a:endParaRPr lang="en-US" sz="4600" dirty="0"/>
          </a:p>
        </p:txBody>
      </p:sp>
      <p:sp>
        <p:nvSpPr>
          <p:cNvPr id="3" name="texto-0"/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800" dirty="0"/>
          </a:p>
        </p:txBody>
      </p:sp>
      <p:sp>
        <p:nvSpPr>
          <p:cNvPr id="4" name="texto-1"/>
          <p:cNvSpPr txBox="1"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kern="0" spc="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BLOCO 5</a:t>
            </a:r>
            <a:endParaRPr lang="en-US" sz="1800" dirty="0"/>
          </a:p>
        </p:txBody>
      </p:sp>
      <p:sp>
        <p:nvSpPr>
          <p:cNvPr id="5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B9CF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B9CFC6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5.1   </a:t>
            </a:r>
            <a:r>
              <a:rPr lang="en-US" sz="2800" b="1" dirty="0">
                <a:solidFill>
                  <a:schemeClr val="tx1"/>
                </a:solidFill>
              </a:rPr>
              <a:t>A decisão é do melhorista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787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θ reflete horizonte, tamanho da base genética e introdução de germoplasma externo.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otimizador mostra o custo de cada escolha; não elimina a escolha.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5.2   </a:t>
            </a:r>
            <a:r>
              <a:rPr lang="en-US" sz="2800" b="1" dirty="0">
                <a:solidFill>
                  <a:schemeClr val="tx1"/>
                </a:solidFill>
              </a:rPr>
              <a:t>Do caráter único ao índice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1556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Na prática, seleciona-se para vários caracteres (produtividade, acamamento, florescimento).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OCS recebe qualquer valor a maximizar: ĝ pode ser um índice de seleção (por exemplo, Smith-Hazel, b = P⁻¹Ga, ou índice de ganhos desejados).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A escolha dos pesos econômicos também é decisão do melhorista.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5.3   </a:t>
            </a:r>
            <a:r>
              <a:rPr lang="en-US" sz="2800" b="1" dirty="0">
                <a:solidFill>
                  <a:schemeClr val="tx1"/>
                </a:solidFill>
              </a:rPr>
              <a:t>Escala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667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200 candidatos: o QP é imbatível (1,1 s).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Dezenas de milhares de candidatos: memória da matriz G e custo da função objetivo passam a dominar; heurísticas com avaliação incremental e código compilado tornam-se relevantes.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spcAft>
                <a:spcPts val="672"/>
              </a:spcAft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Solvers convexos podem esbarrar em memória nessa escala — hipótese a testar em cada caso, não regra.</a:t>
            </a:r>
            <a:endParaRPr lang="en-US" sz="2100" dirty="0"/>
          </a:p>
          <a:p>
            <a:pPr marL="279400" indent="-279400" algn="l">
              <a:lnSpc>
                <a:spcPct val="105000"/>
              </a:lnSpc>
              <a:buSzPct val="100000"/>
              <a:buChar char="•"/>
            </a:pPr>
            <a:r>
              <a:rPr lang="en-US" sz="2100" dirty="0">
                <a:solidFill>
                  <a:schemeClr val="tx1"/>
                </a:solidFill>
              </a:rPr>
              <a:t>O agente ajuda na engenharia (perfilamento, porte para C++, testes de equivalência numérica), desde que exista uma versão de referência para comparar.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8404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5.4   </a:t>
            </a:r>
            <a:r>
              <a:rPr lang="en-US" sz="2800" b="1" dirty="0">
                <a:solidFill>
                  <a:schemeClr val="tx1"/>
                </a:solidFill>
              </a:rPr>
              <a:t>Checklist de reprodutibilidade de um otimizador</a:t>
            </a:r>
            <a:endParaRPr lang="en-US" sz="2800" dirty="0"/>
          </a:p>
        </p:txBody>
      </p:sp>
      <p:sp>
        <p:nvSpPr>
          <p:cNvPr id="3" name="texto-0"/>
          <p:cNvSpPr txBox="1"/>
          <p:nvPr/>
        </p:nvSpPr>
        <p:spPr>
          <a:xfrm>
            <a:off x="566928" y="1085240"/>
            <a:ext cx="11057839" cy="2068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Formulação escrita antes do código, com referência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Parâmetros do problema e do otimizador registrados; sementes; várias execuções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Solução exata em instância pequena como gabarito</a:t>
            </a:r>
            <a:endParaRPr lang="en-US" sz="2100" dirty="0"/>
          </a:p>
          <a:p>
            <a:pPr marL="0" indent="0" algn="l">
              <a:lnSpc>
                <a:spcPct val="105000"/>
              </a:lnSpc>
              <a:spcAft>
                <a:spcPts val="672"/>
              </a:spcAft>
              <a:buNone/>
            </a:pPr>
            <a:r>
              <a:rPr lang="en-US" sz="2100" dirty="0">
                <a:solidFill>
                  <a:schemeClr val="tx1"/>
                </a:solidFill>
              </a:rPr>
              <a:t>☐ Testes de restrições</a:t>
            </a:r>
            <a:endParaRPr lang="en-US" sz="21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2100" dirty="0">
                <a:solidFill>
                  <a:schemeClr val="tx1"/>
                </a:solidFill>
              </a:rPr>
              <a:t>☐ Validação de longo prazo com repetições</a:t>
            </a:r>
            <a:endParaRPr lang="en-US" sz="2100" dirty="0"/>
          </a:p>
        </p:txBody>
      </p:sp>
      <p:sp>
        <p:nvSpPr>
          <p:cNvPr id="4" name="rodape"/>
          <p:cNvSpPr txBox="1"/>
          <p:nvPr/>
        </p:nvSpPr>
        <p:spPr>
          <a:xfrm>
            <a:off x="566928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SEÇÃO 5 · BLOCO 5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527487" y="6400800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FA9A3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 796">
  <a:themeElements>
    <a:clrScheme name="FIT 796">
      <a:dk1>
        <a:srgbClr val="E6F2EE"/>
      </a:dk1>
      <a:lt1>
        <a:srgbClr val="071419"/>
      </a:lt1>
      <a:dk2>
        <a:srgbClr val="8FA9A3"/>
      </a:dk2>
      <a:lt2>
        <a:srgbClr val="0B2F2A"/>
      </a:lt2>
      <a:accent1>
        <a:srgbClr val="A6E35A"/>
      </a:accent1>
      <a:accent2>
        <a:srgbClr val="3EC7C1"/>
      </a:accent2>
      <a:accent3>
        <a:srgbClr val="0D2229"/>
      </a:accent3>
      <a:accent4>
        <a:srgbClr val="1D3A41"/>
      </a:accent4>
      <a:accent5>
        <a:srgbClr val="0A1C22"/>
      </a:accent5>
      <a:accent6>
        <a:srgbClr val="15301F"/>
      </a:accent6>
      <a:hlink>
        <a:srgbClr val="3EC7C1"/>
      </a:hlink>
      <a:folHlink>
        <a:srgbClr val="A6E35A"/>
      </a:folHlink>
    </a:clrScheme>
    <a:fontScheme name="FIT 796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1503</Words>
  <Application>Microsoft Office PowerPoint</Application>
  <PresentationFormat>Widescreen</PresentationFormat>
  <Paragraphs>267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Arial</vt:lpstr>
      <vt:lpstr>Courier New</vt:lpstr>
      <vt:lpstr>FIT 796</vt:lpstr>
      <vt:lpstr>Otimização da seleção e tomada de decisão</vt:lpstr>
      <vt:lpstr>Roteiro da seção</vt:lpstr>
      <vt:lpstr>O problema</vt:lpstr>
      <vt:lpstr>1.1   O dilema do truncamento</vt:lpstr>
      <vt:lpstr>1.2   Formulação (Meuwissen, 1997)</vt:lpstr>
      <vt:lpstr>1.3   O significado genético de c'Gc/2 em linhagens DH</vt:lpstr>
      <vt:lpstr>1.4   Linhagens DH perdem diversidade mais depressa</vt:lpstr>
      <vt:lpstr>Métodos</vt:lpstr>
      <vt:lpstr>2.1   Três ferramentas</vt:lpstr>
      <vt:lpstr>2.2   OCS como QP</vt:lpstr>
      <vt:lpstr>2.3   Onde entra a PLI</vt:lpstr>
      <vt:lpstr>2.4   Evolução diferencial</vt:lpstr>
      <vt:lpstr>Resultados de referência (200 candidatos da coorte 3, ΔF = 3%)</vt:lpstr>
      <vt:lpstr>3.1   Comparação</vt:lpstr>
      <vt:lpstr>3.1   Fronteira ganho × coancestria</vt:lpstr>
      <vt:lpstr>3.2   Lições</vt:lpstr>
      <vt:lpstr>Longo prazo (AlphaSimR, 10 repetições, 20 ciclos)</vt:lpstr>
      <vt:lpstr>4.1   Desenho</vt:lpstr>
      <vt:lpstr>4.2   Resultados</vt:lpstr>
      <vt:lpstr>4.2   Média e variância genética em 20 ciclos</vt:lpstr>
      <vt:lpstr>4.3   ΔF planejado versus realizado</vt:lpstr>
      <vt:lpstr>Decisão, índices e escala</vt:lpstr>
      <vt:lpstr>5.1   A decisão é do melhorista</vt:lpstr>
      <vt:lpstr>5.2   Do caráter único ao índice</vt:lpstr>
      <vt:lpstr>5.3   Escala</vt:lpstr>
      <vt:lpstr>5.4   Checklist de reprodutibilidade de um otimizador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Seção 5 — Otimização da seleção e tomada de decisão</dc:title>
  <dc:subject>IA no Melhoramento Genético: Fundamentos e Aplicações</dc:subject>
  <dc:creator>FIT 796 · UFV</dc:creator>
  <cp:lastModifiedBy>Eder Silva</cp:lastModifiedBy>
  <cp:revision>1</cp:revision>
  <dcterms:created xsi:type="dcterms:W3CDTF">2026-10-17T17:47:56Z</dcterms:created>
  <dcterms:modified xsi:type="dcterms:W3CDTF">2026-10-26T14:11:27Z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c76c141-ac86-40e5-abf2-c6f60e474cee_Enabled">
    <vt:lpwstr>true</vt:lpwstr>
  </property>
  <property fmtid="{D5CDD505-2E9C-101B-9397-08002B2CF9AE}" pid="3" name="MSIP_Label_2c76c141-ac86-40e5-abf2-c6f60e474cee_SetDate">
    <vt:lpwstr>2026-10-26T14:11:16Z</vt:lpwstr>
  </property>
  <property fmtid="{D5CDD505-2E9C-101B-9397-08002B2CF9AE}" pid="4" name="MSIP_Label_2c76c141-ac86-40e5-abf2-c6f60e474cee_Method">
    <vt:lpwstr>Standard</vt:lpwstr>
  </property>
  <property fmtid="{D5CDD505-2E9C-101B-9397-08002B2CF9AE}" pid="5" name="MSIP_Label_2c76c141-ac86-40e5-abf2-c6f60e474cee_Name">
    <vt:lpwstr>2c76c141-ac86-40e5-abf2-c6f60e474cee</vt:lpwstr>
  </property>
  <property fmtid="{D5CDD505-2E9C-101B-9397-08002B2CF9AE}" pid="6" name="MSIP_Label_2c76c141-ac86-40e5-abf2-c6f60e474cee_SiteId">
    <vt:lpwstr>fcb2b37b-5da0-466b-9b83-0014b67a7c78</vt:lpwstr>
  </property>
  <property fmtid="{D5CDD505-2E9C-101B-9397-08002B2CF9AE}" pid="7" name="MSIP_Label_2c76c141-ac86-40e5-abf2-c6f60e474cee_ActionId">
    <vt:lpwstr>dc83d601-5fb8-41c6-8fe8-589f85a3aa65</vt:lpwstr>
  </property>
  <property fmtid="{D5CDD505-2E9C-101B-9397-08002B2CF9AE}" pid="8" name="MSIP_Label_2c76c141-ac86-40e5-abf2-c6f60e474cee_ContentBits">
    <vt:lpwstr>2</vt:lpwstr>
  </property>
  <property fmtid="{D5CDD505-2E9C-101B-9397-08002B2CF9AE}" pid="9" name="MSIP_Label_2c76c141-ac86-40e5-abf2-c6f60e474cee_Tag">
    <vt:lpwstr>10, 3, 0, 1</vt:lpwstr>
  </property>
  <property fmtid="{D5CDD505-2E9C-101B-9397-08002B2CF9AE}" pid="10" name="ClassificationContentMarkingFooterLocations">
    <vt:lpwstr>FIT 796:3</vt:lpwstr>
  </property>
  <property fmtid="{D5CDD505-2E9C-101B-9397-08002B2CF9AE}" pid="11" name="ClassificationContentMarkingFooterText">
    <vt:lpwstr>RESTRICTED</vt:lpwstr>
  </property>
</Properties>
</file>