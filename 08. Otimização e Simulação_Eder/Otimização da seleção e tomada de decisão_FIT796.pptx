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331" r:id="rId2"/>
    <p:sldId id="332" r:id="rId3"/>
    <p:sldId id="333" r:id="rId4"/>
    <p:sldId id="334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6" r:id="rId17"/>
    <p:sldId id="347" r:id="rId18"/>
    <p:sldId id="348" r:id="rId19"/>
    <p:sldId id="349" r:id="rId20"/>
    <p:sldId id="350" r:id="rId21"/>
    <p:sldId id="351" r:id="rId22"/>
    <p:sldId id="352" r:id="rId23"/>
    <p:sldId id="353" r:id="rId24"/>
    <p:sldId id="354" r:id="rId25"/>
    <p:sldId id="355" r:id="rId26"/>
    <p:sldId id="356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5A2DEC-2261-48AF-B4A8-7B10B1CC645D}" v="1" dt="2026-10-27T15:45:50.8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66" y="8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4404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Boas-vindas à sessão de fechamento. Durante o curso vocês usaram IA como ferramenta: escreveram análises com agentes de código, estudaram artigos com LLMs, rodaram seleção genômica e simulação. Hoje a pergunta muda: o que a IA já faz de forma efetiva e que não coube nestes três dias? Três objetivos: (1) recapitular o arco do curso, (2) mostrar a fronteira dentro do melhoramento e, sobretudo, fora dele - moléculas, proteínas, events, agro digital e outras ciências, (3) discutir confiança, ética, propriedade e o que aprender a seguir. Regra do dia: entusiasmo, sempre com evidência. Cada slide tem referência no rodapé; preprints e anúncios de empresa estão marcados.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Transição. Começamos pela camada mais próxima do que o melhorista já faz: o genoma - mas com um tipo de modelo que não vimos no curso.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Transição. Começamos pela camada mais próxima do que o melhorista já faz: o genoma - mas com um tipo de modelo que não vimos no curso.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Transição. Começamos pela camada mais próxima do que o melhorista já faz: o genoma - mas com um tipo de modelo que não vimos no curso.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Transição. Começamos pela camada mais próxima do que o melhorista já faz: o genoma - mas com um tipo de modelo que não vimos no curso.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/>
              <a:t>Transição. Começamos pela camada mais próxima do que o melhorista já faz: o genoma - mas com um tipo de modelo que não vimos no curso.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Fecha a Parte 1. Duas mensagens: variantes estruturais escondem parte da variação causal que nossos hábitos centrados em SNPs não veem; e o precedente do GPN-MSA - imagine uma tabela equivalente para a sua cultura, consultável antes de desenhar um cruzamento. Esse recurso ainda não existe para a maioria das culturas.</a:t>
            </a:r>
          </a:p>
          <a:p>
            <a:endParaRPr lang="en-US"/>
          </a:p>
          <a:p>
            <a:r>
              <a:rPr lang="en-US"/>
              <a:t>REFERÊNCIAS (verificadas):</a:t>
            </a:r>
          </a:p>
          <a:p>
            <a:r>
              <a:rPr lang="en-US"/>
              <a:t>• Qian B et al. (2026). OneGenome-Rice (OGR): A genomic foundation model for rice. bioRxiv. https://doi.org/10.64898/2026.04.21.719822</a:t>
            </a:r>
          </a:p>
          <a:p>
            <a:r>
              <a:rPr lang="en-US"/>
              <a:t>• Wang W et al. (2026). Integrating pan-genome analysis, GWAS, and interpretable machine learning to prioritize trait-associated structural variations in Setaria italica. Plant Communications. https://doi.org/10.1016/j.xplc.2025.101626</a:t>
            </a:r>
          </a:p>
          <a:p>
            <a:r>
              <a:rPr lang="en-US"/>
              <a:t>• Benegas G et al. (2025). A DNA language model based on multispecies alignment predicts the effects of genome-wide variants. Nature Biotechnology. https://doi.org/10.1038/s41587-024-02511-w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7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F5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607040" cy="59420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300" b="1" i="0">
                <a:solidFill>
                  <a:srgbClr val="FFFFFF"/>
                </a:solidFill>
                <a:latin typeface="DejaVu Serif"/>
              </a:rPr>
              <a:t>Otimização da seleção e tomada de decisão</a:t>
            </a:r>
            <a:endParaRPr sz="3300" b="1" i="0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977639"/>
            <a:ext cx="10607040" cy="4147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1900" b="0" i="0">
                <a:solidFill>
                  <a:srgbClr val="D8E4DA"/>
                </a:solidFill>
                <a:latin typeface="DejaVu Sans"/>
              </a:rPr>
              <a:t>SEÇÃO 5</a:t>
            </a:r>
            <a:endParaRPr sz="1900" b="0" i="0">
              <a:solidFill>
                <a:srgbClr val="D8E4DA"/>
              </a:solidFill>
              <a:latin typeface="DejaVu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5181600"/>
            <a:ext cx="106070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pt-BR" sz="1400" b="1" i="0">
                <a:solidFill>
                  <a:srgbClr val="4A7C59"/>
                </a:solidFill>
                <a:latin typeface="DejaVu Sans"/>
              </a:rPr>
              <a:t>IA NO MELHORAMENTO GENÉTICO: FUNDAMENTOS E APLICAÇÕES · FIT 796 · UFV · 3 A 5 DE NOVEMBRO DE 2026 · Carga: 2 h ·  Projeto: ciclo-gs-milho</a:t>
            </a:r>
            <a:endParaRPr sz="1400" b="1" i="0">
              <a:solidFill>
                <a:srgbClr val="4A7C59"/>
              </a:solidFill>
              <a:latin typeface="DejaVu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5684519"/>
            <a:ext cx="1060704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pt-BR" sz="1400" b="0" i="0">
                <a:solidFill>
                  <a:srgbClr val="6B6B6B"/>
                </a:solidFill>
                <a:latin typeface="DejaVu Sans"/>
              </a:rPr>
              <a:t>Objetivo: tratar a escolha de genitores como problema de otimização explícito — ganho versus perda de variância genética — e usar o Claude Code para formular, implementar, validar e tornar reproduzível o otimizador.</a:t>
            </a:r>
          </a:p>
          <a:p>
            <a:pPr algn="l">
              <a:lnSpc>
                <a:spcPct val="100000"/>
              </a:lnSpc>
            </a:pPr>
            <a:r>
              <a:rPr lang="pt-BR" sz="1400" b="0" i="0">
                <a:solidFill>
                  <a:srgbClr val="6B6B6B"/>
                </a:solidFill>
                <a:latin typeface="DejaVu Sans"/>
              </a:rPr>
              <a:t>Mensagem: a confiança vem de três verificações: restrições satisfeitas, comparação com o ótimo exato e desempenho de longo prazo na simulação. O ponto de equilíbrio é decisão do melhorista.</a:t>
            </a:r>
            <a:endParaRPr sz="1400" b="0" i="0">
              <a:solidFill>
                <a:srgbClr val="6B6B6B"/>
              </a:solidFill>
              <a:latin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4102320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Roteiro da seção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63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 panose="020B0603030804020204" pitchFamily="34" charset="0"/>
              </a:rPr>
              <a:t>SEÇÃO 5 · ROTEIRO</a:t>
            </a:r>
            <a:endParaRPr sz="1100" b="0" i="0">
              <a:solidFill>
                <a:srgbClr val="6B6B6B"/>
              </a:solidFill>
              <a:latin typeface="DejaVu Sans" panose="020B0603030804020204" pitchFamily="34" charset="0"/>
            </a:endParaRPr>
          </a:p>
        </p:txBody>
      </p:sp>
      <p:graphicFrame>
        <p:nvGraphicFramePr>
          <p:cNvPr id="13" name="Fit796Table">
            <a:extLst>
              <a:ext uri="{FF2B5EF4-FFF2-40B4-BE49-F238E27FC236}">
                <a16:creationId xmlns:a16="http://schemas.microsoft.com/office/drawing/2014/main" id="{99D438E3-43C6-A2DE-5A52-FCB89737A6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8350240"/>
              </p:ext>
            </p:extLst>
          </p:nvPr>
        </p:nvGraphicFramePr>
        <p:xfrm>
          <a:off x="640080" y="1043813"/>
          <a:ext cx="109093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0767">
                  <a:extLst>
                    <a:ext uri="{9D8B030D-6E8A-4147-A177-3AD203B41FA5}">
                      <a16:colId xmlns:a16="http://schemas.microsoft.com/office/drawing/2014/main" val="2604230751"/>
                    </a:ext>
                  </a:extLst>
                </a:gridCol>
                <a:gridCol w="6252838">
                  <a:extLst>
                    <a:ext uri="{9D8B030D-6E8A-4147-A177-3AD203B41FA5}">
                      <a16:colId xmlns:a16="http://schemas.microsoft.com/office/drawing/2014/main" val="3016434020"/>
                    </a:ext>
                  </a:extLst>
                </a:gridCol>
                <a:gridCol w="2395696">
                  <a:extLst>
                    <a:ext uri="{9D8B030D-6E8A-4147-A177-3AD203B41FA5}">
                      <a16:colId xmlns:a16="http://schemas.microsoft.com/office/drawing/2014/main" val="374600675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 panose="020B0603030804020204" pitchFamily="34" charset="0"/>
                        </a:rPr>
                        <a:t>Bloco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 panose="020B0603030804020204" pitchFamily="34" charset="0"/>
                        </a:rPr>
                        <a:t>Tema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 panose="020B0603030804020204" pitchFamily="34" charset="0"/>
                        </a:rPr>
                        <a:t>Tempo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67929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1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O problema: ganho versus diversidade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 panose="020B0603030804020204" pitchFamily="34" charset="0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15 min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625408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2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QP, programação linear inteira e evolução diferencial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 panose="020B0603030804020204" pitchFamily="34" charset="0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20 min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88665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3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Construção com Claude Code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45 min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92539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4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Longo prazo no AlphaSimR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25 min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16746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5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Decisão, índices e escala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15 min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6544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9921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7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2377440"/>
            <a:ext cx="1024128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4400" b="1" i="0">
                <a:solidFill>
                  <a:srgbClr val="FFFFFF"/>
                </a:solidFill>
                <a:latin typeface="DejaVu Serif"/>
              </a:rPr>
              <a:t>O problema</a:t>
            </a:r>
            <a:endParaRPr sz="4400" b="1" i="0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05840" y="3703320"/>
            <a:ext cx="10241280" cy="465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2200" b="0" i="0">
                <a:solidFill>
                  <a:srgbClr val="D8E4DA"/>
                </a:solidFill>
                <a:latin typeface="DejaVu Sans"/>
              </a:rPr>
              <a:t>BLOCO 1 · 15 min · SEÇÃO 5</a:t>
            </a:r>
            <a:endParaRPr sz="2200" b="0" i="0">
              <a:solidFill>
                <a:srgbClr val="D8E4DA"/>
              </a:solidFill>
              <a:latin typeface="DejaVu San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05840" y="3584448"/>
            <a:ext cx="2011680" cy="50292"/>
          </a:xfrm>
          <a:prstGeom prst="rect">
            <a:avLst/>
          </a:prstGeom>
          <a:solidFill>
            <a:srgbClr val="F9A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613512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1.1  O dilema do truncamento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63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 panose="020B0603030804020204" pitchFamily="34" charset="0"/>
              </a:rPr>
              <a:t>SEÇÃO 5 · BLOCO 1</a:t>
            </a:r>
            <a:endParaRPr sz="1100" b="0" i="0">
              <a:solidFill>
                <a:srgbClr val="6B6B6B"/>
              </a:solidFill>
              <a:latin typeface="DejaVu Sans" panose="020B0603030804020204" pitchFamily="34" charset="0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1EE513B8-C228-2346-D098-F23343339665}"/>
              </a:ext>
            </a:extLst>
          </p:cNvPr>
          <p:cNvSpPr txBox="1"/>
          <p:nvPr/>
        </p:nvSpPr>
        <p:spPr>
          <a:xfrm>
            <a:off x="640080" y="1043812"/>
            <a:ext cx="10909300" cy="78943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Os melhores GEBV tendem a ser aparentados (irmãos DH).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Truncamento maximiza o ganho imediato e acelera a perda de variância genética.</a:t>
            </a:r>
            <a:endParaRPr lang="en-US" sz="2000">
              <a:solidFill>
                <a:srgbClr val="2E3A2F"/>
              </a:solidFill>
              <a:latin typeface="DejaVu Sans" panose="020B0603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6769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1.2  Formulação (Meuwissen, 1997)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63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 panose="020B0603030804020204" pitchFamily="34" charset="0"/>
              </a:rPr>
              <a:t>SEÇÃO 5 · BLOCO 1</a:t>
            </a:r>
            <a:endParaRPr sz="1100" b="0" i="0">
              <a:solidFill>
                <a:srgbClr val="6B6B6B"/>
              </a:solidFill>
              <a:latin typeface="DejaVu Sans" panose="020B0603030804020204" pitchFamily="34" charset="0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B2F2436E-3FD9-BF78-D550-C586FDE1DE40}"/>
              </a:ext>
            </a:extLst>
          </p:cNvPr>
          <p:cNvSpPr txBox="1"/>
          <p:nvPr/>
        </p:nvSpPr>
        <p:spPr>
          <a:xfrm>
            <a:off x="640080" y="1043812"/>
            <a:ext cx="10909300" cy="35661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lnSpc>
                <a:spcPct val="92000"/>
              </a:lnSpc>
            </a:pPr>
            <a:r>
              <a:rPr lang="pt-BR" sz="2000" b="1">
                <a:solidFill>
                  <a:srgbClr val="4A7C59"/>
                </a:solidFill>
                <a:latin typeface="DejaVu Sans" panose="020B0603030804020204" pitchFamily="34" charset="0"/>
              </a:rPr>
              <a:t>max c'ĝ sujeito a c'Gc/2 ≤ θ, Σc = 1, c ≥ 0</a:t>
            </a:r>
            <a:endParaRPr lang="en-US" sz="2000" b="1">
              <a:solidFill>
                <a:srgbClr val="4A7C59"/>
              </a:solidFill>
              <a:latin typeface="DejaVu Sans" panose="020B0603030804020204" pitchFamily="34" charset="0"/>
            </a:endParaRPr>
          </a:p>
        </p:txBody>
      </p:sp>
      <p:sp>
        <p:nvSpPr>
          <p:cNvPr id="14" name="FitText">
            <a:extLst>
              <a:ext uri="{FF2B5EF4-FFF2-40B4-BE49-F238E27FC236}">
                <a16:creationId xmlns:a16="http://schemas.microsoft.com/office/drawing/2014/main" id="{BFF5BB90-BE37-E269-37CB-588B117F96F0}"/>
              </a:ext>
            </a:extLst>
          </p:cNvPr>
          <p:cNvSpPr txBox="1"/>
          <p:nvPr/>
        </p:nvSpPr>
        <p:spPr>
          <a:xfrm>
            <a:off x="640080" y="1552827"/>
            <a:ext cx="10909300" cy="78943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θ a partir da taxa de endogamia desejada: C_{t+1} = C_t + ΔF (1 − C_t).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Com G de VanRaden calculada nos próprios candidatos, C_t = 0 e θ = ΔF.</a:t>
            </a:r>
            <a:endParaRPr lang="en-US" sz="2000">
              <a:solidFill>
                <a:srgbClr val="2E3A2F"/>
              </a:solidFill>
              <a:latin typeface="DejaVu Sans" panose="020B0603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875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029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2700" b="1" i="0">
                <a:solidFill>
                  <a:srgbClr val="4A7C59"/>
                </a:solidFill>
                <a:latin typeface="DejaVu Serif"/>
              </a:rPr>
              <a:t>1.3  O significado genético de c'Gc/2 em linhagens DH</a:t>
            </a:r>
            <a:endParaRPr sz="27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63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 panose="020B0603030804020204" pitchFamily="34" charset="0"/>
              </a:rPr>
              <a:t>SEÇÃO 5 · BLOCO 1</a:t>
            </a:r>
            <a:endParaRPr sz="1100" b="0" i="0">
              <a:solidFill>
                <a:srgbClr val="6B6B6B"/>
              </a:solidFill>
              <a:latin typeface="DejaVu Sans" panose="020B0603030804020204" pitchFamily="34" charset="0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3E3149CD-4F61-5F2F-1BAF-BE427FE0229F}"/>
              </a:ext>
            </a:extLst>
          </p:cNvPr>
          <p:cNvSpPr txBox="1"/>
          <p:nvPr/>
        </p:nvSpPr>
        <p:spPr>
          <a:xfrm>
            <a:off x="640080" y="968502"/>
            <a:ext cx="10909300" cy="135026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Para DH, diag(G) ≈ 2 e c'Gc/2 = Σⱼ(p'ⱼ − pⱼ)² / Σⱼ pⱼqⱼ: a </a:t>
            </a:r>
            <a:r>
              <a:rPr lang="pt-BR" sz="2000" b="1">
                <a:solidFill>
                  <a:srgbClr val="4A7C59"/>
                </a:solidFill>
                <a:latin typeface="DejaVu Sans" panose="020B0603030804020204" pitchFamily="34" charset="0"/>
              </a:rPr>
              <a:t>perda relativa de heterozigosidade esperada</a:t>
            </a: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 do conjunto de gametas dos selecionados (sem o efeito da seleção).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Identidade verificada numericamente em </a:t>
            </a:r>
            <a:r>
              <a:rPr lang="pt-BR" sz="2000" b="1">
                <a:solidFill>
                  <a:srgbClr val="B7472A"/>
                </a:solidFill>
                <a:latin typeface="DejaVu Sans Mono" panose="020B0609030804020204" pitchFamily="49" charset="0"/>
              </a:rPr>
              <a:t>tests/test_ocs.R</a:t>
            </a: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.</a:t>
            </a:r>
            <a:endParaRPr lang="en-US" sz="2000">
              <a:solidFill>
                <a:srgbClr val="2E3A2F"/>
              </a:solidFill>
              <a:latin typeface="DejaVu Sans" panose="020B0603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2633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181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2800" b="1" i="0">
                <a:solidFill>
                  <a:srgbClr val="4A7C59"/>
                </a:solidFill>
                <a:latin typeface="DejaVu Serif"/>
              </a:rPr>
              <a:t>1.4  Linhagens DH perdem diversidade mais depressa</a:t>
            </a:r>
            <a:endParaRPr sz="28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63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 panose="020B0603030804020204" pitchFamily="34" charset="0"/>
              </a:rPr>
              <a:t>SEÇÃO 5 · BLOCO 1</a:t>
            </a:r>
            <a:endParaRPr sz="1100" b="0" i="0">
              <a:solidFill>
                <a:srgbClr val="6B6B6B"/>
              </a:solidFill>
              <a:latin typeface="DejaVu Sans" panose="020B0603030804020204" pitchFamily="34" charset="0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591CA406-1E84-01E5-BE87-0F6A4999A0FA}"/>
              </a:ext>
            </a:extLst>
          </p:cNvPr>
          <p:cNvSpPr txBox="1"/>
          <p:nvPr/>
        </p:nvSpPr>
        <p:spPr>
          <a:xfrm>
            <a:off x="640080" y="983551"/>
            <a:ext cx="10909300" cy="20634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Cada DH contribui um genoma inteiro: k genitores DH com contribuições iguais têm autocoancestria ≈ 1/k (e não 1/2k).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Com 200 candidatos do programa, a OCS exata precisou de </a:t>
            </a:r>
            <a:r>
              <a:rPr lang="pt-BR" sz="2000" b="1">
                <a:solidFill>
                  <a:srgbClr val="4A7C59"/>
                </a:solidFill>
                <a:latin typeface="DejaVu Sans" panose="020B0603030804020204" pitchFamily="34" charset="0"/>
              </a:rPr>
              <a:t>77 genitores</a:t>
            </a: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 para ΔF = 1%.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Com 20 genitores de contribuição igual, ΔF = 1% é </a:t>
            </a:r>
            <a:r>
              <a:rPr lang="pt-BR" sz="2000" b="1">
                <a:solidFill>
                  <a:srgbClr val="4A7C59"/>
                </a:solidFill>
                <a:latin typeface="DejaVu Sans" panose="020B0603030804020204" pitchFamily="34" charset="0"/>
              </a:rPr>
              <a:t>inviável</a:t>
            </a: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: só a autocoancestria já dá 0,05.</a:t>
            </a:r>
            <a:endParaRPr lang="en-US" sz="2000">
              <a:solidFill>
                <a:srgbClr val="2E3A2F"/>
              </a:solidFill>
              <a:latin typeface="DejaVu Sans" panose="020B0603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5372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7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2377440"/>
            <a:ext cx="1024128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4400" b="1" i="0">
                <a:solidFill>
                  <a:srgbClr val="FFFFFF"/>
                </a:solidFill>
                <a:latin typeface="DejaVu Serif"/>
              </a:rPr>
              <a:t>Métodos</a:t>
            </a:r>
            <a:endParaRPr sz="4400" b="1" i="0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05840" y="3703320"/>
            <a:ext cx="10241280" cy="465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2200" b="0" i="0">
                <a:solidFill>
                  <a:srgbClr val="D8E4DA"/>
                </a:solidFill>
                <a:latin typeface="DejaVu Sans"/>
              </a:rPr>
              <a:t>BLOCO 2 · 20 min · SEÇÃO 5</a:t>
            </a:r>
            <a:endParaRPr sz="2200" b="0" i="0">
              <a:solidFill>
                <a:srgbClr val="D8E4DA"/>
              </a:solidFill>
              <a:latin typeface="DejaVu San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05840" y="3584448"/>
            <a:ext cx="2011680" cy="50292"/>
          </a:xfrm>
          <a:prstGeom prst="rect">
            <a:avLst/>
          </a:prstGeom>
          <a:solidFill>
            <a:srgbClr val="F9A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59763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2.1  Três ferramentas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63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 panose="020B0603030804020204" pitchFamily="34" charset="0"/>
              </a:rPr>
              <a:t>SEÇÃO 5 · BLOCO 2</a:t>
            </a:r>
            <a:endParaRPr sz="1100" b="0" i="0">
              <a:solidFill>
                <a:srgbClr val="6B6B6B"/>
              </a:solidFill>
              <a:latin typeface="DejaVu Sans" panose="020B0603030804020204" pitchFamily="34" charset="0"/>
            </a:endParaRPr>
          </a:p>
        </p:txBody>
      </p:sp>
      <p:graphicFrame>
        <p:nvGraphicFramePr>
          <p:cNvPr id="13" name="Fit796Table">
            <a:extLst>
              <a:ext uri="{FF2B5EF4-FFF2-40B4-BE49-F238E27FC236}">
                <a16:creationId xmlns:a16="http://schemas.microsoft.com/office/drawing/2014/main" id="{F187BEE8-C503-200B-FC4B-E00BDE0C17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590269"/>
              </p:ext>
            </p:extLst>
          </p:nvPr>
        </p:nvGraphicFramePr>
        <p:xfrm>
          <a:off x="640080" y="1043813"/>
          <a:ext cx="10909300" cy="10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6538">
                  <a:extLst>
                    <a:ext uri="{9D8B030D-6E8A-4147-A177-3AD203B41FA5}">
                      <a16:colId xmlns:a16="http://schemas.microsoft.com/office/drawing/2014/main" val="1157603648"/>
                    </a:ext>
                  </a:extLst>
                </a:gridCol>
                <a:gridCol w="2702652">
                  <a:extLst>
                    <a:ext uri="{9D8B030D-6E8A-4147-A177-3AD203B41FA5}">
                      <a16:colId xmlns:a16="http://schemas.microsoft.com/office/drawing/2014/main" val="3119561790"/>
                    </a:ext>
                  </a:extLst>
                </a:gridCol>
                <a:gridCol w="2425645">
                  <a:extLst>
                    <a:ext uri="{9D8B030D-6E8A-4147-A177-3AD203B41FA5}">
                      <a16:colId xmlns:a16="http://schemas.microsoft.com/office/drawing/2014/main" val="3620305559"/>
                    </a:ext>
                  </a:extLst>
                </a:gridCol>
                <a:gridCol w="3124466">
                  <a:extLst>
                    <a:ext uri="{9D8B030D-6E8A-4147-A177-3AD203B41FA5}">
                      <a16:colId xmlns:a16="http://schemas.microsoft.com/office/drawing/2014/main" val="2885825117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 panose="020B0603030804020204" pitchFamily="34" charset="0"/>
                        </a:rPr>
                        <a:t>Método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 panose="020B0603030804020204" pitchFamily="34" charset="0"/>
                        </a:rPr>
                        <a:t>Problema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 panose="020B0603030804020204" pitchFamily="34" charset="0"/>
                        </a:rPr>
                        <a:t>Ótimo garantido?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 panose="020B0603030804020204" pitchFamily="34" charset="0"/>
                        </a:rPr>
                        <a:t>Uso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31321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Programação quadrática (QP)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Contínuo, convexo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Sim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OCS com contribuições contínuas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751679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Programação linear inteira (PLI)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Decisões discretas, objetivo linear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Sim (na formulação)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Plano de acasalamento, restrições operacionais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 panose="020B0603030804020204" pitchFamily="34" charset="0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58861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Evolução diferencial (DE)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Discreto, não convexo, caixa-preta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Não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Escolher k genitores com contribuições iguais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 panose="020B0603030804020204" pitchFamily="34" charset="0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66704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6295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2.2  OCS como QP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63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 panose="020B0603030804020204" pitchFamily="34" charset="0"/>
              </a:rPr>
              <a:t>SEÇÃO 5 · BLOCO 2</a:t>
            </a:r>
            <a:endParaRPr sz="1100" b="0" i="0">
              <a:solidFill>
                <a:srgbClr val="6B6B6B"/>
              </a:solidFill>
              <a:latin typeface="DejaVu Sans" panose="020B0603030804020204" pitchFamily="34" charset="0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71A8AFD9-89BC-0E26-2212-C935FB9BAB69}"/>
              </a:ext>
            </a:extLst>
          </p:cNvPr>
          <p:cNvSpPr txBox="1"/>
          <p:nvPr/>
        </p:nvSpPr>
        <p:spPr>
          <a:xfrm>
            <a:off x="640080" y="1043813"/>
            <a:ext cx="10909300" cy="122224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Forma penalizada max c'ĝ − λ c'Gc/2: convexa; ótimo global para cada λ.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Bisseção em λ até c'Gc/2 = θ.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 b="1">
                <a:solidFill>
                  <a:srgbClr val="4A7C59"/>
                </a:solidFill>
                <a:latin typeface="DejaVu Sans" panose="020B0603030804020204" pitchFamily="34" charset="0"/>
              </a:rPr>
              <a:t>É o gabarito</a:t>
            </a: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 de qualquer heurística.</a:t>
            </a:r>
            <a:endParaRPr lang="en-US" sz="2000">
              <a:solidFill>
                <a:srgbClr val="2E3A2F"/>
              </a:solidFill>
              <a:latin typeface="DejaVu Sans" panose="020B0603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1360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2.3  Onde entra a PLI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63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 panose="020B0603030804020204" pitchFamily="34" charset="0"/>
              </a:rPr>
              <a:t>SEÇÃO 5 · BLOCO 2</a:t>
            </a:r>
            <a:endParaRPr sz="1100" b="0" i="0">
              <a:solidFill>
                <a:srgbClr val="6B6B6B"/>
              </a:solidFill>
              <a:latin typeface="DejaVu Sans" panose="020B0603030804020204" pitchFamily="34" charset="0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7FBCDD0D-CFB3-F595-9E24-4CA64E5D6C1C}"/>
              </a:ext>
            </a:extLst>
          </p:cNvPr>
          <p:cNvSpPr txBox="1"/>
          <p:nvPr/>
        </p:nvSpPr>
        <p:spPr>
          <a:xfrm>
            <a:off x="640080" y="1043813"/>
            <a:ext cx="10909300" cy="135026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A restrição de coancestria é quadrática: PL pura não resolve a OCS.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Depois da OCS: cada genitor usado exatamente nᵢ vezes (das contribuições); minimizar a coancestria total dos pares. A coancestria de um par é constante → problema linear.</a:t>
            </a:r>
            <a:endParaRPr lang="en-US" sz="2000">
              <a:solidFill>
                <a:srgbClr val="2E3A2F"/>
              </a:solidFill>
              <a:latin typeface="DejaVu Sans" panose="020B0603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94296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2.4  Evolução diferencial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63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 panose="020B0603030804020204" pitchFamily="34" charset="0"/>
              </a:rPr>
              <a:t>SEÇÃO 5 · BLOCO 2</a:t>
            </a:r>
            <a:endParaRPr sz="1100" b="0" i="0">
              <a:solidFill>
                <a:srgbClr val="6B6B6B"/>
              </a:solidFill>
              <a:latin typeface="DejaVu Sans" panose="020B0603030804020204" pitchFamily="34" charset="0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D30DC626-A638-C539-18C7-BFB0507E4704}"/>
              </a:ext>
            </a:extLst>
          </p:cNvPr>
          <p:cNvSpPr txBox="1"/>
          <p:nvPr/>
        </p:nvSpPr>
        <p:spPr>
          <a:xfrm>
            <a:off x="640080" y="1043813"/>
            <a:ext cx="10909300" cy="150266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Mutação: a + F·(b − c); recombinação (CR); seleção.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Restrições por penalização; versão discreta por chaves aleatórias (os k maiores valores).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Sempre devolve </a:t>
            </a:r>
            <a:r>
              <a:rPr lang="pt-BR" sz="2000" i="1">
                <a:solidFill>
                  <a:srgbClr val="2E3A2F"/>
                </a:solidFill>
                <a:latin typeface="DejaVu Sans" panose="020B0603030804020204" pitchFamily="34" charset="0"/>
              </a:rPr>
              <a:t>uma</a:t>
            </a: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 resposta. Sem o gabarito, não há como saber se é boa.</a:t>
            </a:r>
            <a:endParaRPr lang="en-US" sz="2000">
              <a:solidFill>
                <a:srgbClr val="2E3A2F"/>
              </a:solidFill>
              <a:latin typeface="DejaVu Sans" panose="020B0603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4529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7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2377440"/>
            <a:ext cx="10241280" cy="13849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pt-BR" sz="4200" b="1" i="0">
                <a:solidFill>
                  <a:srgbClr val="FFFFFF"/>
                </a:solidFill>
                <a:latin typeface="DejaVu Serif"/>
              </a:rPr>
              <a:t>Resultados de referência (200 candidatos da coorte 3, ΔF = 3%)</a:t>
            </a:r>
            <a:endParaRPr sz="4200" b="1" i="0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05840" y="3703320"/>
            <a:ext cx="10241280" cy="465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2200" b="0" i="0">
                <a:solidFill>
                  <a:srgbClr val="D8E4DA"/>
                </a:solidFill>
                <a:latin typeface="DejaVu Sans"/>
              </a:rPr>
              <a:t>BLOCO 3 · 45 min · SEÇÃO 5</a:t>
            </a:r>
            <a:endParaRPr sz="2200" b="0" i="0">
              <a:solidFill>
                <a:srgbClr val="D8E4DA"/>
              </a:solidFill>
              <a:latin typeface="DejaVu San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05840" y="3584448"/>
            <a:ext cx="2011680" cy="50292"/>
          </a:xfrm>
          <a:prstGeom prst="rect">
            <a:avLst/>
          </a:prstGeom>
          <a:solidFill>
            <a:srgbClr val="F9A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736116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3.1  Comparação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63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 panose="020B0603030804020204" pitchFamily="34" charset="0"/>
              </a:rPr>
              <a:t>SEÇÃO 5 · BLOCO 3</a:t>
            </a:r>
            <a:endParaRPr sz="1100" b="0" i="0">
              <a:solidFill>
                <a:srgbClr val="6B6B6B"/>
              </a:solidFill>
              <a:latin typeface="DejaVu Sans" panose="020B0603030804020204" pitchFamily="34" charset="0"/>
            </a:endParaRPr>
          </a:p>
        </p:txBody>
      </p:sp>
      <p:graphicFrame>
        <p:nvGraphicFramePr>
          <p:cNvPr id="13" name="Fit796Table">
            <a:extLst>
              <a:ext uri="{FF2B5EF4-FFF2-40B4-BE49-F238E27FC236}">
                <a16:creationId xmlns:a16="http://schemas.microsoft.com/office/drawing/2014/main" id="{360AE98E-AAE5-271E-C7DA-D28A25B663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029349"/>
              </p:ext>
            </p:extLst>
          </p:nvPr>
        </p:nvGraphicFramePr>
        <p:xfrm>
          <a:off x="640080" y="1043813"/>
          <a:ext cx="10909300" cy="12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561">
                  <a:extLst>
                    <a:ext uri="{9D8B030D-6E8A-4147-A177-3AD203B41FA5}">
                      <a16:colId xmlns:a16="http://schemas.microsoft.com/office/drawing/2014/main" val="2979056134"/>
                    </a:ext>
                  </a:extLst>
                </a:gridCol>
                <a:gridCol w="1419583">
                  <a:extLst>
                    <a:ext uri="{9D8B030D-6E8A-4147-A177-3AD203B41FA5}">
                      <a16:colId xmlns:a16="http://schemas.microsoft.com/office/drawing/2014/main" val="3182308561"/>
                    </a:ext>
                  </a:extLst>
                </a:gridCol>
                <a:gridCol w="2140647">
                  <a:extLst>
                    <a:ext uri="{9D8B030D-6E8A-4147-A177-3AD203B41FA5}">
                      <a16:colId xmlns:a16="http://schemas.microsoft.com/office/drawing/2014/main" val="863347675"/>
                    </a:ext>
                  </a:extLst>
                </a:gridCol>
                <a:gridCol w="2374500">
                  <a:extLst>
                    <a:ext uri="{9D8B030D-6E8A-4147-A177-3AD203B41FA5}">
                      <a16:colId xmlns:a16="http://schemas.microsoft.com/office/drawing/2014/main" val="3358143465"/>
                    </a:ext>
                  </a:extLst>
                </a:gridCol>
                <a:gridCol w="1267051">
                  <a:extLst>
                    <a:ext uri="{9D8B030D-6E8A-4147-A177-3AD203B41FA5}">
                      <a16:colId xmlns:a16="http://schemas.microsoft.com/office/drawing/2014/main" val="845866591"/>
                    </a:ext>
                  </a:extLst>
                </a:gridCol>
                <a:gridCol w="1226959">
                  <a:extLst>
                    <a:ext uri="{9D8B030D-6E8A-4147-A177-3AD203B41FA5}">
                      <a16:colId xmlns:a16="http://schemas.microsoft.com/office/drawing/2014/main" val="3621792611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 panose="020B0603030804020204" pitchFamily="34" charset="0"/>
                        </a:rPr>
                        <a:t>Método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 panose="020B0603030804020204" pitchFamily="34" charset="0"/>
                        </a:rPr>
                        <a:t>Ganho (GEBV)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 panose="020B0603030804020204" pitchFamily="34" charset="0"/>
                        </a:rPr>
                        <a:t>Coancestria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 panose="020B0603030804020204" pitchFamily="34" charset="0"/>
                        </a:rPr>
                        <a:t>Contribuintes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 panose="020B0603030804020204" pitchFamily="34" charset="0"/>
                        </a:rPr>
                        <a:t>Razão vs QP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 panose="020B0603030804020204" pitchFamily="34" charset="0"/>
                        </a:rPr>
                        <a:t>Tempo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56115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Truncamento (top 20)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201,6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0,162 (viola </a:t>
                      </a:r>
                      <a:r>
                        <a:rPr lang="el-GR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θ)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 panose="020B0603030804020204" pitchFamily="34" charset="0"/>
                      </a:endParaRP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20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1,25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—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62804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OCS exata (QP)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161,5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0,030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52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1,00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1,1 s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6214953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DE contínua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152,8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0,030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96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0,95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26 s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273635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DE discreta, k = 20 (melhor de 10 sementes)</a:t>
                      </a:r>
                      <a:endParaRPr lang="en-US" sz="1700" b="0" i="0">
                        <a:solidFill>
                          <a:srgbClr val="2E3A2F"/>
                        </a:solidFill>
                        <a:latin typeface="DejaVu Sans" panose="020B0603030804020204" pitchFamily="34" charset="0"/>
                      </a:endParaRP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149,0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0,029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20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0,92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13 s cada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23440"/>
                  </a:ext>
                </a:extLst>
              </a:tr>
            </a:tbl>
          </a:graphicData>
        </a:graphic>
      </p:graphicFrame>
      <p:sp>
        <p:nvSpPr>
          <p:cNvPr id="14" name="FitText">
            <a:extLst>
              <a:ext uri="{FF2B5EF4-FFF2-40B4-BE49-F238E27FC236}">
                <a16:creationId xmlns:a16="http://schemas.microsoft.com/office/drawing/2014/main" id="{8278BA53-F0C9-8ADE-B9CD-A51365BF3C2B}"/>
              </a:ext>
            </a:extLst>
          </p:cNvPr>
          <p:cNvSpPr txBox="1"/>
          <p:nvPr/>
        </p:nvSpPr>
        <p:spPr>
          <a:xfrm>
            <a:off x="640080" y="3722623"/>
            <a:ext cx="10909300" cy="178308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DE discreta nas 10 sementes: 0,91 ± 0,004 do limite superior contínuo; nenhuma violação.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A OCS manteve 80% do ganho do truncamento com coancestria 5,4 vezes menor.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Plano de acasalamento por PLI: 50 cruzamentos, 44 genitores; coancestria média dos pares −0,19 (média da população −0,005).</a:t>
            </a:r>
            <a:endParaRPr lang="en-US" sz="2000">
              <a:solidFill>
                <a:srgbClr val="2E3A2F"/>
              </a:solidFill>
              <a:latin typeface="DejaVu Sans" panose="020B0603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104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3.1  Fronteira ganho × coancestria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63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 panose="020B0603030804020204" pitchFamily="34" charset="0"/>
              </a:rPr>
              <a:t>SEÇÃO 5 · BLOCO 3</a:t>
            </a:r>
            <a:endParaRPr sz="1100" b="0" i="0">
              <a:solidFill>
                <a:srgbClr val="6B6B6B"/>
              </a:solidFill>
              <a:latin typeface="DejaVu Sans" panose="020B0603030804020204" pitchFamily="34" charset="0"/>
            </a:endParaRPr>
          </a:p>
        </p:txBody>
      </p:sp>
      <p:pic>
        <p:nvPicPr>
          <p:cNvPr id="14" name="FitPicture">
            <a:extLst>
              <a:ext uri="{FF2B5EF4-FFF2-40B4-BE49-F238E27FC236}">
                <a16:creationId xmlns:a16="http://schemas.microsoft.com/office/drawing/2014/main" id="{8AF7AD21-74ED-F588-3157-4C094B05944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249930" y="1043813"/>
            <a:ext cx="5689600" cy="4064000"/>
          </a:xfrm>
          <a:prstGeom prst="rect">
            <a:avLst/>
          </a:prstGeom>
        </p:spPr>
      </p:pic>
      <p:sp>
        <p:nvSpPr>
          <p:cNvPr id="15" name="FitText">
            <a:extLst>
              <a:ext uri="{FF2B5EF4-FFF2-40B4-BE49-F238E27FC236}">
                <a16:creationId xmlns:a16="http://schemas.microsoft.com/office/drawing/2014/main" id="{9ECEE5A1-05FA-B458-15F7-1FD57E7655EE}"/>
              </a:ext>
            </a:extLst>
          </p:cNvPr>
          <p:cNvSpPr txBox="1"/>
          <p:nvPr/>
        </p:nvSpPr>
        <p:spPr>
          <a:xfrm>
            <a:off x="640080" y="5260212"/>
            <a:ext cx="10909300" cy="63703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lnSpc>
                <a:spcPct val="92000"/>
              </a:lnSpc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OCS exata para ΔF de 0,2% a 10%, com truncamento e evolução diferencial (ΔF = 3%).</a:t>
            </a:r>
            <a:endParaRPr lang="en-US" sz="2000">
              <a:solidFill>
                <a:srgbClr val="2E3A2F"/>
              </a:solidFill>
              <a:latin typeface="DejaVu Sans" panose="020B0603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9919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3.2  Lições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63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 panose="020B0603030804020204" pitchFamily="34" charset="0"/>
              </a:rPr>
              <a:t>SEÇÃO 5 · BLOCO 3</a:t>
            </a:r>
            <a:endParaRPr sz="1100" b="0" i="0">
              <a:solidFill>
                <a:srgbClr val="6B6B6B"/>
              </a:solidFill>
              <a:latin typeface="DejaVu Sans" panose="020B0603030804020204" pitchFamily="34" charset="0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2DEE5838-952A-CDE8-412B-00AD8B743AC9}"/>
              </a:ext>
            </a:extLst>
          </p:cNvPr>
          <p:cNvSpPr txBox="1"/>
          <p:nvPr/>
        </p:nvSpPr>
        <p:spPr>
          <a:xfrm>
            <a:off x="640080" y="1043812"/>
            <a:ext cx="10909300" cy="178308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Sem o QP, a solução da DE pareceria perfeitamente razoável.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A DE contínua espalhou contribuições por 96 indivíduos: custo operacional.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Reescrever a função objetivo para avaliar só os k selecionados (Σ G[s, s]) deixou a DE discreta ~10× mais rápida — o mesmo princípio da avaliação incremental usada em problemas grandes.</a:t>
            </a:r>
            <a:endParaRPr lang="en-US" sz="2000">
              <a:solidFill>
                <a:srgbClr val="2E3A2F"/>
              </a:solidFill>
              <a:latin typeface="DejaVu Sans" panose="020B0603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42225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7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2377440"/>
            <a:ext cx="10241280" cy="14465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pt-BR" sz="4400" b="1" i="0">
                <a:solidFill>
                  <a:srgbClr val="FFFFFF"/>
                </a:solidFill>
                <a:latin typeface="DejaVu Serif"/>
              </a:rPr>
              <a:t>Longo prazo (AlphaSimR, 10 repetições, 20 ciclos)</a:t>
            </a:r>
            <a:endParaRPr sz="4400" b="1" i="0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05840" y="3703320"/>
            <a:ext cx="10241280" cy="465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2200" b="0" i="0">
                <a:solidFill>
                  <a:srgbClr val="D8E4DA"/>
                </a:solidFill>
                <a:latin typeface="DejaVu Sans"/>
              </a:rPr>
              <a:t>BLOCO 4 · 25 min · SEÇÃO 5</a:t>
            </a:r>
            <a:endParaRPr sz="2200" b="0" i="0">
              <a:solidFill>
                <a:srgbClr val="D8E4DA"/>
              </a:solidFill>
              <a:latin typeface="DejaVu San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05840" y="3584448"/>
            <a:ext cx="2011680" cy="50292"/>
          </a:xfrm>
          <a:prstGeom prst="rect">
            <a:avLst/>
          </a:prstGeom>
          <a:solidFill>
            <a:srgbClr val="F9A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6470388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4.1  Desenho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63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 panose="020B0603030804020204" pitchFamily="34" charset="0"/>
              </a:rPr>
              <a:t>SEÇÃO 5 · BLOCO 4</a:t>
            </a:r>
            <a:endParaRPr sz="1100" b="0" i="0">
              <a:solidFill>
                <a:srgbClr val="6B6B6B"/>
              </a:solidFill>
              <a:latin typeface="DejaVu Sans" panose="020B0603030804020204" pitchFamily="34" charset="0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99565871-79AA-4149-50A1-92D03C65FD5C}"/>
              </a:ext>
            </a:extLst>
          </p:cNvPr>
          <p:cNvSpPr txBox="1"/>
          <p:nvPr/>
        </p:nvSpPr>
        <p:spPr>
          <a:xfrm>
            <a:off x="640080" y="1043813"/>
            <a:ext cx="10909300" cy="135026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200 candidatos DH por ciclo; EBV com acurácia 0,6 (simplificação: acurácia constante).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Truncamento (top 20) × OCS com ΔF de 1% e 3%; 50 cruzamentos, 4 DH por cruzamento.</a:t>
            </a:r>
            <a:endParaRPr lang="en-US" sz="2000">
              <a:solidFill>
                <a:srgbClr val="2E3A2F"/>
              </a:solidFill>
              <a:latin typeface="DejaVu Sans" panose="020B0603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93463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4.2  Resultados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63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 panose="020B0603030804020204" pitchFamily="34" charset="0"/>
              </a:rPr>
              <a:t>SEÇÃO 5 · BLOCO 4</a:t>
            </a:r>
            <a:endParaRPr sz="1100" b="0" i="0">
              <a:solidFill>
                <a:srgbClr val="6B6B6B"/>
              </a:solidFill>
              <a:latin typeface="DejaVu Sans" panose="020B0603030804020204" pitchFamily="34" charset="0"/>
            </a:endParaRPr>
          </a:p>
        </p:txBody>
      </p:sp>
      <p:graphicFrame>
        <p:nvGraphicFramePr>
          <p:cNvPr id="13" name="Fit796Table">
            <a:extLst>
              <a:ext uri="{FF2B5EF4-FFF2-40B4-BE49-F238E27FC236}">
                <a16:creationId xmlns:a16="http://schemas.microsoft.com/office/drawing/2014/main" id="{42C42CF0-E81B-4D60-F4C3-6BCFDE80A1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037704"/>
              </p:ext>
            </p:extLst>
          </p:nvPr>
        </p:nvGraphicFramePr>
        <p:xfrm>
          <a:off x="640080" y="1043813"/>
          <a:ext cx="10909300" cy="10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5254">
                  <a:extLst>
                    <a:ext uri="{9D8B030D-6E8A-4147-A177-3AD203B41FA5}">
                      <a16:colId xmlns:a16="http://schemas.microsoft.com/office/drawing/2014/main" val="1382375269"/>
                    </a:ext>
                  </a:extLst>
                </a:gridCol>
                <a:gridCol w="1817975">
                  <a:extLst>
                    <a:ext uri="{9D8B030D-6E8A-4147-A177-3AD203B41FA5}">
                      <a16:colId xmlns:a16="http://schemas.microsoft.com/office/drawing/2014/main" val="3828263942"/>
                    </a:ext>
                  </a:extLst>
                </a:gridCol>
                <a:gridCol w="1821759">
                  <a:extLst>
                    <a:ext uri="{9D8B030D-6E8A-4147-A177-3AD203B41FA5}">
                      <a16:colId xmlns:a16="http://schemas.microsoft.com/office/drawing/2014/main" val="1492181184"/>
                    </a:ext>
                  </a:extLst>
                </a:gridCol>
                <a:gridCol w="1821759">
                  <a:extLst>
                    <a:ext uri="{9D8B030D-6E8A-4147-A177-3AD203B41FA5}">
                      <a16:colId xmlns:a16="http://schemas.microsoft.com/office/drawing/2014/main" val="2620968908"/>
                    </a:ext>
                  </a:extLst>
                </a:gridCol>
                <a:gridCol w="2992553">
                  <a:extLst>
                    <a:ext uri="{9D8B030D-6E8A-4147-A177-3AD203B41FA5}">
                      <a16:colId xmlns:a16="http://schemas.microsoft.com/office/drawing/2014/main" val="2994732027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 panose="020B0603030804020204" pitchFamily="34" charset="0"/>
                        </a:rPr>
                        <a:t>Estratégia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 panose="020B0603030804020204" pitchFamily="34" charset="0"/>
                        </a:rPr>
                        <a:t>Ganho em 1 ciclo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 panose="020B0603030804020204" pitchFamily="34" charset="0"/>
                        </a:rPr>
                        <a:t>Em 10 ciclos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 panose="020B0603030804020204" pitchFamily="34" charset="0"/>
                        </a:rPr>
                        <a:t>Em 20 ciclos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1" i="0">
                          <a:solidFill>
                            <a:srgbClr val="FFFFFF"/>
                          </a:solidFill>
                          <a:latin typeface="DejaVu Sans" panose="020B0603030804020204" pitchFamily="34" charset="0"/>
                        </a:rPr>
                        <a:t>Variância genética final (fração da inicial)</a:t>
                      </a:r>
                      <a:endParaRPr lang="en-US" sz="1700" b="1" i="0">
                        <a:solidFill>
                          <a:srgbClr val="FFFFFF"/>
                        </a:solidFill>
                        <a:latin typeface="DejaVu Sans" panose="020B0603030804020204" pitchFamily="34" charset="0"/>
                      </a:endParaRP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283451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Truncamento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1,10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7,34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11,22 ± 0,87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0,06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872529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OCS 3%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0,84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6,61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10,94 ± 0,89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0,14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3195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OCS 1%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0,64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5,53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9,79 ± 1,05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0,37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8470411"/>
                  </a:ext>
                </a:extLst>
              </a:tr>
            </a:tbl>
          </a:graphicData>
        </a:graphic>
      </p:graphicFrame>
      <p:sp>
        <p:nvSpPr>
          <p:cNvPr id="14" name="FitText">
            <a:extLst>
              <a:ext uri="{FF2B5EF4-FFF2-40B4-BE49-F238E27FC236}">
                <a16:creationId xmlns:a16="http://schemas.microsoft.com/office/drawing/2014/main" id="{99CCEB9F-BD49-D9A0-B330-FA2FEC470E2E}"/>
              </a:ext>
            </a:extLst>
          </p:cNvPr>
          <p:cNvSpPr txBox="1"/>
          <p:nvPr/>
        </p:nvSpPr>
        <p:spPr>
          <a:xfrm>
            <a:off x="640080" y="2692907"/>
            <a:ext cx="10909300" cy="35661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lnSpc>
                <a:spcPct val="92000"/>
              </a:lnSpc>
            </a:pPr>
            <a:r>
              <a:rPr lang="pt-BR" sz="2000" b="1">
                <a:solidFill>
                  <a:srgbClr val="4A7C59"/>
                </a:solidFill>
                <a:latin typeface="DejaVu Sans" panose="020B0603030804020204" pitchFamily="34" charset="0"/>
              </a:rPr>
              <a:t>Ganho em unidades de DP genético inicial.</a:t>
            </a:r>
            <a:endParaRPr lang="en-US" sz="2000" b="1">
              <a:solidFill>
                <a:srgbClr val="4A7C59"/>
              </a:solidFill>
              <a:latin typeface="DejaVu Sans" panose="020B0603030804020204" pitchFamily="34" charset="0"/>
            </a:endParaRPr>
          </a:p>
        </p:txBody>
      </p:sp>
      <p:sp>
        <p:nvSpPr>
          <p:cNvPr id="15" name="FitText">
            <a:extLst>
              <a:ext uri="{FF2B5EF4-FFF2-40B4-BE49-F238E27FC236}">
                <a16:creationId xmlns:a16="http://schemas.microsoft.com/office/drawing/2014/main" id="{9AF5C3DC-B559-DDDC-76BD-A07BA7CD6198}"/>
              </a:ext>
            </a:extLst>
          </p:cNvPr>
          <p:cNvSpPr txBox="1"/>
          <p:nvPr/>
        </p:nvSpPr>
        <p:spPr>
          <a:xfrm>
            <a:off x="640080" y="3201923"/>
            <a:ext cx="10909300" cy="106984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Em 20 ciclos o truncamento ainda lidera por pouco, mas resta só </a:t>
            </a:r>
            <a:r>
              <a:rPr lang="pt-BR" sz="2000" b="1">
                <a:solidFill>
                  <a:srgbClr val="4A7C59"/>
                </a:solidFill>
                <a:latin typeface="DejaVu Sans" panose="020B0603030804020204" pitchFamily="34" charset="0"/>
              </a:rPr>
              <a:t>6%</a:t>
            </a: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 da variância genética: o ganho futuro está quase esgotado.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A OCS 3% está a ~0,3 DP e conserva 2,5× mais variância.</a:t>
            </a:r>
            <a:endParaRPr lang="en-US" sz="2000">
              <a:solidFill>
                <a:srgbClr val="2E3A2F"/>
              </a:solidFill>
              <a:latin typeface="DejaVu Sans" panose="020B0603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85651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4.2  Média e variância genética em 20 ciclos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63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 panose="020B0603030804020204" pitchFamily="34" charset="0"/>
              </a:rPr>
              <a:t>SEÇÃO 5 · BLOCO 4</a:t>
            </a:r>
            <a:endParaRPr sz="1100" b="0" i="0">
              <a:solidFill>
                <a:srgbClr val="6B6B6B"/>
              </a:solidFill>
              <a:latin typeface="DejaVu Sans" panose="020B0603030804020204" pitchFamily="34" charset="0"/>
            </a:endParaRPr>
          </a:p>
        </p:txBody>
      </p:sp>
      <p:pic>
        <p:nvPicPr>
          <p:cNvPr id="14" name="FitPicture">
            <a:extLst>
              <a:ext uri="{FF2B5EF4-FFF2-40B4-BE49-F238E27FC236}">
                <a16:creationId xmlns:a16="http://schemas.microsoft.com/office/drawing/2014/main" id="{515791B4-2E3C-2136-4345-1C24C5A9FE8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522730" y="1043813"/>
            <a:ext cx="9144001" cy="4064000"/>
          </a:xfrm>
          <a:prstGeom prst="rect">
            <a:avLst/>
          </a:prstGeom>
        </p:spPr>
      </p:pic>
      <p:sp>
        <p:nvSpPr>
          <p:cNvPr id="15" name="FitText">
            <a:extLst>
              <a:ext uri="{FF2B5EF4-FFF2-40B4-BE49-F238E27FC236}">
                <a16:creationId xmlns:a16="http://schemas.microsoft.com/office/drawing/2014/main" id="{DA593EC1-459E-D82F-3831-651E68993225}"/>
              </a:ext>
            </a:extLst>
          </p:cNvPr>
          <p:cNvSpPr txBox="1"/>
          <p:nvPr/>
        </p:nvSpPr>
        <p:spPr>
          <a:xfrm>
            <a:off x="640080" y="5260212"/>
            <a:ext cx="10909300" cy="35661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lnSpc>
                <a:spcPct val="92000"/>
              </a:lnSpc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Média de 10 repetições; ganho em unidades de desvio-padrão genético inicial.</a:t>
            </a:r>
            <a:endParaRPr lang="en-US" sz="2000">
              <a:solidFill>
                <a:srgbClr val="2E3A2F"/>
              </a:solidFill>
              <a:latin typeface="DejaVu Sans" panose="020B0603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0582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s-ES" sz="3200" b="1" i="0">
                <a:solidFill>
                  <a:srgbClr val="4A7C59"/>
                </a:solidFill>
                <a:latin typeface="DejaVu Serif"/>
              </a:rPr>
              <a:t>4.3  ΔF planejado versus realizado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63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 panose="020B0603030804020204" pitchFamily="34" charset="0"/>
              </a:rPr>
              <a:t>SEÇÃO 5 · BLOCO 4</a:t>
            </a:r>
            <a:endParaRPr sz="1100" b="0" i="0">
              <a:solidFill>
                <a:srgbClr val="6B6B6B"/>
              </a:solidFill>
              <a:latin typeface="DejaVu Sans" panose="020B0603030804020204" pitchFamily="34" charset="0"/>
            </a:endParaRPr>
          </a:p>
        </p:txBody>
      </p:sp>
      <p:graphicFrame>
        <p:nvGraphicFramePr>
          <p:cNvPr id="13" name="Fit796Table">
            <a:extLst>
              <a:ext uri="{FF2B5EF4-FFF2-40B4-BE49-F238E27FC236}">
                <a16:creationId xmlns:a16="http://schemas.microsoft.com/office/drawing/2014/main" id="{5D7C8CDE-43FB-F185-0C81-2EDD1B8907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2404604"/>
              </p:ext>
            </p:extLst>
          </p:nvPr>
        </p:nvGraphicFramePr>
        <p:xfrm>
          <a:off x="640080" y="1043813"/>
          <a:ext cx="10909300" cy="10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5718">
                  <a:extLst>
                    <a:ext uri="{9D8B030D-6E8A-4147-A177-3AD203B41FA5}">
                      <a16:colId xmlns:a16="http://schemas.microsoft.com/office/drawing/2014/main" val="125668131"/>
                    </a:ext>
                  </a:extLst>
                </a:gridCol>
                <a:gridCol w="2337240">
                  <a:extLst>
                    <a:ext uri="{9D8B030D-6E8A-4147-A177-3AD203B41FA5}">
                      <a16:colId xmlns:a16="http://schemas.microsoft.com/office/drawing/2014/main" val="3556707323"/>
                    </a:ext>
                  </a:extLst>
                </a:gridCol>
                <a:gridCol w="3529102">
                  <a:extLst>
                    <a:ext uri="{9D8B030D-6E8A-4147-A177-3AD203B41FA5}">
                      <a16:colId xmlns:a16="http://schemas.microsoft.com/office/drawing/2014/main" val="2819526636"/>
                    </a:ext>
                  </a:extLst>
                </a:gridCol>
                <a:gridCol w="2337240">
                  <a:extLst>
                    <a:ext uri="{9D8B030D-6E8A-4147-A177-3AD203B41FA5}">
                      <a16:colId xmlns:a16="http://schemas.microsoft.com/office/drawing/2014/main" val="7719322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 panose="020B0603030804020204" pitchFamily="34" charset="0"/>
                        </a:rPr>
                        <a:t>Estratégia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 panose="020B0603030804020204" pitchFamily="34" charset="0"/>
                        </a:rPr>
                        <a:t>Planejado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700" b="1" i="0">
                          <a:solidFill>
                            <a:srgbClr val="FFFFFF"/>
                          </a:solidFill>
                          <a:latin typeface="DejaVu Sans" panose="020B0603030804020204" pitchFamily="34" charset="0"/>
                        </a:rPr>
                        <a:t>Esperado (planejado + amostragem das DH)</a:t>
                      </a:r>
                      <a:endParaRPr lang="en-US" sz="1700" b="1" i="0">
                        <a:solidFill>
                          <a:srgbClr val="FFFFFF"/>
                        </a:solidFill>
                        <a:latin typeface="DejaVu Sans" panose="020B0603030804020204" pitchFamily="34" charset="0"/>
                      </a:endParaRP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1" i="0">
                          <a:solidFill>
                            <a:srgbClr val="FFFFFF"/>
                          </a:solidFill>
                          <a:latin typeface="DejaVu Sans" panose="020B0603030804020204" pitchFamily="34" charset="0"/>
                        </a:rPr>
                        <a:t>Realizado</a:t>
                      </a:r>
                    </a:p>
                  </a:txBody>
                  <a:tcPr marL="76200" marR="63500" marT="38100" marB="38100">
                    <a:solidFill>
                      <a:srgbClr val="4A7C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10484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Truncamento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—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0,062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0,085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22885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OCS 3%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0,030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0,033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0,049</a:t>
                      </a:r>
                    </a:p>
                  </a:txBody>
                  <a:tcPr marL="76200" marR="63500" marT="38100" marB="38100">
                    <a:solidFill>
                      <a:srgbClr val="D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79946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OCS 1%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0,010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0,013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b="0" i="0">
                          <a:solidFill>
                            <a:srgbClr val="2E3A2F"/>
                          </a:solidFill>
                          <a:latin typeface="DejaVu Sans" panose="020B0603030804020204" pitchFamily="34" charset="0"/>
                        </a:rPr>
                        <a:t>0,020</a:t>
                      </a:r>
                    </a:p>
                  </a:txBody>
                  <a:tcPr marL="76200" marR="63500" marT="38100" marB="38100">
                    <a:solidFill>
                      <a:srgbClr val="F5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705662"/>
                  </a:ext>
                </a:extLst>
              </a:tr>
            </a:tbl>
          </a:graphicData>
        </a:graphic>
      </p:graphicFrame>
      <p:sp>
        <p:nvSpPr>
          <p:cNvPr id="14" name="FitText">
            <a:extLst>
              <a:ext uri="{FF2B5EF4-FFF2-40B4-BE49-F238E27FC236}">
                <a16:creationId xmlns:a16="http://schemas.microsoft.com/office/drawing/2014/main" id="{12A7AC43-119D-DB22-7E74-3319D060DFEE}"/>
              </a:ext>
            </a:extLst>
          </p:cNvPr>
          <p:cNvSpPr txBox="1"/>
          <p:nvPr/>
        </p:nvSpPr>
        <p:spPr>
          <a:xfrm>
            <a:off x="640080" y="2692908"/>
            <a:ext cx="10909300" cy="106984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O excesso realizado vem da </a:t>
            </a:r>
            <a:r>
              <a:rPr lang="pt-BR" sz="2000" b="1">
                <a:solidFill>
                  <a:srgbClr val="4A7C59"/>
                </a:solidFill>
                <a:latin typeface="DejaVu Sans" panose="020B0603030804020204" pitchFamily="34" charset="0"/>
              </a:rPr>
              <a:t>seleção</a:t>
            </a: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: SNPs ligados a QTL mudam de frequência na direção favorável (arraste), o que a coancestria não prevê.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O ΔF planejado é um limite inferior, não uma garantia.</a:t>
            </a:r>
            <a:endParaRPr lang="en-US" sz="2000">
              <a:solidFill>
                <a:srgbClr val="2E3A2F"/>
              </a:solidFill>
              <a:latin typeface="DejaVu Sans" panose="020B0603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49270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7C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05840" y="2377440"/>
            <a:ext cx="1024128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4400" b="1" i="0">
                <a:solidFill>
                  <a:srgbClr val="FFFFFF"/>
                </a:solidFill>
                <a:latin typeface="DejaVu Serif"/>
              </a:rPr>
              <a:t>Decisão, índices e escala</a:t>
            </a:r>
            <a:endParaRPr sz="4400" b="1" i="0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05840" y="3703320"/>
            <a:ext cx="10241280" cy="465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2200" b="0" i="0">
                <a:solidFill>
                  <a:srgbClr val="D8E4DA"/>
                </a:solidFill>
                <a:latin typeface="DejaVu Sans"/>
              </a:rPr>
              <a:t>BLOCO 5 · 15 min · SEÇÃO 5</a:t>
            </a:r>
            <a:endParaRPr sz="2200" b="0" i="0">
              <a:solidFill>
                <a:srgbClr val="D8E4DA"/>
              </a:solidFill>
              <a:latin typeface="DejaVu San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05840" y="3584448"/>
            <a:ext cx="2011680" cy="50292"/>
          </a:xfrm>
          <a:prstGeom prst="rect">
            <a:avLst/>
          </a:prstGeom>
          <a:solidFill>
            <a:srgbClr val="F9A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296893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5.1  A decisão é do melhorista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63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 panose="020B0603030804020204" pitchFamily="34" charset="0"/>
              </a:rPr>
              <a:t>SEÇÃO 5 · BLOCO 5</a:t>
            </a:r>
            <a:endParaRPr sz="1100" b="0" i="0">
              <a:solidFill>
                <a:srgbClr val="6B6B6B"/>
              </a:solidFill>
              <a:latin typeface="DejaVu Sans" panose="020B0603030804020204" pitchFamily="34" charset="0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7C9794B5-EE2A-C2BB-93DC-4B0127C37C64}"/>
              </a:ext>
            </a:extLst>
          </p:cNvPr>
          <p:cNvSpPr txBox="1"/>
          <p:nvPr/>
        </p:nvSpPr>
        <p:spPr>
          <a:xfrm>
            <a:off x="640080" y="1043813"/>
            <a:ext cx="10909300" cy="106984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θ reflete horizonte, tamanho da base genética e introdução de germoplasma externo.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O otimizador mostra o custo de cada escolha; não elimina a escolha.</a:t>
            </a:r>
            <a:endParaRPr lang="en-US" sz="2000">
              <a:solidFill>
                <a:srgbClr val="2E3A2F"/>
              </a:solidFill>
              <a:latin typeface="DejaVu Sans" panose="020B0603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22949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5.2  Do caráter único ao índice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63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 panose="020B0603030804020204" pitchFamily="34" charset="0"/>
              </a:rPr>
              <a:t>SEÇÃO 5 · BLOCO 5</a:t>
            </a:r>
            <a:endParaRPr sz="1100" b="0" i="0">
              <a:solidFill>
                <a:srgbClr val="6B6B6B"/>
              </a:solidFill>
              <a:latin typeface="DejaVu Sans" panose="020B0603030804020204" pitchFamily="34" charset="0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3B7C41F1-D499-3505-E365-8C63D22B7344}"/>
              </a:ext>
            </a:extLst>
          </p:cNvPr>
          <p:cNvSpPr txBox="1"/>
          <p:nvPr/>
        </p:nvSpPr>
        <p:spPr>
          <a:xfrm>
            <a:off x="640080" y="1043812"/>
            <a:ext cx="10909300" cy="178308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Na prática, seleciona-se para vários caracteres (produtividade, acamamento, florescimento).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A OCS recebe qualquer valor a maximizar: ĝ pode ser um índice de seleção (por exemplo, Smith-Hazel, b = P⁻¹Ga, ou índice de ganhos desejados).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A escolha dos pesos econômicos também é decisão do melhorista.</a:t>
            </a:r>
            <a:endParaRPr lang="en-US" sz="2000">
              <a:solidFill>
                <a:srgbClr val="2E3A2F"/>
              </a:solidFill>
              <a:latin typeface="DejaVu Sans" panose="020B0603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73818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8849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3200" b="1" i="0">
                <a:solidFill>
                  <a:srgbClr val="4A7C59"/>
                </a:solidFill>
                <a:latin typeface="DejaVu Serif"/>
              </a:rPr>
              <a:t>5.3  Escala</a:t>
            </a:r>
            <a:endParaRPr sz="32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63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 panose="020B0603030804020204" pitchFamily="34" charset="0"/>
              </a:rPr>
              <a:t>SEÇÃO 5 · BLOCO 5</a:t>
            </a:r>
            <a:endParaRPr sz="1100" b="0" i="0">
              <a:solidFill>
                <a:srgbClr val="6B6B6B"/>
              </a:solidFill>
              <a:latin typeface="DejaVu Sans" panose="020B0603030804020204" pitchFamily="34" charset="0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CFEB7A8B-7A0C-BA99-4436-C3DCBE754F49}"/>
              </a:ext>
            </a:extLst>
          </p:cNvPr>
          <p:cNvSpPr txBox="1"/>
          <p:nvPr/>
        </p:nvSpPr>
        <p:spPr>
          <a:xfrm>
            <a:off x="640080" y="1043813"/>
            <a:ext cx="10909300" cy="305714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200 candidatos: o QP é imbatível (1,1 s).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Dezenas de milhares de candidatos: memória da matriz G e custo da função objetivo passam a dominar; heurísticas com avaliação incremental e código compilado tornam-se relevantes.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Solvers convexos podem esbarrar em memória nessa escala — hipótese a testar em cada caso, não regra.</a:t>
            </a:r>
          </a:p>
          <a:p>
            <a:pPr marL="254000" indent="-254000"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  <a:buClr>
                <a:srgbClr val="F9A620"/>
              </a:buClr>
              <a:buFont typeface="+mj-lt"/>
              <a:buChar char="•"/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O agente ajuda na engenharia (perfilamento, porte para C++, testes de equivalência numérica), desde que exista uma versão de referência para comparar.</a:t>
            </a:r>
            <a:endParaRPr lang="en-US" sz="2000">
              <a:solidFill>
                <a:srgbClr val="2E3A2F"/>
              </a:solidFill>
              <a:latin typeface="DejaVu Sans" panose="020B0603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74872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7C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181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pt-BR" sz="2800" b="1" i="0">
                <a:solidFill>
                  <a:srgbClr val="4A7C59"/>
                </a:solidFill>
                <a:latin typeface="DejaVu Serif"/>
              </a:rPr>
              <a:t>5.4  Checklist de reprodutibilidade de um otimizador</a:t>
            </a:r>
            <a:endParaRPr sz="2800" b="1" i="0">
              <a:solidFill>
                <a:srgbClr val="4A7C59"/>
              </a:solidFill>
              <a:latin typeface="DejaVu Serif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144768"/>
            <a:ext cx="11201400" cy="2637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lang="en-US" sz="1100" b="0" i="0">
                <a:solidFill>
                  <a:srgbClr val="6B6B6B"/>
                </a:solidFill>
                <a:latin typeface="DejaVu Sans" panose="020B0603030804020204" pitchFamily="34" charset="0"/>
              </a:rPr>
              <a:t>SEÇÃO 5 · BLOCO 5</a:t>
            </a:r>
            <a:endParaRPr sz="1100" b="0" i="0">
              <a:solidFill>
                <a:srgbClr val="6B6B6B"/>
              </a:solidFill>
              <a:latin typeface="DejaVu Sans" panose="020B0603030804020204" pitchFamily="34" charset="0"/>
            </a:endParaRPr>
          </a:p>
        </p:txBody>
      </p:sp>
      <p:sp>
        <p:nvSpPr>
          <p:cNvPr id="13" name="FitText">
            <a:extLst>
              <a:ext uri="{FF2B5EF4-FFF2-40B4-BE49-F238E27FC236}">
                <a16:creationId xmlns:a16="http://schemas.microsoft.com/office/drawing/2014/main" id="{B3D6B818-F4E9-0ADB-EDAF-1EB884E330E0}"/>
              </a:ext>
            </a:extLst>
          </p:cNvPr>
          <p:cNvSpPr txBox="1"/>
          <p:nvPr/>
        </p:nvSpPr>
        <p:spPr>
          <a:xfrm>
            <a:off x="640080" y="983551"/>
            <a:ext cx="10909300" cy="208788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☐ Formulação escrita antes do código, com referência</a:t>
            </a:r>
          </a:p>
          <a:p>
            <a:pPr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☐ Parâmetros do problema e do otimizador registrados; sementes; várias execuções</a:t>
            </a:r>
          </a:p>
          <a:p>
            <a:pPr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☐ Solução exata em instância pequena como gabarito</a:t>
            </a:r>
          </a:p>
          <a:p>
            <a:pPr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☐ Testes de restrições</a:t>
            </a:r>
          </a:p>
          <a:p>
            <a:pPr>
              <a:lnSpc>
                <a:spcPct val="920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sz="2000">
                <a:solidFill>
                  <a:srgbClr val="2E3A2F"/>
                </a:solidFill>
                <a:latin typeface="DejaVu Sans" panose="020B0603030804020204" pitchFamily="34" charset="0"/>
              </a:rPr>
              <a:t>☐ Validação de longo prazo com repetições</a:t>
            </a:r>
            <a:endParaRPr lang="en-US" sz="2000">
              <a:solidFill>
                <a:srgbClr val="2E3A2F"/>
              </a:solidFill>
              <a:latin typeface="DejaVu Sans" panose="020B0603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440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5126</Words>
  <Application>Microsoft Office PowerPoint</Application>
  <PresentationFormat>Widescreen</PresentationFormat>
  <Paragraphs>328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DejaVu Sans</vt:lpstr>
      <vt:lpstr>DejaVu Sans Mono</vt:lpstr>
      <vt:lpstr>DejaVu 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Eder Silva</cp:lastModifiedBy>
  <cp:revision>2</cp:revision>
  <dcterms:created xsi:type="dcterms:W3CDTF">2013-01-27T09:14:16Z</dcterms:created>
  <dcterms:modified xsi:type="dcterms:W3CDTF">2026-10-27T20:07:06Z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c76c141-ac86-40e5-abf2-c6f60e474cee_Enabled">
    <vt:lpwstr>true</vt:lpwstr>
  </property>
  <property fmtid="{D5CDD505-2E9C-101B-9397-08002B2CF9AE}" pid="3" name="MSIP_Label_2c76c141-ac86-40e5-abf2-c6f60e474cee_SetDate">
    <vt:lpwstr>2026-10-27T14:37:50Z</vt:lpwstr>
  </property>
  <property fmtid="{D5CDD505-2E9C-101B-9397-08002B2CF9AE}" pid="4" name="MSIP_Label_2c76c141-ac86-40e5-abf2-c6f60e474cee_Method">
    <vt:lpwstr>Standard</vt:lpwstr>
  </property>
  <property fmtid="{D5CDD505-2E9C-101B-9397-08002B2CF9AE}" pid="5" name="MSIP_Label_2c76c141-ac86-40e5-abf2-c6f60e474cee_Name">
    <vt:lpwstr>2c76c141-ac86-40e5-abf2-c6f60e474cee</vt:lpwstr>
  </property>
  <property fmtid="{D5CDD505-2E9C-101B-9397-08002B2CF9AE}" pid="6" name="MSIP_Label_2c76c141-ac86-40e5-abf2-c6f60e474cee_SiteId">
    <vt:lpwstr>fcb2b37b-5da0-466b-9b83-0014b67a7c78</vt:lpwstr>
  </property>
  <property fmtid="{D5CDD505-2E9C-101B-9397-08002B2CF9AE}" pid="7" name="MSIP_Label_2c76c141-ac86-40e5-abf2-c6f60e474cee_ActionId">
    <vt:lpwstr>7e58aa73-7a3a-42f7-8135-f8ee99152278</vt:lpwstr>
  </property>
  <property fmtid="{D5CDD505-2E9C-101B-9397-08002B2CF9AE}" pid="8" name="MSIP_Label_2c76c141-ac86-40e5-abf2-c6f60e474cee_ContentBits">
    <vt:lpwstr>2</vt:lpwstr>
  </property>
  <property fmtid="{D5CDD505-2E9C-101B-9397-08002B2CF9AE}" pid="9" name="MSIP_Label_2c76c141-ac86-40e5-abf2-c6f60e474cee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RESTRICTED</vt:lpwstr>
  </property>
</Properties>
</file>