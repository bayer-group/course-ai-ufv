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6D10285-7E03-34A5-1B39-0FFBE6136991}">
          <p14:sldIdLst>
            <p14:sldId id="256"/>
            <p14:sldId id="257"/>
          </p14:sldIdLst>
        </p14:section>
        <p14:section name="Bloco 0 — Do chat ao agente de código" id="{DB9F4B56-0DB6-7E38-4DD1-3E088326B2AF}">
          <p14:sldIdLst>
            <p14:sldId id="258"/>
            <p14:sldId id="259"/>
            <p14:sldId id="260"/>
            <p14:sldId id="261"/>
          </p14:sldIdLst>
        </p14:section>
        <p14:section name="Bloco 1 — Ambiente: editores, instalação e primeiro acesso" id="{DC9B1B53-FA97-DAAF-AB48-E309649D5F3D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Bloco 2 — Configuração, permissões e segurança dos dados" id="{B8D53F3C-2F26-8A13-AE9C-374EBA2DB19D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Bloco 3 — Pasta de projeto, `CLAUDE.md` e arquivos de contexto" id="{DA18E8F9-CB12-A348-098A-8D4D2338B508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Bloco 4 — Planejar antes de analisar" id="{A138F1AD-CFD1-927F-0F33-BCF5FE826516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Bloco 5 — Executar e verificar" id="{D783D6AA-B85E-F1CA-6869-62228FCD447C}">
          <p14:sldIdLst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Bloco 6 — Gerenciar o contexto das sessões" id="{30A89E36-5967-5CA7-F6B8-0B0538A55538}">
          <p14:sldIdLst>
            <p14:sldId id="297"/>
            <p14:sldId id="298"/>
            <p14:sldId id="299"/>
            <p14:sldId id="300"/>
          </p14:sldIdLst>
        </p14:section>
        <p14:section name="Bloco 7 — Subagentes: orientando e orientador" id="{E96C8719-9272-EFC3-DD68-54D3EE436C77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Bloco 8 — Skills e ferramentas" id="{FE0F0483-92DB-FB9D-72BA-F6AC80FB0CB7}">
          <p14:sldIdLst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Bloco 9 — Síntese: reprodutibilidade e uso responsável" id="{172F1DE8-A34A-EBA7-86F1-7A2F247CB917}">
          <p14:sldIdLst>
            <p14:sldId id="315"/>
            <p14:sldId id="316"/>
            <p14:sldId id="317"/>
            <p14:sldId id="318"/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0B5965-5434-4939-A9C5-B32637F6BFAD}" v="2" dt="2026-10-26T12:10:27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702" autoAdjust="0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96" y="3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microsoft.com/office/2016/11/relationships/changesInfo" Target="changesInfos/changesInfo1.xml"/><Relationship Id="rId7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r Silva" userId="9b7f41b4-798d-40cf-8f87-8e33ae7a0417" providerId="ADAL" clId="{DFF9E84E-5922-4F26-9EAD-8AB4E668133E}"/>
    <pc:docChg chg="mod modSld modMainMaster">
      <pc:chgData name="Eder Silva" userId="9b7f41b4-798d-40cf-8f87-8e33ae7a0417" providerId="ADAL" clId="{DFF9E84E-5922-4F26-9EAD-8AB4E668133E}" dt="2026-10-26T12:10:30.209" v="8"/>
      <pc:docMkLst>
        <pc:docMk/>
      </pc:docMkLst>
      <pc:sldChg chg="modSp mod">
        <pc:chgData name="Eder Silva" userId="9b7f41b4-798d-40cf-8f87-8e33ae7a0417" providerId="ADAL" clId="{DFF9E84E-5922-4F26-9EAD-8AB4E668133E}" dt="2026-10-20T13:32:45.995" v="0" actId="6549"/>
        <pc:sldMkLst>
          <pc:docMk/>
          <pc:sldMk cId="0" sldId="276"/>
        </pc:sldMkLst>
        <pc:spChg chg="mod">
          <ac:chgData name="Eder Silva" userId="9b7f41b4-798d-40cf-8f87-8e33ae7a0417" providerId="ADAL" clId="{DFF9E84E-5922-4F26-9EAD-8AB4E668133E}" dt="2026-10-20T13:32:45.995" v="0" actId="6549"/>
          <ac:spMkLst>
            <pc:docMk/>
            <pc:sldMk cId="0" sldId="276"/>
            <ac:spMk id="4" creationId="{00000000-0000-0000-0000-000000000000}"/>
          </ac:spMkLst>
        </pc:spChg>
      </pc:sldChg>
      <pc:sldChg chg="addSp delSp modSp mod">
        <pc:chgData name="Eder Silva" userId="9b7f41b4-798d-40cf-8f87-8e33ae7a0417" providerId="ADAL" clId="{DFF9E84E-5922-4F26-9EAD-8AB4E668133E}" dt="2026-10-26T12:09:55.321" v="5"/>
        <pc:sldMkLst>
          <pc:docMk/>
          <pc:sldMk cId="0" sldId="287"/>
        </pc:sldMkLst>
        <pc:spChg chg="add del mod">
          <ac:chgData name="Eder Silva" userId="9b7f41b4-798d-40cf-8f87-8e33ae7a0417" providerId="ADAL" clId="{DFF9E84E-5922-4F26-9EAD-8AB4E668133E}" dt="2026-10-26T12:09:55.321" v="5"/>
          <ac:spMkLst>
            <pc:docMk/>
            <pc:sldMk cId="0" sldId="287"/>
            <ac:spMk id="7" creationId="{C71DDE0C-EA32-094F-DEC9-91159ED22235}"/>
          </ac:spMkLst>
        </pc:spChg>
      </pc:sldChg>
      <pc:sldChg chg="addSp delSp modSp mod">
        <pc:chgData name="Eder Silva" userId="9b7f41b4-798d-40cf-8f87-8e33ae7a0417" providerId="ADAL" clId="{DFF9E84E-5922-4F26-9EAD-8AB4E668133E}" dt="2026-10-26T12:10:30.209" v="8"/>
        <pc:sldMkLst>
          <pc:docMk/>
          <pc:sldMk cId="0" sldId="299"/>
        </pc:sldMkLst>
        <pc:spChg chg="add del mod">
          <ac:chgData name="Eder Silva" userId="9b7f41b4-798d-40cf-8f87-8e33ae7a0417" providerId="ADAL" clId="{DFF9E84E-5922-4F26-9EAD-8AB4E668133E}" dt="2026-10-26T12:10:30.209" v="8"/>
          <ac:spMkLst>
            <pc:docMk/>
            <pc:sldMk cId="0" sldId="299"/>
            <ac:spMk id="3" creationId="{1D222867-4BFB-74CA-2B87-6F4C251B3150}"/>
          </ac:spMkLst>
        </pc:spChg>
      </pc:sldChg>
      <pc:sldMasterChg chg="addSp mod">
        <pc:chgData name="Eder Silva" userId="9b7f41b4-798d-40cf-8f87-8e33ae7a0417" providerId="ADAL" clId="{DFF9E84E-5922-4F26-9EAD-8AB4E668133E}" dt="2026-10-20T13:32:56.701" v="1" actId="33475"/>
        <pc:sldMasterMkLst>
          <pc:docMk/>
          <pc:sldMasterMk cId="0" sldId="2147483648"/>
        </pc:sldMasterMkLst>
        <pc:spChg chg="add">
          <ac:chgData name="Eder Silva" userId="9b7f41b4-798d-40cf-8f87-8e33ae7a0417" providerId="ADAL" clId="{DFF9E84E-5922-4F26-9EAD-8AB4E668133E}" dt="2026-10-20T13:32:56.701" v="1" actId="33475"/>
          <ac:spMkLst>
            <pc:docMk/>
            <pc:sldMasterMk cId="0" sldId="2147483648"/>
            <ac:spMk id="3" creationId="{734FE698-F61F-6DCA-EA57-43B4DE6BE347}"/>
          </ac:spMkLst>
        </pc:sp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539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Claude Code no VS Code: do primeiro contato a uma análise reproduzível</a:t>
            </a:r>
            <a:endParaRPr lang="en-US" sz="4000" dirty="0"/>
          </a:p>
        </p:txBody>
      </p:sp>
      <p:sp>
        <p:nvSpPr>
          <p:cNvPr id="3" name="texto-0"/>
          <p:cNvSpPr txBox="1"/>
          <p:nvPr/>
        </p:nvSpPr>
        <p:spPr>
          <a:xfrm>
            <a:off x="658368" y="502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00" kern="0" spc="1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NO MELHORAMENTO GENÉTICO: FUNDAMENTOS E APLICAÇÕES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796 · UFV · 3 A 5 DE NOVEMBRO DE 2026</a:t>
            </a:r>
            <a:endParaRPr lang="en-US" sz="1200" dirty="0"/>
          </a:p>
        </p:txBody>
      </p:sp>
      <p:sp>
        <p:nvSpPr>
          <p:cNvPr id="4" name="texto-1"/>
          <p:cNvSpPr txBox="1"/>
          <p:nvPr/>
        </p:nvSpPr>
        <p:spPr>
          <a:xfrm>
            <a:off x="9974275" y="502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800" dirty="0"/>
          </a:p>
        </p:txBody>
      </p:sp>
      <p:sp>
        <p:nvSpPr>
          <p:cNvPr id="5" name="ret-2"/>
          <p:cNvSpPr/>
          <p:nvPr/>
        </p:nvSpPr>
        <p:spPr>
          <a:xfrm>
            <a:off x="99742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101342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ret-4"/>
          <p:cNvSpPr/>
          <p:nvPr/>
        </p:nvSpPr>
        <p:spPr>
          <a:xfrm>
            <a:off x="102943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ret-5"/>
          <p:cNvSpPr/>
          <p:nvPr/>
        </p:nvSpPr>
        <p:spPr>
          <a:xfrm>
            <a:off x="104543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106143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t-7"/>
          <p:cNvSpPr/>
          <p:nvPr/>
        </p:nvSpPr>
        <p:spPr>
          <a:xfrm>
            <a:off x="107743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t-8"/>
          <p:cNvSpPr/>
          <p:nvPr/>
        </p:nvSpPr>
        <p:spPr>
          <a:xfrm>
            <a:off x="109343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110944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ret-10"/>
          <p:cNvSpPr/>
          <p:nvPr/>
        </p:nvSpPr>
        <p:spPr>
          <a:xfrm>
            <a:off x="112544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ret-11"/>
          <p:cNvSpPr/>
          <p:nvPr/>
        </p:nvSpPr>
        <p:spPr>
          <a:xfrm>
            <a:off x="114144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99742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ret-13"/>
          <p:cNvSpPr/>
          <p:nvPr/>
        </p:nvSpPr>
        <p:spPr>
          <a:xfrm>
            <a:off x="101342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ret-14"/>
          <p:cNvSpPr/>
          <p:nvPr/>
        </p:nvSpPr>
        <p:spPr>
          <a:xfrm>
            <a:off x="102943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ret-15"/>
          <p:cNvSpPr/>
          <p:nvPr/>
        </p:nvSpPr>
        <p:spPr>
          <a:xfrm>
            <a:off x="104543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et-16"/>
          <p:cNvSpPr/>
          <p:nvPr/>
        </p:nvSpPr>
        <p:spPr>
          <a:xfrm>
            <a:off x="106143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ret-17"/>
          <p:cNvSpPr/>
          <p:nvPr/>
        </p:nvSpPr>
        <p:spPr>
          <a:xfrm>
            <a:off x="107743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ret-18"/>
          <p:cNvSpPr/>
          <p:nvPr/>
        </p:nvSpPr>
        <p:spPr>
          <a:xfrm>
            <a:off x="109343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ret-19"/>
          <p:cNvSpPr/>
          <p:nvPr/>
        </p:nvSpPr>
        <p:spPr>
          <a:xfrm>
            <a:off x="110944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ret-20"/>
          <p:cNvSpPr/>
          <p:nvPr/>
        </p:nvSpPr>
        <p:spPr>
          <a:xfrm>
            <a:off x="112544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ret-21"/>
          <p:cNvSpPr/>
          <p:nvPr/>
        </p:nvSpPr>
        <p:spPr>
          <a:xfrm>
            <a:off x="114144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ret-22"/>
          <p:cNvSpPr/>
          <p:nvPr/>
        </p:nvSpPr>
        <p:spPr>
          <a:xfrm>
            <a:off x="99742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ret-23"/>
          <p:cNvSpPr/>
          <p:nvPr/>
        </p:nvSpPr>
        <p:spPr>
          <a:xfrm>
            <a:off x="101342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ret-24"/>
          <p:cNvSpPr/>
          <p:nvPr/>
        </p:nvSpPr>
        <p:spPr>
          <a:xfrm>
            <a:off x="102943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ret-25"/>
          <p:cNvSpPr/>
          <p:nvPr/>
        </p:nvSpPr>
        <p:spPr>
          <a:xfrm>
            <a:off x="104543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ret-26"/>
          <p:cNvSpPr/>
          <p:nvPr/>
        </p:nvSpPr>
        <p:spPr>
          <a:xfrm>
            <a:off x="106143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ret-27"/>
          <p:cNvSpPr/>
          <p:nvPr/>
        </p:nvSpPr>
        <p:spPr>
          <a:xfrm>
            <a:off x="107743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ret-28"/>
          <p:cNvSpPr/>
          <p:nvPr/>
        </p:nvSpPr>
        <p:spPr>
          <a:xfrm>
            <a:off x="109343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ret-29"/>
          <p:cNvSpPr/>
          <p:nvPr/>
        </p:nvSpPr>
        <p:spPr>
          <a:xfrm>
            <a:off x="110944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ret-30"/>
          <p:cNvSpPr/>
          <p:nvPr/>
        </p:nvSpPr>
        <p:spPr>
          <a:xfrm>
            <a:off x="112544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ret-31"/>
          <p:cNvSpPr/>
          <p:nvPr/>
        </p:nvSpPr>
        <p:spPr>
          <a:xfrm>
            <a:off x="114144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ret-32"/>
          <p:cNvSpPr/>
          <p:nvPr/>
        </p:nvSpPr>
        <p:spPr>
          <a:xfrm>
            <a:off x="99742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ret-33"/>
          <p:cNvSpPr/>
          <p:nvPr/>
        </p:nvSpPr>
        <p:spPr>
          <a:xfrm>
            <a:off x="101342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ret-34"/>
          <p:cNvSpPr/>
          <p:nvPr/>
        </p:nvSpPr>
        <p:spPr>
          <a:xfrm>
            <a:off x="102943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ret-35"/>
          <p:cNvSpPr/>
          <p:nvPr/>
        </p:nvSpPr>
        <p:spPr>
          <a:xfrm>
            <a:off x="104543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ret-36"/>
          <p:cNvSpPr/>
          <p:nvPr/>
        </p:nvSpPr>
        <p:spPr>
          <a:xfrm>
            <a:off x="106143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ret-37"/>
          <p:cNvSpPr/>
          <p:nvPr/>
        </p:nvSpPr>
        <p:spPr>
          <a:xfrm>
            <a:off x="107743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ret-38"/>
          <p:cNvSpPr/>
          <p:nvPr/>
        </p:nvSpPr>
        <p:spPr>
          <a:xfrm>
            <a:off x="109343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ret-39"/>
          <p:cNvSpPr/>
          <p:nvPr/>
        </p:nvSpPr>
        <p:spPr>
          <a:xfrm>
            <a:off x="110944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ret-40"/>
          <p:cNvSpPr/>
          <p:nvPr/>
        </p:nvSpPr>
        <p:spPr>
          <a:xfrm>
            <a:off x="112544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ret-41"/>
          <p:cNvSpPr/>
          <p:nvPr/>
        </p:nvSpPr>
        <p:spPr>
          <a:xfrm>
            <a:off x="114144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o-42"/>
          <p:cNvSpPr txBox="1"/>
          <p:nvPr/>
        </p:nvSpPr>
        <p:spPr>
          <a:xfrm>
            <a:off x="9974275" y="1435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800" dirty="0"/>
          </a:p>
        </p:txBody>
      </p:sp>
      <p:sp>
        <p:nvSpPr>
          <p:cNvPr id="46" name="ret-43"/>
          <p:cNvSpPr/>
          <p:nvPr/>
        </p:nvSpPr>
        <p:spPr>
          <a:xfrm>
            <a:off x="99742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ret-44"/>
          <p:cNvSpPr/>
          <p:nvPr/>
        </p:nvSpPr>
        <p:spPr>
          <a:xfrm>
            <a:off x="101342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ret-45"/>
          <p:cNvSpPr/>
          <p:nvPr/>
        </p:nvSpPr>
        <p:spPr>
          <a:xfrm>
            <a:off x="102943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ret-46"/>
          <p:cNvSpPr/>
          <p:nvPr/>
        </p:nvSpPr>
        <p:spPr>
          <a:xfrm>
            <a:off x="104543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ret-47"/>
          <p:cNvSpPr/>
          <p:nvPr/>
        </p:nvSpPr>
        <p:spPr>
          <a:xfrm>
            <a:off x="106143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ret-48"/>
          <p:cNvSpPr/>
          <p:nvPr/>
        </p:nvSpPr>
        <p:spPr>
          <a:xfrm>
            <a:off x="107743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ret-49"/>
          <p:cNvSpPr/>
          <p:nvPr/>
        </p:nvSpPr>
        <p:spPr>
          <a:xfrm>
            <a:off x="109343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ret-50"/>
          <p:cNvSpPr/>
          <p:nvPr/>
        </p:nvSpPr>
        <p:spPr>
          <a:xfrm>
            <a:off x="110944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ret-51"/>
          <p:cNvSpPr/>
          <p:nvPr/>
        </p:nvSpPr>
        <p:spPr>
          <a:xfrm>
            <a:off x="112544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ret-52"/>
          <p:cNvSpPr/>
          <p:nvPr/>
        </p:nvSpPr>
        <p:spPr>
          <a:xfrm>
            <a:off x="114144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ret-53"/>
          <p:cNvSpPr/>
          <p:nvPr/>
        </p:nvSpPr>
        <p:spPr>
          <a:xfrm>
            <a:off x="99742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ret-54"/>
          <p:cNvSpPr/>
          <p:nvPr/>
        </p:nvSpPr>
        <p:spPr>
          <a:xfrm>
            <a:off x="101342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ret-55"/>
          <p:cNvSpPr/>
          <p:nvPr/>
        </p:nvSpPr>
        <p:spPr>
          <a:xfrm>
            <a:off x="102943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ret-56"/>
          <p:cNvSpPr/>
          <p:nvPr/>
        </p:nvSpPr>
        <p:spPr>
          <a:xfrm>
            <a:off x="104543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ret-57"/>
          <p:cNvSpPr/>
          <p:nvPr/>
        </p:nvSpPr>
        <p:spPr>
          <a:xfrm>
            <a:off x="106143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ret-58"/>
          <p:cNvSpPr/>
          <p:nvPr/>
        </p:nvSpPr>
        <p:spPr>
          <a:xfrm>
            <a:off x="107743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ret-59"/>
          <p:cNvSpPr/>
          <p:nvPr/>
        </p:nvSpPr>
        <p:spPr>
          <a:xfrm>
            <a:off x="109343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ret-60"/>
          <p:cNvSpPr/>
          <p:nvPr/>
        </p:nvSpPr>
        <p:spPr>
          <a:xfrm>
            <a:off x="110944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ret-61"/>
          <p:cNvSpPr/>
          <p:nvPr/>
        </p:nvSpPr>
        <p:spPr>
          <a:xfrm>
            <a:off x="112544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ret-62"/>
          <p:cNvSpPr/>
          <p:nvPr/>
        </p:nvSpPr>
        <p:spPr>
          <a:xfrm>
            <a:off x="114144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ret-63"/>
          <p:cNvSpPr/>
          <p:nvPr/>
        </p:nvSpPr>
        <p:spPr>
          <a:xfrm>
            <a:off x="99742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ret-64"/>
          <p:cNvSpPr/>
          <p:nvPr/>
        </p:nvSpPr>
        <p:spPr>
          <a:xfrm>
            <a:off x="101342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ret-65"/>
          <p:cNvSpPr/>
          <p:nvPr/>
        </p:nvSpPr>
        <p:spPr>
          <a:xfrm>
            <a:off x="102943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ret-66"/>
          <p:cNvSpPr/>
          <p:nvPr/>
        </p:nvSpPr>
        <p:spPr>
          <a:xfrm>
            <a:off x="104543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ret-67"/>
          <p:cNvSpPr/>
          <p:nvPr/>
        </p:nvSpPr>
        <p:spPr>
          <a:xfrm>
            <a:off x="106143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ret-68"/>
          <p:cNvSpPr/>
          <p:nvPr/>
        </p:nvSpPr>
        <p:spPr>
          <a:xfrm>
            <a:off x="107743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ret-69"/>
          <p:cNvSpPr/>
          <p:nvPr/>
        </p:nvSpPr>
        <p:spPr>
          <a:xfrm>
            <a:off x="109343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ret-70"/>
          <p:cNvSpPr/>
          <p:nvPr/>
        </p:nvSpPr>
        <p:spPr>
          <a:xfrm>
            <a:off x="110944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ret-71"/>
          <p:cNvSpPr/>
          <p:nvPr/>
        </p:nvSpPr>
        <p:spPr>
          <a:xfrm>
            <a:off x="112544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ret-72"/>
          <p:cNvSpPr/>
          <p:nvPr/>
        </p:nvSpPr>
        <p:spPr>
          <a:xfrm>
            <a:off x="114144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ret-73"/>
          <p:cNvSpPr/>
          <p:nvPr/>
        </p:nvSpPr>
        <p:spPr>
          <a:xfrm>
            <a:off x="99742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ret-74"/>
          <p:cNvSpPr/>
          <p:nvPr/>
        </p:nvSpPr>
        <p:spPr>
          <a:xfrm>
            <a:off x="101342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ret-75"/>
          <p:cNvSpPr/>
          <p:nvPr/>
        </p:nvSpPr>
        <p:spPr>
          <a:xfrm>
            <a:off x="102943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ret-76"/>
          <p:cNvSpPr/>
          <p:nvPr/>
        </p:nvSpPr>
        <p:spPr>
          <a:xfrm>
            <a:off x="104543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ret-77"/>
          <p:cNvSpPr/>
          <p:nvPr/>
        </p:nvSpPr>
        <p:spPr>
          <a:xfrm>
            <a:off x="106143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ret-78"/>
          <p:cNvSpPr/>
          <p:nvPr/>
        </p:nvSpPr>
        <p:spPr>
          <a:xfrm>
            <a:off x="107743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ret-79"/>
          <p:cNvSpPr/>
          <p:nvPr/>
        </p:nvSpPr>
        <p:spPr>
          <a:xfrm>
            <a:off x="109343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ret-80"/>
          <p:cNvSpPr/>
          <p:nvPr/>
        </p:nvSpPr>
        <p:spPr>
          <a:xfrm>
            <a:off x="110944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ret-81"/>
          <p:cNvSpPr/>
          <p:nvPr/>
        </p:nvSpPr>
        <p:spPr>
          <a:xfrm>
            <a:off x="112544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ret-82"/>
          <p:cNvSpPr/>
          <p:nvPr/>
        </p:nvSpPr>
        <p:spPr>
          <a:xfrm>
            <a:off x="114144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o-83"/>
          <p:cNvSpPr txBox="1"/>
          <p:nvPr/>
        </p:nvSpPr>
        <p:spPr>
          <a:xfrm>
            <a:off x="658368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</a:t>
            </a:r>
            <a:endParaRPr lang="en-US" sz="1800" dirty="0"/>
          </a:p>
        </p:txBody>
      </p:sp>
      <p:sp>
        <p:nvSpPr>
          <p:cNvPr id="87" name="texto-84"/>
          <p:cNvSpPr txBox="1"/>
          <p:nvPr/>
        </p:nvSpPr>
        <p:spPr>
          <a:xfrm>
            <a:off x="658368" y="4311396"/>
            <a:ext cx="10515600" cy="50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Carga:</a:t>
            </a:r>
            <a:r>
              <a:rPr lang="en-US" sz="1500" dirty="0">
                <a:solidFill>
                  <a:schemeClr val="tx2"/>
                </a:solidFill>
              </a:rPr>
              <a:t> 4 h · </a:t>
            </a:r>
            <a:r>
              <a:rPr lang="en-US" sz="1500" b="1" dirty="0">
                <a:solidFill>
                  <a:schemeClr val="tx2"/>
                </a:solidFill>
              </a:rPr>
              <a:t>Prática: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3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caderno.md</a:t>
            </a:r>
            <a:r>
              <a:rPr lang="en-US" sz="1500" dirty="0">
                <a:solidFill>
                  <a:schemeClr val="tx2"/>
                </a:solidFill>
              </a:rPr>
              <a:t> · </a:t>
            </a:r>
            <a:r>
              <a:rPr lang="en-US" sz="1500" b="1" dirty="0">
                <a:solidFill>
                  <a:schemeClr val="tx2"/>
                </a:solidFill>
              </a:rPr>
              <a:t>Instalação: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3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guia_instalacao.md</a:t>
            </a:r>
            <a:r>
              <a:rPr lang="en-US" sz="1500" dirty="0">
                <a:solidFill>
                  <a:schemeClr val="tx2"/>
                </a:solidFill>
              </a:rPr>
              <a:t> (antes da aula) · </a:t>
            </a:r>
            <a:r>
              <a:rPr lang="en-US" sz="1500" b="1" dirty="0">
                <a:solidFill>
                  <a:schemeClr val="tx2"/>
                </a:solidFill>
              </a:rPr>
              <a:t>Dados: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3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dados/vcu_milho_2025_campo.csv</a:t>
            </a:r>
            <a:endParaRPr lang="en-US" sz="1500" dirty="0"/>
          </a:p>
        </p:txBody>
      </p:sp>
      <p:sp>
        <p:nvSpPr>
          <p:cNvPr id="88" name="ret-85"/>
          <p:cNvSpPr/>
          <p:nvPr/>
        </p:nvSpPr>
        <p:spPr>
          <a:xfrm>
            <a:off x="658368" y="5010826"/>
            <a:ext cx="10515600" cy="1161374"/>
          </a:xfrm>
          <a:prstGeom prst="roundRect">
            <a:avLst>
              <a:gd name="adj" fmla="val 6299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o-86"/>
          <p:cNvSpPr txBox="1"/>
          <p:nvPr/>
        </p:nvSpPr>
        <p:spPr>
          <a:xfrm>
            <a:off x="886968" y="5147986"/>
            <a:ext cx="10104120" cy="908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Fio condutor:</a:t>
            </a:r>
            <a:r>
              <a:rPr lang="en-US" sz="1250" dirty="0">
                <a:solidFill>
                  <a:schemeClr val="tx1"/>
                </a:solidFill>
              </a:rPr>
              <a:t> um ensaio de VCU de milho de 2025 (3 locais, 404 genótipos, 2.426 parcelas) chega do campo com erros de digitação. Ao longo da seção, a turma monta a pasta de análise, escreve o contexto, planeja, executa e revisa a análise com o Claude Code, conferindo cada etapa contra uma resposta conhecida.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chemeClr val="tx1"/>
                </a:solidFill>
              </a:rPr>
              <a:t>Mensagem:</a:t>
            </a:r>
            <a:r>
              <a:rPr lang="en-US" sz="1250" dirty="0">
                <a:solidFill>
                  <a:schemeClr val="tx1"/>
                </a:solidFill>
              </a:rPr>
              <a:t> o agente acelera a análise; a pasta organizada, o plano revisado e a verificação independente é que a tornam correta e reproduzível.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Roteiro da seção</a:t>
            </a:r>
            <a:endParaRPr lang="en-US" sz="2800" dirty="0"/>
          </a:p>
        </p:txBody>
      </p:sp>
      <p:graphicFrame>
        <p:nvGraphicFramePr>
          <p:cNvPr id="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4381559"/>
        </p:xfrm>
        <a:graphic>
          <a:graphicData uri="http://schemas.openxmlformats.org/drawingml/2006/table">
            <a:tbl>
              <a:tblPr/>
              <a:tblGrid>
                <a:gridCol w="1153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b="1" dirty="0">
                          <a:solidFill>
                            <a:schemeClr val="tx1"/>
                          </a:solidFill>
                        </a:rPr>
                        <a:t>Bloco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b="1" dirty="0">
                          <a:solidFill>
                            <a:schemeClr val="tx1"/>
                          </a:solidFill>
                        </a:rPr>
                        <a:t>Tema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b="1" dirty="0">
                          <a:solidFill>
                            <a:schemeClr val="tx1"/>
                          </a:solidFill>
                        </a:rPr>
                        <a:t>Tempo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Do chat ao agente de código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Ambiente: editores, instalação e primeiro acesso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Configuração, permissões e segurança dos dados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Pasta de projeto, </a:t>
                      </a:r>
                      <a:r>
                        <a:rPr lang="en-US" sz="1458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</a:t>
                      </a: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 e arquivos de contexto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35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Intervalo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10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Planejar antes de analisar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25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Executar e verificar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35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Gerenciar o contexto das sessões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Intervalo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10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Subagentes: orientando e orientador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35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Skills e ferramentas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Síntese: reprodutibilidade e uso responsável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5614018"/>
            <a:ext cx="11057839" cy="64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32" dirty="0">
                <a:solidFill>
                  <a:schemeClr val="tx1"/>
                </a:solidFill>
              </a:rPr>
              <a:t>⚙️ marca instruções específicas do Claude Code (comandos, atalhos, nomes de arquivos de configuração). Elas mudam com frequência: conferidas em outubro de 2026 em https://code.claude.com/docs.</a:t>
            </a:r>
            <a:endParaRPr lang="en-US" sz="1932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ROTEIRO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Do chat ao agente de código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0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   </a:t>
            </a:r>
            <a:r>
              <a:rPr lang="en-US" sz="2800" b="1" dirty="0">
                <a:solidFill>
                  <a:schemeClr val="tx1"/>
                </a:solidFill>
              </a:rPr>
              <a:t>O que muda em relação ao chat</a:t>
            </a:r>
            <a:endParaRPr lang="en-US" sz="2800" dirty="0"/>
          </a:p>
        </p:txBody>
      </p:sp>
      <p:graphicFrame>
        <p:nvGraphicFramePr>
          <p:cNvPr id="5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150400"/>
        </p:xfrm>
        <a:graphic>
          <a:graphicData uri="http://schemas.openxmlformats.org/drawingml/2006/table">
            <a:tbl>
              <a:tblPr/>
              <a:tblGrid>
                <a:gridCol w="170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Chat (claude.ai, ChatGPT)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Agente de código (Claude Code)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Onde trabalha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Na janela da conversa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Na </a:t>
                      </a: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pasta do projeto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no seu computador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vê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você cola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Os arquivos que ele mesmo abre e as saídas dos comandos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faz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Sugere código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Escreve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arquivos, </a:t>
                      </a: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roda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scripts, lê o erro e corrige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Quem executa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Você copia, cola e roda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agente, com a sua permissão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fica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Uma conversa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Arquivos versionados no projeto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t-1"/>
          <p:cNvSpPr/>
          <p:nvPr/>
        </p:nvSpPr>
        <p:spPr>
          <a:xfrm>
            <a:off x="566928" y="3395659"/>
            <a:ext cx="11057839" cy="903133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o-2"/>
          <p:cNvSpPr txBox="1"/>
          <p:nvPr/>
        </p:nvSpPr>
        <p:spPr>
          <a:xfrm>
            <a:off x="749808" y="3505387"/>
            <a:ext cx="1069207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A pergunta deixa de ser "qual é o código?" e passa a ser "o que o agente precisa saber, o que ele pode fazer e como eu confiro o que ele fez?".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   </a:t>
            </a:r>
            <a:r>
              <a:rPr lang="en-US" sz="2800" b="1" dirty="0">
                <a:solidFill>
                  <a:schemeClr val="tx1"/>
                </a:solidFill>
              </a:rPr>
              <a:t>O ciclo de um agente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614373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58368" y="1176680"/>
            <a:ext cx="1431493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Pedido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prompt + contexto da pasta</a:t>
            </a:r>
            <a:endParaRPr lang="en-US" sz="1554" dirty="0"/>
          </a:p>
        </p:txBody>
      </p:sp>
      <p:sp>
        <p:nvSpPr>
          <p:cNvPr id="5" name="seta-2"/>
          <p:cNvSpPr/>
          <p:nvPr/>
        </p:nvSpPr>
        <p:spPr>
          <a:xfrm>
            <a:off x="2227021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2455621" y="1085240"/>
            <a:ext cx="1614373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2547061" y="1176680"/>
            <a:ext cx="1431493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Explora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lê arquivos, procura padrões</a:t>
            </a:r>
            <a:endParaRPr lang="en-US" sz="1554" dirty="0"/>
          </a:p>
        </p:txBody>
      </p:sp>
      <p:sp>
        <p:nvSpPr>
          <p:cNvPr id="8" name="seta-5"/>
          <p:cNvSpPr/>
          <p:nvPr/>
        </p:nvSpPr>
        <p:spPr>
          <a:xfrm>
            <a:off x="4115714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4344314" y="1085240"/>
            <a:ext cx="1614373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o-7"/>
          <p:cNvSpPr txBox="1"/>
          <p:nvPr/>
        </p:nvSpPr>
        <p:spPr>
          <a:xfrm>
            <a:off x="4435754" y="1176680"/>
            <a:ext cx="1431493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Planeja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decide os passos</a:t>
            </a:r>
            <a:endParaRPr lang="en-US" sz="1554" dirty="0"/>
          </a:p>
        </p:txBody>
      </p:sp>
      <p:sp>
        <p:nvSpPr>
          <p:cNvPr id="11" name="seta-8"/>
          <p:cNvSpPr/>
          <p:nvPr/>
        </p:nvSpPr>
        <p:spPr>
          <a:xfrm>
            <a:off x="6004408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6233008" y="1085240"/>
            <a:ext cx="1614373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o-10"/>
          <p:cNvSpPr txBox="1"/>
          <p:nvPr/>
        </p:nvSpPr>
        <p:spPr>
          <a:xfrm>
            <a:off x="6324448" y="1176680"/>
            <a:ext cx="1431493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Age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edita, roda comandos</a:t>
            </a:r>
            <a:endParaRPr lang="en-US" sz="1554" dirty="0"/>
          </a:p>
        </p:txBody>
      </p:sp>
      <p:sp>
        <p:nvSpPr>
          <p:cNvPr id="14" name="seta-11"/>
          <p:cNvSpPr/>
          <p:nvPr/>
        </p:nvSpPr>
        <p:spPr>
          <a:xfrm>
            <a:off x="7893101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8121701" y="1085240"/>
            <a:ext cx="1614373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o-13"/>
          <p:cNvSpPr txBox="1"/>
          <p:nvPr/>
        </p:nvSpPr>
        <p:spPr>
          <a:xfrm>
            <a:off x="8213141" y="1176680"/>
            <a:ext cx="1431493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Verifica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lê a saída, roda testes</a:t>
            </a:r>
            <a:endParaRPr lang="en-US" sz="1554" dirty="0"/>
          </a:p>
        </p:txBody>
      </p:sp>
      <p:sp>
        <p:nvSpPr>
          <p:cNvPr id="17" name="seta-14"/>
          <p:cNvSpPr/>
          <p:nvPr/>
        </p:nvSpPr>
        <p:spPr>
          <a:xfrm>
            <a:off x="9781794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t-15"/>
          <p:cNvSpPr/>
          <p:nvPr/>
        </p:nvSpPr>
        <p:spPr>
          <a:xfrm>
            <a:off x="10010394" y="1085240"/>
            <a:ext cx="1614373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o-16"/>
          <p:cNvSpPr txBox="1"/>
          <p:nvPr/>
        </p:nvSpPr>
        <p:spPr>
          <a:xfrm>
            <a:off x="10101834" y="1176680"/>
            <a:ext cx="1431493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Repete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até "parecer pronto"</a:t>
            </a:r>
            <a:endParaRPr lang="en-US" sz="1554" dirty="0"/>
          </a:p>
        </p:txBody>
      </p:sp>
      <p:sp>
        <p:nvSpPr>
          <p:cNvPr id="20" name="texto-17"/>
          <p:cNvSpPr txBox="1"/>
          <p:nvPr/>
        </p:nvSpPr>
        <p:spPr>
          <a:xfrm>
            <a:off x="566928" y="2104061"/>
            <a:ext cx="11057839" cy="224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para quando o trabalho </a:t>
            </a:r>
            <a:r>
              <a:rPr lang="en-US" sz="2100" b="1" dirty="0">
                <a:solidFill>
                  <a:schemeClr val="tx1"/>
                </a:solidFill>
              </a:rPr>
              <a:t>parece</a:t>
            </a:r>
            <a:r>
              <a:rPr lang="en-US" sz="2100" dirty="0">
                <a:solidFill>
                  <a:schemeClr val="tx1"/>
                </a:solidFill>
              </a:rPr>
              <a:t> pronto. Se não houver uma verificação que ele possa rodar, quem verifica é você.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arquivo lido e cada saída de comando ocupam a </a:t>
            </a:r>
            <a:r>
              <a:rPr lang="en-US" sz="2100" b="1" dirty="0">
                <a:solidFill>
                  <a:schemeClr val="tx1"/>
                </a:solidFill>
              </a:rPr>
              <a:t>janela de contexto</a:t>
            </a:r>
            <a:r>
              <a:rPr lang="en-US" sz="2100" dirty="0">
                <a:solidFill>
                  <a:schemeClr val="tx1"/>
                </a:solidFill>
              </a:rPr>
              <a:t>, a memória de trabalho da sessão, que é limitada e se degrada quando enche.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mesmo pedido pode gerar códigos diferentes em sessões diferentes: a reprodutibilidade está no </a:t>
            </a:r>
            <a:r>
              <a:rPr lang="en-US" sz="2100" b="1" dirty="0">
                <a:solidFill>
                  <a:schemeClr val="tx1"/>
                </a:solidFill>
              </a:rPr>
              <a:t>código versionado</a:t>
            </a:r>
            <a:r>
              <a:rPr lang="en-US" sz="2100" dirty="0">
                <a:solidFill>
                  <a:schemeClr val="tx1"/>
                </a:solidFill>
              </a:rPr>
              <a:t>, não na conversa.</a:t>
            </a:r>
            <a:endParaRPr lang="en-US" sz="2100" dirty="0"/>
          </a:p>
        </p:txBody>
      </p:sp>
      <p:sp>
        <p:nvSpPr>
          <p:cNvPr id="21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   </a:t>
            </a:r>
            <a:r>
              <a:rPr lang="en-US" sz="2800" b="1" dirty="0">
                <a:solidFill>
                  <a:schemeClr val="tx1"/>
                </a:solidFill>
              </a:rPr>
              <a:t>O exemplo desta seção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24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Ensaio de VCU de milho, safra 2025: linhagens DH em </a:t>
            </a:r>
            <a:r>
              <a:rPr lang="en-US" sz="2100" b="1" dirty="0">
                <a:solidFill>
                  <a:schemeClr val="tx1"/>
                </a:solidFill>
              </a:rPr>
              <a:t>testcross</a:t>
            </a:r>
            <a:r>
              <a:rPr lang="en-US" sz="2100" dirty="0">
                <a:solidFill>
                  <a:schemeClr val="tx1"/>
                </a:solidFill>
              </a:rPr>
              <a:t>, 3 locais (UDI, SLG, PGO), blocos casualizados com 2 blocos.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arquivo veio do campo com </a:t>
            </a:r>
            <a:r>
              <a:rPr lang="en-US" sz="2100" b="1" dirty="0">
                <a:solidFill>
                  <a:schemeClr val="tx1"/>
                </a:solidFill>
              </a:rPr>
              <a:t>14 erros</a:t>
            </a:r>
            <a:r>
              <a:rPr lang="en-US" sz="2100" dirty="0">
                <a:solidFill>
                  <a:schemeClr val="tx1"/>
                </a:solidFill>
              </a:rPr>
              <a:t>: 5 identificadores fora do padrão, 2 parcelas duplicadas e 7 valores fora do intervalo (como 104.613 kg/ha).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Os dados são simulados: sabemos o valor genético verdadeiro de cada linhagem e, portanto, se a análise está certa.</a:t>
            </a:r>
            <a:endParaRPr lang="en-US" sz="2100" dirty="0"/>
          </a:p>
        </p:txBody>
      </p:sp>
      <p:graphicFrame>
        <p:nvGraphicFramePr>
          <p:cNvPr id="7" name="tabela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66981"/>
          <a:ext cx="11057840" cy="1075200"/>
        </p:xfrm>
        <a:graphic>
          <a:graphicData uri="http://schemas.openxmlformats.org/drawingml/2006/table">
            <a:tbl>
              <a:tblPr/>
              <a:tblGrid>
                <a:gridCol w="412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7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Análise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CV em PGO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h² de médias em PGO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Acurácia dos BLUPs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Sem QC (o código roda sem erro)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31,9%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Com QC e curadoria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4,9%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0,82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o-2"/>
          <p:cNvSpPr txBox="1"/>
          <p:nvPr/>
        </p:nvSpPr>
        <p:spPr>
          <a:xfrm>
            <a:off x="566928" y="5914667"/>
            <a:ext cx="11057839" cy="376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Acurácia = correlação entre BLUP e valor genético verdadeiro de testcross das 400 linhagens DH25. Sem QC, a linhagem DH25_0232 (parcela de 104.613 kg/ha) fica em 1º lugar; com QC, em 259º.</a:t>
            </a:r>
            <a:endParaRPr lang="en-US" sz="1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Ambiente: editores, instalação e primeiro acesso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  </a:t>
            </a:r>
            <a:r>
              <a:rPr lang="en-US" sz="2800" b="1" dirty="0">
                <a:solidFill>
                  <a:schemeClr val="tx1"/>
                </a:solidFill>
              </a:rPr>
              <a:t>Por que um editor, e não só o terminal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trabalha em arquivos; o editor mostra </a:t>
            </a:r>
            <a:r>
              <a:rPr lang="en-US" sz="2100" b="1" dirty="0">
                <a:solidFill>
                  <a:schemeClr val="tx1"/>
                </a:solidFill>
              </a:rPr>
              <a:t>o que mudou</a:t>
            </a:r>
            <a:r>
              <a:rPr lang="en-US" sz="2100" dirty="0">
                <a:solidFill>
                  <a:schemeClr val="tx1"/>
                </a:solidFill>
              </a:rPr>
              <a:t> (diff lado a lado), a árvore da pasta e o terminal no mesmo lugar.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VS Code, o Claude Code roda como </a:t>
            </a:r>
            <a:r>
              <a:rPr lang="en-US" sz="2100" b="1" dirty="0">
                <a:solidFill>
                  <a:schemeClr val="tx1"/>
                </a:solidFill>
              </a:rPr>
              <a:t>extensão</a:t>
            </a:r>
            <a:r>
              <a:rPr lang="en-US" sz="2100" dirty="0">
                <a:solidFill>
                  <a:schemeClr val="tx1"/>
                </a:solidFill>
              </a:rPr>
              <a:t> (painel gráfico) ou no </a:t>
            </a:r>
            <a:r>
              <a:rPr lang="en-US" sz="2100" b="1" dirty="0">
                <a:solidFill>
                  <a:schemeClr val="tx1"/>
                </a:solidFill>
              </a:rPr>
              <a:t>terminal integrado</a:t>
            </a:r>
            <a:r>
              <a:rPr lang="en-US" sz="2100" dirty="0">
                <a:solidFill>
                  <a:schemeClr val="tx1"/>
                </a:solidFill>
              </a:rPr>
              <a:t> (linha de comando). Os dois compartilham configurações e histórico.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Você continua no controle: aprova edições, lê o diff, roda o script.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  </a:t>
            </a:r>
            <a:r>
              <a:rPr lang="en-US" sz="2800" b="1" dirty="0">
                <a:solidFill>
                  <a:schemeClr val="tx1"/>
                </a:solidFill>
              </a:rPr>
              <a:t>Editores possíveis</a:t>
            </a:r>
            <a:endParaRPr lang="en-US" sz="2800" dirty="0"/>
          </a:p>
        </p:txBody>
      </p:sp>
      <p:graphicFrame>
        <p:nvGraphicFramePr>
          <p:cNvPr id="10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660717"/>
        </p:xfrm>
        <a:graphic>
          <a:graphicData uri="http://schemas.openxmlformats.org/drawingml/2006/table">
            <a:tbl>
              <a:tblPr/>
              <a:tblGrid>
                <a:gridCol w="2047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4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4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Editor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 que é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Para o curso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VS Code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(Microsoft)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Editor gratuito; extensões do Visual Studio Marketplace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Padrão da turma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: extensão oficial do Claude Code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3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Positron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(Posit)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Derivado do VS Code para ciência de dados em R e Python; console, visualizador de dados e gráficos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Ótimo para quem vive no R; extensões vêm do Open VSX, onde a do Claude Code pode atrasar; o terminal sempre funciona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3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Cursor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Derivado do VS Code com agente de IA próprio; plano gratuito limitado e planos pagos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 extensão do Claude Code tem instalação oficial; cuidado para não usar dois agentes ao mesmo tempo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3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Antigravity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(Google)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Editor "agent-first" derivado do VS Code, lançado em nov/2025, com modelos Gemini e outros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Tem agentes próprios; há relatos de falha da extensão do Claude Code; use o terminal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Positron: positron.posit.co (extensões via Open VSX). Cursor e outros derivados: code.claude.com/docs/en/vs-code. Antigravity: anunciado em 18/11/2025.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  </a:t>
            </a:r>
            <a:r>
              <a:rPr lang="en-US" sz="2800" b="1" dirty="0">
                <a:solidFill>
                  <a:schemeClr val="tx1"/>
                </a:solidFill>
              </a:rPr>
              <a:t>Instalação, na ordem (antes da aula)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32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</a:rPr>
              <a:t>VS Code</a:t>
            </a:r>
            <a:r>
              <a:rPr lang="en-US" sz="2100" dirty="0">
                <a:solidFill>
                  <a:schemeClr val="tx1"/>
                </a:solidFill>
              </a:rPr>
              <a:t>: code.visualstudio.com → instalador do seu sistema.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</a:rPr>
              <a:t>R</a:t>
            </a:r>
            <a:r>
              <a:rPr lang="en-US" sz="2100" dirty="0">
                <a:solidFill>
                  <a:schemeClr val="tx1"/>
                </a:solidFill>
              </a:rPr>
              <a:t> (≥ 4.3), </a:t>
            </a:r>
            <a:r>
              <a:rPr lang="en-US" sz="2100" b="1" dirty="0">
                <a:solidFill>
                  <a:schemeClr val="tx1"/>
                </a:solidFill>
              </a:rPr>
              <a:t>Rtools</a:t>
            </a:r>
            <a:r>
              <a:rPr lang="en-US" sz="2100" dirty="0">
                <a:solidFill>
                  <a:schemeClr val="tx1"/>
                </a:solidFill>
              </a:rPr>
              <a:t> no Windows, e no VS Code a extensão </a:t>
            </a:r>
            <a:r>
              <a:rPr lang="en-US" sz="2100" b="1" dirty="0">
                <a:solidFill>
                  <a:schemeClr val="tx1"/>
                </a:solidFill>
              </a:rPr>
              <a:t>R</a:t>
            </a:r>
            <a:r>
              <a:rPr lang="en-US" sz="2100" dirty="0">
                <a:solidFill>
                  <a:schemeClr val="tx1"/>
                </a:solidFill>
              </a:rPr>
              <a:t>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REditorSupport.r</a:t>
            </a:r>
            <a:r>
              <a:rPr lang="en-US" sz="2100" dirty="0">
                <a:solidFill>
                  <a:schemeClr val="tx1"/>
                </a:solidFill>
              </a:rPr>
              <a:t>) com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install.packages(c("languageserver", "httpgd"))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</a:rPr>
              <a:t>Git</a:t>
            </a:r>
            <a:r>
              <a:rPr lang="en-US" sz="2100" dirty="0">
                <a:solidFill>
                  <a:schemeClr val="tx1"/>
                </a:solidFill>
              </a:rPr>
              <a:t> (no Windows, o Git for Windows, que também fornece o Git Bash usado pelo Claude Code).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</a:rPr>
              <a:t>Claude Code (linha de comando)</a:t>
            </a:r>
            <a:r>
              <a:rPr lang="en-US" sz="2100" dirty="0">
                <a:solidFill>
                  <a:schemeClr val="tx1"/>
                </a:solidFill>
              </a:rPr>
              <a:t>, no terminal: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3552325"/>
            <a:ext cx="11057839" cy="1027786"/>
          </a:xfrm>
          <a:prstGeom prst="roundRect">
            <a:avLst>
              <a:gd name="adj" fmla="val 5338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3643765"/>
            <a:ext cx="10765231" cy="86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macOS, Linux, WSL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https://claude.ai/install.sh | bash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PowerShell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irm https://claude.ai/install.ps1 | iex</a:t>
            </a:r>
            <a:endParaRPr lang="en-US" sz="1386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4740130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 startAt="5"/>
            </a:pPr>
            <a:r>
              <a:rPr lang="en-US" sz="2100" b="1" dirty="0">
                <a:solidFill>
                  <a:schemeClr val="tx1"/>
                </a:solidFill>
              </a:rPr>
              <a:t>Extensão Claude Code</a:t>
            </a:r>
            <a:r>
              <a:rPr lang="en-US" sz="2100" dirty="0">
                <a:solidFill>
                  <a:schemeClr val="tx1"/>
                </a:solidFill>
              </a:rPr>
              <a:t> no VS Code: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Ctrl+Shift+X</a:t>
            </a:r>
            <a:r>
              <a:rPr lang="en-US" sz="2100" dirty="0">
                <a:solidFill>
                  <a:schemeClr val="tx1"/>
                </a:solidFill>
              </a:rPr>
              <a:t>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Cmd+Shift+X</a:t>
            </a:r>
            <a:r>
              <a:rPr lang="en-US" sz="2100" dirty="0">
                <a:solidFill>
                  <a:schemeClr val="tx1"/>
                </a:solidFill>
              </a:rPr>
              <a:t> no Mac) → "Claude Code" (publicada pela Anthropic) → Install.</a:t>
            </a:r>
            <a:endParaRPr lang="en-US" sz="2100" dirty="0"/>
          </a:p>
        </p:txBody>
      </p:sp>
      <p:sp>
        <p:nvSpPr>
          <p:cNvPr id="7" name="texto-4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Passo a passo por sistema operacional, alternativas (Homebrew, WinGet) e solução de problemas: guia_instalacao.md.</a:t>
            </a:r>
            <a:endParaRPr lang="en-US" sz="1100" dirty="0"/>
          </a:p>
        </p:txBody>
      </p:sp>
      <p:sp>
        <p:nvSpPr>
          <p:cNvPr id="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   </a:t>
            </a:r>
            <a:r>
              <a:rPr lang="en-US" sz="2800" b="1" dirty="0">
                <a:solidFill>
                  <a:schemeClr val="tx1"/>
                </a:solidFill>
              </a:rPr>
              <a:t>Verificar e entrar ⚙️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816559"/>
          </a:xfrm>
          <a:prstGeom prst="roundRect">
            <a:avLst>
              <a:gd name="adj" fmla="val 6719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--version     </a:t>
            </a: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imprime a versão: a instalação funcionou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doctor        </a:t>
            </a: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diagnóstico da instalação e das configurações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              </a:t>
            </a: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primeira execução: abre o navegador para login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2061820"/>
            <a:ext cx="11057839" cy="232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Claude Code exige conta </a:t>
            </a:r>
            <a:r>
              <a:rPr lang="en-US" sz="2100" b="1" dirty="0">
                <a:solidFill>
                  <a:schemeClr val="tx1"/>
                </a:solidFill>
              </a:rPr>
              <a:t>Pro, Max, Team, Enterprise</a:t>
            </a:r>
            <a:r>
              <a:rPr lang="en-US" sz="2100" dirty="0">
                <a:solidFill>
                  <a:schemeClr val="tx1"/>
                </a:solidFill>
              </a:rPr>
              <a:t> ou </a:t>
            </a:r>
            <a:r>
              <a:rPr lang="en-US" sz="2100" b="1" dirty="0">
                <a:solidFill>
                  <a:schemeClr val="tx1"/>
                </a:solidFill>
              </a:rPr>
              <a:t>Console</a:t>
            </a:r>
            <a:r>
              <a:rPr lang="en-US" sz="2100" dirty="0">
                <a:solidFill>
                  <a:schemeClr val="tx1"/>
                </a:solidFill>
              </a:rPr>
              <a:t> (API). O plano gratuito do claude.ai não inclui o Claude Code.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VS Code: ícone ✻ (Spark) no canto superior direito do editor ou na barra lateral → </a:t>
            </a:r>
            <a:r>
              <a:rPr lang="en-US" sz="2100" b="1" dirty="0">
                <a:solidFill>
                  <a:schemeClr val="tx1"/>
                </a:solidFill>
              </a:rPr>
              <a:t>Sign in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</a:t>
            </a:r>
            <a:r>
              <a:rPr lang="en-US" sz="2100" dirty="0">
                <a:solidFill>
                  <a:schemeClr val="tx1"/>
                </a:solidFill>
              </a:rPr>
              <a:t> mostra versão, conta e modelo em uso;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/logout</a:t>
            </a:r>
            <a:r>
              <a:rPr lang="en-US" sz="2100" dirty="0">
                <a:solidFill>
                  <a:schemeClr val="tx1"/>
                </a:solidFill>
              </a:rPr>
              <a:t> troca de conta.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extensão </a:t>
            </a:r>
            <a:r>
              <a:rPr lang="en-US" sz="2100" b="1" dirty="0">
                <a:solidFill>
                  <a:schemeClr val="tx1"/>
                </a:solidFill>
              </a:rPr>
              <a:t>não</a:t>
            </a:r>
            <a:r>
              <a:rPr lang="en-US" sz="2100" dirty="0">
                <a:solidFill>
                  <a:schemeClr val="tx1"/>
                </a:solidFill>
              </a:rPr>
              <a:t> coloca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r>
              <a:rPr lang="en-US" sz="2100" dirty="0">
                <a:solidFill>
                  <a:schemeClr val="tx1"/>
                </a:solidFill>
              </a:rPr>
              <a:t> no PATH: comandos de terminal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</a:t>
            </a:r>
            <a:r>
              <a:rPr lang="en-US" sz="2100" dirty="0">
                <a:solidFill>
                  <a:schemeClr val="tx1"/>
                </a:solidFill>
              </a:rPr>
              <a:t>) exigem a instalação do passo 4.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   </a:t>
            </a:r>
            <a:r>
              <a:rPr lang="en-US" sz="2800" b="1" dirty="0">
                <a:solidFill>
                  <a:schemeClr val="tx1"/>
                </a:solidFill>
              </a:rPr>
              <a:t>Um tour pelo painel ⚙️</a:t>
            </a:r>
            <a:endParaRPr lang="en-US" sz="2800" dirty="0"/>
          </a:p>
        </p:txBody>
      </p:sp>
      <p:graphicFrame>
        <p:nvGraphicFramePr>
          <p:cNvPr id="1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40" cy="2775760"/>
        </p:xfrm>
        <a:graphic>
          <a:graphicData uri="http://schemas.openxmlformats.org/drawingml/2006/table">
            <a:tbl>
              <a:tblPr/>
              <a:tblGrid>
                <a:gridCol w="2771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Elemento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Para que serve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Caixa de prompt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Pedido em linguagem natural;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@arquivo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anexa um arquivo; texto selecionado no editor vai junto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Indicador de modo (rodapé)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Modo de permissão: Manual, Edit automatically, Plan, Auto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Menu de comandos: modelo, memória, permissões, plugins, skills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Indicador de contexto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Quanto da janela de contexto já foi usada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Diff lado a lado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Mostra a edição proposta; aceitar, rejeitar ou corrigir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Botão de voltar (rewind)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Desfaz o código e/ou a conversa até um ponto anterior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4021019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Atalhos: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Ctrl+Esc</a:t>
            </a:r>
            <a:r>
              <a:rPr lang="en-US" sz="2100" dirty="0">
                <a:solidFill>
                  <a:schemeClr val="tx1"/>
                </a:solidFill>
              </a:rPr>
              <a:t>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Cmd+Esc</a:t>
            </a:r>
            <a:r>
              <a:rPr lang="en-US" sz="2100" dirty="0">
                <a:solidFill>
                  <a:schemeClr val="tx1"/>
                </a:solidFill>
              </a:rPr>
              <a:t>) alterna o foco entre editor e Claude;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Alt+K</a:t>
            </a:r>
            <a:r>
              <a:rPr lang="en-US" sz="2100" dirty="0">
                <a:solidFill>
                  <a:schemeClr val="tx1"/>
                </a:solidFill>
              </a:rPr>
              <a:t>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Option+K</a:t>
            </a:r>
            <a:r>
              <a:rPr lang="en-US" sz="2100" dirty="0">
                <a:solidFill>
                  <a:schemeClr val="tx1"/>
                </a:solidFill>
              </a:rPr>
              <a:t>) insere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@arquivo#linhas</a:t>
            </a:r>
            <a:r>
              <a:rPr lang="en-US" sz="2100" dirty="0">
                <a:solidFill>
                  <a:schemeClr val="tx1"/>
                </a:solidFill>
              </a:rPr>
              <a:t> da seleção.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Configuração, permissões e segurança dos dados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  </a:t>
            </a:r>
            <a:r>
              <a:rPr lang="en-US" sz="2800" b="1" dirty="0">
                <a:solidFill>
                  <a:schemeClr val="tx1"/>
                </a:solidFill>
              </a:rPr>
              <a:t>Onde ficam as configurações ⚙️</a:t>
            </a:r>
            <a:endParaRPr lang="en-US" sz="2800" dirty="0"/>
          </a:p>
        </p:txBody>
      </p:sp>
      <p:graphicFrame>
        <p:nvGraphicFramePr>
          <p:cNvPr id="15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8" cy="1792000"/>
        </p:xfrm>
        <a:graphic>
          <a:graphicData uri="http://schemas.openxmlformats.org/drawingml/2006/table">
            <a:tbl>
              <a:tblPr/>
              <a:tblGrid>
                <a:gridCol w="149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1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0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Escopo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Vale para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Vai para o Git?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Usuário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~/.claude/settings.json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Todos os seus projetos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Projeto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.claude/settings.json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Todos que trabalham no projeto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Sim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Local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.claude/settings.local.json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Só você, neste projeto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Organização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arquivo gerenciado pela TI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Todos da instituição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037259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Precedência: organização &gt; linha de comando &gt; local &gt; projeto &gt; usuário.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As mesmas pastas guardam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, subagentes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</a:t>
            </a:r>
            <a:r>
              <a:rPr lang="en-US" sz="2100" dirty="0">
                <a:solidFill>
                  <a:schemeClr val="tx1"/>
                </a:solidFill>
              </a:rPr>
              <a:t>) e skills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</a:t>
            </a:r>
            <a:r>
              <a:rPr lang="en-US" sz="2100" dirty="0">
                <a:solidFill>
                  <a:schemeClr val="tx1"/>
                </a:solidFill>
              </a:rPr>
              <a:t>): no nível do usuário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</a:t>
            </a:r>
            <a:r>
              <a:rPr lang="en-US" sz="2100" dirty="0">
                <a:solidFill>
                  <a:schemeClr val="tx1"/>
                </a:solidFill>
              </a:rPr>
              <a:t> e no nível do projeto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Regra prática: o que o projeto </a:t>
            </a:r>
            <a:r>
              <a:rPr lang="en-US" sz="2100" b="1" dirty="0">
                <a:solidFill>
                  <a:schemeClr val="tx1"/>
                </a:solidFill>
              </a:rPr>
              <a:t>exige</a:t>
            </a:r>
            <a:r>
              <a:rPr lang="en-US" sz="2100" dirty="0">
                <a:solidFill>
                  <a:schemeClr val="tx1"/>
                </a:solidFill>
              </a:rPr>
              <a:t> vai no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r>
              <a:rPr lang="en-US" sz="2100" dirty="0">
                <a:solidFill>
                  <a:schemeClr val="tx1"/>
                </a:solidFill>
              </a:rPr>
              <a:t> versionado; preferências pessoais, no nível do usuário.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   </a:t>
            </a:r>
            <a:r>
              <a:rPr lang="en-US" sz="2800" b="1" dirty="0">
                <a:solidFill>
                  <a:schemeClr val="tx1"/>
                </a:solidFill>
              </a:rPr>
              <a:t>Modos de permissão ⚙️</a:t>
            </a:r>
            <a:endParaRPr lang="en-US" sz="2800" dirty="0"/>
          </a:p>
        </p:txBody>
      </p:sp>
      <p:graphicFrame>
        <p:nvGraphicFramePr>
          <p:cNvPr id="16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951280"/>
        </p:xfrm>
        <a:graphic>
          <a:graphicData uri="http://schemas.openxmlformats.org/drawingml/2006/table">
            <a:tbl>
              <a:tblPr/>
              <a:tblGrid>
                <a:gridCol w="3459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9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9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Modo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 que roda sem perguntar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Quando usar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Manual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Só leituras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Primeiro contato; dados sensíveis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Edit automatically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acceptEdits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Leituras e edições de arquivos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Quando já está revisando o diff com atenção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Plan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Leituras; nenhuma edição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Explorar e planejar antes de mudar algo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Auto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Quase tudo; um classificador barra ações arriscadas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Tarefas longas, com Git e regras de negação já configurados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bypassPermissions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Tudo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Só em contêiner ou máquina virtual isolada; nunca no seu computador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4196538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Alternar: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Shift+Tab</a:t>
            </a:r>
            <a:r>
              <a:rPr lang="en-US" sz="2100" dirty="0">
                <a:solidFill>
                  <a:schemeClr val="tx1"/>
                </a:solidFill>
              </a:rPr>
              <a:t> no terminal; indicador de modo no rodapé do painel no VS Code.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Nas versões recentes, a sessão </a:t>
            </a:r>
            <a:r>
              <a:rPr lang="en-US" sz="2100" b="1" dirty="0">
                <a:solidFill>
                  <a:schemeClr val="tx1"/>
                </a:solidFill>
              </a:rPr>
              <a:t>começa em Auto</a:t>
            </a:r>
            <a:r>
              <a:rPr lang="en-US" sz="2100" dirty="0">
                <a:solidFill>
                  <a:schemeClr val="tx1"/>
                </a:solidFill>
              </a:rPr>
              <a:t>. Nesta seção, comece em </a:t>
            </a:r>
            <a:r>
              <a:rPr lang="en-US" sz="2100" b="1" dirty="0">
                <a:solidFill>
                  <a:schemeClr val="tx1"/>
                </a:solidFill>
              </a:rPr>
              <a:t>Manual</a:t>
            </a:r>
            <a:r>
              <a:rPr lang="en-US" sz="2100" dirty="0">
                <a:solidFill>
                  <a:schemeClr val="tx1"/>
                </a:solidFill>
              </a:rPr>
              <a:t> ou </a:t>
            </a:r>
            <a:r>
              <a:rPr lang="en-US" sz="2100" b="1" dirty="0">
                <a:solidFill>
                  <a:schemeClr val="tx1"/>
                </a:solidFill>
              </a:rPr>
              <a:t>Plan</a:t>
            </a:r>
            <a:r>
              <a:rPr lang="en-US" sz="2100" dirty="0">
                <a:solidFill>
                  <a:schemeClr val="tx1"/>
                </a:solidFill>
              </a:rPr>
              <a:t>: o objetivo é ver cada ação.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   </a:t>
            </a:r>
            <a:r>
              <a:rPr lang="en-US" sz="2800" b="1" dirty="0">
                <a:solidFill>
                  <a:schemeClr val="tx1"/>
                </a:solidFill>
              </a:rPr>
              <a:t>Regras de permissão: o que o projeto permite e proíbe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493825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r>
              <a:rPr lang="en-US" sz="2100" dirty="0">
                <a:solidFill>
                  <a:schemeClr val="tx1"/>
                </a:solidFill>
              </a:rPr>
              <a:t> da pasta de análise:</a:t>
            </a:r>
            <a:endParaRPr lang="en-US" sz="1932" dirty="0"/>
          </a:p>
        </p:txBody>
      </p:sp>
      <p:sp>
        <p:nvSpPr>
          <p:cNvPr id="4" name="ret-1"/>
          <p:cNvSpPr/>
          <p:nvPr/>
        </p:nvSpPr>
        <p:spPr>
          <a:xfrm>
            <a:off x="566928" y="1995684"/>
            <a:ext cx="11057839" cy="1661465"/>
          </a:xfrm>
          <a:prstGeom prst="roundRect">
            <a:avLst>
              <a:gd name="adj" fmla="val 3302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2087124"/>
            <a:ext cx="10765231" cy="1496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"permissions": {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"allow": ["Bash(Rscript *)", "Bash(git status)", "Bash(git diff *)", "Bash(git log *)"],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"ask":   ["Bash(git commit *)"],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"deny":  ["Edit(/data/bruto/**)", "Bash(rm *)", "Bash(git push *)"]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86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3817168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Ordem de avaliação: </a:t>
            </a:r>
            <a:r>
              <a:rPr lang="en-US" sz="2100" b="1" dirty="0">
                <a:solidFill>
                  <a:schemeClr val="tx1"/>
                </a:solidFill>
              </a:rPr>
              <a:t>deny → ask → allow</a:t>
            </a:r>
            <a:r>
              <a:rPr lang="en-US" sz="2100" dirty="0">
                <a:solidFill>
                  <a:schemeClr val="tx1"/>
                </a:solidFill>
              </a:rPr>
              <a:t>. Uma regra de negação vale em </a:t>
            </a:r>
            <a:r>
              <a:rPr lang="en-US" sz="2100" b="1" dirty="0">
                <a:solidFill>
                  <a:schemeClr val="tx1"/>
                </a:solidFill>
              </a:rPr>
              <a:t>todos</a:t>
            </a:r>
            <a:r>
              <a:rPr lang="en-US" sz="2100" dirty="0">
                <a:solidFill>
                  <a:schemeClr val="tx1"/>
                </a:solidFill>
              </a:rPr>
              <a:t> os modos, inclusive no Auto.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/data/bruto/**</a:t>
            </a:r>
            <a:r>
              <a:rPr lang="en-US" sz="2100" dirty="0">
                <a:solidFill>
                  <a:schemeClr val="tx1"/>
                </a:solidFill>
              </a:rPr>
              <a:t> é relativo à pasta do projeto;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//caminho</a:t>
            </a:r>
            <a:r>
              <a:rPr lang="en-US" sz="2100" dirty="0">
                <a:solidFill>
                  <a:schemeClr val="tx1"/>
                </a:solidFill>
              </a:rPr>
              <a:t> é absoluto;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</a:t>
            </a:r>
            <a:r>
              <a:rPr lang="en-US" sz="2100" dirty="0">
                <a:solidFill>
                  <a:schemeClr val="tx1"/>
                </a:solidFill>
              </a:rPr>
              <a:t> é a pasta pessoal.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/permissions</a:t>
            </a:r>
            <a:r>
              <a:rPr lang="en-US" sz="2100" dirty="0">
                <a:solidFill>
                  <a:schemeClr val="tx1"/>
                </a:solidFill>
              </a:rPr>
              <a:t> (ou Customize → Permissions no VS Code) mostra as regras ativas e de onde vieram.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   </a:t>
            </a:r>
            <a:r>
              <a:rPr lang="en-US" sz="2800" b="1" dirty="0">
                <a:solidFill>
                  <a:schemeClr val="tx1"/>
                </a:solidFill>
              </a:rPr>
              <a:t>Limites das regras e camadas de proteção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Edit(...)</a:t>
            </a:r>
            <a:r>
              <a:rPr lang="en-US" sz="2100" dirty="0">
                <a:solidFill>
                  <a:schemeClr val="tx1"/>
                </a:solidFill>
              </a:rPr>
              <a:t>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Read(...)</a:t>
            </a:r>
            <a:r>
              <a:rPr lang="en-US" sz="2100" dirty="0">
                <a:solidFill>
                  <a:schemeClr val="tx1"/>
                </a:solidFill>
              </a:rPr>
              <a:t> valem para as ferramentas de arquivo do agente e para comandos de shell que ele reconhece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</a:t>
            </a:r>
            <a:r>
              <a:rPr lang="en-US" sz="2100" dirty="0">
                <a:solidFill>
                  <a:schemeClr val="tx1"/>
                </a:solidFill>
              </a:rPr>
              <a:t>, redirecionamento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2100" dirty="0">
                <a:solidFill>
                  <a:schemeClr val="tx1"/>
                </a:solidFill>
              </a:rPr>
              <a:t>).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Não</a:t>
            </a:r>
            <a:r>
              <a:rPr lang="en-US" sz="2100" dirty="0">
                <a:solidFill>
                  <a:schemeClr val="tx1"/>
                </a:solidFill>
              </a:rPr>
              <a:t> valem para um script que abre arquivos por conta própria: um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Rscript</a:t>
            </a:r>
            <a:r>
              <a:rPr lang="en-US" sz="2100" dirty="0">
                <a:solidFill>
                  <a:schemeClr val="tx1"/>
                </a:solidFill>
              </a:rPr>
              <a:t> que grava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data/bruto/</a:t>
            </a:r>
            <a:r>
              <a:rPr lang="en-US" sz="2100" dirty="0">
                <a:solidFill>
                  <a:schemeClr val="tx1"/>
                </a:solidFill>
              </a:rPr>
              <a:t> passa pela regra.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Por isso, proteja em camadas:</a:t>
            </a:r>
            <a:endParaRPr lang="en-US" sz="1932" dirty="0"/>
          </a:p>
        </p:txBody>
      </p:sp>
      <p:sp>
        <p:nvSpPr>
          <p:cNvPr id="4" name="ret-1"/>
          <p:cNvSpPr/>
          <p:nvPr/>
        </p:nvSpPr>
        <p:spPr>
          <a:xfrm>
            <a:off x="566928" y="3125142"/>
            <a:ext cx="2741066" cy="1330382"/>
          </a:xfrm>
          <a:prstGeom prst="roundRect">
            <a:avLst>
              <a:gd name="adj" fmla="val 4811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685800" y="3234870"/>
            <a:ext cx="2503322" cy="118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4" b="1" dirty="0">
                <a:solidFill>
                  <a:schemeClr val="tx2"/>
                </a:solidFill>
              </a:rPr>
              <a:t>Sistema operacional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data/bruto/ somente leitura (chmod -R a-w no Linux/macOS; atributo "Somente leitura" no Windows)</a:t>
            </a:r>
            <a:endParaRPr lang="en-US" sz="1554" dirty="0"/>
          </a:p>
        </p:txBody>
      </p:sp>
      <p:sp>
        <p:nvSpPr>
          <p:cNvPr id="6" name="texto-3"/>
          <p:cNvSpPr txBox="1"/>
          <p:nvPr/>
        </p:nvSpPr>
        <p:spPr>
          <a:xfrm>
            <a:off x="3399434" y="3569048"/>
            <a:ext cx="1234440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92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92" dirty="0"/>
          </a:p>
        </p:txBody>
      </p:sp>
      <p:sp>
        <p:nvSpPr>
          <p:cNvPr id="7" name="seta-4"/>
          <p:cNvSpPr/>
          <p:nvPr/>
        </p:nvSpPr>
        <p:spPr>
          <a:xfrm>
            <a:off x="3490874" y="3863485"/>
            <a:ext cx="10515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ret-5"/>
          <p:cNvSpPr/>
          <p:nvPr/>
        </p:nvSpPr>
        <p:spPr>
          <a:xfrm>
            <a:off x="4725314" y="3125142"/>
            <a:ext cx="2741066" cy="1330382"/>
          </a:xfrm>
          <a:prstGeom prst="roundRect">
            <a:avLst>
              <a:gd name="adj" fmla="val 4811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o-6"/>
          <p:cNvSpPr txBox="1"/>
          <p:nvPr/>
        </p:nvSpPr>
        <p:spPr>
          <a:xfrm>
            <a:off x="4844186" y="3234870"/>
            <a:ext cx="2503322" cy="74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Regras do agente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deny para Edit e comandos perigosos; ask para commit</a:t>
            </a:r>
            <a:endParaRPr lang="en-US" sz="1554" dirty="0"/>
          </a:p>
        </p:txBody>
      </p:sp>
      <p:sp>
        <p:nvSpPr>
          <p:cNvPr id="10" name="texto-7"/>
          <p:cNvSpPr txBox="1"/>
          <p:nvPr/>
        </p:nvSpPr>
        <p:spPr>
          <a:xfrm>
            <a:off x="7557821" y="3569048"/>
            <a:ext cx="1234440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92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92" dirty="0"/>
          </a:p>
        </p:txBody>
      </p:sp>
      <p:sp>
        <p:nvSpPr>
          <p:cNvPr id="11" name="seta-8"/>
          <p:cNvSpPr/>
          <p:nvPr/>
        </p:nvSpPr>
        <p:spPr>
          <a:xfrm>
            <a:off x="7649261" y="3863485"/>
            <a:ext cx="10515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8883701" y="3125142"/>
            <a:ext cx="2741066" cy="1330382"/>
          </a:xfrm>
          <a:prstGeom prst="roundRect">
            <a:avLst>
              <a:gd name="adj" fmla="val 4811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o-10"/>
          <p:cNvSpPr txBox="1"/>
          <p:nvPr/>
        </p:nvSpPr>
        <p:spPr>
          <a:xfrm>
            <a:off x="9002573" y="3234870"/>
            <a:ext cx="2503322" cy="74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4" b="1" dirty="0">
                <a:solidFill>
                  <a:schemeClr val="accent2"/>
                </a:solidFill>
              </a:rPr>
              <a:t>Git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qualquer alteração aparece no git status e pode ser desfeita</a:t>
            </a:r>
            <a:endParaRPr lang="en-US" sz="1554" dirty="0"/>
          </a:p>
        </p:txBody>
      </p:sp>
      <p:sp>
        <p:nvSpPr>
          <p:cNvPr id="14" name="texto-1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Isolamento no nível do sistema para todos os processos: sandbox do Claude Code (/sandbox), disponível em macOS, Linux e WSL2.</a:t>
            </a:r>
            <a:endParaRPr lang="en-US" sz="1100" dirty="0"/>
          </a:p>
        </p:txBody>
      </p:sp>
      <p:sp>
        <p:nvSpPr>
          <p:cNvPr id="1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   </a:t>
            </a:r>
            <a:r>
              <a:rPr lang="en-US" sz="2800" b="1" dirty="0">
                <a:solidFill>
                  <a:schemeClr val="tx1"/>
                </a:solidFill>
              </a:rPr>
              <a:t>Segurança e governança dos dados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4375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Tudo o que o agente lê (arquivos, saídas de comandos) é enviado ao serviço do modelo para ser processado.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Antes de abrir o agente em uma pasta com dados reais: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Confira a política da instituição, os contratos e os termos de transferência de material (germoplasma, pedigree, marcadores de parceiros).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Confira os termos de uso do </a:t>
            </a:r>
            <a:r>
              <a:rPr lang="en-US" sz="2100" b="1" dirty="0">
                <a:solidFill>
                  <a:schemeClr val="tx1"/>
                </a:solidFill>
              </a:rPr>
              <a:t>seu plano</a:t>
            </a:r>
            <a:r>
              <a:rPr lang="en-US" sz="2100" dirty="0">
                <a:solidFill>
                  <a:schemeClr val="tx1"/>
                </a:solidFill>
              </a:rPr>
              <a:t> (individual, institucional ou API).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Minimize: subconjuntos, IDs codificados, sem dados pessoais.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Bloqueie pastas sensíveis com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Read(...)</a:t>
            </a:r>
            <a:r>
              <a:rPr lang="en-US" sz="2100" dirty="0">
                <a:solidFill>
                  <a:schemeClr val="tx1"/>
                </a:solidFill>
              </a:rPr>
              <a:t>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Nunca coloque senhas ou chaves em arquivos do projeto ou em prompts.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Arquivos versionados de terceiros (um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r>
              <a:rPr lang="en-US" sz="2100" dirty="0">
                <a:solidFill>
                  <a:schemeClr val="tx1"/>
                </a:solidFill>
              </a:rPr>
              <a:t>, um plugin) podem rodar comandos: leia antes de confiar.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Ver docs/governanca_dados.md do curso.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   </a:t>
            </a:r>
            <a:r>
              <a:rPr lang="en-US" sz="2800" b="1" dirty="0">
                <a:solidFill>
                  <a:schemeClr val="tx1"/>
                </a:solidFill>
              </a:rPr>
              <a:t>Modelo, esforço e limites de uso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0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</a:t>
            </a:r>
            <a:r>
              <a:rPr lang="en-US" sz="2100" dirty="0">
                <a:solidFill>
                  <a:schemeClr val="tx1"/>
                </a:solidFill>
              </a:rPr>
              <a:t> escolhe o modelo e o nível de esforço de raciocínio: mais esforço = respostas melhores em problemas difíceis, mais tempo e mais uso.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Os planos têm </a:t>
            </a:r>
            <a:r>
              <a:rPr lang="en-US" sz="2100" b="1" dirty="0">
                <a:solidFill>
                  <a:schemeClr val="tx1"/>
                </a:solidFill>
              </a:rPr>
              <a:t>limites de uso</a:t>
            </a:r>
            <a:r>
              <a:rPr lang="en-US" sz="2100" dirty="0">
                <a:solidFill>
                  <a:schemeClr val="tx1"/>
                </a:solidFill>
              </a:rPr>
              <a:t> por período;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/usage</a:t>
            </a:r>
            <a:r>
              <a:rPr lang="en-US" sz="2100" dirty="0">
                <a:solidFill>
                  <a:schemeClr val="tx1"/>
                </a:solidFill>
              </a:rPr>
              <a:t> mostra o consumo. Sessões longas e arquivos grandes consomem mais.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que mais gasta: ler arquivos grandes inteiros, saídas extensas de comandos, conversas que nunca são limpas.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Boa prática: tarefas focadas,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r>
              <a:rPr lang="en-US" sz="2100" dirty="0">
                <a:solidFill>
                  <a:schemeClr val="tx1"/>
                </a:solidFill>
              </a:rPr>
              <a:t> entre tarefas, resultados grandes gravados em arquivo e resumidos.</a:t>
            </a:r>
            <a:endParaRPr lang="en-US" sz="1932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Pasta de projeto, </a:t>
            </a:r>
            <a:r>
              <a:rPr lang="en-US" sz="4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4600" b="1" dirty="0">
                <a:solidFill>
                  <a:schemeClr val="tx1"/>
                </a:solidFill>
              </a:rPr>
              <a:t> e arquivos de contexto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3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  </a:t>
            </a:r>
            <a:r>
              <a:rPr lang="en-US" sz="2800" b="1" dirty="0">
                <a:solidFill>
                  <a:schemeClr val="tx1"/>
                </a:solidFill>
              </a:rPr>
              <a:t>A pasta da análise (retomando a Seção 1)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2295144"/>
          </a:xfrm>
          <a:prstGeom prst="roundRect">
            <a:avLst>
              <a:gd name="adj" fmla="val 239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vcu-milho-2025</a:t>
            </a: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CLAUDE.md                 contexto e regras para o agente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PLANO.md       pergunta, como reproduzir, etapas e critérios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config/parametros.yaml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data/bruto/               vcu_milho_2025_campo.csv (somente leitura) + LEIA-ME.md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data/intermediario/  data/processado/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                     dicionário, registro de correções, decisões, etapas/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R/                        01_importar … 05_figuras_tabelas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output/  tests/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.claude/                  settings.json, agents/, skills/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3540404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Ponto de partida: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modelos/projeto-analise/</a:t>
            </a:r>
            <a:r>
              <a:rPr lang="en-US" sz="2100" dirty="0">
                <a:solidFill>
                  <a:schemeClr val="tx1"/>
                </a:solidFill>
              </a:rPr>
              <a:t> do repositório do curso.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Abra a </a:t>
            </a:r>
            <a:r>
              <a:rPr lang="en-US" sz="2100" b="1" dirty="0">
                <a:solidFill>
                  <a:schemeClr val="tx1"/>
                </a:solidFill>
              </a:rPr>
              <a:t>pasta</a:t>
            </a:r>
            <a:r>
              <a:rPr lang="en-US" sz="2100" dirty="0">
                <a:solidFill>
                  <a:schemeClr val="tx1"/>
                </a:solidFill>
              </a:rPr>
              <a:t> no VS Code (File → Open Folder): o Claude Code trabalha a partir dela.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   </a:t>
            </a:r>
            <a:r>
              <a:rPr lang="en-US" sz="2800" b="1" dirty="0">
                <a:solidFill>
                  <a:schemeClr val="tx1"/>
                </a:solidFill>
              </a:rPr>
              <a:t>Criar a pasta, passo a passo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661465"/>
          </a:xfrm>
          <a:prstGeom prst="roundRect">
            <a:avLst>
              <a:gd name="adj" fmla="val 3302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496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curso-ia-melhoramento/modelos/projeto-analise ~/analises/2026-11_vcu-milho-2025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~/analises/2026-11_vcu-milho-2025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&lt;curso&gt;/secoes/02_claude_code_vscode/dados/vcu_milho_2025_campo.csv data/bruto/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&lt;curso&gt;/secoes/02_claude_code_vscode/dados/dicionario_de_dados.csv docs/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-R a-w data/bruto                     </a:t>
            </a: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somente leitura (Linux/macOS)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&amp;&amp; git add . &amp;&amp; git commit -m "Estrutura inicial e dados brutos"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                                       </a:t>
            </a: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abre a pasta no VS Code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2906725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commit inicial é o </a:t>
            </a:r>
            <a:r>
              <a:rPr lang="en-US" sz="2100" b="1" dirty="0">
                <a:solidFill>
                  <a:schemeClr val="tx1"/>
                </a:solidFill>
              </a:rPr>
              <a:t>ponto zero</a:t>
            </a:r>
            <a:r>
              <a:rPr lang="en-US" sz="2100" dirty="0">
                <a:solidFill>
                  <a:schemeClr val="tx1"/>
                </a:solidFill>
              </a:rPr>
              <a:t>: qualquer mudança do agente aparece no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Windows: botão direito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data\bruto</a:t>
            </a:r>
            <a:r>
              <a:rPr lang="en-US" sz="2100" dirty="0">
                <a:solidFill>
                  <a:schemeClr val="tx1"/>
                </a:solidFill>
              </a:rPr>
              <a:t> → Propriedades → Somente leitura; os demais comandos rodam no Git Bash.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   </a:t>
            </a:r>
            <a:r>
              <a:rPr lang="en-US" sz="2800" b="1" dirty="0">
                <a:solidFill>
                  <a:schemeClr val="tx1"/>
                </a:solidFill>
              </a:rPr>
              <a:t>O que é o </a:t>
            </a:r>
            <a:r>
              <a:rPr lang="en-US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Arquivo de instruções que o Claude Code </a:t>
            </a:r>
            <a:r>
              <a:rPr lang="en-US" sz="2100" b="1" dirty="0">
                <a:solidFill>
                  <a:schemeClr val="tx1"/>
                </a:solidFill>
              </a:rPr>
              <a:t>lê no início de toda sessão</a:t>
            </a:r>
            <a:r>
              <a:rPr lang="en-US" sz="2100" dirty="0">
                <a:solidFill>
                  <a:schemeClr val="tx1"/>
                </a:solidFill>
              </a:rPr>
              <a:t>. É o "prompt permanente" do projeto.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Hierarquia (todos são somados, não substituídos): ⚙️</a:t>
            </a:r>
            <a:endParaRPr lang="en-US" sz="2100" dirty="0"/>
          </a:p>
        </p:txBody>
      </p:sp>
      <p:graphicFrame>
        <p:nvGraphicFramePr>
          <p:cNvPr id="24" name="tabela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56121"/>
          <a:ext cx="11057840" cy="1792000"/>
        </p:xfrm>
        <a:graphic>
          <a:graphicData uri="http://schemas.openxmlformats.org/drawingml/2006/table">
            <a:tbl>
              <a:tblPr/>
              <a:tblGrid>
                <a:gridCol w="4977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Escopo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~/.claude/CLAUDE.md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Suas preferências em todos os projetos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./CLAUDE.md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./.claude/CLAUDE.md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projeto; versionado no Git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./CLAUDE.local.md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Suas notas pessoais neste projeto; fora do Git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subpasta/CLAUDE.md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Carregado quando o agente trabalha naquela subpasta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o-2"/>
          <p:cNvSpPr txBox="1"/>
          <p:nvPr/>
        </p:nvSpPr>
        <p:spPr>
          <a:xfrm>
            <a:off x="566928" y="4308139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</a:t>
            </a:r>
            <a:r>
              <a:rPr lang="en-US" sz="2100" dirty="0">
                <a:solidFill>
                  <a:schemeClr val="tx1"/>
                </a:solidFill>
              </a:rPr>
              <a:t> gera um rascunho analisando a pasta. Numa análise que ainda não tem código, ele vê pouco: parta do modelo do curso e refine.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</a:t>
            </a:r>
            <a:r>
              <a:rPr lang="en-US" sz="2100" dirty="0">
                <a:solidFill>
                  <a:schemeClr val="tx1"/>
                </a:solidFill>
              </a:rPr>
              <a:t> (Customize → Instructions no VS Code) abre os arquivos carregados.</a:t>
            </a:r>
            <a:endParaRPr lang="en-US" sz="1932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   </a:t>
            </a:r>
            <a:r>
              <a:rPr lang="en-US" sz="2800" b="1" dirty="0">
                <a:solidFill>
                  <a:schemeClr val="tx1"/>
                </a:solidFill>
              </a:rPr>
              <a:t>Boas práticas para o </a:t>
            </a:r>
            <a:r>
              <a:rPr lang="en-US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2800" dirty="0"/>
          </a:p>
        </p:txBody>
      </p:sp>
      <p:graphicFrame>
        <p:nvGraphicFramePr>
          <p:cNvPr id="25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417360"/>
        </p:xfrm>
        <a:graphic>
          <a:graphicData uri="http://schemas.openxmlformats.org/drawingml/2006/table">
            <a:tbl>
              <a:tblPr/>
              <a:tblGrid>
                <a:gridCol w="6798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8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✅ Incluir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❌ Deixar de fora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Pergunta da análise e para quem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o agente descobre lendo o código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Regras de dados: o que é somente leitura, como corrigir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Convenções que o R já impõe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Comandos para rodar e testar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Tutoriais e explicações longas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Decisões científicas: modelo de referência, como tratar ausentes e outliers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Informação que muda toda semana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Armadilhas não óbvias do projeto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Generalidades como "escreva código limpo"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662619"/>
            <a:ext cx="11057839" cy="12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Curto</a:t>
            </a:r>
            <a:r>
              <a:rPr lang="en-US" sz="2100" dirty="0">
                <a:solidFill>
                  <a:schemeClr val="tx1"/>
                </a:solidFill>
              </a:rPr>
              <a:t>: menos de 200 linhas. Para cada linha: "se eu apagar, o agente erra?". Se não, apague.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Arquivo longo demais faz o agente </a:t>
            </a:r>
            <a:r>
              <a:rPr lang="en-US" sz="2100" b="1" dirty="0">
                <a:solidFill>
                  <a:schemeClr val="tx1"/>
                </a:solidFill>
              </a:rPr>
              <a:t>ignorar</a:t>
            </a:r>
            <a:r>
              <a:rPr lang="en-US" sz="2100" dirty="0">
                <a:solidFill>
                  <a:schemeClr val="tx1"/>
                </a:solidFill>
              </a:rPr>
              <a:t> regras importantes.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Trate como código: versione, revise quando o agente errar, pode e corte.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code.claude.com/docs/en/best-practices e /memory.</a:t>
            </a:r>
            <a:endParaRPr lang="en-US" sz="1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   </a:t>
            </a:r>
            <a:r>
              <a:rPr lang="en-US" sz="2800" b="1" dirty="0">
                <a:solidFill>
                  <a:schemeClr val="tx1"/>
                </a:solidFill>
              </a:rPr>
              <a:t>Um </a:t>
            </a:r>
            <a:r>
              <a:rPr lang="en-US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800" b="1" dirty="0">
                <a:solidFill>
                  <a:schemeClr val="tx1"/>
                </a:solidFill>
              </a:rPr>
              <a:t> de análise: cada linha elimina uma decisão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493825"/>
            <a:ext cx="11057839" cy="3082757"/>
          </a:xfrm>
          <a:prstGeom prst="roundRect">
            <a:avLst>
              <a:gd name="adj" fmla="val 178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585265"/>
            <a:ext cx="10765231" cy="291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Pergunta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 das linhagens DH25 por valor de testcross para PROD (kg/ha) nos 3 ambientes de 2025.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Dados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data/bruto/ é SOMENTE LEITURA. Correções só via docs/registro_de_correcoes.csv (R/03_curar.R).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Dicionário em docs/dicionario_de_dados.csv: intervalos, unidades e padrão de IDs.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Regras de análise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Dados de parcela, nunca médias. Valor fora do intervalo vira NA com registro; não "corrija" sem evidência.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Modelo conjunto: PROD ~ ambiente + (1|ambiente:bloco) + (1|genotipo) + (1|genotipo:ambiente).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h² de médias por ambiente: s2g / (s2g + s2e/r).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Forma de trabalho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Plano antes de código. Cada script com cabeçalho e teste em tests/. Rode com Rscript.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Ao fim de cada etapa, relatório em docs/etapas/ (skill /relatorio-etapa).</a:t>
            </a:r>
            <a:endParaRPr lang="en-US" sz="1269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   </a:t>
            </a:r>
            <a:r>
              <a:rPr lang="en-US" sz="2800" b="1" dirty="0">
                <a:solidFill>
                  <a:schemeClr val="tx1"/>
                </a:solidFill>
              </a:rPr>
              <a:t>Arquivos de contexto: o que o agente precisa e quando</a:t>
            </a:r>
            <a:endParaRPr lang="en-US" sz="2800" dirty="0"/>
          </a:p>
        </p:txBody>
      </p:sp>
      <p:graphicFrame>
        <p:nvGraphicFramePr>
          <p:cNvPr id="27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93825"/>
          <a:ext cx="11057840" cy="3609348"/>
        </p:xfrm>
        <a:graphic>
          <a:graphicData uri="http://schemas.openxmlformats.org/drawingml/2006/table">
            <a:tbl>
              <a:tblPr/>
              <a:tblGrid>
                <a:gridCol w="363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1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1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b="1" dirty="0">
                          <a:solidFill>
                            <a:schemeClr val="tx1"/>
                          </a:solidFill>
                        </a:rPr>
                        <a:t>Quando entra no contexto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b="1" dirty="0">
                          <a:solidFill>
                            <a:schemeClr val="tx1"/>
                          </a:solidFill>
                        </a:rPr>
                        <a:t>Para quê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Sempre, no início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Regras que valem em toda sessão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README.md</a:t>
                      </a: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PLANO.md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Quando citado (</a:t>
                      </a: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@PLANO.md</a:t>
                      </a: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) ou lido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Pergunta, etapas e critérios de aceitação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docs/dicionario_de_dados.csv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Quando a tarefa envolve os dados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Unidades, intervalos, padrão de IDs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docs/decisoes.md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Antes de decidir algo de novo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Não refazer nem contradizer decisões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6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docs/etapas/NN.md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No início da etapa seguinte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Passar o estado entre sessões sem depender da conversa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46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Cabeçalhos dos scripts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Quando o script é lido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Entradas, saídas e premissas de cada etapa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46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Skills (</a:t>
                      </a: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.claude/skills/</a:t>
                      </a: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Só a descrição sempre; o conteúdo quando usado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Procedimentos que só valem às vezes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t-1"/>
          <p:cNvSpPr/>
          <p:nvPr/>
        </p:nvSpPr>
        <p:spPr>
          <a:xfrm>
            <a:off x="566928" y="5259991"/>
            <a:ext cx="11057839" cy="889460"/>
          </a:xfrm>
          <a:prstGeom prst="roundRect">
            <a:avLst>
              <a:gd name="adj" fmla="val 8224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5369719"/>
            <a:ext cx="10692079" cy="68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58" dirty="0">
                <a:solidFill>
                  <a:schemeClr val="tx1"/>
                </a:solidFill>
              </a:rPr>
              <a:t>O </a:t>
            </a:r>
            <a:r>
              <a:rPr lang="en-US" sz="1893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058" dirty="0">
                <a:solidFill>
                  <a:schemeClr val="tx1"/>
                </a:solidFill>
              </a:rPr>
              <a:t> diz </a:t>
            </a:r>
            <a:r>
              <a:rPr lang="en-US" sz="2058" b="1" dirty="0">
                <a:solidFill>
                  <a:schemeClr val="tx1"/>
                </a:solidFill>
              </a:rPr>
              <a:t>como</a:t>
            </a:r>
            <a:r>
              <a:rPr lang="en-US" sz="2058" dirty="0">
                <a:solidFill>
                  <a:schemeClr val="tx1"/>
                </a:solidFill>
              </a:rPr>
              <a:t> trabalhar; os demais arquivos dizem </a:t>
            </a:r>
            <a:r>
              <a:rPr lang="en-US" sz="2058" b="1" dirty="0">
                <a:solidFill>
                  <a:schemeClr val="tx1"/>
                </a:solidFill>
              </a:rPr>
              <a:t>o que</a:t>
            </a:r>
            <a:r>
              <a:rPr lang="en-US" sz="2058" dirty="0">
                <a:solidFill>
                  <a:schemeClr val="tx1"/>
                </a:solidFill>
              </a:rPr>
              <a:t> existe. A conversa é descartável; os arquivos ficam.</a:t>
            </a:r>
            <a:endParaRPr lang="en-US" sz="2058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3.7   </a:t>
            </a:r>
            <a:r>
              <a:rPr lang="en-US" sz="2800" b="1" dirty="0">
                <a:solidFill>
                  <a:schemeClr val="tx1"/>
                </a:solidFill>
              </a:rPr>
              <a:t>Por que contexto escrito vale mais que um prompt longo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493825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prompt vale para uma conversa; o arquivo vale para todas as sessões, para todos os colegas e para você daqui a seis meses.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arquivo é revisável e versionado: se o agente errou por falta de contexto, a correção fica registrada.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Prompt com contexto mínimo e arquivos certos: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3533726"/>
            <a:ext cx="11057839" cy="394106"/>
          </a:xfrm>
          <a:prstGeom prst="roundRect">
            <a:avLst>
              <a:gd name="adj" fmla="val 13921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3625166"/>
            <a:ext cx="10765231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@PLANO.md Etapa 02. Siga o CLAUDE.md e o dicionário. Plano primeiro.</a:t>
            </a:r>
            <a:endParaRPr lang="en-US" sz="1386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4087853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Prompt longo, sem arquivos: o agente decide sozinho unidade, intervalos, modelo e onde gravar, e cada sessão decide diferente.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   </a:t>
            </a:r>
            <a:r>
              <a:rPr lang="en-US" sz="2800" b="1" dirty="0">
                <a:solidFill>
                  <a:schemeClr val="tx1"/>
                </a:solidFill>
              </a:rPr>
              <a:t>Primeira sessão: só leitura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No modo </a:t>
            </a:r>
            <a:r>
              <a:rPr lang="en-US" sz="2100" b="1" dirty="0">
                <a:solidFill>
                  <a:schemeClr val="tx1"/>
                </a:solidFill>
              </a:rPr>
              <a:t>Plan</a:t>
            </a:r>
            <a:r>
              <a:rPr lang="en-US" sz="2100" dirty="0">
                <a:solidFill>
                  <a:schemeClr val="tx1"/>
                </a:solidFill>
              </a:rPr>
              <a:t> ou </a:t>
            </a:r>
            <a:r>
              <a:rPr lang="en-US" sz="2100" b="1" dirty="0">
                <a:solidFill>
                  <a:schemeClr val="tx1"/>
                </a:solidFill>
              </a:rPr>
              <a:t>Manual</a:t>
            </a:r>
            <a:r>
              <a:rPr lang="en-US" sz="2100" dirty="0">
                <a:solidFill>
                  <a:schemeClr val="tx1"/>
                </a:solidFill>
              </a:rPr>
              <a:t>: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1587099"/>
            <a:ext cx="11057839" cy="816559"/>
          </a:xfrm>
          <a:prstGeom prst="roundRect">
            <a:avLst>
              <a:gd name="adj" fmla="val 6719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1678539"/>
            <a:ext cx="10765231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 CLAUDE.md, README.md, data/bruto/LEIA-ME.md e docs/dicionario_de_dados.csv.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até 10 linhas: o que você entendeu sobre os dados, o que é proibido fazer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o que ainda está ambíguo. Não altere nenhum arquivo.</a:t>
            </a:r>
            <a:endParaRPr lang="en-US" sz="1386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2563678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 a resposta errar a unidade, o delineamento ou a proibição do bruto, o problema está no contexto, não no agente.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que ficou ambíguo vai para 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 ou para o dicionário. Commit.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Planejar antes de analisar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4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   </a:t>
            </a:r>
            <a:r>
              <a:rPr lang="en-US" sz="2800" b="1" dirty="0">
                <a:solidFill>
                  <a:schemeClr val="tx1"/>
                </a:solidFill>
              </a:rPr>
              <a:t>Explorar, planejar, executar, registrar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58368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Explorar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modo Plan: ler, perguntar</a:t>
            </a:r>
            <a:endParaRPr lang="en-US" sz="1554" dirty="0"/>
          </a:p>
        </p:txBody>
      </p:sp>
      <p:sp>
        <p:nvSpPr>
          <p:cNvPr id="5" name="seta-2"/>
          <p:cNvSpPr/>
          <p:nvPr/>
        </p:nvSpPr>
        <p:spPr>
          <a:xfrm>
            <a:off x="2604760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2833360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2924800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Planejar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plano escrito, revisado por você</a:t>
            </a:r>
            <a:endParaRPr lang="en-US" sz="1554" dirty="0"/>
          </a:p>
        </p:txBody>
      </p:sp>
      <p:sp>
        <p:nvSpPr>
          <p:cNvPr id="8" name="seta-5"/>
          <p:cNvSpPr/>
          <p:nvPr/>
        </p:nvSpPr>
        <p:spPr>
          <a:xfrm>
            <a:off x="4871192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5099792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o-7"/>
          <p:cNvSpPr txBox="1"/>
          <p:nvPr/>
        </p:nvSpPr>
        <p:spPr>
          <a:xfrm>
            <a:off x="5191232" y="1176680"/>
            <a:ext cx="1809232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Executar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uma etapa por vez</a:t>
            </a:r>
            <a:endParaRPr lang="en-US" sz="1554" dirty="0"/>
          </a:p>
        </p:txBody>
      </p:sp>
      <p:sp>
        <p:nvSpPr>
          <p:cNvPr id="11" name="seta-8"/>
          <p:cNvSpPr/>
          <p:nvPr/>
        </p:nvSpPr>
        <p:spPr>
          <a:xfrm>
            <a:off x="7137624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7366224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o-10"/>
          <p:cNvSpPr txBox="1"/>
          <p:nvPr/>
        </p:nvSpPr>
        <p:spPr>
          <a:xfrm>
            <a:off x="7457664" y="1176680"/>
            <a:ext cx="1809232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Verificar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teste e evidência</a:t>
            </a:r>
            <a:endParaRPr lang="en-US" sz="1554" dirty="0"/>
          </a:p>
        </p:txBody>
      </p:sp>
      <p:sp>
        <p:nvSpPr>
          <p:cNvPr id="14" name="seta-11"/>
          <p:cNvSpPr/>
          <p:nvPr/>
        </p:nvSpPr>
        <p:spPr>
          <a:xfrm>
            <a:off x="9404055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9632655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o-13"/>
          <p:cNvSpPr txBox="1"/>
          <p:nvPr/>
        </p:nvSpPr>
        <p:spPr>
          <a:xfrm>
            <a:off x="9724095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Registrar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relatório da etapa e commit</a:t>
            </a:r>
            <a:endParaRPr lang="en-US" sz="1554" dirty="0"/>
          </a:p>
        </p:txBody>
      </p:sp>
      <p:sp>
        <p:nvSpPr>
          <p:cNvPr id="17" name="texto-14"/>
          <p:cNvSpPr txBox="1"/>
          <p:nvPr/>
        </p:nvSpPr>
        <p:spPr>
          <a:xfrm>
            <a:off x="566928" y="2104061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plano separa </a:t>
            </a:r>
            <a:r>
              <a:rPr lang="en-US" sz="2100" b="1" dirty="0">
                <a:solidFill>
                  <a:schemeClr val="tx1"/>
                </a:solidFill>
              </a:rPr>
              <a:t>o que fazer</a:t>
            </a:r>
            <a:r>
              <a:rPr lang="en-US" sz="2100" dirty="0">
                <a:solidFill>
                  <a:schemeClr val="tx1"/>
                </a:solidFill>
              </a:rPr>
              <a:t> de </a:t>
            </a:r>
            <a:r>
              <a:rPr lang="en-US" sz="2100" b="1" dirty="0">
                <a:solidFill>
                  <a:schemeClr val="tx1"/>
                </a:solidFill>
              </a:rPr>
              <a:t>como fazer</a:t>
            </a:r>
            <a:r>
              <a:rPr lang="en-US" sz="2100" dirty="0">
                <a:solidFill>
                  <a:schemeClr val="tx1"/>
                </a:solidFill>
              </a:rPr>
              <a:t>: é muito mais barato corrigir um plano do que um código.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Pule o plano só quando a mudança cabe em uma frase (renomear uma variável, corrigir um rótulo).</a:t>
            </a:r>
            <a:endParaRPr lang="en-US" sz="2100" dirty="0"/>
          </a:p>
        </p:txBody>
      </p:sp>
      <p:sp>
        <p:nvSpPr>
          <p:cNvPr id="1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   </a:t>
            </a:r>
            <a:r>
              <a:rPr lang="en-US" sz="2800" b="1" dirty="0">
                <a:solidFill>
                  <a:schemeClr val="tx1"/>
                </a:solidFill>
              </a:rPr>
              <a:t>Modo de planejamento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75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VS Code</a:t>
            </a:r>
            <a:r>
              <a:rPr lang="en-US" sz="2100" dirty="0">
                <a:solidFill>
                  <a:schemeClr val="tx1"/>
                </a:solidFill>
              </a:rPr>
              <a:t>: indicador de modo → </a:t>
            </a:r>
            <a:r>
              <a:rPr lang="en-US" sz="2100" b="1" dirty="0">
                <a:solidFill>
                  <a:schemeClr val="tx1"/>
                </a:solidFill>
              </a:rPr>
              <a:t>Plan</a:t>
            </a:r>
            <a:r>
              <a:rPr lang="en-US" sz="2100" dirty="0">
                <a:solidFill>
                  <a:schemeClr val="tx1"/>
                </a:solidFill>
              </a:rPr>
              <a:t>, ou digite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</a:t>
            </a:r>
            <a:r>
              <a:rPr lang="en-US" sz="2100" dirty="0">
                <a:solidFill>
                  <a:schemeClr val="tx1"/>
                </a:solidFill>
              </a:rPr>
              <a:t> seguido da tarefa.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Terminal</a:t>
            </a:r>
            <a:r>
              <a:rPr lang="en-US" sz="2100" dirty="0">
                <a:solidFill>
                  <a:schemeClr val="tx1"/>
                </a:solidFill>
              </a:rPr>
              <a:t>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Shift+Tab</a:t>
            </a:r>
            <a:r>
              <a:rPr lang="en-US" sz="2100" dirty="0">
                <a:solidFill>
                  <a:schemeClr val="tx1"/>
                </a:solidFill>
              </a:rPr>
              <a:t> até aparecer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mode on</a:t>
            </a:r>
            <a:r>
              <a:rPr lang="en-US" sz="2100" dirty="0">
                <a:solidFill>
                  <a:schemeClr val="tx1"/>
                </a:solidFill>
              </a:rPr>
              <a:t>, ou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--permission-mode plan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modo Plan o agente lê, pesquisa e pergunta, mas </a:t>
            </a:r>
            <a:r>
              <a:rPr lang="en-US" sz="2100" b="1" dirty="0">
                <a:solidFill>
                  <a:schemeClr val="tx1"/>
                </a:solidFill>
              </a:rPr>
              <a:t>não edita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VS Code, o plano abre como documento Markdown: você pode comentar trechos antes de aprovar. No terminal,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Ctrl+G</a:t>
            </a:r>
            <a:r>
              <a:rPr lang="en-US" sz="2100" dirty="0">
                <a:solidFill>
                  <a:schemeClr val="tx1"/>
                </a:solidFill>
              </a:rPr>
              <a:t> abre o plano no editor.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Aprovar o plano libera a execução; rejeitar com comentários gera uma nova versão.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   </a:t>
            </a:r>
            <a:r>
              <a:rPr lang="en-US" sz="2800" b="1" dirty="0">
                <a:solidFill>
                  <a:schemeClr val="tx1"/>
                </a:solidFill>
              </a:rPr>
              <a:t>Pedir um plano bom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027786"/>
          </a:xfrm>
          <a:prstGeom prst="roundRect">
            <a:avLst>
              <a:gd name="adj" fmla="val 5338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86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 @PLANO.md Etapas 01 a 03 (importar, QC, curar).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Siga o CLAUDE.md e docs/dicionario_de_dados.csv. Para cada etapa diga: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arquivos lidos e gravados; regras de QC; o que vira NA e o que é corrigido;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vamos testar (incluindo um teste com erros injetados); e o que está ambíguo.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2273046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Peça explicitamente </a:t>
            </a:r>
            <a:r>
              <a:rPr lang="en-US" sz="2100" b="1" dirty="0">
                <a:solidFill>
                  <a:schemeClr val="tx1"/>
                </a:solidFill>
              </a:rPr>
              <a:t>como verificar</a:t>
            </a:r>
            <a:r>
              <a:rPr lang="en-US" sz="2100" dirty="0">
                <a:solidFill>
                  <a:schemeClr val="tx1"/>
                </a:solidFill>
              </a:rPr>
              <a:t> e </a:t>
            </a:r>
            <a:r>
              <a:rPr lang="en-US" sz="2100" b="1" dirty="0">
                <a:solidFill>
                  <a:schemeClr val="tx1"/>
                </a:solidFill>
              </a:rPr>
              <a:t>o que está em aberto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Para análises novas e mal definidas: peça que o agente </a:t>
            </a:r>
            <a:r>
              <a:rPr lang="en-US" sz="2100" b="1" dirty="0">
                <a:solidFill>
                  <a:schemeClr val="tx1"/>
                </a:solidFill>
              </a:rPr>
              <a:t>entreviste você</a:t>
            </a:r>
            <a:r>
              <a:rPr lang="en-US" sz="2100" dirty="0">
                <a:solidFill>
                  <a:schemeClr val="tx1"/>
                </a:solidFill>
              </a:rPr>
              <a:t> antes de escrever o plano ("faça perguntas até cobrir modelo, dados, casos especiais e critérios; depois escreva o plano").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   </a:t>
            </a:r>
            <a:r>
              <a:rPr lang="en-US" sz="2800" b="1" dirty="0">
                <a:solidFill>
                  <a:schemeClr val="tx1"/>
                </a:solidFill>
              </a:rPr>
              <a:t>Como avaliar se o plano está bom</a:t>
            </a:r>
            <a:endParaRPr lang="en-US" sz="2800" dirty="0"/>
          </a:p>
        </p:txBody>
      </p:sp>
      <p:graphicFrame>
        <p:nvGraphicFramePr>
          <p:cNvPr id="34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225600"/>
        </p:xfrm>
        <a:graphic>
          <a:graphicData uri="http://schemas.openxmlformats.org/drawingml/2006/table">
            <a:tbl>
              <a:tblPr/>
              <a:tblGrid>
                <a:gridCol w="623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1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Pergunta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Sinal de plano fraco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Responde à pergunta do README e diz o que fica fora?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Escopo aberto, "e outras análises"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Nomeia arquivos lidos e gravados?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"Vou processar os dados"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Explicita as decisões científicas?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"Vou ajustar o modelo adequado"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Bate com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dicionário e decisões?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Contradiz uma regra escrita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Diz como saber que está certo </a:t>
                      </a: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antes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de rodar?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Nenhum teste, nenhum número esperado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Passos pequenos e verificáveis?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Uma etapa que faz tudo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Lista premissas e perguntas em aberto?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Decide em silêncio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Usa funções que existem e parâmetros do YAML?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Pacote inventado, número fixo no código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Checklist completo: exemplos/docs/checklist_plano.md.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   </a:t>
            </a:r>
            <a:r>
              <a:rPr lang="en-US" sz="2800" b="1" dirty="0">
                <a:solidFill>
                  <a:schemeClr val="tx1"/>
                </a:solidFill>
              </a:rPr>
              <a:t>Exemplo: corrigir um plano antes de aprovar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Trecho do plano proposto: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1481086"/>
            <a:ext cx="5346040" cy="1244972"/>
          </a:xfrm>
          <a:prstGeom prst="roundRect">
            <a:avLst>
              <a:gd name="adj" fmla="val 587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1590814"/>
            <a:ext cx="4980280" cy="1043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"Remover outliers acima de 3 desvios-padrão e converter valores abaixo de 100 de t/ha para kg/ha."</a:t>
            </a:r>
            <a:endParaRPr lang="en-US" sz="2100" dirty="0"/>
          </a:p>
        </p:txBody>
      </p:sp>
      <p:sp>
        <p:nvSpPr>
          <p:cNvPr id="6" name="texto-3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Comentário do pesquisador:</a:t>
            </a:r>
            <a:endParaRPr lang="en-US" sz="2100" dirty="0"/>
          </a:p>
        </p:txBody>
      </p:sp>
      <p:sp>
        <p:nvSpPr>
          <p:cNvPr id="7" name="texto-4"/>
          <p:cNvSpPr txBox="1"/>
          <p:nvPr/>
        </p:nvSpPr>
        <p:spPr>
          <a:xfrm>
            <a:off x="6278728" y="1481086"/>
            <a:ext cx="5346040" cy="292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Outlier estatístico não é erro (Seção 1): sinalize, não remova.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9,01 "em t/ha" vira 9.010, mas o valor verdadeiro era 9.012,1: a conversão é um palpite. Regra do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: valor fora do intervalo vira NA, com registro.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Antes de aprovar: o plano diz quantos casos espera encontrar?</a:t>
            </a:r>
            <a:endParaRPr lang="en-US" sz="2100" dirty="0"/>
          </a:p>
        </p:txBody>
      </p:sp>
      <p:sp>
        <p:nvSpPr>
          <p:cNvPr id="8" name="ret-5"/>
          <p:cNvSpPr/>
          <p:nvPr/>
        </p:nvSpPr>
        <p:spPr>
          <a:xfrm>
            <a:off x="6278728" y="4506499"/>
            <a:ext cx="5346040" cy="1244972"/>
          </a:xfrm>
          <a:prstGeom prst="roundRect">
            <a:avLst>
              <a:gd name="adj" fmla="val 587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o-6"/>
          <p:cNvSpPr txBox="1"/>
          <p:nvPr/>
        </p:nvSpPr>
        <p:spPr>
          <a:xfrm>
            <a:off x="6461608" y="4616227"/>
            <a:ext cx="4980280" cy="1043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Revisar o plano é onde o conhecimento de melhoramento entra. O agente não sabe o que o seu programa considera erro.</a:t>
            </a:r>
            <a:endParaRPr lang="en-US" sz="2100" dirty="0"/>
          </a:p>
        </p:txBody>
      </p:sp>
      <p:sp>
        <p:nvSpPr>
          <p:cNvPr id="10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Executar e verificar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5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   </a:t>
            </a:r>
            <a:r>
              <a:rPr lang="en-US" sz="2800" b="1" dirty="0">
                <a:solidFill>
                  <a:schemeClr val="tx1"/>
                </a:solidFill>
              </a:rPr>
              <a:t>Executar uma etapa por vez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0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Aprovado o plano, peça </a:t>
            </a:r>
            <a:r>
              <a:rPr lang="en-US" sz="2100" b="1" dirty="0">
                <a:solidFill>
                  <a:schemeClr val="tx1"/>
                </a:solidFill>
              </a:rPr>
              <a:t>uma etapa</a:t>
            </a:r>
            <a:r>
              <a:rPr lang="en-US" sz="2100" dirty="0">
                <a:solidFill>
                  <a:schemeClr val="tx1"/>
                </a:solidFill>
              </a:rPr>
              <a:t>: "Execute a Etapa 01 do plano. Rode o teste e mostre a saída."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modo Manual, cada edição aparece como </a:t>
            </a:r>
            <a:r>
              <a:rPr lang="en-US" sz="2100" b="1" dirty="0">
                <a:solidFill>
                  <a:schemeClr val="tx1"/>
                </a:solidFill>
              </a:rPr>
              <a:t>diff lado a lado</a:t>
            </a:r>
            <a:r>
              <a:rPr lang="en-US" sz="2100" dirty="0">
                <a:solidFill>
                  <a:schemeClr val="tx1"/>
                </a:solidFill>
              </a:rPr>
              <a:t>: aceite, rejeite ou edite antes de aceitar.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Quando o agente sair do rumo: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r>
              <a:rPr lang="en-US" sz="2100" dirty="0">
                <a:solidFill>
                  <a:schemeClr val="tx1"/>
                </a:solidFill>
              </a:rPr>
              <a:t> interrompe e permite redirecionar; não espere ele terminar.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Corrigiu duas vezes e o erro persiste?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r>
              <a:rPr lang="en-US" sz="2100" dirty="0">
                <a:solidFill>
                  <a:schemeClr val="tx1"/>
                </a:solidFill>
              </a:rPr>
              <a:t> e um prompt melhor, que já inclua o que você aprendeu.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   </a:t>
            </a:r>
            <a:r>
              <a:rPr lang="en-US" sz="2800" b="1" dirty="0">
                <a:solidFill>
                  <a:schemeClr val="tx1"/>
                </a:solidFill>
              </a:rPr>
              <a:t>Git e checkpoints: como desfazer ⚙️</a:t>
            </a:r>
            <a:endParaRPr lang="en-US" sz="2800" dirty="0"/>
          </a:p>
        </p:txBody>
      </p:sp>
      <p:graphicFrame>
        <p:nvGraphicFramePr>
          <p:cNvPr id="38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8" cy="1876079"/>
        </p:xfrm>
        <a:graphic>
          <a:graphicData uri="http://schemas.openxmlformats.org/drawingml/2006/table">
            <a:tbl>
              <a:tblPr/>
              <a:tblGrid>
                <a:gridCol w="3685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Ferramenta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Desfaz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Limite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3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Rewind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(botão ao passar o mouse sobre uma mensagem;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Esc Esc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/rewind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no terminal)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Código e/ou conversa até aquele ponto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Só edições feitas pelas ferramentas do agente; não desfaz o que um script gravou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Git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diff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restore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revert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Qualquer mudança em arquivos versionados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Precisa de commits frequentes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121339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Commit ao fim de </a:t>
            </a:r>
            <a:r>
              <a:rPr lang="en-US" sz="2100" b="1" dirty="0">
                <a:solidFill>
                  <a:schemeClr val="tx1"/>
                </a:solidFill>
              </a:rPr>
              <a:t>cada etapa verificada</a:t>
            </a:r>
            <a:r>
              <a:rPr lang="en-US" sz="2100" dirty="0">
                <a:solidFill>
                  <a:schemeClr val="tx1"/>
                </a:solidFill>
              </a:rPr>
              <a:t>: o histórico vira o caderno de laboratório da análise.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"Desfaça o que você fez" também funciona, mas o Git é a garantia.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   </a:t>
            </a:r>
            <a:r>
              <a:rPr lang="en-US" sz="2800" b="1" dirty="0">
                <a:solidFill>
                  <a:schemeClr val="tx1"/>
                </a:solidFill>
              </a:rPr>
              <a:t>A pergunta central: o agente fez o que foi pedido?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92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diz "pronto" quando o código roda. </a:t>
            </a:r>
            <a:r>
              <a:rPr lang="en-US" sz="2100" b="1" dirty="0">
                <a:solidFill>
                  <a:schemeClr val="tx1"/>
                </a:solidFill>
              </a:rPr>
              <a:t>Rodar não é estar certo.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exemplo: sem QC, o script roda sem erro e entrega h² = 0,02 em PGO e SLG.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Peça </a:t>
            </a:r>
            <a:r>
              <a:rPr lang="en-US" sz="2100" b="1" dirty="0">
                <a:solidFill>
                  <a:schemeClr val="tx1"/>
                </a:solidFill>
              </a:rPr>
              <a:t>evidência</a:t>
            </a:r>
            <a:r>
              <a:rPr lang="en-US" sz="2100" dirty="0">
                <a:solidFill>
                  <a:schemeClr val="tx1"/>
                </a:solidFill>
              </a:rPr>
              <a:t>, não afirmação: o comando executado, a saída, o teste que passou.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Verifique contra algo que você sabe: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erros injetados que o QC tem de achar;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contagens que você confere de forma independente;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caso calculado à mão ou um dado simulado com resposta conhecida.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   </a:t>
            </a:r>
            <a:r>
              <a:rPr lang="en-US" sz="2800" b="1" dirty="0">
                <a:solidFill>
                  <a:schemeClr val="tx1"/>
                </a:solidFill>
              </a:rPr>
              <a:t>Checklist de verificação</a:t>
            </a:r>
            <a:endParaRPr lang="en-US" sz="2800" dirty="0"/>
          </a:p>
        </p:txBody>
      </p:sp>
      <p:graphicFrame>
        <p:nvGraphicFramePr>
          <p:cNvPr id="40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225600"/>
        </p:xfrm>
        <a:graphic>
          <a:graphicData uri="http://schemas.openxmlformats.org/drawingml/2006/table">
            <a:tbl>
              <a:tblPr/>
              <a:tblGrid>
                <a:gridCol w="4688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9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Verificação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Como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mudou? Algo além do pedido?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status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diff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plano foi cumprido item a item?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Releia a etapa no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PLANO.md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Há evidência?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Comando + saída do teste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teste tem resposta conhecida?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Erros injetados, dado simulado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Os números-chave batem?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Conferência independente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É geneticamente plausível?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 ≤ h² ≤ 1, CV do caráter, variâncias positivas, unidades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Roda do zero?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Apague o que é gerado e rode na ordem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Você explica cada linha e cada número?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Se não, não está pronto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exemplos/docs/checklist_verificacao.md.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   </a:t>
            </a:r>
            <a:r>
              <a:rPr lang="en-US" sz="2800" b="1" dirty="0">
                <a:solidFill>
                  <a:schemeClr val="tx1"/>
                </a:solidFill>
              </a:rPr>
              <a:t>Resultado de referência das etapas 01 a 03</a:t>
            </a:r>
            <a:endParaRPr lang="en-US" sz="2800" dirty="0"/>
          </a:p>
        </p:txBody>
      </p:sp>
      <p:graphicFrame>
        <p:nvGraphicFramePr>
          <p:cNvPr id="41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325920"/>
        </p:xfrm>
        <a:graphic>
          <a:graphicData uri="http://schemas.openxmlformats.org/drawingml/2006/table">
            <a:tbl>
              <a:tblPr/>
              <a:tblGrid>
                <a:gridCol w="5315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Verificação do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Casos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Tratamento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 fora do padrão (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dh25_0266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DH25-0287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DH25 0138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DH25_0279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…)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Normalizar (maiúsculas, sem espaços,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) e registrar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Duplicata por posição (ensaio, linha, coluna)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Manter uma ocorrência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Fora do intervalo 2.000–20.000 kg/ha (104.613; 92.241; 86.200; 9,01; 8,87…)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NA com registro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Total encontrado / injetado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14 / 14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571179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Depois da curadoria: 2.424 parcelas, 7 valores ausentes, 404 genótipos, todos os IDs no padrão.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número de genótipos é uma verificação barata: sem normalizar, o modelo vê </a:t>
            </a:r>
            <a:r>
              <a:rPr lang="en-US" sz="2100" b="1" dirty="0">
                <a:solidFill>
                  <a:schemeClr val="tx1"/>
                </a:solidFill>
              </a:rPr>
              <a:t>409</a:t>
            </a:r>
            <a:r>
              <a:rPr lang="en-US" sz="2100" dirty="0">
                <a:solidFill>
                  <a:schemeClr val="tx1"/>
                </a:solidFill>
              </a:rPr>
              <a:t> "genótipos".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5.6   </a:t>
            </a:r>
            <a:r>
              <a:rPr lang="en-US" sz="2800" b="1" dirty="0">
                <a:solidFill>
                  <a:schemeClr val="tx1"/>
                </a:solidFill>
              </a:rPr>
              <a:t>Resultado de referência da Etapa 04 (análise individual)</a:t>
            </a:r>
            <a:endParaRPr lang="en-US" sz="2800" dirty="0"/>
          </a:p>
        </p:txBody>
      </p:sp>
      <p:graphicFrame>
        <p:nvGraphicFramePr>
          <p:cNvPr id="42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93825"/>
          <a:ext cx="11057840" cy="1433600"/>
        </p:xfrm>
        <a:graphic>
          <a:graphicData uri="http://schemas.openxmlformats.org/drawingml/2006/table">
            <a:tbl>
              <a:tblPr/>
              <a:tblGrid>
                <a:gridCol w="1697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43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55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Ambiente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Média (kg/ha)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CV (%)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h² de médias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CV sem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h² sem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PGO 2025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10.381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4,9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31,9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SLG 2025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9.205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0,51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43,4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UDI 2025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12.152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087444"/>
            <a:ext cx="11057839" cy="12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Modelo por ambiente: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 ~ bloco + (1|genotipo)</a:t>
            </a:r>
            <a:r>
              <a:rPr lang="en-US" sz="2100" dirty="0">
                <a:solidFill>
                  <a:schemeClr val="tx1"/>
                </a:solidFill>
              </a:rPr>
              <a:t>; h² = s2g / (s2g + s2e/2).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UDI não tinha valor fora do intervalo: por isso quase não muda.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Uma única parcela de 104.613 kg/ha destrói a herdabilidade do ensaio inteiro.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Gerenciar o contexto das sessões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6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   </a:t>
            </a:r>
            <a:r>
              <a:rPr lang="en-US" sz="2800" b="1" dirty="0">
                <a:solidFill>
                  <a:schemeClr val="tx1"/>
                </a:solidFill>
              </a:rPr>
              <a:t>A janela de contexto é o recurso mais escasso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66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Tudo entra nela: instruções,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, cada arquivo lido, cada saída de comando, cada mensagem.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Quando enche, o desempenho cai: o agente "esquece" instruções do início e erra mais.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Claude Code </a:t>
            </a:r>
            <a:r>
              <a:rPr lang="en-US" sz="2100" b="1" dirty="0">
                <a:solidFill>
                  <a:schemeClr val="tx1"/>
                </a:solidFill>
              </a:rPr>
              <a:t>compacta</a:t>
            </a:r>
            <a:r>
              <a:rPr lang="en-US" sz="2100" dirty="0">
                <a:solidFill>
                  <a:schemeClr val="tx1"/>
                </a:solidFill>
              </a:rPr>
              <a:t> automaticamente (resume a conversa) perto do limite, mas o resumo perde detalhes.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/context</a:t>
            </a:r>
            <a:r>
              <a:rPr lang="en-US" sz="2100" dirty="0">
                <a:solidFill>
                  <a:schemeClr val="tx1"/>
                </a:solidFill>
              </a:rPr>
              <a:t> mostra o que está ocupando a janela; no VS Code, o indicador fica na caixa de prompt. ⚙️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6.2   </a:t>
            </a:r>
            <a:r>
              <a:rPr lang="en-US" sz="2800" b="1" dirty="0">
                <a:solidFill>
                  <a:schemeClr val="tx1"/>
                </a:solidFill>
              </a:rPr>
              <a:t>Comandos para gerenciar o contexto ⚙️</a:t>
            </a:r>
            <a:endParaRPr lang="en-US" sz="2800" dirty="0"/>
          </a:p>
        </p:txBody>
      </p:sp>
      <p:graphicFrame>
        <p:nvGraphicFramePr>
          <p:cNvPr id="45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40" cy="2684320"/>
        </p:xfrm>
        <a:graphic>
          <a:graphicData uri="http://schemas.openxmlformats.org/drawingml/2006/table">
            <a:tbl>
              <a:tblPr/>
              <a:tblGrid>
                <a:gridCol w="3380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3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Comando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Efeito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Quando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/clear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Começa uma conversa nova (o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é relido)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Entre tarefas ou etapas diferentes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/compact &lt;foco&gt;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Resume a conversa preservando o foco indicado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Etapa longa que precisa continuar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/rewind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→ resumir a partir daqui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Condensa só parte da conversa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Uma tentativa longa que deu errado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/btw &lt;pergunta&gt;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Pergunta paralela que não entra no histórico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Tirar uma dúvida rápida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/rename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 --resume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Nomear e retomar sessões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Trabalho em vários dias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   </a:t>
            </a:r>
            <a:r>
              <a:rPr lang="en-US" sz="2800" b="1" dirty="0">
                <a:solidFill>
                  <a:schemeClr val="tx1"/>
                </a:solidFill>
              </a:rPr>
              <a:t>Estratégia para uma análise em várias sessões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43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Uma etapa por conversa.</a:t>
            </a:r>
            <a:r>
              <a:rPr lang="en-US" sz="2100" dirty="0">
                <a:solidFill>
                  <a:schemeClr val="tx1"/>
                </a:solidFill>
              </a:rPr>
              <a:t> No fim da etapa: relatório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docs/etapas/NN.md</a:t>
            </a:r>
            <a:r>
              <a:rPr lang="en-US" sz="2100" dirty="0">
                <a:solidFill>
                  <a:schemeClr val="tx1"/>
                </a:solidFill>
              </a:rPr>
              <a:t> → commit →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próxima sessão começa pelos arquivos, não pela memória: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@docs/etapas/03.md @PLANO.md Etapa 04.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Investigações amplas ("onde está o problema?") vão para um </a:t>
            </a:r>
            <a:r>
              <a:rPr lang="en-US" sz="2100" b="1" dirty="0">
                <a:solidFill>
                  <a:schemeClr val="tx1"/>
                </a:solidFill>
              </a:rPr>
              <a:t>subagente</a:t>
            </a:r>
            <a:r>
              <a:rPr lang="en-US" sz="2100" dirty="0">
                <a:solidFill>
                  <a:schemeClr val="tx1"/>
                </a:solidFill>
              </a:rPr>
              <a:t>: ele lê muitos arquivos no contexto dele e devolve só o resumo.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Não cole saídas enormes: peça que o resultado vá para um arquivo e que o agente resuma.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Falhas típicas: a sessão "pia de cozinha" (muitos assuntos misturados), correções repetidas que poluem o contexto, exploração sem escopo.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Subagentes: orientando e orientador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7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   </a:t>
            </a:r>
            <a:r>
              <a:rPr lang="en-US" sz="2800" b="1" dirty="0">
                <a:solidFill>
                  <a:schemeClr val="tx1"/>
                </a:solidFill>
              </a:rPr>
              <a:t>O que é um subagente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4034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assistente especializado, com </a:t>
            </a:r>
            <a:r>
              <a:rPr lang="en-US" sz="2100" b="1" dirty="0">
                <a:solidFill>
                  <a:schemeClr val="tx1"/>
                </a:solidFill>
              </a:rPr>
              <a:t>contexto próprio</a:t>
            </a:r>
            <a:r>
              <a:rPr lang="en-US" sz="2100" dirty="0">
                <a:solidFill>
                  <a:schemeClr val="tx1"/>
                </a:solidFill>
              </a:rPr>
              <a:t>, instruções próprias, ferramentas limitadas e, se quiser, outro modelo.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principal delega uma tarefa; o subagente trabalha isolado e devolve </a:t>
            </a:r>
            <a:r>
              <a:rPr lang="en-US" sz="2100" b="1" dirty="0">
                <a:solidFill>
                  <a:schemeClr val="tx1"/>
                </a:solidFill>
              </a:rPr>
              <a:t>só o resultado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Para que serve: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proteger o contexto principal (exploração e leitura volumosa);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impor limites (um revisor sem permissão de editar);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reutilizar uma função (o mesmo revisor em todos os projetos);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revisar com </a:t>
            </a:r>
            <a:r>
              <a:rPr lang="en-US" sz="2100" b="1" dirty="0">
                <a:solidFill>
                  <a:schemeClr val="tx1"/>
                </a:solidFill>
              </a:rPr>
              <a:t>contexto limpo</a:t>
            </a:r>
            <a:r>
              <a:rPr lang="en-US" sz="2100" dirty="0">
                <a:solidFill>
                  <a:schemeClr val="tx1"/>
                </a:solidFill>
              </a:rPr>
              <a:t>, sem o viés de quem escreveu.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Já vêm prontos: </a:t>
            </a:r>
            <a:r>
              <a:rPr lang="en-US" sz="2100" b="1" dirty="0">
                <a:solidFill>
                  <a:schemeClr val="tx1"/>
                </a:solidFill>
              </a:rPr>
              <a:t>Explore</a:t>
            </a:r>
            <a:r>
              <a:rPr lang="en-US" sz="2100" dirty="0">
                <a:solidFill>
                  <a:schemeClr val="tx1"/>
                </a:solidFill>
              </a:rPr>
              <a:t> (busca somente leitura), </a:t>
            </a:r>
            <a:r>
              <a:rPr lang="en-US" sz="2100" b="1" dirty="0">
                <a:solidFill>
                  <a:schemeClr val="tx1"/>
                </a:solidFill>
              </a:rPr>
              <a:t>Plan</a:t>
            </a:r>
            <a:r>
              <a:rPr lang="en-US" sz="2100" dirty="0">
                <a:solidFill>
                  <a:schemeClr val="tx1"/>
                </a:solidFill>
              </a:rPr>
              <a:t> (pesquisa no modo de plano) e um de uso geral.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   </a:t>
            </a:r>
            <a:r>
              <a:rPr lang="en-US" sz="2800" b="1" dirty="0">
                <a:solidFill>
                  <a:schemeClr val="tx1"/>
                </a:solidFill>
              </a:rPr>
              <a:t>Criar um subagente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É um arquivo Markdown com cabeçalho YAML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</a:t>
            </a:r>
            <a:r>
              <a:rPr lang="en-US" sz="2100" dirty="0">
                <a:solidFill>
                  <a:schemeClr val="tx1"/>
                </a:solidFill>
              </a:rPr>
              <a:t> (projeto) ou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~/.claude/agents/</a:t>
            </a:r>
            <a:r>
              <a:rPr lang="en-US" sz="2100" dirty="0">
                <a:solidFill>
                  <a:schemeClr val="tx1"/>
                </a:solidFill>
              </a:rPr>
              <a:t> (todos os projetos).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Duas formas: escrever o arquivo, ou pedir: "Crie um subagente em .claude/agents/orientador.md que revise etapas da análise sem editar arquivos".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2697959"/>
            <a:ext cx="11057839" cy="1872691"/>
          </a:xfrm>
          <a:prstGeom prst="roundRect">
            <a:avLst>
              <a:gd name="adj" fmla="val 293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2789399"/>
            <a:ext cx="10765231" cy="17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orientador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Revisa criticamente, com contexto limpo, uma etapa implementada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contra o PLANO.md, o CLAUDE.md e o dicionário. Use depois de cada etapa.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Read, Grep, Glob, Bash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inherit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é o orientador de uma dissertação em genética quantitativa...</a:t>
            </a:r>
            <a:endParaRPr lang="en-US" sz="1386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473067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Campos principais: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2100" dirty="0">
                <a:solidFill>
                  <a:schemeClr val="tx1"/>
                </a:solidFill>
              </a:rPr>
              <a:t>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2100" dirty="0">
                <a:solidFill>
                  <a:schemeClr val="tx1"/>
                </a:solidFill>
              </a:rPr>
              <a:t> (obrigatórios),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disallowedTools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permissionMode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Chamar: em linguagem natural ("use o subagente orientador para…") ou com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2100" dirty="0">
                <a:solidFill>
                  <a:schemeClr val="tx1"/>
                </a:solidFill>
              </a:rPr>
              <a:t> no prompt.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   </a:t>
            </a:r>
            <a:r>
              <a:rPr lang="en-US" sz="2800" b="1" dirty="0">
                <a:solidFill>
                  <a:schemeClr val="tx1"/>
                </a:solidFill>
              </a:rPr>
              <a:t>Boas práticas para subagentes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521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Uma função por agente</a:t>
            </a:r>
            <a:r>
              <a:rPr lang="en-US" sz="2100" dirty="0">
                <a:solidFill>
                  <a:schemeClr val="tx1"/>
                </a:solidFill>
              </a:rPr>
              <a:t>, descrita na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2100" dirty="0">
                <a:solidFill>
                  <a:schemeClr val="tx1"/>
                </a:solidFill>
              </a:rPr>
              <a:t>: é ela que o agente principal lê para decidir quando delegar.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Ferramentas mínimas</a:t>
            </a:r>
            <a:r>
              <a:rPr lang="en-US" sz="2100" dirty="0">
                <a:solidFill>
                  <a:schemeClr val="tx1"/>
                </a:solidFill>
              </a:rPr>
              <a:t>: o revisor não precisa de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</a:t>
            </a:r>
            <a:r>
              <a:rPr lang="en-US" sz="2100" dirty="0">
                <a:solidFill>
                  <a:schemeClr val="tx1"/>
                </a:solidFill>
              </a:rPr>
              <a:t> nem de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Entrega definida</a:t>
            </a:r>
            <a:r>
              <a:rPr lang="en-US" sz="2100" dirty="0">
                <a:solidFill>
                  <a:schemeClr val="tx1"/>
                </a:solidFill>
              </a:rPr>
              <a:t>: diga exatamente o que devolver (arquivos alterados, comandos e saídas, números-chave, pendências).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Contexto explícito</a:t>
            </a:r>
            <a:r>
              <a:rPr lang="en-US" sz="2100" dirty="0">
                <a:solidFill>
                  <a:schemeClr val="tx1"/>
                </a:solidFill>
              </a:rPr>
              <a:t>: o subagente não vê a conversa; diga quais arquivos ler.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Proibido inventar problema</a:t>
            </a:r>
            <a:r>
              <a:rPr lang="en-US" sz="2100" dirty="0">
                <a:solidFill>
                  <a:schemeClr val="tx1"/>
                </a:solidFill>
              </a:rPr>
              <a:t>: um revisor instruído a achar falhas sempre acha alguma. Peça para separar </a:t>
            </a:r>
            <a:r>
              <a:rPr lang="en-US" sz="2100" b="1" dirty="0">
                <a:solidFill>
                  <a:schemeClr val="tx1"/>
                </a:solidFill>
              </a:rPr>
              <a:t>bloqueantes</a:t>
            </a:r>
            <a:r>
              <a:rPr lang="en-US" sz="2100" dirty="0">
                <a:solidFill>
                  <a:schemeClr val="tx1"/>
                </a:solidFill>
              </a:rPr>
              <a:t> de </a:t>
            </a:r>
            <a:r>
              <a:rPr lang="en-US" sz="2100" b="1" dirty="0">
                <a:solidFill>
                  <a:schemeClr val="tx1"/>
                </a:solidFill>
              </a:rPr>
              <a:t>sugestões</a:t>
            </a:r>
            <a:r>
              <a:rPr lang="en-US" sz="2100" dirty="0">
                <a:solidFill>
                  <a:schemeClr val="tx1"/>
                </a:solidFill>
              </a:rPr>
              <a:t> e para dizer "sem bloqueantes" quando for o caso.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Versione</a:t>
            </a:r>
            <a:r>
              <a:rPr lang="en-US" sz="2100" dirty="0">
                <a:solidFill>
                  <a:schemeClr val="tx1"/>
                </a:solidFill>
              </a:rPr>
              <a:t> os agentes do projeto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</a:t>
            </a:r>
            <a:r>
              <a:rPr lang="en-US" sz="2100" dirty="0">
                <a:solidFill>
                  <a:schemeClr val="tx1"/>
                </a:solidFill>
              </a:rPr>
              <a:t>: fazem parte do método.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7.4   </a:t>
            </a:r>
            <a:r>
              <a:rPr lang="en-US" sz="2800" b="1" dirty="0">
                <a:solidFill>
                  <a:schemeClr val="tx1"/>
                </a:solidFill>
              </a:rPr>
              <a:t>A metáfora: orientando, orientador e banca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58368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Você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coordena e decide; aprova o plano</a:t>
            </a:r>
            <a:endParaRPr lang="en-US" sz="1554" dirty="0"/>
          </a:p>
        </p:txBody>
      </p:sp>
      <p:sp>
        <p:nvSpPr>
          <p:cNvPr id="5" name="seta-2"/>
          <p:cNvSpPr/>
          <p:nvPr/>
        </p:nvSpPr>
        <p:spPr>
          <a:xfrm>
            <a:off x="2604760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2833360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2924800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Orientando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implementa a etapa; relata com evidência</a:t>
            </a:r>
            <a:endParaRPr lang="en-US" sz="1554" dirty="0"/>
          </a:p>
        </p:txBody>
      </p:sp>
      <p:sp>
        <p:nvSpPr>
          <p:cNvPr id="8" name="seta-5"/>
          <p:cNvSpPr/>
          <p:nvPr/>
        </p:nvSpPr>
        <p:spPr>
          <a:xfrm>
            <a:off x="4871192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5099792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o-7"/>
          <p:cNvSpPr txBox="1"/>
          <p:nvPr/>
        </p:nvSpPr>
        <p:spPr>
          <a:xfrm>
            <a:off x="5191232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Orientador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revisa com contexto limpo; parecer</a:t>
            </a:r>
            <a:endParaRPr lang="en-US" sz="1554" dirty="0"/>
          </a:p>
        </p:txBody>
      </p:sp>
      <p:sp>
        <p:nvSpPr>
          <p:cNvPr id="11" name="seta-8"/>
          <p:cNvSpPr/>
          <p:nvPr/>
        </p:nvSpPr>
        <p:spPr>
          <a:xfrm>
            <a:off x="7137624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7366224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o-10"/>
          <p:cNvSpPr txBox="1"/>
          <p:nvPr/>
        </p:nvSpPr>
        <p:spPr>
          <a:xfrm>
            <a:off x="7457664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Orientando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responde às pendências bloqueantes</a:t>
            </a:r>
            <a:endParaRPr lang="en-US" sz="1554" dirty="0"/>
          </a:p>
        </p:txBody>
      </p:sp>
      <p:sp>
        <p:nvSpPr>
          <p:cNvPr id="14" name="seta-11"/>
          <p:cNvSpPr/>
          <p:nvPr/>
        </p:nvSpPr>
        <p:spPr>
          <a:xfrm>
            <a:off x="9404055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9632655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o-13"/>
          <p:cNvSpPr txBox="1"/>
          <p:nvPr/>
        </p:nvSpPr>
        <p:spPr>
          <a:xfrm>
            <a:off x="9724095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Banca: você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confere números e aceita (ou não)</a:t>
            </a:r>
            <a:endParaRPr lang="en-US" sz="1554" dirty="0"/>
          </a:p>
        </p:txBody>
      </p:sp>
      <p:sp>
        <p:nvSpPr>
          <p:cNvPr id="17" name="texto-14"/>
          <p:cNvSpPr txBox="1"/>
          <p:nvPr/>
        </p:nvSpPr>
        <p:spPr>
          <a:xfrm>
            <a:off x="566928" y="2104061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principal faz o papel da secretaria do programa: passa a tarefa, guarda o parecer em arquivo, devolve ao orientando.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Os subagentes não conversam entre si diretamente: a comunicação passa pelo agente principal e pelos </a:t>
            </a:r>
            <a:r>
              <a:rPr lang="en-US" sz="2100" b="1" dirty="0">
                <a:solidFill>
                  <a:schemeClr val="tx1"/>
                </a:solidFill>
              </a:rPr>
              <a:t>arquivos</a:t>
            </a:r>
            <a:r>
              <a:rPr lang="en-US" sz="2100" dirty="0">
                <a:solidFill>
                  <a:schemeClr val="tx1"/>
                </a:solidFill>
              </a:rPr>
              <a:t>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docs/revisoes/</a:t>
            </a:r>
            <a:r>
              <a:rPr lang="en-US" sz="2100" dirty="0">
                <a:solidFill>
                  <a:schemeClr val="tx1"/>
                </a:solidFill>
              </a:rPr>
              <a:t>).</a:t>
            </a:r>
            <a:endParaRPr lang="en-US" sz="2100" dirty="0"/>
          </a:p>
        </p:txBody>
      </p:sp>
      <p:sp>
        <p:nvSpPr>
          <p:cNvPr id="1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   </a:t>
            </a:r>
            <a:r>
              <a:rPr lang="en-US" sz="2800" b="1" dirty="0">
                <a:solidFill>
                  <a:schemeClr val="tx1"/>
                </a:solidFill>
              </a:rPr>
              <a:t>O prompt que orquestra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872691"/>
          </a:xfrm>
          <a:prstGeom prst="roundRect">
            <a:avLst>
              <a:gd name="adj" fmla="val 293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7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04 do PLANO.md (análise individual e conjunta).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Use o subagente orientando para implementar a etapa.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Use o subagente orientador para revisá-la. Salve o parecer em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docs/revisoes/04_parecer_r1.md.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Se houver pendências BLOQUEANTES, devolva o parecer ao orientando e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repita a revisão. No máximo 2 rodadas.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Ao final, mostre: parecer final, git diff --stat e os números-chave.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faça commit.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3117952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Limite de rodadas: sem ele, os dois podem ficar "polindo" indefinidamente.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parecer em arquivo é auditável e vai para o Git junto com o código.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7.6   </a:t>
            </a:r>
            <a:r>
              <a:rPr lang="en-US" sz="2800" b="1" dirty="0">
                <a:solidFill>
                  <a:schemeClr val="tx1"/>
                </a:solidFill>
              </a:rPr>
              <a:t>Limites do arranjo orientando–orientador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43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Os dois são o </a:t>
            </a:r>
            <a:r>
              <a:rPr lang="en-US" sz="2100" b="1" dirty="0">
                <a:solidFill>
                  <a:schemeClr val="tx1"/>
                </a:solidFill>
              </a:rPr>
              <a:t>mesmo modelo</a:t>
            </a:r>
            <a:r>
              <a:rPr lang="en-US" sz="2100" dirty="0">
                <a:solidFill>
                  <a:schemeClr val="tx1"/>
                </a:solidFill>
              </a:rPr>
              <a:t>: compartilham pontos cegos. Contexto limpo reduz o viés de confirmação, mas não substitui conhecimento de domínio.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orientador só cobra o que está escrito (plano,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, dicionário): regra que não está escrita não é cobrada.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Revisões sucessivas tendem a </a:t>
            </a:r>
            <a:r>
              <a:rPr lang="en-US" sz="2100" b="1" dirty="0">
                <a:solidFill>
                  <a:schemeClr val="tx1"/>
                </a:solidFill>
              </a:rPr>
              <a:t>complicar</a:t>
            </a:r>
            <a:r>
              <a:rPr lang="en-US" sz="2100" dirty="0">
                <a:solidFill>
                  <a:schemeClr val="tx1"/>
                </a:solidFill>
              </a:rPr>
              <a:t> o código; aceite apenas o que afeta correção ou o plano.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palavra final é da banca: </a:t>
            </a:r>
            <a:r>
              <a:rPr lang="en-US" sz="2100" b="1" dirty="0">
                <a:solidFill>
                  <a:schemeClr val="tx1"/>
                </a:solidFill>
              </a:rPr>
              <a:t>você</a:t>
            </a:r>
            <a:r>
              <a:rPr lang="en-US" sz="2100" dirty="0">
                <a:solidFill>
                  <a:schemeClr val="tx1"/>
                </a:solidFill>
              </a:rPr>
              <a:t> confere os números-chave contra a referência.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Equipes de agentes que conversam diretamente entre si existem (</a:t>
            </a:r>
            <a:r>
              <a:rPr lang="en-US" sz="2100" i="1" dirty="0">
                <a:solidFill>
                  <a:schemeClr val="tx1"/>
                </a:solidFill>
              </a:rPr>
              <a:t>agent teams</a:t>
            </a:r>
            <a:r>
              <a:rPr lang="en-US" sz="2100" dirty="0">
                <a:solidFill>
                  <a:schemeClr val="tx1"/>
                </a:solidFill>
              </a:rPr>
              <a:t>), mas são experimentais e consomem muito mais uso. ⚙️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code.claude.com/docs/en/sub-agents e /agent-teams (desativado por padrão).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7.7   </a:t>
            </a:r>
            <a:r>
              <a:rPr lang="en-US" sz="2800" b="1" dirty="0">
                <a:solidFill>
                  <a:schemeClr val="tx1"/>
                </a:solidFill>
              </a:rPr>
              <a:t>Resultado de referência da análise conjunta</a:t>
            </a:r>
            <a:endParaRPr lang="en-US" sz="2800" dirty="0"/>
          </a:p>
        </p:txBody>
      </p:sp>
      <p:graphicFrame>
        <p:nvGraphicFramePr>
          <p:cNvPr id="54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1433600"/>
        </p:xfrm>
        <a:graphic>
          <a:graphicData uri="http://schemas.openxmlformats.org/drawingml/2006/table">
            <a:tbl>
              <a:tblPr/>
              <a:tblGrid>
                <a:gridCol w="8162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Quantidade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Com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Sem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Genótipos no modelo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404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409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Acurácia (BLUP × valor verdadeiro, 400 DH25)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0,82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Posição de DH25_0232 no ranking (verdadeira: 138ª)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259ª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1ª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2678859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Modelo: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 ~ ambiente + (1|ambiente:bloco) + (1|genotipo) + (1|genotipo:ambiente)</a:t>
            </a:r>
            <a:r>
              <a:rPr lang="en-US" sz="2100" dirty="0">
                <a:solidFill>
                  <a:schemeClr val="tx1"/>
                </a:solidFill>
              </a:rPr>
              <a:t>, dados de parcela.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orientador que só lê o código não vê esse problema; o que </a:t>
            </a:r>
            <a:r>
              <a:rPr lang="en-US" sz="2100" b="1" dirty="0">
                <a:solidFill>
                  <a:schemeClr val="tx1"/>
                </a:solidFill>
              </a:rPr>
              <a:t>roda e confere números</a:t>
            </a:r>
            <a:r>
              <a:rPr lang="en-US" sz="2100" dirty="0">
                <a:solidFill>
                  <a:schemeClr val="tx1"/>
                </a:solidFill>
              </a:rPr>
              <a:t> vê.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Skills e ferramentas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8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8.1   </a:t>
            </a:r>
            <a:r>
              <a:rPr lang="en-US" sz="2800" b="1" dirty="0">
                <a:solidFill>
                  <a:schemeClr val="tx1"/>
                </a:solidFill>
              </a:rPr>
              <a:t>Skills: procedimentos que o agente carrega quando precisa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493825"/>
            <a:ext cx="11057839" cy="38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Uma skill é uma pasta com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r>
              <a:rPr lang="en-US" sz="2100" dirty="0">
                <a:solidFill>
                  <a:schemeClr val="tx1"/>
                </a:solidFill>
              </a:rPr>
              <a:t>: descrição + instruções (+ scripts e modelos, se quiser).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Só a </a:t>
            </a:r>
            <a:r>
              <a:rPr lang="en-US" sz="2100" b="1" dirty="0">
                <a:solidFill>
                  <a:schemeClr val="tx1"/>
                </a:solidFill>
              </a:rPr>
              <a:t>descrição</a:t>
            </a:r>
            <a:r>
              <a:rPr lang="en-US" sz="2100" dirty="0">
                <a:solidFill>
                  <a:schemeClr val="tx1"/>
                </a:solidFill>
              </a:rPr>
              <a:t> fica sempre no contexto; o conteúdo entra quando a skill é usada. Ideal para procedimentos que valem às vezes.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Onde ficam: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.claude/skills/&lt;nome&gt;/SKILL.md</a:t>
            </a:r>
            <a:r>
              <a:rPr lang="en-US" sz="2100" dirty="0">
                <a:solidFill>
                  <a:schemeClr val="tx1"/>
                </a:solidFill>
              </a:rPr>
              <a:t> (projeto) ou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~/.claude/skills/</a:t>
            </a:r>
            <a:r>
              <a:rPr lang="en-US" sz="2100" dirty="0">
                <a:solidFill>
                  <a:schemeClr val="tx1"/>
                </a:solidFill>
              </a:rPr>
              <a:t> (todos os projetos).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Chamar: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/nome-da-skill [argumentos]</a:t>
            </a:r>
            <a:r>
              <a:rPr lang="en-US" sz="2100" dirty="0">
                <a:solidFill>
                  <a:schemeClr val="tx1"/>
                </a:solidFill>
              </a:rPr>
              <a:t>, ou o agente usa sozinho quando o pedido combina com a descrição.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Já vêm com o Claude Code, por exemplo: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/code-review</a:t>
            </a:r>
            <a:r>
              <a:rPr lang="en-US" sz="2100" dirty="0">
                <a:solidFill>
                  <a:schemeClr val="tx1"/>
                </a:solidFill>
              </a:rPr>
              <a:t> (revisão do diff em contexto limpo)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/batch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Skills seguem um padrão aberto (Agent Skills, agentskills.io).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8.2   </a:t>
            </a:r>
            <a:r>
              <a:rPr lang="en-US" sz="2800" b="1" dirty="0">
                <a:solidFill>
                  <a:schemeClr val="tx1"/>
                </a:solidFill>
              </a:rPr>
              <a:t>Transformar um procedimento validado em skill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872691"/>
          </a:xfrm>
          <a:prstGeom prst="roundRect">
            <a:avLst>
              <a:gd name="adj" fmla="val 293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7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relatorio-etapa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Escreve o relatório de passagem de uma etapa concluída em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docs/etapas/. Use ao final de cada etapa, antes de /clear.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disable-model-invocation: true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 docs/etapas/$ARGUMENTS.md com: o que foi feito; como reproduzir;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números-chave; decisões; pendências. Até 40 linhas. Não faça o commit.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3117952"/>
            <a:ext cx="11057839" cy="12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Uso: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/relatorio-etapa 03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disable-model-invocation: true</a:t>
            </a:r>
            <a:r>
              <a:rPr lang="en-US" sz="2100" dirty="0">
                <a:solidFill>
                  <a:schemeClr val="tx1"/>
                </a:solidFill>
              </a:rPr>
              <a:t>: só roda quando </a:t>
            </a:r>
            <a:r>
              <a:rPr lang="en-US" sz="2100" b="1" dirty="0">
                <a:solidFill>
                  <a:schemeClr val="tx1"/>
                </a:solidFill>
              </a:rPr>
              <a:t>você</a:t>
            </a:r>
            <a:r>
              <a:rPr lang="en-US" sz="2100" dirty="0">
                <a:solidFill>
                  <a:schemeClr val="tx1"/>
                </a:solidFill>
              </a:rPr>
              <a:t> chama.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Primeiro faça o procedimento à mão e valide; depois transforme em skill.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8.3   </a:t>
            </a:r>
            <a:r>
              <a:rPr lang="en-US" sz="2800" b="1" dirty="0">
                <a:solidFill>
                  <a:schemeClr val="tx1"/>
                </a:solidFill>
              </a:rPr>
              <a:t>Procurar e instalar skills (plugins)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Skills de terceiros chegam em </a:t>
            </a:r>
            <a:r>
              <a:rPr lang="en-US" sz="2100" b="1" dirty="0">
                <a:solidFill>
                  <a:schemeClr val="tx1"/>
                </a:solidFill>
              </a:rPr>
              <a:t>plugins</a:t>
            </a:r>
            <a:r>
              <a:rPr lang="en-US" sz="2100" dirty="0">
                <a:solidFill>
                  <a:schemeClr val="tx1"/>
                </a:solidFill>
              </a:rPr>
              <a:t> (pacotes com skills, subagentes, hooks e servidores MCP), distribuídos em </a:t>
            </a:r>
            <a:r>
              <a:rPr lang="en-US" sz="2100" b="1" dirty="0">
                <a:solidFill>
                  <a:schemeClr val="tx1"/>
                </a:solidFill>
              </a:rPr>
              <a:t>marketplaces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marketplace oficial da Anthropic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claude-plugins-official</a:t>
            </a:r>
            <a:r>
              <a:rPr lang="en-US" sz="2100" dirty="0">
                <a:solidFill>
                  <a:schemeClr val="tx1"/>
                </a:solidFill>
              </a:rPr>
              <a:t>) vem configurado.</a:t>
            </a:r>
            <a:endParaRPr lang="en-US" sz="2100" dirty="0"/>
          </a:p>
        </p:txBody>
      </p:sp>
      <p:graphicFrame>
        <p:nvGraphicFramePr>
          <p:cNvPr id="58" name="tabela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56121"/>
          <a:ext cx="11057840" cy="1433600"/>
        </p:xfrm>
        <a:graphic>
          <a:graphicData uri="http://schemas.openxmlformats.org/drawingml/2006/table">
            <a:tbl>
              <a:tblPr/>
              <a:tblGrid>
                <a:gridCol w="196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9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Onde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Como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VS Code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/plugins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→ aba Plugins → buscar → Install → escolher o escopo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Terminal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/plugin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→ aba Discover; ou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/plugin install &lt;nome&gt;@claude-plugins-official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Outro marketplace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/plugin marketplace add &lt;dono&gt;/&lt;repositório&gt;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o-2"/>
          <p:cNvSpPr txBox="1"/>
          <p:nvPr/>
        </p:nvSpPr>
        <p:spPr>
          <a:xfrm>
            <a:off x="566928" y="3949740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Escopos: só você (usuário), todos do projeto (projeto, versionado) ou só você neste projeto (local).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Antes de instalar, leia o que o plugin adiciona: plugins podem rodar comandos e conectar serviços. Prefira fontes conhecidas.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plugin ocupa contexto: desative o que não usa.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   </a:t>
            </a:r>
            <a:r>
              <a:rPr lang="en-US" sz="2800" b="1" dirty="0">
                <a:solidFill>
                  <a:schemeClr val="tx1"/>
                </a:solidFill>
              </a:rPr>
              <a:t>Dar ferramentas ao agente</a:t>
            </a:r>
            <a:endParaRPr lang="en-US" sz="2800" dirty="0"/>
          </a:p>
        </p:txBody>
      </p:sp>
      <p:graphicFrame>
        <p:nvGraphicFramePr>
          <p:cNvPr id="59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592880"/>
        </p:xfrm>
        <a:graphic>
          <a:graphicData uri="http://schemas.openxmlformats.org/drawingml/2006/table">
            <a:tbl>
              <a:tblPr/>
              <a:tblGrid>
                <a:gridCol w="231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3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3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Ferramenta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 que dá ao agente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Exemplo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Comandos de terminal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Usar programas já instalados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Rscript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duckdb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quarto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; "use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ferramenta --help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para aprender"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Servidores MCP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Acesso padronizado a serviços e dados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Documentação dos pacotes R instalados; banco de dados; GitHub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Hooks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Ações automáticas e </a:t>
                      </a: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garantidas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em pontos do fluxo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Rodar os testes a cada edição (Seção 3)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Permissões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pode rodar sem perguntar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Bash(Rscript *)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em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allow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838139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Instruções no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 são </a:t>
            </a:r>
            <a:r>
              <a:rPr lang="en-US" sz="2100" b="1" dirty="0">
                <a:solidFill>
                  <a:schemeClr val="tx1"/>
                </a:solidFill>
              </a:rPr>
              <a:t>conselhos</a:t>
            </a:r>
            <a:r>
              <a:rPr lang="en-US" sz="2100" dirty="0">
                <a:solidFill>
                  <a:schemeClr val="tx1"/>
                </a:solidFill>
              </a:rPr>
              <a:t>; hooks e permissões são </a:t>
            </a:r>
            <a:r>
              <a:rPr lang="en-US" sz="2100" b="1" dirty="0">
                <a:solidFill>
                  <a:schemeClr val="tx1"/>
                </a:solidFill>
              </a:rPr>
              <a:t>garantias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   </a:t>
            </a:r>
            <a:r>
              <a:rPr lang="en-US" sz="2800" b="1" dirty="0">
                <a:solidFill>
                  <a:schemeClr val="tx1"/>
                </a:solidFill>
              </a:rPr>
              <a:t>MCP na prática: o agente consultando o seu R ⚙️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816559"/>
          </a:xfrm>
          <a:prstGeom prst="roundRect">
            <a:avLst>
              <a:gd name="adj" fmla="val 6719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R: install.packages("btw")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-s user r-btw -- \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Rscript -e "btw::btw_mcp_server(list('docs','pkg','env','sessioninfo','cran'))"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2061820"/>
            <a:ext cx="11057839" cy="30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pacote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btw</a:t>
            </a:r>
            <a:r>
              <a:rPr lang="en-US" sz="2100" dirty="0">
                <a:solidFill>
                  <a:schemeClr val="tx1"/>
                </a:solidFill>
              </a:rPr>
              <a:t> (Posit) expõe ao agente a </a:t>
            </a:r>
            <a:r>
              <a:rPr lang="en-US" sz="2100" b="1" dirty="0">
                <a:solidFill>
                  <a:schemeClr val="tx1"/>
                </a:solidFill>
              </a:rPr>
              <a:t>documentação dos pacotes na versão instalada</a:t>
            </a:r>
            <a:r>
              <a:rPr lang="en-US" sz="2100" dirty="0">
                <a:solidFill>
                  <a:schemeClr val="tx1"/>
                </a:solidFill>
              </a:rPr>
              <a:t>, o ambiente e 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sessionInfo()</a:t>
            </a:r>
            <a:r>
              <a:rPr lang="en-US" sz="2100" dirty="0">
                <a:solidFill>
                  <a:schemeClr val="tx1"/>
                </a:solidFill>
              </a:rPr>
              <a:t>: menos funções inventadas, menos argumentos de outra versão.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list</a:t>
            </a:r>
            <a:r>
              <a:rPr lang="en-US" sz="2100" dirty="0">
                <a:solidFill>
                  <a:schemeClr val="tx1"/>
                </a:solidFill>
              </a:rPr>
              <a:t> lista os servidores;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r>
              <a:rPr lang="en-US" sz="2100" dirty="0">
                <a:solidFill>
                  <a:schemeClr val="tx1"/>
                </a:solidFill>
              </a:rPr>
              <a:t> mostra o estado na sessão.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Escopos: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r>
              <a:rPr lang="en-US" sz="2100" dirty="0">
                <a:solidFill>
                  <a:schemeClr val="tx1"/>
                </a:solidFill>
              </a:rPr>
              <a:t> (padrão, só você neste projeto),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r>
              <a:rPr lang="en-US" sz="2100" dirty="0">
                <a:solidFill>
                  <a:schemeClr val="tx1"/>
                </a:solidFill>
              </a:rPr>
              <a:t> (arquivo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r>
              <a:rPr lang="en-US" sz="2100" dirty="0">
                <a:solidFill>
                  <a:schemeClr val="tx1"/>
                </a:solidFill>
              </a:rPr>
              <a:t> versionado),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2100" dirty="0">
                <a:solidFill>
                  <a:schemeClr val="tx1"/>
                </a:solidFill>
              </a:rPr>
              <a:t> (todos os seus projetos).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Servidores de terceiros podem trazer conteúdo malicioso para o contexto: conecte só o que você conhece.</a:t>
            </a:r>
            <a:endParaRPr lang="en-US" sz="2100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posit-dev.github.io/btw/reference/mcp.html; code.claude.com/docs/en/mcp.</a:t>
            </a:r>
            <a:endParaRPr lang="en-US" sz="1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Síntese: reprodutibilidade e uso responsável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9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9.1   </a:t>
            </a:r>
            <a:r>
              <a:rPr lang="en-US" sz="2800" b="1" dirty="0">
                <a:solidFill>
                  <a:schemeClr val="tx1"/>
                </a:solidFill>
              </a:rPr>
              <a:t>O que tornou a análise reproduzível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450238"/>
          </a:xfrm>
          <a:prstGeom prst="roundRect">
            <a:avLst>
              <a:gd name="adj" fmla="val 3783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Pasta organizada        dado bruto somente leitura; scripts numerados; resultados regeneráveis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 escrito        CLAUDE.md curto; dicionário; PLANO.md com critérios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 revisado          modo Plan + checklist; decisões científicas explícitas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Verificação             testes com resposta conhecida; números-chave; git diff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Revisão independente    orientador com contexto limpo; a banca é você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               relatórios de etapa; decisões; commits por etapa</a:t>
            </a:r>
            <a:endParaRPr lang="en-US" sz="1386" dirty="0"/>
          </a:p>
        </p:txBody>
      </p:sp>
      <p:sp>
        <p:nvSpPr>
          <p:cNvPr id="5" name="ret-2"/>
          <p:cNvSpPr/>
          <p:nvPr/>
        </p:nvSpPr>
        <p:spPr>
          <a:xfrm>
            <a:off x="566928" y="2695499"/>
            <a:ext cx="11057839" cy="903133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o-3"/>
          <p:cNvSpPr txBox="1"/>
          <p:nvPr/>
        </p:nvSpPr>
        <p:spPr>
          <a:xfrm>
            <a:off x="749808" y="2805227"/>
            <a:ext cx="1069207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Teste final: outra pessoa clona a pasta, roda os scripts na ordem e obtém os mesmos números, sem abrir o Claude Code.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   </a:t>
            </a:r>
            <a:r>
              <a:rPr lang="en-US" sz="2800" b="1" dirty="0">
                <a:solidFill>
                  <a:schemeClr val="tx1"/>
                </a:solidFill>
              </a:rPr>
              <a:t>Uso responsável na pós-graduação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66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Você é autor e responsável por </a:t>
            </a:r>
            <a:r>
              <a:rPr lang="en-US" sz="2100" b="1" dirty="0">
                <a:solidFill>
                  <a:schemeClr val="tx1"/>
                </a:solidFill>
              </a:rPr>
              <a:t>cada linha de código e cada número</a:t>
            </a:r>
            <a:r>
              <a:rPr lang="en-US" sz="2100" dirty="0">
                <a:solidFill>
                  <a:schemeClr val="tx1"/>
                </a:solidFill>
              </a:rPr>
              <a:t>: precisa conseguir explicá-los.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Declare o uso de IA conforme as normas do programa e do periódico.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Registre as falhas do agente no </a:t>
            </a:r>
            <a:r>
              <a:rPr lang="en-US" sz="2100" b="1" dirty="0">
                <a:solidFill>
                  <a:schemeClr val="tx1"/>
                </a:solidFill>
              </a:rPr>
              <a:t>diário de falhas da IA</a:t>
            </a:r>
            <a:r>
              <a:rPr lang="en-US" sz="2100" dirty="0">
                <a:solidFill>
                  <a:schemeClr val="tx1"/>
                </a:solidFill>
              </a:rPr>
              <a:t> (modelo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r>
              <a:rPr lang="en-US" sz="2100" dirty="0">
                <a:solidFill>
                  <a:schemeClr val="tx1"/>
                </a:solidFill>
              </a:rPr>
              <a:t>): é material de aprendizado e de avaliação.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acelera o trabalho; a pergunta científica, o delineamento e o julgamento continuam sendo seus.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9.3   </a:t>
            </a:r>
            <a:r>
              <a:rPr lang="en-US" sz="2800" b="1" dirty="0">
                <a:solidFill>
                  <a:schemeClr val="tx1"/>
                </a:solidFill>
              </a:rPr>
              <a:t>Tarefa e próxima seção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32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Conclua as etapas 04 e 05 da análise do VCU e faça o teste do clone limpo.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Compare os seus números com os de referência (Slides 5.5, 5.6 e 7.7) e explique qualquer diferença.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Registre no diário de falhas pelo menos um erro do agente e o contexto que o teria evitado.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</a:rPr>
              <a:t>Seção 3:</a:t>
            </a:r>
            <a:r>
              <a:rPr lang="en-US" sz="2100" dirty="0">
                <a:solidFill>
                  <a:schemeClr val="tx1"/>
                </a:solidFill>
              </a:rPr>
              <a:t> o mesmo método aplicado a um ciclo completo de seleção genômica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ciclo-gs-milho</a:t>
            </a:r>
            <a:r>
              <a:rPr lang="en-US" sz="2100" dirty="0">
                <a:solidFill>
                  <a:schemeClr val="tx1"/>
                </a:solidFill>
              </a:rPr>
              <a:t>).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9.4   </a:t>
            </a:r>
            <a:r>
              <a:rPr lang="en-US" sz="2800" b="1" dirty="0">
                <a:solidFill>
                  <a:schemeClr val="tx1"/>
                </a:solidFill>
              </a:rPr>
              <a:t>Referências e documentação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66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Documentação do Claude Code: https://code.claude.com/docs (instalação, VS Code, memória, permissões, subagentes, skills, plugins, MCP, boas práticas).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Wilson, G. et al. (2017). Good enough practices in scientific computing. </a:t>
            </a:r>
            <a:r>
              <a:rPr lang="en-US" sz="2100" i="1" dirty="0">
                <a:solidFill>
                  <a:schemeClr val="tx1"/>
                </a:solidFill>
              </a:rPr>
              <a:t>PLOS Computational Biology</a:t>
            </a:r>
            <a:r>
              <a:rPr lang="en-US" sz="2100" dirty="0">
                <a:solidFill>
                  <a:schemeClr val="tx1"/>
                </a:solidFill>
              </a:rPr>
              <a:t>, 13(6), e1005510.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Positron: https://positron.posit.co · VS Code e R: https://code.visualstudio.com/docs/languages/r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Pacote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btw</a:t>
            </a:r>
            <a:r>
              <a:rPr lang="en-US" sz="2100" dirty="0">
                <a:solidFill>
                  <a:schemeClr val="tx1"/>
                </a:solidFill>
              </a:rPr>
              <a:t>: https://posit-dev.github.io/btw · Padrão Agent Skills: https://agentskills.io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 796">
  <a:themeElements>
    <a:clrScheme name="FIT 796">
      <a:dk1>
        <a:srgbClr val="E6F2EE"/>
      </a:dk1>
      <a:lt1>
        <a:srgbClr val="071419"/>
      </a:lt1>
      <a:dk2>
        <a:srgbClr val="8FA9A3"/>
      </a:dk2>
      <a:lt2>
        <a:srgbClr val="0B2F2A"/>
      </a:lt2>
      <a:accent1>
        <a:srgbClr val="A6E35A"/>
      </a:accent1>
      <a:accent2>
        <a:srgbClr val="3EC7C1"/>
      </a:accent2>
      <a:accent3>
        <a:srgbClr val="0D2229"/>
      </a:accent3>
      <a:accent4>
        <a:srgbClr val="1D3A41"/>
      </a:accent4>
      <a:accent5>
        <a:srgbClr val="0A1C22"/>
      </a:accent5>
      <a:accent6>
        <a:srgbClr val="15301F"/>
      </a:accent6>
      <a:hlink>
        <a:srgbClr val="3EC7C1"/>
      </a:hlink>
      <a:folHlink>
        <a:srgbClr val="A6E35A"/>
      </a:folHlink>
    </a:clrScheme>
    <a:fontScheme name="FIT 79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7456</Words>
  <Application>Microsoft Office PowerPoint</Application>
  <PresentationFormat>Widescreen</PresentationFormat>
  <Paragraphs>904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Aptos</vt:lpstr>
      <vt:lpstr>Arial</vt:lpstr>
      <vt:lpstr>Courier New</vt:lpstr>
      <vt:lpstr>FIT 796</vt:lpstr>
      <vt:lpstr>Claude Code no VS Code: do primeiro contato a uma análise reproduzível</vt:lpstr>
      <vt:lpstr>Roteiro da seção</vt:lpstr>
      <vt:lpstr>Do chat ao agente de código</vt:lpstr>
      <vt:lpstr>0.1   O que muda em relação ao chat</vt:lpstr>
      <vt:lpstr>0.2   O ciclo de um agente</vt:lpstr>
      <vt:lpstr>0.3   O exemplo desta seção</vt:lpstr>
      <vt:lpstr>Ambiente: editores, instalação e primeiro acesso</vt:lpstr>
      <vt:lpstr>1.1   Por que um editor, e não só o terminal</vt:lpstr>
      <vt:lpstr>1.2   Editores possíveis</vt:lpstr>
      <vt:lpstr>1.3   Instalação, na ordem (antes da aula) ⚙️</vt:lpstr>
      <vt:lpstr>1.4   Verificar e entrar ⚙️</vt:lpstr>
      <vt:lpstr>1.5   Um tour pelo painel ⚙️</vt:lpstr>
      <vt:lpstr>Configuração, permissões e segurança dos dados</vt:lpstr>
      <vt:lpstr>2.1   Onde ficam as configurações ⚙️</vt:lpstr>
      <vt:lpstr>2.2   Modos de permissão ⚙️</vt:lpstr>
      <vt:lpstr>2.3   Regras de permissão: o que o projeto permite e proíbe ⚙️</vt:lpstr>
      <vt:lpstr>2.4   Limites das regras e camadas de proteção</vt:lpstr>
      <vt:lpstr>2.5   Segurança e governança dos dados</vt:lpstr>
      <vt:lpstr>2.6   Modelo, esforço e limites de uso ⚙️</vt:lpstr>
      <vt:lpstr>Pasta de projeto, CLAUDE.md e arquivos de contexto</vt:lpstr>
      <vt:lpstr>3.1   A pasta da análise (retomando a Seção 1)</vt:lpstr>
      <vt:lpstr>3.2   Criar a pasta, passo a passo</vt:lpstr>
      <vt:lpstr>3.3   O que é o CLAUDE.md</vt:lpstr>
      <vt:lpstr>3.4   Boas práticas para o CLAUDE.md</vt:lpstr>
      <vt:lpstr>3.5   Um CLAUDE.md de análise: cada linha elimina uma decisão</vt:lpstr>
      <vt:lpstr>3.6   Arquivos de contexto: o que o agente precisa e quando</vt:lpstr>
      <vt:lpstr>3.7   Por que contexto escrito vale mais que um prompt longo</vt:lpstr>
      <vt:lpstr>3.8   Primeira sessão: só leitura</vt:lpstr>
      <vt:lpstr>Planejar antes de analisar</vt:lpstr>
      <vt:lpstr>4.1   Explorar, planejar, executar, registrar</vt:lpstr>
      <vt:lpstr>4.2   Modo de planejamento ⚙️</vt:lpstr>
      <vt:lpstr>4.3   Pedir um plano bom</vt:lpstr>
      <vt:lpstr>4.4   Como avaliar se o plano está bom</vt:lpstr>
      <vt:lpstr>4.5   Exemplo: corrigir um plano antes de aprovar</vt:lpstr>
      <vt:lpstr>Executar e verificar</vt:lpstr>
      <vt:lpstr>5.1   Executar uma etapa por vez</vt:lpstr>
      <vt:lpstr>5.2   Git e checkpoints: como desfazer ⚙️</vt:lpstr>
      <vt:lpstr>5.3   A pergunta central: o agente fez o que foi pedido?</vt:lpstr>
      <vt:lpstr>5.4   Checklist de verificação</vt:lpstr>
      <vt:lpstr>5.5   Resultado de referência das etapas 01 a 03</vt:lpstr>
      <vt:lpstr>5.6   Resultado de referência da Etapa 04 (análise individual)</vt:lpstr>
      <vt:lpstr>Gerenciar o contexto das sessões</vt:lpstr>
      <vt:lpstr>6.1   A janela de contexto é o recurso mais escasso</vt:lpstr>
      <vt:lpstr>6.2   Comandos para gerenciar o contexto ⚙️</vt:lpstr>
      <vt:lpstr>6.3   Estratégia para uma análise em várias sessões</vt:lpstr>
      <vt:lpstr>Subagentes: orientando e orientador</vt:lpstr>
      <vt:lpstr>7.1   O que é um subagente</vt:lpstr>
      <vt:lpstr>7.2   Criar um subagente ⚙️</vt:lpstr>
      <vt:lpstr>7.3   Boas práticas para subagentes</vt:lpstr>
      <vt:lpstr>7.4   A metáfora: orientando, orientador e banca</vt:lpstr>
      <vt:lpstr>7.5   O prompt que orquestra</vt:lpstr>
      <vt:lpstr>7.6   Limites do arranjo orientando–orientador</vt:lpstr>
      <vt:lpstr>7.7   Resultado de referência da análise conjunta</vt:lpstr>
      <vt:lpstr>Skills e ferramentas</vt:lpstr>
      <vt:lpstr>8.1   Skills: procedimentos que o agente carrega quando precisa ⚙️</vt:lpstr>
      <vt:lpstr>8.2   Transformar um procedimento validado em skill</vt:lpstr>
      <vt:lpstr>8.3   Procurar e instalar skills (plugins) ⚙️</vt:lpstr>
      <vt:lpstr>8.4   Dar ferramentas ao agente</vt:lpstr>
      <vt:lpstr>8.5   MCP na prática: o agente consultando o seu R ⚙️</vt:lpstr>
      <vt:lpstr>Síntese: reprodutibilidade e uso responsável</vt:lpstr>
      <vt:lpstr>9.1   O que tornou a análise reproduzível</vt:lpstr>
      <vt:lpstr>9.2   Uso responsável na pós-graduação</vt:lpstr>
      <vt:lpstr>9.3   Tarefa e próxima seção</vt:lpstr>
      <vt:lpstr>9.4   Referências e documentação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Seção 2 — Claude Code no VS Code: do primeiro contato a uma análise reproduzível</dc:title>
  <dc:subject>IA no Melhoramento Genético: Fundamentos e Aplicações</dc:subject>
  <dc:creator>FIT 796 · UFV</dc:creator>
  <cp:lastModifiedBy>Eder Silva</cp:lastModifiedBy>
  <cp:revision>1</cp:revision>
  <dcterms:created xsi:type="dcterms:W3CDTF">2026-10-17T17:47:56Z</dcterms:created>
  <dcterms:modified xsi:type="dcterms:W3CDTF">2026-10-26T12:10:36Z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2026-10-20T13:32:56Z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d04a73d9-3833-42ff-ba4c-db1bd13c2130</vt:lpwstr>
  </property>
  <property fmtid="{D5CDD505-2E9C-101B-9397-08002B2CF9AE}" pid="8" name="MSIP_Label_2c76c141-ac86-40e5-abf2-c6f60e474cee_ContentBits">
    <vt:lpwstr>2</vt:lpwstr>
  </property>
  <property fmtid="{D5CDD505-2E9C-101B-9397-08002B2CF9AE}" pid="9" name="MSIP_Label_2c76c141-ac86-40e5-abf2-c6f60e474cee_Tag">
    <vt:lpwstr>10, 3, 0, 1</vt:lpwstr>
  </property>
  <property fmtid="{D5CDD505-2E9C-101B-9397-08002B2CF9AE}" pid="10" name="ClassificationContentMarkingFooterLocations">
    <vt:lpwstr>FIT 796:3</vt:lpwstr>
  </property>
  <property fmtid="{D5CDD505-2E9C-101B-9397-08002B2CF9AE}" pid="11" name="ClassificationContentMarkingFooterText">
    <vt:lpwstr>RESTRICTED</vt:lpwstr>
  </property>
</Properties>
</file>