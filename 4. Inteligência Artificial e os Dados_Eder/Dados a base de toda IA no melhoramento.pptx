
<file path=[Content_Types].xml><?xml version="1.0" encoding="utf-8"?>
<Types xmlns="http://schemas.openxmlformats.org/package/2006/content-types">
  <Default Extension="jpeg" ContentType="image/jpe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slides/slide34.xml" ContentType="application/vnd.openxmlformats-officedocument.presentationml.slide+xml"/>
  <Override PartName="/ppt/slides/slide35.xml" ContentType="application/vnd.openxmlformats-officedocument.presentationml.slide+xml"/>
  <Override PartName="/ppt/slides/slide36.xml" ContentType="application/vnd.openxmlformats-officedocument.presentationml.slide+xml"/>
  <Override PartName="/ppt/slides/slide37.xml" ContentType="application/vnd.openxmlformats-officedocument.presentationml.slide+xml"/>
  <Override PartName="/ppt/slides/slide38.xml" ContentType="application/vnd.openxmlformats-officedocument.presentationml.slide+xml"/>
  <Override PartName="/ppt/slides/slide39.xml" ContentType="application/vnd.openxmlformats-officedocument.presentationml.slide+xml"/>
  <Override PartName="/ppt/slides/slide40.xml" ContentType="application/vnd.openxmlformats-officedocument.presentationml.slide+xml"/>
  <Override PartName="/ppt/slides/slide41.xml" ContentType="application/vnd.openxmlformats-officedocument.presentationml.slide+xml"/>
  <Override PartName="/ppt/slides/slide42.xml" ContentType="application/vnd.openxmlformats-officedocument.presentationml.slide+xml"/>
  <Override PartName="/ppt/slides/slide43.xml" ContentType="application/vnd.openxmlformats-officedocument.presentationml.slide+xml"/>
  <Override PartName="/ppt/slides/slide44.xml" ContentType="application/vnd.openxmlformats-officedocument.presentationml.slide+xml"/>
  <Override PartName="/ppt/slides/slide45.xml" ContentType="application/vnd.openxmlformats-officedocument.presentationml.slide+xml"/>
  <Override PartName="/ppt/slides/slide46.xml" ContentType="application/vnd.openxmlformats-officedocument.presentationml.slide+xml"/>
  <Override PartName="/ppt/slides/slide47.xml" ContentType="application/vnd.openxmlformats-officedocument.presentationml.slide+xml"/>
  <Override PartName="/ppt/slides/slide48.xml" ContentType="application/vnd.openxmlformats-officedocument.presentationml.slide+xml"/>
  <Override PartName="/ppt/slides/slide49.xml" ContentType="application/vnd.openxmlformats-officedocument.presentationml.slide+xml"/>
  <Override PartName="/ppt/slides/slide50.xml" ContentType="application/vnd.openxmlformats-officedocument.presentationml.slide+xml"/>
  <Override PartName="/ppt/slides/slide51.xml" ContentType="application/vnd.openxmlformats-officedocument.presentationml.slide+xml"/>
  <Override PartName="/ppt/slides/slide52.xml" ContentType="application/vnd.openxmlformats-officedocument.presentationml.slide+xml"/>
  <Override PartName="/ppt/slides/slide53.xml" ContentType="application/vnd.openxmlformats-officedocument.presentationml.slide+xml"/>
  <Override PartName="/ppt/slides/slide54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23.xml" ContentType="application/vnd.openxmlformats-officedocument.presentationml.notesSlide+xml"/>
  <Override PartName="/ppt/notesSlides/notesSlide24.xml" ContentType="application/vnd.openxmlformats-officedocument.presentationml.notesSlide+xml"/>
  <Override PartName="/ppt/notesSlides/notesSlide25.xml" ContentType="application/vnd.openxmlformats-officedocument.presentationml.notesSlide+xml"/>
  <Override PartName="/ppt/notesSlides/notesSlide26.xml" ContentType="application/vnd.openxmlformats-officedocument.presentationml.notesSlide+xml"/>
  <Override PartName="/ppt/notesSlides/notesSlide27.xml" ContentType="application/vnd.openxmlformats-officedocument.presentationml.notesSlide+xml"/>
  <Override PartName="/ppt/notesSlides/notesSlide28.xml" ContentType="application/vnd.openxmlformats-officedocument.presentationml.notesSlide+xml"/>
  <Override PartName="/ppt/notesSlides/notesSlide29.xml" ContentType="application/vnd.openxmlformats-officedocument.presentationml.notesSlide+xml"/>
  <Override PartName="/ppt/notesSlides/notesSlide30.xml" ContentType="application/vnd.openxmlformats-officedocument.presentationml.notesSlide+xml"/>
  <Override PartName="/ppt/notesSlides/notesSlide31.xml" ContentType="application/vnd.openxmlformats-officedocument.presentationml.notesSlide+xml"/>
  <Override PartName="/ppt/notesSlides/notesSlide32.xml" ContentType="application/vnd.openxmlformats-officedocument.presentationml.notesSlide+xml"/>
  <Override PartName="/ppt/notesSlides/notesSlide33.xml" ContentType="application/vnd.openxmlformats-officedocument.presentationml.notesSlide+xml"/>
  <Override PartName="/ppt/notesSlides/notesSlide34.xml" ContentType="application/vnd.openxmlformats-officedocument.presentationml.notesSlide+xml"/>
  <Override PartName="/ppt/notesSlides/notesSlide35.xml" ContentType="application/vnd.openxmlformats-officedocument.presentationml.notesSlide+xml"/>
  <Override PartName="/ppt/notesSlides/notesSlide36.xml" ContentType="application/vnd.openxmlformats-officedocument.presentationml.notesSlide+xml"/>
  <Override PartName="/ppt/notesSlides/notesSlide37.xml" ContentType="application/vnd.openxmlformats-officedocument.presentationml.notesSlide+xml"/>
  <Override PartName="/ppt/notesSlides/notesSlide38.xml" ContentType="application/vnd.openxmlformats-officedocument.presentationml.notesSlide+xml"/>
  <Override PartName="/ppt/notesSlides/notesSlide39.xml" ContentType="application/vnd.openxmlformats-officedocument.presentationml.notesSlide+xml"/>
  <Override PartName="/ppt/notesSlides/notesSlide40.xml" ContentType="application/vnd.openxmlformats-officedocument.presentationml.notesSlide+xml"/>
  <Override PartName="/ppt/notesSlides/notesSlide41.xml" ContentType="application/vnd.openxmlformats-officedocument.presentationml.notesSlide+xml"/>
  <Override PartName="/ppt/notesSlides/notesSlide42.xml" ContentType="application/vnd.openxmlformats-officedocument.presentationml.notesSlide+xml"/>
  <Override PartName="/ppt/notesSlides/notesSlide43.xml" ContentType="application/vnd.openxmlformats-officedocument.presentationml.notesSlide+xml"/>
  <Override PartName="/ppt/notesSlides/notesSlide44.xml" ContentType="application/vnd.openxmlformats-officedocument.presentationml.notesSlide+xml"/>
  <Override PartName="/ppt/notesSlides/notesSlide45.xml" ContentType="application/vnd.openxmlformats-officedocument.presentationml.notesSlide+xml"/>
  <Override PartName="/ppt/notesSlides/notesSlide46.xml" ContentType="application/vnd.openxmlformats-officedocument.presentationml.notesSlide+xml"/>
  <Override PartName="/ppt/notesSlides/notesSlide47.xml" ContentType="application/vnd.openxmlformats-officedocument.presentationml.notesSlide+xml"/>
  <Override PartName="/ppt/notesSlides/notesSlide48.xml" ContentType="application/vnd.openxmlformats-officedocument.presentationml.notesSlide+xml"/>
  <Override PartName="/ppt/notesSlides/notesSlide49.xml" ContentType="application/vnd.openxmlformats-officedocument.presentationml.notesSlide+xml"/>
  <Override PartName="/ppt/notesSlides/notesSlide50.xml" ContentType="application/vnd.openxmlformats-officedocument.presentationml.notesSlide+xml"/>
  <Override PartName="/ppt/notesSlides/notesSlide51.xml" ContentType="application/vnd.openxmlformats-officedocument.presentationml.notesSlide+xml"/>
  <Override PartName="/ppt/notesSlides/notesSlide52.xml" ContentType="application/vnd.openxmlformats-officedocument.presentationml.notesSlide+xml"/>
  <Override PartName="/ppt/notesSlides/notesSlide53.xml" ContentType="application/vnd.openxmlformats-officedocument.presentationml.notesSlide+xml"/>
  <Override PartName="/ppt/notesSlides/notesSlide54.xml" ContentType="application/vnd.openxmlformats-officedocument.presentationml.notesSlide+xml"/>
  <Override PartName="/ppt/changesInfos/changesInfo1.xml" ContentType="application/vnd.ms-powerpoint.changesinfo+xml"/>
  <Override PartName="/docProps/core.xml" ContentType="application/vnd.openxmlformats-package.core-properties+xml"/>
  <Override PartName="/docProps/app.xml" ContentType="application/vnd.openxmlformats-officedocument.extended-properties+xml"/>
  <Override PartName="/docProps/custom.xml" ContentType="application/vnd.openxmlformats-officedocument.custom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5" Type="http://schemas.openxmlformats.org/officeDocument/2006/relationships/custom-properties" Target="docProps/custom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notesMasterIdLst>
    <p:notesMasterId r:id="rId56"/>
  </p:notes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  <p:sldId id="275" r:id="rId21"/>
    <p:sldId id="276" r:id="rId22"/>
    <p:sldId id="277" r:id="rId23"/>
    <p:sldId id="278" r:id="rId24"/>
    <p:sldId id="279" r:id="rId25"/>
    <p:sldId id="280" r:id="rId26"/>
    <p:sldId id="281" r:id="rId27"/>
    <p:sldId id="282" r:id="rId28"/>
    <p:sldId id="283" r:id="rId29"/>
    <p:sldId id="284" r:id="rId30"/>
    <p:sldId id="285" r:id="rId31"/>
    <p:sldId id="286" r:id="rId32"/>
    <p:sldId id="287" r:id="rId33"/>
    <p:sldId id="288" r:id="rId34"/>
    <p:sldId id="289" r:id="rId35"/>
    <p:sldId id="290" r:id="rId36"/>
    <p:sldId id="291" r:id="rId37"/>
    <p:sldId id="292" r:id="rId38"/>
    <p:sldId id="293" r:id="rId39"/>
    <p:sldId id="294" r:id="rId40"/>
    <p:sldId id="295" r:id="rId41"/>
    <p:sldId id="296" r:id="rId42"/>
    <p:sldId id="297" r:id="rId43"/>
    <p:sldId id="298" r:id="rId44"/>
    <p:sldId id="299" r:id="rId45"/>
    <p:sldId id="300" r:id="rId46"/>
    <p:sldId id="301" r:id="rId47"/>
    <p:sldId id="302" r:id="rId48"/>
    <p:sldId id="303" r:id="rId49"/>
    <p:sldId id="304" r:id="rId50"/>
    <p:sldId id="305" r:id="rId51"/>
    <p:sldId id="306" r:id="rId52"/>
    <p:sldId id="307" r:id="rId53"/>
    <p:sldId id="308" r:id="rId54"/>
    <p:sldId id="309" r:id="rId55"/>
  </p:sld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521415D9-36F7-43E2-AB2F-B90AF26B5E84}">
      <p14:sectionLst xmlns:p14="http://schemas.microsoft.com/office/powerpoint/2010/main">
        <p14:section name="Abertura" id="{0A7BDC14-5DCA-E2E5-D245-52D33FD9A31E}">
          <p14:sldIdLst>
            <p14:sldId id="256"/>
            <p14:sldId id="257"/>
          </p14:sldIdLst>
        </p14:section>
        <p14:section name="Bloco 1 — Por que os dados vêm antes da IA" id="{1CB30894-D481-0A00-9F4B-B97D3E1D83FD}">
          <p14:sldIdLst>
            <p14:sldId id="258"/>
            <p14:sldId id="259"/>
            <p14:sldId id="260"/>
            <p14:sldId id="261"/>
            <p14:sldId id="262"/>
            <p14:sldId id="263"/>
          </p14:sldIdLst>
        </p14:section>
        <p14:section name="Bloco 2 — Bancos de dados relacionais e a linguagem SQL" id="{0799A9C7-2420-8D2D-3887-6BCB626AE714}">
          <p14:sldIdLst>
            <p14:sldId id="264"/>
            <p14:sldId id="265"/>
            <p14:sldId id="266"/>
            <p14:sldId id="267"/>
            <p14:sldId id="268"/>
            <p14:sldId id="269"/>
            <p14:sldId id="270"/>
            <p14:sldId id="271"/>
            <p14:sldId id="272"/>
            <p14:sldId id="273"/>
            <p14:sldId id="274"/>
            <p14:sldId id="275"/>
            <p14:sldId id="276"/>
            <p14:sldId id="277"/>
          </p14:sldIdLst>
        </p14:section>
        <p14:section name="Bloco 3 — QA/QC: garantir e controlar a qualidade" id="{1FF2921A-D26E-3438-6C38-D0E9F4132FB7}">
          <p14:sldIdLst>
            <p14:sldId id="278"/>
            <p14:sldId id="279"/>
            <p14:sldId id="280"/>
            <p14:sldId id="281"/>
            <p14:sldId id="282"/>
            <p14:sldId id="283"/>
            <p14:sldId id="284"/>
            <p14:sldId id="285"/>
            <p14:sldId id="286"/>
            <p14:sldId id="287"/>
            <p14:sldId id="288"/>
          </p14:sldIdLst>
        </p14:section>
        <p14:section name="Bloco 4 — Consistência e curadoria" id="{9BEDC550-836A-68D9-5650-861511492E15}">
          <p14:sldIdLst>
            <p14:sldId id="289"/>
            <p14:sldId id="290"/>
            <p14:sldId id="291"/>
            <p14:sldId id="292"/>
            <p14:sldId id="293"/>
            <p14:sldId id="294"/>
            <p14:sldId id="295"/>
          </p14:sldIdLst>
        </p14:section>
        <p14:section name="Bloco 5 — A pasta de análise como projeto do Claude Code" id="{90A6C6D5-E587-71CF-ACF6-95D762C04BF7}">
          <p14:sldIdLst>
            <p14:sldId id="296"/>
            <p14:sldId id="297"/>
            <p14:sldId id="298"/>
            <p14:sldId id="299"/>
            <p14:sldId id="300"/>
            <p14:sldId id="301"/>
            <p14:sldId id="302"/>
            <p14:sldId id="303"/>
            <p14:sldId id="304"/>
            <p14:sldId id="305"/>
          </p14:sldIdLst>
        </p14:section>
        <p14:section name="Bloco 6 — Síntese e tarefa" id="{6ECAC32C-75F4-CCE7-3618-FF071CB6DE8C}">
          <p14:sldIdLst>
            <p14:sldId id="306"/>
            <p14:sldId id="307"/>
            <p14:sldId id="308"/>
            <p14:sldId id="309"/>
          </p14:sldIdLst>
        </p14:section>
      </p14:sectionLst>
    </p:ex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68" d="100"/>
          <a:sy n="68" d="100"/>
        </p:scale>
        <p:origin x="48" y="3534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3" Type="http://schemas.openxmlformats.org/officeDocument/2006/relationships/slide" Target="slides/slide12.xml"/><Relationship Id="rId18" Type="http://schemas.openxmlformats.org/officeDocument/2006/relationships/slide" Target="slides/slide17.xml"/><Relationship Id="rId26" Type="http://schemas.openxmlformats.org/officeDocument/2006/relationships/slide" Target="slides/slide25.xml"/><Relationship Id="rId39" Type="http://schemas.openxmlformats.org/officeDocument/2006/relationships/slide" Target="slides/slide38.xml"/><Relationship Id="rId21" Type="http://schemas.openxmlformats.org/officeDocument/2006/relationships/slide" Target="slides/slide20.xml"/><Relationship Id="rId34" Type="http://schemas.openxmlformats.org/officeDocument/2006/relationships/slide" Target="slides/slide33.xml"/><Relationship Id="rId42" Type="http://schemas.openxmlformats.org/officeDocument/2006/relationships/slide" Target="slides/slide41.xml"/><Relationship Id="rId47" Type="http://schemas.openxmlformats.org/officeDocument/2006/relationships/slide" Target="slides/slide46.xml"/><Relationship Id="rId50" Type="http://schemas.openxmlformats.org/officeDocument/2006/relationships/slide" Target="slides/slide49.xml"/><Relationship Id="rId55" Type="http://schemas.openxmlformats.org/officeDocument/2006/relationships/slide" Target="slides/slide54.xml"/><Relationship Id="rId7" Type="http://schemas.openxmlformats.org/officeDocument/2006/relationships/slide" Target="slides/slide6.xml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9" Type="http://schemas.openxmlformats.org/officeDocument/2006/relationships/slide" Target="slides/slide28.xml"/><Relationship Id="rId11" Type="http://schemas.openxmlformats.org/officeDocument/2006/relationships/slide" Target="slides/slide10.xml"/><Relationship Id="rId24" Type="http://schemas.openxmlformats.org/officeDocument/2006/relationships/slide" Target="slides/slide23.xml"/><Relationship Id="rId32" Type="http://schemas.openxmlformats.org/officeDocument/2006/relationships/slide" Target="slides/slide31.xml"/><Relationship Id="rId37" Type="http://schemas.openxmlformats.org/officeDocument/2006/relationships/slide" Target="slides/slide36.xml"/><Relationship Id="rId40" Type="http://schemas.openxmlformats.org/officeDocument/2006/relationships/slide" Target="slides/slide39.xml"/><Relationship Id="rId45" Type="http://schemas.openxmlformats.org/officeDocument/2006/relationships/slide" Target="slides/slide44.xml"/><Relationship Id="rId53" Type="http://schemas.openxmlformats.org/officeDocument/2006/relationships/slide" Target="slides/slide52.xml"/><Relationship Id="rId58" Type="http://schemas.openxmlformats.org/officeDocument/2006/relationships/viewProps" Target="viewProps.xml"/><Relationship Id="rId5" Type="http://schemas.openxmlformats.org/officeDocument/2006/relationships/slide" Target="slides/slide4.xml"/><Relationship Id="rId61" Type="http://schemas.microsoft.com/office/2016/11/relationships/changesInfo" Target="changesInfos/changesInfo1.xml"/><Relationship Id="rId19" Type="http://schemas.openxmlformats.org/officeDocument/2006/relationships/slide" Target="slides/slide18.xml"/><Relationship Id="rId14" Type="http://schemas.openxmlformats.org/officeDocument/2006/relationships/slide" Target="slides/slide13.xml"/><Relationship Id="rId22" Type="http://schemas.openxmlformats.org/officeDocument/2006/relationships/slide" Target="slides/slide21.xml"/><Relationship Id="rId27" Type="http://schemas.openxmlformats.org/officeDocument/2006/relationships/slide" Target="slides/slide26.xml"/><Relationship Id="rId30" Type="http://schemas.openxmlformats.org/officeDocument/2006/relationships/slide" Target="slides/slide29.xml"/><Relationship Id="rId35" Type="http://schemas.openxmlformats.org/officeDocument/2006/relationships/slide" Target="slides/slide34.xml"/><Relationship Id="rId43" Type="http://schemas.openxmlformats.org/officeDocument/2006/relationships/slide" Target="slides/slide42.xml"/><Relationship Id="rId48" Type="http://schemas.openxmlformats.org/officeDocument/2006/relationships/slide" Target="slides/slide47.xml"/><Relationship Id="rId56" Type="http://schemas.openxmlformats.org/officeDocument/2006/relationships/notesMaster" Target="notesMasters/notesMaster1.xml"/><Relationship Id="rId8" Type="http://schemas.openxmlformats.org/officeDocument/2006/relationships/slide" Target="slides/slide7.xml"/><Relationship Id="rId51" Type="http://schemas.openxmlformats.org/officeDocument/2006/relationships/slide" Target="slides/slide50.xml"/><Relationship Id="rId3" Type="http://schemas.openxmlformats.org/officeDocument/2006/relationships/slide" Target="slides/slide2.xml"/><Relationship Id="rId12" Type="http://schemas.openxmlformats.org/officeDocument/2006/relationships/slide" Target="slides/slide11.xml"/><Relationship Id="rId17" Type="http://schemas.openxmlformats.org/officeDocument/2006/relationships/slide" Target="slides/slide16.xml"/><Relationship Id="rId25" Type="http://schemas.openxmlformats.org/officeDocument/2006/relationships/slide" Target="slides/slide24.xml"/><Relationship Id="rId33" Type="http://schemas.openxmlformats.org/officeDocument/2006/relationships/slide" Target="slides/slide32.xml"/><Relationship Id="rId38" Type="http://schemas.openxmlformats.org/officeDocument/2006/relationships/slide" Target="slides/slide37.xml"/><Relationship Id="rId46" Type="http://schemas.openxmlformats.org/officeDocument/2006/relationships/slide" Target="slides/slide45.xml"/><Relationship Id="rId59" Type="http://schemas.openxmlformats.org/officeDocument/2006/relationships/theme" Target="theme/theme1.xml"/><Relationship Id="rId20" Type="http://schemas.openxmlformats.org/officeDocument/2006/relationships/slide" Target="slides/slide19.xml"/><Relationship Id="rId41" Type="http://schemas.openxmlformats.org/officeDocument/2006/relationships/slide" Target="slides/slide40.xml"/><Relationship Id="rId54" Type="http://schemas.openxmlformats.org/officeDocument/2006/relationships/slide" Target="slides/slide53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5" Type="http://schemas.openxmlformats.org/officeDocument/2006/relationships/slide" Target="slides/slide14.xml"/><Relationship Id="rId23" Type="http://schemas.openxmlformats.org/officeDocument/2006/relationships/slide" Target="slides/slide22.xml"/><Relationship Id="rId28" Type="http://schemas.openxmlformats.org/officeDocument/2006/relationships/slide" Target="slides/slide27.xml"/><Relationship Id="rId36" Type="http://schemas.openxmlformats.org/officeDocument/2006/relationships/slide" Target="slides/slide35.xml"/><Relationship Id="rId49" Type="http://schemas.openxmlformats.org/officeDocument/2006/relationships/slide" Target="slides/slide48.xml"/><Relationship Id="rId57" Type="http://schemas.openxmlformats.org/officeDocument/2006/relationships/presProps" Target="presProps.xml"/><Relationship Id="rId10" Type="http://schemas.openxmlformats.org/officeDocument/2006/relationships/slide" Target="slides/slide9.xml"/><Relationship Id="rId31" Type="http://schemas.openxmlformats.org/officeDocument/2006/relationships/slide" Target="slides/slide30.xml"/><Relationship Id="rId44" Type="http://schemas.openxmlformats.org/officeDocument/2006/relationships/slide" Target="slides/slide43.xml"/><Relationship Id="rId52" Type="http://schemas.openxmlformats.org/officeDocument/2006/relationships/slide" Target="slides/slide51.xml"/><Relationship Id="rId60" Type="http://schemas.openxmlformats.org/officeDocument/2006/relationships/tableStyles" Target="tableStyles.xml"/><Relationship Id="rId4" Type="http://schemas.openxmlformats.org/officeDocument/2006/relationships/slide" Target="slides/slide3.xml"/><Relationship Id="rId9" Type="http://schemas.openxmlformats.org/officeDocument/2006/relationships/slide" Target="slides/slide8.xml"/></Relationships>
</file>

<file path=ppt/changesInfos/changesInfo1.xml><?xml version="1.0" encoding="utf-8"?>
<pc:chgInfo xmlns:a="http://schemas.openxmlformats.org/drawingml/2006/main" xmlns:r="http://schemas.openxmlformats.org/officeDocument/2006/relationships" xmlns:ac="http://schemas.microsoft.com/office/drawing/2013/main/command" xmlns:pc="http://schemas.microsoft.com/office/powerpoint/2013/main/command">
  <pc:docChgLst>
    <pc:chgData name="Eder Silva" userId="9b7f41b4-798d-40cf-8f87-8e33ae7a0417" providerId="ADAL" clId="{DFF9E84E-5922-4F26-9EAD-8AB4E668133E}"/>
    <pc:docChg chg="mod modSld modMainMaster">
      <pc:chgData name="Eder Silva" userId="9b7f41b4-798d-40cf-8f87-8e33ae7a0417" providerId="ADAL" clId="{DFF9E84E-5922-4F26-9EAD-8AB4E668133E}" dt="2026-10-20T12:21:31.999" v="3" actId="6549"/>
      <pc:docMkLst>
        <pc:docMk/>
      </pc:docMkLst>
      <pc:sldChg chg="modSp mod">
        <pc:chgData name="Eder Silva" userId="9b7f41b4-798d-40cf-8f87-8e33ae7a0417" providerId="ADAL" clId="{DFF9E84E-5922-4F26-9EAD-8AB4E668133E}" dt="2026-10-20T12:21:31.999" v="3" actId="6549"/>
        <pc:sldMkLst>
          <pc:docMk/>
          <pc:sldMk cId="0" sldId="256"/>
        </pc:sldMkLst>
        <pc:spChg chg="mod">
          <ac:chgData name="Eder Silva" userId="9b7f41b4-798d-40cf-8f87-8e33ae7a0417" providerId="ADAL" clId="{DFF9E84E-5922-4F26-9EAD-8AB4E668133E}" dt="2026-10-20T12:21:31.999" v="3" actId="6549"/>
          <ac:spMkLst>
            <pc:docMk/>
            <pc:sldMk cId="0" sldId="256"/>
            <ac:spMk id="86" creationId="{00000000-0000-0000-0000-000000000000}"/>
          </ac:spMkLst>
        </pc:spChg>
        <pc:spChg chg="mod">
          <ac:chgData name="Eder Silva" userId="9b7f41b4-798d-40cf-8f87-8e33ae7a0417" providerId="ADAL" clId="{DFF9E84E-5922-4F26-9EAD-8AB4E668133E}" dt="2026-10-20T12:04:59.323" v="0" actId="6549"/>
          <ac:spMkLst>
            <pc:docMk/>
            <pc:sldMk cId="0" sldId="256"/>
            <ac:spMk id="87" creationId="{00000000-0000-0000-0000-000000000000}"/>
          </ac:spMkLst>
        </pc:spChg>
      </pc:sldChg>
      <pc:sldMasterChg chg="addSp mod">
        <pc:chgData name="Eder Silva" userId="9b7f41b4-798d-40cf-8f87-8e33ae7a0417" providerId="ADAL" clId="{DFF9E84E-5922-4F26-9EAD-8AB4E668133E}" dt="2026-10-20T12:05:10.720" v="1" actId="33475"/>
        <pc:sldMasterMkLst>
          <pc:docMk/>
          <pc:sldMasterMk cId="0" sldId="2147483648"/>
        </pc:sldMasterMkLst>
        <pc:spChg chg="add">
          <ac:chgData name="Eder Silva" userId="9b7f41b4-798d-40cf-8f87-8e33ae7a0417" providerId="ADAL" clId="{DFF9E84E-5922-4F26-9EAD-8AB4E668133E}" dt="2026-10-20T12:05:10.720" v="1" actId="33475"/>
          <ac:spMkLst>
            <pc:docMk/>
            <pc:sldMasterMk cId="0" sldId="2147483648"/>
            <ac:spMk id="3" creationId="{15B5BAA2-43DA-D791-3F32-1BFB9DF1BF5B}"/>
          </ac:spMkLst>
        </pc:spChg>
      </pc:sldMasterChg>
    </pc:docChg>
  </pc:docChgLst>
</pc:chgInfo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3921713342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.xml"/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.xml"/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.xml"/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.xml"/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9.xml"/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0.xml"/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1.xml"/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2.xml"/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3.xml"/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4.xml"/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5.xml"/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6.xml"/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7.xml"/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8.xml"/><Relationship Id="rId1" Type="http://schemas.openxmlformats.org/officeDocument/2006/relationships/notesMaster" Target="../notesMasters/notesMaster1.xml"/></Relationships>
</file>

<file path=ppt/notesSlides/_rels/notesSlide1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9.xml"/><Relationship Id="rId1" Type="http://schemas.openxmlformats.org/officeDocument/2006/relationships/notesMaster" Target="../notesMasters/notesMaster1.xml"/></Relationships>
</file>

<file path=ppt/notesSlides/_rels/notesSlide2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0.xml"/><Relationship Id="rId1" Type="http://schemas.openxmlformats.org/officeDocument/2006/relationships/notesMaster" Target="../notesMasters/notesMaster1.xml"/></Relationships>
</file>

<file path=ppt/notesSlides/_rels/notesSlide2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1.xml"/><Relationship Id="rId1" Type="http://schemas.openxmlformats.org/officeDocument/2006/relationships/notesMaster" Target="../notesMasters/notesMaster1.xml"/></Relationships>
</file>

<file path=ppt/notesSlides/_rels/notesSlide2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2.xml"/><Relationship Id="rId1" Type="http://schemas.openxmlformats.org/officeDocument/2006/relationships/notesMaster" Target="../notesMasters/notesMaster1.xml"/></Relationships>
</file>

<file path=ppt/notesSlides/_rels/notesSlide2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3.xml"/><Relationship Id="rId1" Type="http://schemas.openxmlformats.org/officeDocument/2006/relationships/notesMaster" Target="../notesMasters/notesMaster1.xml"/></Relationships>
</file>

<file path=ppt/notesSlides/_rels/notesSlide2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4.xml"/><Relationship Id="rId1" Type="http://schemas.openxmlformats.org/officeDocument/2006/relationships/notesMaster" Target="../notesMasters/notesMaster1.xml"/></Relationships>
</file>

<file path=ppt/notesSlides/_rels/notesSlide2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5.xml"/><Relationship Id="rId1" Type="http://schemas.openxmlformats.org/officeDocument/2006/relationships/notesMaster" Target="../notesMasters/notesMaster1.xml"/></Relationships>
</file>

<file path=ppt/notesSlides/_rels/notesSlide2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6.xml"/><Relationship Id="rId1" Type="http://schemas.openxmlformats.org/officeDocument/2006/relationships/notesMaster" Target="../notesMasters/notesMaster1.xml"/></Relationships>
</file>

<file path=ppt/notesSlides/_rels/notesSlide2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7.xml"/><Relationship Id="rId1" Type="http://schemas.openxmlformats.org/officeDocument/2006/relationships/notesMaster" Target="../notesMasters/notesMaster1.xml"/></Relationships>
</file>

<file path=ppt/notesSlides/_rels/notesSlide2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8.xml"/><Relationship Id="rId1" Type="http://schemas.openxmlformats.org/officeDocument/2006/relationships/notesMaster" Target="../notesMasters/notesMaster1.xml"/></Relationships>
</file>

<file path=ppt/notesSlides/_rels/notesSlide2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9.xml"/><Relationship Id="rId1" Type="http://schemas.openxmlformats.org/officeDocument/2006/relationships/notesMaster" Target="../notesMasters/notesMaster1.xml"/></Relationships>
</file>

<file path=ppt/notesSlides/_rels/notesSlide3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0.xml"/><Relationship Id="rId1" Type="http://schemas.openxmlformats.org/officeDocument/2006/relationships/notesMaster" Target="../notesMasters/notesMaster1.xml"/></Relationships>
</file>

<file path=ppt/notesSlides/_rels/notesSlide3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1.xml"/><Relationship Id="rId1" Type="http://schemas.openxmlformats.org/officeDocument/2006/relationships/notesMaster" Target="../notesMasters/notesMaster1.xml"/></Relationships>
</file>

<file path=ppt/notesSlides/_rels/notesSlide3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2.xml"/><Relationship Id="rId1" Type="http://schemas.openxmlformats.org/officeDocument/2006/relationships/notesMaster" Target="../notesMasters/notesMaster1.xml"/></Relationships>
</file>

<file path=ppt/notesSlides/_rels/notesSlide3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3.xml"/><Relationship Id="rId1" Type="http://schemas.openxmlformats.org/officeDocument/2006/relationships/notesMaster" Target="../notesMasters/notesMaster1.xml"/></Relationships>
</file>

<file path=ppt/notesSlides/_rels/notesSlide3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4.xml"/><Relationship Id="rId1" Type="http://schemas.openxmlformats.org/officeDocument/2006/relationships/notesMaster" Target="../notesMasters/notesMaster1.xml"/></Relationships>
</file>

<file path=ppt/notesSlides/_rels/notesSlide3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5.xml"/><Relationship Id="rId1" Type="http://schemas.openxmlformats.org/officeDocument/2006/relationships/notesMaster" Target="../notesMasters/notesMaster1.xml"/></Relationships>
</file>

<file path=ppt/notesSlides/_rels/notesSlide3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6.xml"/><Relationship Id="rId1" Type="http://schemas.openxmlformats.org/officeDocument/2006/relationships/notesMaster" Target="../notesMasters/notesMaster1.xml"/></Relationships>
</file>

<file path=ppt/notesSlides/_rels/notesSlide3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7.xml"/><Relationship Id="rId1" Type="http://schemas.openxmlformats.org/officeDocument/2006/relationships/notesMaster" Target="../notesMasters/notesMaster1.xml"/></Relationships>
</file>

<file path=ppt/notesSlides/_rels/notesSlide3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8.xml"/><Relationship Id="rId1" Type="http://schemas.openxmlformats.org/officeDocument/2006/relationships/notesMaster" Target="../notesMasters/notesMaster1.xml"/></Relationships>
</file>

<file path=ppt/notesSlides/_rels/notesSlide3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9.xml"/><Relationship Id="rId1" Type="http://schemas.openxmlformats.org/officeDocument/2006/relationships/notesMaster" Target="../notesMasters/notesMaster1.xml"/></Relationships>
</file>

<file path=ppt/notesSlides/_rels/notesSlide4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0.xml"/><Relationship Id="rId1" Type="http://schemas.openxmlformats.org/officeDocument/2006/relationships/notesMaster" Target="../notesMasters/notesMaster1.xml"/></Relationships>
</file>

<file path=ppt/notesSlides/_rels/notesSlide4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1.xml"/><Relationship Id="rId1" Type="http://schemas.openxmlformats.org/officeDocument/2006/relationships/notesMaster" Target="../notesMasters/notesMaster1.xml"/></Relationships>
</file>

<file path=ppt/notesSlides/_rels/notesSlide4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2.xml"/><Relationship Id="rId1" Type="http://schemas.openxmlformats.org/officeDocument/2006/relationships/notesMaster" Target="../notesMasters/notesMaster1.xml"/></Relationships>
</file>

<file path=ppt/notesSlides/_rels/notesSlide4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3.xml"/><Relationship Id="rId1" Type="http://schemas.openxmlformats.org/officeDocument/2006/relationships/notesMaster" Target="../notesMasters/notesMaster1.xml"/></Relationships>
</file>

<file path=ppt/notesSlides/_rels/notesSlide4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4.xml"/><Relationship Id="rId1" Type="http://schemas.openxmlformats.org/officeDocument/2006/relationships/notesMaster" Target="../notesMasters/notesMaster1.xml"/></Relationships>
</file>

<file path=ppt/notesSlides/_rels/notesSlide4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5.xml"/><Relationship Id="rId1" Type="http://schemas.openxmlformats.org/officeDocument/2006/relationships/notesMaster" Target="../notesMasters/notesMaster1.xml"/></Relationships>
</file>

<file path=ppt/notesSlides/_rels/notesSlide4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6.xml"/><Relationship Id="rId1" Type="http://schemas.openxmlformats.org/officeDocument/2006/relationships/notesMaster" Target="../notesMasters/notesMaster1.xml"/></Relationships>
</file>

<file path=ppt/notesSlides/_rels/notesSlide4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7.xml"/><Relationship Id="rId1" Type="http://schemas.openxmlformats.org/officeDocument/2006/relationships/notesMaster" Target="../notesMasters/notesMaster1.xml"/></Relationships>
</file>

<file path=ppt/notesSlides/_rels/notesSlide4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8.xml"/><Relationship Id="rId1" Type="http://schemas.openxmlformats.org/officeDocument/2006/relationships/notesMaster" Target="../notesMasters/notesMaster1.xml"/></Relationships>
</file>

<file path=ppt/notesSlides/_rels/notesSlide4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9.xml"/><Relationship Id="rId1" Type="http://schemas.openxmlformats.org/officeDocument/2006/relationships/notesMaster" Target="../notesMasters/notesMaster1.xml"/></Relationships>
</file>

<file path=ppt/notesSlides/_rels/notesSlide5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0.xml"/><Relationship Id="rId1" Type="http://schemas.openxmlformats.org/officeDocument/2006/relationships/notesMaster" Target="../notesMasters/notesMaster1.xml"/></Relationships>
</file>

<file path=ppt/notesSlides/_rels/notesSlide5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1.xml"/><Relationship Id="rId1" Type="http://schemas.openxmlformats.org/officeDocument/2006/relationships/notesMaster" Target="../notesMasters/notesMaster1.xml"/></Relationships>
</file>

<file path=ppt/notesSlides/_rels/notesSlide5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2.xml"/><Relationship Id="rId1" Type="http://schemas.openxmlformats.org/officeDocument/2006/relationships/notesMaster" Target="../notesMasters/notesMaster1.xml"/></Relationships>
</file>

<file path=ppt/notesSlides/_rels/notesSlide5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3.xml"/><Relationship Id="rId1" Type="http://schemas.openxmlformats.org/officeDocument/2006/relationships/notesMaster" Target="../notesMasters/notesMaster1.xml"/></Relationships>
</file>

<file path=ppt/notesSlides/_rels/notesSlide5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4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CAPA"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>
            <a:spLocks noGrp="1"/>
          </p:cNvSpPr>
          <p:nvPr>
            <p:ph type="title" idx="100" hasCustomPrompt="1"/>
          </p:nvPr>
        </p:nvSpPr>
        <p:spPr>
          <a:xfrm>
            <a:off x="658368" y="2331720"/>
            <a:ext cx="9326880" cy="1828800"/>
          </a:xfrm>
          <a:prstGeom prst="rect">
            <a:avLst/>
          </a:prstGeom>
          <a:noFill/>
          <a:ln/>
        </p:spPr>
        <p:txBody>
          <a:bodyPr wrap="square" rtlCol="0"/>
          <a:lstStyle>
            <a:lvl1pPr marL="0" indent="0" algn="l">
              <a:buNone/>
              <a:defRPr lang="en-US" sz="4000" b="1" dirty="0">
                <a:solidFill>
                  <a:schemeClr val="tx1"/>
                </a:solidFill>
              </a:defRPr>
            </a:lvl1pPr>
          </a:lstStyle>
          <a:p>
            <a:pPr marL="0" indent="0" algn="l">
              <a:buNone/>
            </a:pPr>
            <a:endParaRPr lang="en-US" sz="4000" dirty="0"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IVISORIA">
    <p:bg>
      <p:bgPr>
        <a:solidFill>
          <a:schemeClr val="bg2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>
            <a:spLocks noGrp="1"/>
          </p:cNvSpPr>
          <p:nvPr>
            <p:ph type="title" idx="100" hasCustomPrompt="1"/>
          </p:nvPr>
        </p:nvSpPr>
        <p:spPr>
          <a:xfrm>
            <a:off x="914400" y="2560320"/>
            <a:ext cx="9875520" cy="1828800"/>
          </a:xfrm>
          <a:prstGeom prst="rect">
            <a:avLst/>
          </a:prstGeom>
          <a:noFill/>
          <a:ln/>
        </p:spPr>
        <p:txBody>
          <a:bodyPr wrap="square" rtlCol="0"/>
          <a:lstStyle>
            <a:lvl1pPr marL="0" indent="0" algn="l">
              <a:buNone/>
              <a:defRPr lang="en-US" sz="4600" b="1" dirty="0">
                <a:solidFill>
                  <a:schemeClr val="tx1"/>
                </a:solidFill>
              </a:defRPr>
            </a:lvl1pPr>
          </a:lstStyle>
          <a:p>
            <a:pPr marL="0" indent="0" algn="l">
              <a:buNone/>
            </a:pPr>
            <a:endParaRPr lang="en-US" sz="46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527487" y="6400800"/>
            <a:ext cx="109728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xmlns="" val="0"/>
            </a:ext>
          </a:extLst>
        </p:spPr>
        <p:txBody>
          <a:bodyPr lIns="0" tIns="0" rIns="0" bIns="0"/>
          <a:lstStyle>
            <a:lvl1pPr>
              <a:defRPr sz="1000">
                <a:solidFill>
                  <a:srgbClr val="B9CFC6"/>
                </a:solidFill>
                <a:latin typeface="Courier New"/>
                <a:ea typeface="Courier New"/>
                <a:cs typeface="Courier New"/>
              </a:defRPr>
            </a:lvl1pPr>
          </a:lstStyle>
          <a:p>
            <a:pPr algn="r"/>
            <a:fld id="{F7021451-1387-4CA6-816F-3879F97B5CBC}" type="slidenum">
              <a:rPr lang="en-US" b="0"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CONTEUDO"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>
            <a:spLocks noGrp="1"/>
          </p:cNvSpPr>
          <p:nvPr>
            <p:ph type="title" idx="100" hasCustomPrompt="1"/>
          </p:nvPr>
        </p:nvSpPr>
        <p:spPr>
          <a:xfrm>
            <a:off x="566928" y="384048"/>
            <a:ext cx="11057839" cy="914400"/>
          </a:xfrm>
          <a:prstGeom prst="rect">
            <a:avLst/>
          </a:prstGeom>
          <a:noFill/>
          <a:ln/>
        </p:spPr>
        <p:txBody>
          <a:bodyPr wrap="square" rtlCol="0"/>
          <a:lstStyle>
            <a:lvl1pPr marL="0" indent="0" algn="l">
              <a:buNone/>
              <a:defRPr lang="en-US" sz="2800" b="1" dirty="0">
                <a:solidFill>
                  <a:schemeClr val="tx1"/>
                </a:solidFill>
              </a:defRPr>
            </a:lvl1pPr>
          </a:lstStyle>
          <a:p>
            <a:pPr marL="0" indent="0" algn="l">
              <a:buNone/>
            </a:pPr>
            <a:endParaRPr lang="en-US" sz="28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527487" y="6400800"/>
            <a:ext cx="109728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xmlns="" val="0"/>
            </a:ext>
          </a:extLst>
        </p:spPr>
        <p:txBody>
          <a:bodyPr lIns="0" tIns="0" rIns="0" bIns="0"/>
          <a:lstStyle>
            <a:lvl1pPr>
              <a:defRPr sz="1000">
                <a:solidFill>
                  <a:srgbClr val="8FA9A3"/>
                </a:solidFill>
                <a:latin typeface="Courier New"/>
                <a:ea typeface="Courier New"/>
                <a:cs typeface="Courier New"/>
              </a:defRPr>
            </a:lvl1pPr>
          </a:lstStyle>
          <a:p>
            <a:pPr algn="r"/>
            <a:fld id="{F7021451-1387-4CA6-816F-3879F97B5CBC}" type="slidenum">
              <a:rPr lang="en-US" b="0"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3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5" Type="http://schemas.openxmlformats.org/officeDocument/2006/relationships/theme" Target="../theme/theme1.xml"/><Relationship Id="rId4" Type="http://schemas.openxmlformats.org/officeDocument/2006/relationships/slideLayout" Target="../slideLayouts/slideLayout4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527487" y="6400800"/>
            <a:ext cx="109728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xmlns="" val="0"/>
            </a:ext>
          </a:extLst>
        </p:spPr>
        <p:txBody>
          <a:bodyPr lIns="0" tIns="0" rIns="0" bIns="0"/>
          <a:lstStyle>
            <a:lvl1pPr>
              <a:defRPr sz="1000">
                <a:solidFill>
                  <a:srgbClr val="B9CFC6"/>
                </a:solidFill>
                <a:latin typeface="Courier New"/>
                <a:ea typeface="Courier New"/>
                <a:cs typeface="Courier New"/>
              </a:defRPr>
            </a:lvl1pPr>
          </a:lstStyle>
          <a:p>
            <a:pPr algn="r"/>
            <a:fld id="{F7021451-1387-4CA6-816F-3879F97B5CBC}" type="slidenum">
              <a:rPr lang="en-US" b="0"/>
              <a:t>‹#›</a:t>
            </a:fld>
            <a:endParaRPr lang="en-US"/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15B5BAA2-43DA-D791-3F32-1BFB9DF1BF5B}"/>
              </a:ext>
            </a:extLst>
          </p:cNvPr>
          <p:cNvSpPr txBox="1"/>
          <p:nvPr userDrawn="1">
            <p:extLst>
              <p:ext uri="{1162E1C5-73C7-4A58-AE30-91384D911F3F}">
                <p184:classification xmlns:p184="http://schemas.microsoft.com/office/powerpoint/2018/4/main" val="ftr"/>
              </p:ext>
            </p:extLst>
          </p:nvPr>
        </p:nvSpPr>
        <p:spPr>
          <a:xfrm>
            <a:off x="10593388" y="6459220"/>
            <a:ext cx="1592262" cy="335280"/>
          </a:xfrm>
          <a:prstGeom prst="rect">
            <a:avLst/>
          </a:prstGeom>
        </p:spPr>
        <p:txBody>
          <a:bodyPr horzOverflow="overflow" lIns="0" tIns="0" rIns="0" bIns="0">
            <a:spAutoFit/>
          </a:bodyPr>
          <a:lstStyle/>
          <a:p>
            <a:pPr algn="l"/>
            <a:r>
              <a:rPr lang="en-US" sz="2200">
                <a:solidFill>
                  <a:srgbClr val="FF8939">
                    <a:alpha val="50000"/>
                  </a:srgbClr>
                </a:solidFill>
                <a:latin typeface="Aptos" panose="020B0004020202020204" pitchFamily="34" charset="0"/>
              </a:rPr>
              <a:t>RESTRICTED</a:t>
            </a:r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2.xml"/></Relationships>
</file>

<file path=ppt/slides/_rels/slide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4.xml"/></Relationships>
</file>

<file path=ppt/slides/_rels/slide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3.xml"/></Relationships>
</file>

<file path=ppt/slides/_rels/slide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4.xml"/></Relationships>
</file>

<file path=ppt/slides/_rels/slide5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5.xml"/><Relationship Id="rId1" Type="http://schemas.openxmlformats.org/officeDocument/2006/relationships/slideLayout" Target="../slideLayouts/slideLayout4.xml"/></Relationships>
</file>

<file path=ppt/slides/_rels/slide6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6.xml"/><Relationship Id="rId1" Type="http://schemas.openxmlformats.org/officeDocument/2006/relationships/slideLayout" Target="../slideLayouts/slideLayout4.xml"/></Relationships>
</file>

<file path=ppt/slides/_rels/slide7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7.xml"/><Relationship Id="rId1" Type="http://schemas.openxmlformats.org/officeDocument/2006/relationships/slideLayout" Target="../slideLayouts/slideLayout4.xml"/></Relationships>
</file>

<file path=ppt/slides/_rels/slide8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8.xml"/><Relationship Id="rId1" Type="http://schemas.openxmlformats.org/officeDocument/2006/relationships/slideLayout" Target="../slideLayouts/slideLayout4.xml"/></Relationships>
</file>

<file path=ppt/slides/_rels/slide9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9.xml"/><Relationship Id="rId1" Type="http://schemas.openxmlformats.org/officeDocument/2006/relationships/slideLayout" Target="../slideLayouts/slideLayout3.xml"/></Relationships>
</file>

<file path=ppt/slides/_rels/slide10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0.xml"/><Relationship Id="rId1" Type="http://schemas.openxmlformats.org/officeDocument/2006/relationships/slideLayout" Target="../slideLayouts/slideLayout4.xml"/></Relationships>
</file>

<file path=ppt/slides/_rels/slide1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1.xml"/><Relationship Id="rId1" Type="http://schemas.openxmlformats.org/officeDocument/2006/relationships/slideLayout" Target="../slideLayouts/slideLayout4.xml"/></Relationships>
</file>

<file path=ppt/slides/_rels/slide1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2.xml"/><Relationship Id="rId1" Type="http://schemas.openxmlformats.org/officeDocument/2006/relationships/slideLayout" Target="../slideLayouts/slideLayout4.xml"/></Relationships>
</file>

<file path=ppt/slides/_rels/slide1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3.xml"/><Relationship Id="rId1" Type="http://schemas.openxmlformats.org/officeDocument/2006/relationships/slideLayout" Target="../slideLayouts/slideLayout4.xml"/></Relationships>
</file>

<file path=ppt/slides/_rels/slide1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4.xml"/><Relationship Id="rId1" Type="http://schemas.openxmlformats.org/officeDocument/2006/relationships/slideLayout" Target="../slideLayouts/slideLayout4.xml"/></Relationships>
</file>

<file path=ppt/slides/_rels/slide15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5.xml"/><Relationship Id="rId1" Type="http://schemas.openxmlformats.org/officeDocument/2006/relationships/slideLayout" Target="../slideLayouts/slideLayout4.xml"/></Relationships>
</file>

<file path=ppt/slides/_rels/slide16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6.xml"/><Relationship Id="rId1" Type="http://schemas.openxmlformats.org/officeDocument/2006/relationships/slideLayout" Target="../slideLayouts/slideLayout4.xml"/></Relationships>
</file>

<file path=ppt/slides/_rels/slide17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7.xml"/><Relationship Id="rId1" Type="http://schemas.openxmlformats.org/officeDocument/2006/relationships/slideLayout" Target="../slideLayouts/slideLayout4.xml"/></Relationships>
</file>

<file path=ppt/slides/_rels/slide18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8.xml"/><Relationship Id="rId1" Type="http://schemas.openxmlformats.org/officeDocument/2006/relationships/slideLayout" Target="../slideLayouts/slideLayout4.xml"/></Relationships>
</file>

<file path=ppt/slides/_rels/slide19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9.xml"/><Relationship Id="rId1" Type="http://schemas.openxmlformats.org/officeDocument/2006/relationships/slideLayout" Target="../slideLayouts/slideLayout4.xml"/></Relationships>
</file>

<file path=ppt/slides/_rels/slide20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0.xml"/><Relationship Id="rId1" Type="http://schemas.openxmlformats.org/officeDocument/2006/relationships/slideLayout" Target="../slideLayouts/slideLayout4.xml"/></Relationships>
</file>

<file path=ppt/slides/_rels/slide2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1.xml"/><Relationship Id="rId1" Type="http://schemas.openxmlformats.org/officeDocument/2006/relationships/slideLayout" Target="../slideLayouts/slideLayout4.xml"/></Relationships>
</file>

<file path=ppt/slides/_rels/slide2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2.xml"/><Relationship Id="rId1" Type="http://schemas.openxmlformats.org/officeDocument/2006/relationships/slideLayout" Target="../slideLayouts/slideLayout4.xml"/></Relationships>
</file>

<file path=ppt/slides/_rels/slide2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3.xml"/><Relationship Id="rId1" Type="http://schemas.openxmlformats.org/officeDocument/2006/relationships/slideLayout" Target="../slideLayouts/slideLayout3.xml"/></Relationships>
</file>

<file path=ppt/slides/_rels/slide2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4.xml"/><Relationship Id="rId1" Type="http://schemas.openxmlformats.org/officeDocument/2006/relationships/slideLayout" Target="../slideLayouts/slideLayout4.xml"/></Relationships>
</file>

<file path=ppt/slides/_rels/slide25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5.xml"/><Relationship Id="rId1" Type="http://schemas.openxmlformats.org/officeDocument/2006/relationships/slideLayout" Target="../slideLayouts/slideLayout4.xml"/></Relationships>
</file>

<file path=ppt/slides/_rels/slide26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6.xml"/><Relationship Id="rId1" Type="http://schemas.openxmlformats.org/officeDocument/2006/relationships/slideLayout" Target="../slideLayouts/slideLayout4.xml"/></Relationships>
</file>

<file path=ppt/slides/_rels/slide27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7.xml"/><Relationship Id="rId1" Type="http://schemas.openxmlformats.org/officeDocument/2006/relationships/slideLayout" Target="../slideLayouts/slideLayout4.xml"/></Relationships>
</file>

<file path=ppt/slides/_rels/slide28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8.xml"/><Relationship Id="rId1" Type="http://schemas.openxmlformats.org/officeDocument/2006/relationships/slideLayout" Target="../slideLayouts/slideLayout4.xml"/></Relationships>
</file>

<file path=ppt/slides/_rels/slide29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9.xml"/><Relationship Id="rId1" Type="http://schemas.openxmlformats.org/officeDocument/2006/relationships/slideLayout" Target="../slideLayouts/slideLayout4.xml"/></Relationships>
</file>

<file path=ppt/slides/_rels/slide30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0.xml"/><Relationship Id="rId1" Type="http://schemas.openxmlformats.org/officeDocument/2006/relationships/slideLayout" Target="../slideLayouts/slideLayout4.xml"/></Relationships>
</file>

<file path=ppt/slides/_rels/slide3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1.xml"/><Relationship Id="rId1" Type="http://schemas.openxmlformats.org/officeDocument/2006/relationships/slideLayout" Target="../slideLayouts/slideLayout4.xml"/></Relationships>
</file>

<file path=ppt/slides/_rels/slide3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2.xml"/><Relationship Id="rId1" Type="http://schemas.openxmlformats.org/officeDocument/2006/relationships/slideLayout" Target="../slideLayouts/slideLayout4.xml"/></Relationships>
</file>

<file path=ppt/slides/_rels/slide3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3.xml"/><Relationship Id="rId1" Type="http://schemas.openxmlformats.org/officeDocument/2006/relationships/slideLayout" Target="../slideLayouts/slideLayout4.xml"/></Relationships>
</file>

<file path=ppt/slides/_rels/slide3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4.xml"/><Relationship Id="rId1" Type="http://schemas.openxmlformats.org/officeDocument/2006/relationships/slideLayout" Target="../slideLayouts/slideLayout3.xml"/></Relationships>
</file>

<file path=ppt/slides/_rels/slide35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5.xml"/><Relationship Id="rId1" Type="http://schemas.openxmlformats.org/officeDocument/2006/relationships/slideLayout" Target="../slideLayouts/slideLayout4.xml"/></Relationships>
</file>

<file path=ppt/slides/_rels/slide36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6.xml"/><Relationship Id="rId1" Type="http://schemas.openxmlformats.org/officeDocument/2006/relationships/slideLayout" Target="../slideLayouts/slideLayout4.xml"/></Relationships>
</file>

<file path=ppt/slides/_rels/slide37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7.xml"/><Relationship Id="rId1" Type="http://schemas.openxmlformats.org/officeDocument/2006/relationships/slideLayout" Target="../slideLayouts/slideLayout4.xml"/></Relationships>
</file>

<file path=ppt/slides/_rels/slide38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8.xml"/><Relationship Id="rId1" Type="http://schemas.openxmlformats.org/officeDocument/2006/relationships/slideLayout" Target="../slideLayouts/slideLayout4.xml"/></Relationships>
</file>

<file path=ppt/slides/_rels/slide39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9.xml"/><Relationship Id="rId1" Type="http://schemas.openxmlformats.org/officeDocument/2006/relationships/slideLayout" Target="../slideLayouts/slideLayout4.xml"/></Relationships>
</file>

<file path=ppt/slides/_rels/slide40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40.xml"/><Relationship Id="rId1" Type="http://schemas.openxmlformats.org/officeDocument/2006/relationships/slideLayout" Target="../slideLayouts/slideLayout4.xml"/></Relationships>
</file>

<file path=ppt/slides/_rels/slide4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41.xml"/><Relationship Id="rId1" Type="http://schemas.openxmlformats.org/officeDocument/2006/relationships/slideLayout" Target="../slideLayouts/slideLayout3.xml"/></Relationships>
</file>

<file path=ppt/slides/_rels/slide4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42.xml"/><Relationship Id="rId1" Type="http://schemas.openxmlformats.org/officeDocument/2006/relationships/slideLayout" Target="../slideLayouts/slideLayout4.xml"/></Relationships>
</file>

<file path=ppt/slides/_rels/slide4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43.xml"/><Relationship Id="rId1" Type="http://schemas.openxmlformats.org/officeDocument/2006/relationships/slideLayout" Target="../slideLayouts/slideLayout4.xml"/></Relationships>
</file>

<file path=ppt/slides/_rels/slide4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44.xml"/><Relationship Id="rId1" Type="http://schemas.openxmlformats.org/officeDocument/2006/relationships/slideLayout" Target="../slideLayouts/slideLayout4.xml"/></Relationships>
</file>

<file path=ppt/slides/_rels/slide45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45.xml"/><Relationship Id="rId1" Type="http://schemas.openxmlformats.org/officeDocument/2006/relationships/slideLayout" Target="../slideLayouts/slideLayout4.xml"/></Relationships>
</file>

<file path=ppt/slides/_rels/slide46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46.xml"/><Relationship Id="rId1" Type="http://schemas.openxmlformats.org/officeDocument/2006/relationships/slideLayout" Target="../slideLayouts/slideLayout4.xml"/></Relationships>
</file>

<file path=ppt/slides/_rels/slide47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47.xml"/><Relationship Id="rId1" Type="http://schemas.openxmlformats.org/officeDocument/2006/relationships/slideLayout" Target="../slideLayouts/slideLayout4.xml"/></Relationships>
</file>

<file path=ppt/slides/_rels/slide48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48.xml"/><Relationship Id="rId1" Type="http://schemas.openxmlformats.org/officeDocument/2006/relationships/slideLayout" Target="../slideLayouts/slideLayout4.xml"/></Relationships>
</file>

<file path=ppt/slides/_rels/slide49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49.xml"/><Relationship Id="rId1" Type="http://schemas.openxmlformats.org/officeDocument/2006/relationships/slideLayout" Target="../slideLayouts/slideLayout4.xml"/></Relationships>
</file>

<file path=ppt/slides/_rels/slide50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50.xml"/><Relationship Id="rId1" Type="http://schemas.openxmlformats.org/officeDocument/2006/relationships/slideLayout" Target="../slideLayouts/slideLayout4.xml"/></Relationships>
</file>

<file path=ppt/slides/_rels/slide5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51.xml"/><Relationship Id="rId1" Type="http://schemas.openxmlformats.org/officeDocument/2006/relationships/slideLayout" Target="../slideLayouts/slideLayout3.xml"/></Relationships>
</file>

<file path=ppt/slides/_rels/slide5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52.xml"/><Relationship Id="rId1" Type="http://schemas.openxmlformats.org/officeDocument/2006/relationships/slideLayout" Target="../slideLayouts/slideLayout4.xml"/></Relationships>
</file>

<file path=ppt/slides/_rels/slide5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53.xml"/><Relationship Id="rId1" Type="http://schemas.openxmlformats.org/officeDocument/2006/relationships/slideLayout" Target="../slideLayouts/slideLayout4.xml"/></Relationships>
</file>

<file path=ppt/slides/_rels/slide5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54.xml"/><Relationship Id="rId1" Type="http://schemas.openxmlformats.org/officeDocument/2006/relationships/slideLayout" Target="../slideLayouts/slideLayout4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>
            <a:spLocks noGrp="1"/>
          </p:cNvSpPr>
          <p:nvPr>
            <p:ph type="title" idx="100" hasCustomPrompt="1"/>
          </p:nvPr>
        </p:nvSpPr>
        <p:spPr>
          <a:xfrm>
            <a:off x="658368" y="2331720"/>
            <a:ext cx="9326880" cy="1828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buNone/>
            </a:pPr>
            <a:r>
              <a:rPr lang="en-US" sz="4000" b="1" dirty="0">
                <a:solidFill>
                  <a:schemeClr val="tx1"/>
                </a:solidFill>
              </a:rPr>
              <a:t>Dados: a base de toda IA no melhoramento</a:t>
            </a:r>
            <a:endParaRPr lang="en-US" sz="4000" dirty="0"/>
          </a:p>
        </p:txBody>
      </p:sp>
      <p:sp>
        <p:nvSpPr>
          <p:cNvPr id="3" name="texto-0"/>
          <p:cNvSpPr txBox="1"/>
          <p:nvPr/>
        </p:nvSpPr>
        <p:spPr>
          <a:xfrm>
            <a:off x="658368" y="502920"/>
            <a:ext cx="78638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ct val="110000"/>
              </a:lnSpc>
              <a:spcAft>
                <a:spcPts val="200"/>
              </a:spcAft>
              <a:buNone/>
            </a:pPr>
            <a:r>
              <a:rPr lang="en-US" sz="1200" kern="0" spc="150" dirty="0">
                <a:solidFill>
                  <a:schemeClr val="tx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IA NO MELHORAMENTO GENÉTICO: FUNDAMENTOS E APLICAÇÕES</a:t>
            </a:r>
            <a:endParaRPr lang="en-US" sz="1200" dirty="0"/>
          </a:p>
          <a:p>
            <a:pPr marL="0" indent="0" algn="l">
              <a:lnSpc>
                <a:spcPct val="110000"/>
              </a:lnSpc>
              <a:buNone/>
            </a:pPr>
            <a:r>
              <a:rPr lang="en-US" sz="1200" kern="0" spc="150" dirty="0">
                <a:solidFill>
                  <a:schemeClr val="accent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FIT 796 · UFV · 3 A 5 DE NOVEMBRO DE 2026</a:t>
            </a:r>
            <a:endParaRPr lang="en-US" sz="1200" dirty="0"/>
          </a:p>
        </p:txBody>
      </p:sp>
      <p:sp>
        <p:nvSpPr>
          <p:cNvPr id="4" name="texto-1"/>
          <p:cNvSpPr txBox="1"/>
          <p:nvPr/>
        </p:nvSpPr>
        <p:spPr>
          <a:xfrm>
            <a:off x="9974275" y="502920"/>
            <a:ext cx="18288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ct val="100000"/>
              </a:lnSpc>
              <a:buNone/>
            </a:pPr>
            <a:r>
              <a:rPr lang="en-US" sz="800" kern="0" spc="100" dirty="0">
                <a:solidFill>
                  <a:schemeClr val="tx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BLOCO 1</a:t>
            </a:r>
            <a:endParaRPr lang="en-US" sz="800" dirty="0"/>
          </a:p>
        </p:txBody>
      </p:sp>
      <p:sp>
        <p:nvSpPr>
          <p:cNvPr id="5" name="ret-2"/>
          <p:cNvSpPr/>
          <p:nvPr/>
        </p:nvSpPr>
        <p:spPr>
          <a:xfrm>
            <a:off x="9974275" y="722376"/>
            <a:ext cx="118872" cy="118872"/>
          </a:xfrm>
          <a:prstGeom prst="roundRect">
            <a:avLst>
              <a:gd name="adj" fmla="val 11538"/>
            </a:avLst>
          </a:prstGeom>
          <a:solidFill>
            <a:schemeClr val="accent4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6" name="ret-3"/>
          <p:cNvSpPr/>
          <p:nvPr/>
        </p:nvSpPr>
        <p:spPr>
          <a:xfrm>
            <a:off x="10134295" y="722376"/>
            <a:ext cx="118872" cy="118872"/>
          </a:xfrm>
          <a:prstGeom prst="roundRect">
            <a:avLst>
              <a:gd name="adj" fmla="val 11538"/>
            </a:avLst>
          </a:prstGeom>
          <a:solidFill>
            <a:schemeClr val="accent4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7" name="ret-4"/>
          <p:cNvSpPr/>
          <p:nvPr/>
        </p:nvSpPr>
        <p:spPr>
          <a:xfrm>
            <a:off x="10294315" y="722376"/>
            <a:ext cx="118872" cy="118872"/>
          </a:xfrm>
          <a:prstGeom prst="roundRect">
            <a:avLst>
              <a:gd name="adj" fmla="val 11538"/>
            </a:avLst>
          </a:prstGeom>
          <a:solidFill>
            <a:schemeClr val="accent1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8" name="ret-5"/>
          <p:cNvSpPr/>
          <p:nvPr/>
        </p:nvSpPr>
        <p:spPr>
          <a:xfrm>
            <a:off x="10454335" y="722376"/>
            <a:ext cx="118872" cy="118872"/>
          </a:xfrm>
          <a:prstGeom prst="roundRect">
            <a:avLst>
              <a:gd name="adj" fmla="val 11538"/>
            </a:avLst>
          </a:prstGeom>
          <a:solidFill>
            <a:schemeClr val="accent4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9" name="ret-6"/>
          <p:cNvSpPr/>
          <p:nvPr/>
        </p:nvSpPr>
        <p:spPr>
          <a:xfrm>
            <a:off x="10614355" y="722376"/>
            <a:ext cx="118872" cy="118872"/>
          </a:xfrm>
          <a:prstGeom prst="roundRect">
            <a:avLst>
              <a:gd name="adj" fmla="val 11538"/>
            </a:avLst>
          </a:prstGeom>
          <a:solidFill>
            <a:schemeClr val="accent4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10" name="ret-7"/>
          <p:cNvSpPr/>
          <p:nvPr/>
        </p:nvSpPr>
        <p:spPr>
          <a:xfrm>
            <a:off x="10774375" y="722376"/>
            <a:ext cx="118872" cy="118872"/>
          </a:xfrm>
          <a:prstGeom prst="roundRect">
            <a:avLst>
              <a:gd name="adj" fmla="val 11538"/>
            </a:avLst>
          </a:prstGeom>
          <a:solidFill>
            <a:schemeClr val="accent1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11" name="ret-8"/>
          <p:cNvSpPr/>
          <p:nvPr/>
        </p:nvSpPr>
        <p:spPr>
          <a:xfrm>
            <a:off x="10934395" y="722376"/>
            <a:ext cx="118872" cy="118872"/>
          </a:xfrm>
          <a:prstGeom prst="roundRect">
            <a:avLst>
              <a:gd name="adj" fmla="val 11538"/>
            </a:avLst>
          </a:prstGeom>
          <a:solidFill>
            <a:schemeClr val="accent4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12" name="ret-9"/>
          <p:cNvSpPr/>
          <p:nvPr/>
        </p:nvSpPr>
        <p:spPr>
          <a:xfrm>
            <a:off x="11094415" y="722376"/>
            <a:ext cx="118872" cy="118872"/>
          </a:xfrm>
          <a:prstGeom prst="roundRect">
            <a:avLst>
              <a:gd name="adj" fmla="val 11538"/>
            </a:avLst>
          </a:prstGeom>
          <a:solidFill>
            <a:schemeClr val="accent4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13" name="ret-10"/>
          <p:cNvSpPr/>
          <p:nvPr/>
        </p:nvSpPr>
        <p:spPr>
          <a:xfrm>
            <a:off x="11254435" y="722376"/>
            <a:ext cx="118872" cy="118872"/>
          </a:xfrm>
          <a:prstGeom prst="roundRect">
            <a:avLst>
              <a:gd name="adj" fmla="val 11538"/>
            </a:avLst>
          </a:prstGeom>
          <a:solidFill>
            <a:schemeClr val="accent4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14" name="ret-11"/>
          <p:cNvSpPr/>
          <p:nvPr/>
        </p:nvSpPr>
        <p:spPr>
          <a:xfrm>
            <a:off x="11414455" y="722376"/>
            <a:ext cx="118872" cy="118872"/>
          </a:xfrm>
          <a:prstGeom prst="roundRect">
            <a:avLst>
              <a:gd name="adj" fmla="val 11538"/>
            </a:avLst>
          </a:prstGeom>
          <a:solidFill>
            <a:schemeClr val="accent4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15" name="ret-12"/>
          <p:cNvSpPr/>
          <p:nvPr/>
        </p:nvSpPr>
        <p:spPr>
          <a:xfrm>
            <a:off x="9974275" y="882396"/>
            <a:ext cx="118872" cy="118872"/>
          </a:xfrm>
          <a:prstGeom prst="roundRect">
            <a:avLst>
              <a:gd name="adj" fmla="val 11538"/>
            </a:avLst>
          </a:prstGeom>
          <a:solidFill>
            <a:schemeClr val="accent4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16" name="ret-13"/>
          <p:cNvSpPr/>
          <p:nvPr/>
        </p:nvSpPr>
        <p:spPr>
          <a:xfrm>
            <a:off x="10134295" y="882396"/>
            <a:ext cx="118872" cy="118872"/>
          </a:xfrm>
          <a:prstGeom prst="roundRect">
            <a:avLst>
              <a:gd name="adj" fmla="val 11538"/>
            </a:avLst>
          </a:prstGeom>
          <a:solidFill>
            <a:schemeClr val="accent4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17" name="ret-14"/>
          <p:cNvSpPr/>
          <p:nvPr/>
        </p:nvSpPr>
        <p:spPr>
          <a:xfrm>
            <a:off x="10294315" y="882396"/>
            <a:ext cx="118872" cy="118872"/>
          </a:xfrm>
          <a:prstGeom prst="roundRect">
            <a:avLst>
              <a:gd name="adj" fmla="val 11538"/>
            </a:avLst>
          </a:prstGeom>
          <a:solidFill>
            <a:schemeClr val="accent1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18" name="ret-15"/>
          <p:cNvSpPr/>
          <p:nvPr/>
        </p:nvSpPr>
        <p:spPr>
          <a:xfrm>
            <a:off x="10454335" y="882396"/>
            <a:ext cx="118872" cy="118872"/>
          </a:xfrm>
          <a:prstGeom prst="roundRect">
            <a:avLst>
              <a:gd name="adj" fmla="val 11538"/>
            </a:avLst>
          </a:prstGeom>
          <a:solidFill>
            <a:schemeClr val="accent4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19" name="ret-16"/>
          <p:cNvSpPr/>
          <p:nvPr/>
        </p:nvSpPr>
        <p:spPr>
          <a:xfrm>
            <a:off x="10614355" y="882396"/>
            <a:ext cx="118872" cy="118872"/>
          </a:xfrm>
          <a:prstGeom prst="roundRect">
            <a:avLst>
              <a:gd name="adj" fmla="val 11538"/>
            </a:avLst>
          </a:prstGeom>
          <a:solidFill>
            <a:schemeClr val="accent4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20" name="ret-17"/>
          <p:cNvSpPr/>
          <p:nvPr/>
        </p:nvSpPr>
        <p:spPr>
          <a:xfrm>
            <a:off x="10774375" y="882396"/>
            <a:ext cx="118872" cy="118872"/>
          </a:xfrm>
          <a:prstGeom prst="roundRect">
            <a:avLst>
              <a:gd name="adj" fmla="val 11538"/>
            </a:avLst>
          </a:prstGeom>
          <a:solidFill>
            <a:schemeClr val="accent1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21" name="ret-18"/>
          <p:cNvSpPr/>
          <p:nvPr/>
        </p:nvSpPr>
        <p:spPr>
          <a:xfrm>
            <a:off x="10934395" y="882396"/>
            <a:ext cx="118872" cy="118872"/>
          </a:xfrm>
          <a:prstGeom prst="roundRect">
            <a:avLst>
              <a:gd name="adj" fmla="val 11538"/>
            </a:avLst>
          </a:prstGeom>
          <a:solidFill>
            <a:schemeClr val="accent4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22" name="ret-19"/>
          <p:cNvSpPr/>
          <p:nvPr/>
        </p:nvSpPr>
        <p:spPr>
          <a:xfrm>
            <a:off x="11094415" y="882396"/>
            <a:ext cx="118872" cy="118872"/>
          </a:xfrm>
          <a:prstGeom prst="roundRect">
            <a:avLst>
              <a:gd name="adj" fmla="val 11538"/>
            </a:avLst>
          </a:prstGeom>
          <a:solidFill>
            <a:schemeClr val="accent4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23" name="ret-20"/>
          <p:cNvSpPr/>
          <p:nvPr/>
        </p:nvSpPr>
        <p:spPr>
          <a:xfrm>
            <a:off x="11254435" y="882396"/>
            <a:ext cx="118872" cy="118872"/>
          </a:xfrm>
          <a:prstGeom prst="roundRect">
            <a:avLst>
              <a:gd name="adj" fmla="val 11538"/>
            </a:avLst>
          </a:prstGeom>
          <a:solidFill>
            <a:schemeClr val="accent4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24" name="ret-21"/>
          <p:cNvSpPr/>
          <p:nvPr/>
        </p:nvSpPr>
        <p:spPr>
          <a:xfrm>
            <a:off x="11414455" y="882396"/>
            <a:ext cx="118872" cy="118872"/>
          </a:xfrm>
          <a:prstGeom prst="roundRect">
            <a:avLst>
              <a:gd name="adj" fmla="val 11538"/>
            </a:avLst>
          </a:prstGeom>
          <a:solidFill>
            <a:schemeClr val="accent4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25" name="ret-22"/>
          <p:cNvSpPr/>
          <p:nvPr/>
        </p:nvSpPr>
        <p:spPr>
          <a:xfrm>
            <a:off x="9974275" y="1042416"/>
            <a:ext cx="118872" cy="118872"/>
          </a:xfrm>
          <a:prstGeom prst="roundRect">
            <a:avLst>
              <a:gd name="adj" fmla="val 11538"/>
            </a:avLst>
          </a:prstGeom>
          <a:solidFill>
            <a:schemeClr val="accent4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26" name="ret-23"/>
          <p:cNvSpPr/>
          <p:nvPr/>
        </p:nvSpPr>
        <p:spPr>
          <a:xfrm>
            <a:off x="10134295" y="1042416"/>
            <a:ext cx="118872" cy="118872"/>
          </a:xfrm>
          <a:prstGeom prst="roundRect">
            <a:avLst>
              <a:gd name="adj" fmla="val 11538"/>
            </a:avLst>
          </a:prstGeom>
          <a:solidFill>
            <a:schemeClr val="accent4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27" name="ret-24"/>
          <p:cNvSpPr/>
          <p:nvPr/>
        </p:nvSpPr>
        <p:spPr>
          <a:xfrm>
            <a:off x="10294315" y="1042416"/>
            <a:ext cx="118872" cy="118872"/>
          </a:xfrm>
          <a:prstGeom prst="roundRect">
            <a:avLst>
              <a:gd name="adj" fmla="val 11538"/>
            </a:avLst>
          </a:prstGeom>
          <a:solidFill>
            <a:schemeClr val="accent1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28" name="ret-25"/>
          <p:cNvSpPr/>
          <p:nvPr/>
        </p:nvSpPr>
        <p:spPr>
          <a:xfrm>
            <a:off x="10454335" y="1042416"/>
            <a:ext cx="118872" cy="118872"/>
          </a:xfrm>
          <a:prstGeom prst="roundRect">
            <a:avLst>
              <a:gd name="adj" fmla="val 11538"/>
            </a:avLst>
          </a:prstGeom>
          <a:solidFill>
            <a:schemeClr val="accent4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29" name="ret-26"/>
          <p:cNvSpPr/>
          <p:nvPr/>
        </p:nvSpPr>
        <p:spPr>
          <a:xfrm>
            <a:off x="10614355" y="1042416"/>
            <a:ext cx="118872" cy="118872"/>
          </a:xfrm>
          <a:prstGeom prst="roundRect">
            <a:avLst>
              <a:gd name="adj" fmla="val 11538"/>
            </a:avLst>
          </a:prstGeom>
          <a:solidFill>
            <a:schemeClr val="accent4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30" name="ret-27"/>
          <p:cNvSpPr/>
          <p:nvPr/>
        </p:nvSpPr>
        <p:spPr>
          <a:xfrm>
            <a:off x="10774375" y="1042416"/>
            <a:ext cx="118872" cy="118872"/>
          </a:xfrm>
          <a:prstGeom prst="roundRect">
            <a:avLst>
              <a:gd name="adj" fmla="val 11538"/>
            </a:avLst>
          </a:prstGeom>
          <a:solidFill>
            <a:schemeClr val="accent1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31" name="ret-28"/>
          <p:cNvSpPr/>
          <p:nvPr/>
        </p:nvSpPr>
        <p:spPr>
          <a:xfrm>
            <a:off x="10934395" y="1042416"/>
            <a:ext cx="118872" cy="118872"/>
          </a:xfrm>
          <a:prstGeom prst="roundRect">
            <a:avLst>
              <a:gd name="adj" fmla="val 11538"/>
            </a:avLst>
          </a:prstGeom>
          <a:solidFill>
            <a:schemeClr val="accent4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32" name="ret-29"/>
          <p:cNvSpPr/>
          <p:nvPr/>
        </p:nvSpPr>
        <p:spPr>
          <a:xfrm>
            <a:off x="11094415" y="1042416"/>
            <a:ext cx="118872" cy="118872"/>
          </a:xfrm>
          <a:prstGeom prst="roundRect">
            <a:avLst>
              <a:gd name="adj" fmla="val 11538"/>
            </a:avLst>
          </a:prstGeom>
          <a:solidFill>
            <a:schemeClr val="accent4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33" name="ret-30"/>
          <p:cNvSpPr/>
          <p:nvPr/>
        </p:nvSpPr>
        <p:spPr>
          <a:xfrm>
            <a:off x="11254435" y="1042416"/>
            <a:ext cx="118872" cy="118872"/>
          </a:xfrm>
          <a:prstGeom prst="roundRect">
            <a:avLst>
              <a:gd name="adj" fmla="val 11538"/>
            </a:avLst>
          </a:prstGeom>
          <a:solidFill>
            <a:schemeClr val="accent4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34" name="ret-31"/>
          <p:cNvSpPr/>
          <p:nvPr/>
        </p:nvSpPr>
        <p:spPr>
          <a:xfrm>
            <a:off x="11414455" y="1042416"/>
            <a:ext cx="118872" cy="118872"/>
          </a:xfrm>
          <a:prstGeom prst="roundRect">
            <a:avLst>
              <a:gd name="adj" fmla="val 11538"/>
            </a:avLst>
          </a:prstGeom>
          <a:solidFill>
            <a:schemeClr val="accent4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35" name="ret-32"/>
          <p:cNvSpPr/>
          <p:nvPr/>
        </p:nvSpPr>
        <p:spPr>
          <a:xfrm>
            <a:off x="9974275" y="1202436"/>
            <a:ext cx="118872" cy="118872"/>
          </a:xfrm>
          <a:prstGeom prst="roundRect">
            <a:avLst>
              <a:gd name="adj" fmla="val 11538"/>
            </a:avLst>
          </a:prstGeom>
          <a:solidFill>
            <a:schemeClr val="accent4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36" name="ret-33"/>
          <p:cNvSpPr/>
          <p:nvPr/>
        </p:nvSpPr>
        <p:spPr>
          <a:xfrm>
            <a:off x="10134295" y="1202436"/>
            <a:ext cx="118872" cy="118872"/>
          </a:xfrm>
          <a:prstGeom prst="roundRect">
            <a:avLst>
              <a:gd name="adj" fmla="val 11538"/>
            </a:avLst>
          </a:prstGeom>
          <a:solidFill>
            <a:schemeClr val="accent4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37" name="ret-34"/>
          <p:cNvSpPr/>
          <p:nvPr/>
        </p:nvSpPr>
        <p:spPr>
          <a:xfrm>
            <a:off x="10294315" y="1202436"/>
            <a:ext cx="118872" cy="118872"/>
          </a:xfrm>
          <a:prstGeom prst="roundRect">
            <a:avLst>
              <a:gd name="adj" fmla="val 11538"/>
            </a:avLst>
          </a:prstGeom>
          <a:solidFill>
            <a:schemeClr val="accent1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38" name="ret-35"/>
          <p:cNvSpPr/>
          <p:nvPr/>
        </p:nvSpPr>
        <p:spPr>
          <a:xfrm>
            <a:off x="10454335" y="1202436"/>
            <a:ext cx="118872" cy="118872"/>
          </a:xfrm>
          <a:prstGeom prst="roundRect">
            <a:avLst>
              <a:gd name="adj" fmla="val 11538"/>
            </a:avLst>
          </a:prstGeom>
          <a:solidFill>
            <a:schemeClr val="accent4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39" name="ret-36"/>
          <p:cNvSpPr/>
          <p:nvPr/>
        </p:nvSpPr>
        <p:spPr>
          <a:xfrm>
            <a:off x="10614355" y="1202436"/>
            <a:ext cx="118872" cy="118872"/>
          </a:xfrm>
          <a:prstGeom prst="roundRect">
            <a:avLst>
              <a:gd name="adj" fmla="val 11538"/>
            </a:avLst>
          </a:prstGeom>
          <a:solidFill>
            <a:schemeClr val="accent4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40" name="ret-37"/>
          <p:cNvSpPr/>
          <p:nvPr/>
        </p:nvSpPr>
        <p:spPr>
          <a:xfrm>
            <a:off x="10774375" y="1202436"/>
            <a:ext cx="118872" cy="118872"/>
          </a:xfrm>
          <a:prstGeom prst="roundRect">
            <a:avLst>
              <a:gd name="adj" fmla="val 11538"/>
            </a:avLst>
          </a:prstGeom>
          <a:solidFill>
            <a:schemeClr val="accent1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41" name="ret-38"/>
          <p:cNvSpPr/>
          <p:nvPr/>
        </p:nvSpPr>
        <p:spPr>
          <a:xfrm>
            <a:off x="10934395" y="1202436"/>
            <a:ext cx="118872" cy="118872"/>
          </a:xfrm>
          <a:prstGeom prst="roundRect">
            <a:avLst>
              <a:gd name="adj" fmla="val 11538"/>
            </a:avLst>
          </a:prstGeom>
          <a:solidFill>
            <a:schemeClr val="accent4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42" name="ret-39"/>
          <p:cNvSpPr/>
          <p:nvPr/>
        </p:nvSpPr>
        <p:spPr>
          <a:xfrm>
            <a:off x="11094415" y="1202436"/>
            <a:ext cx="118872" cy="118872"/>
          </a:xfrm>
          <a:prstGeom prst="roundRect">
            <a:avLst>
              <a:gd name="adj" fmla="val 11538"/>
            </a:avLst>
          </a:prstGeom>
          <a:solidFill>
            <a:schemeClr val="accent4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43" name="ret-40"/>
          <p:cNvSpPr/>
          <p:nvPr/>
        </p:nvSpPr>
        <p:spPr>
          <a:xfrm>
            <a:off x="11254435" y="1202436"/>
            <a:ext cx="118872" cy="118872"/>
          </a:xfrm>
          <a:prstGeom prst="roundRect">
            <a:avLst>
              <a:gd name="adj" fmla="val 11538"/>
            </a:avLst>
          </a:prstGeom>
          <a:solidFill>
            <a:schemeClr val="accent4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44" name="ret-41"/>
          <p:cNvSpPr/>
          <p:nvPr/>
        </p:nvSpPr>
        <p:spPr>
          <a:xfrm>
            <a:off x="11414455" y="1202436"/>
            <a:ext cx="118872" cy="118872"/>
          </a:xfrm>
          <a:prstGeom prst="roundRect">
            <a:avLst>
              <a:gd name="adj" fmla="val 11538"/>
            </a:avLst>
          </a:prstGeom>
          <a:solidFill>
            <a:schemeClr val="accent4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45" name="texto-42"/>
          <p:cNvSpPr txBox="1"/>
          <p:nvPr/>
        </p:nvSpPr>
        <p:spPr>
          <a:xfrm>
            <a:off x="9974275" y="1435608"/>
            <a:ext cx="18288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ct val="100000"/>
              </a:lnSpc>
              <a:buNone/>
            </a:pPr>
            <a:r>
              <a:rPr lang="en-US" sz="800" kern="0" spc="100" dirty="0">
                <a:solidFill>
                  <a:schemeClr val="tx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BLOCO 2</a:t>
            </a:r>
            <a:endParaRPr lang="en-US" sz="800" dirty="0"/>
          </a:p>
        </p:txBody>
      </p:sp>
      <p:sp>
        <p:nvSpPr>
          <p:cNvPr id="46" name="ret-43"/>
          <p:cNvSpPr/>
          <p:nvPr/>
        </p:nvSpPr>
        <p:spPr>
          <a:xfrm>
            <a:off x="9974275" y="1655064"/>
            <a:ext cx="118872" cy="118872"/>
          </a:xfrm>
          <a:prstGeom prst="roundRect">
            <a:avLst>
              <a:gd name="adj" fmla="val 11538"/>
            </a:avLst>
          </a:prstGeom>
          <a:solidFill>
            <a:schemeClr val="accent4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47" name="ret-44"/>
          <p:cNvSpPr/>
          <p:nvPr/>
        </p:nvSpPr>
        <p:spPr>
          <a:xfrm>
            <a:off x="10134295" y="1655064"/>
            <a:ext cx="118872" cy="118872"/>
          </a:xfrm>
          <a:prstGeom prst="roundRect">
            <a:avLst>
              <a:gd name="adj" fmla="val 11538"/>
            </a:avLst>
          </a:prstGeom>
          <a:solidFill>
            <a:schemeClr val="accent4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48" name="ret-45"/>
          <p:cNvSpPr/>
          <p:nvPr/>
        </p:nvSpPr>
        <p:spPr>
          <a:xfrm>
            <a:off x="10294315" y="1655064"/>
            <a:ext cx="118872" cy="118872"/>
          </a:xfrm>
          <a:prstGeom prst="roundRect">
            <a:avLst>
              <a:gd name="adj" fmla="val 11538"/>
            </a:avLst>
          </a:prstGeom>
          <a:solidFill>
            <a:schemeClr val="accent4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49" name="ret-46"/>
          <p:cNvSpPr/>
          <p:nvPr/>
        </p:nvSpPr>
        <p:spPr>
          <a:xfrm>
            <a:off x="10454335" y="1655064"/>
            <a:ext cx="118872" cy="118872"/>
          </a:xfrm>
          <a:prstGeom prst="roundRect">
            <a:avLst>
              <a:gd name="adj" fmla="val 11538"/>
            </a:avLst>
          </a:prstGeom>
          <a:solidFill>
            <a:schemeClr val="accent1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50" name="ret-47"/>
          <p:cNvSpPr/>
          <p:nvPr/>
        </p:nvSpPr>
        <p:spPr>
          <a:xfrm>
            <a:off x="10614355" y="1655064"/>
            <a:ext cx="118872" cy="118872"/>
          </a:xfrm>
          <a:prstGeom prst="roundRect">
            <a:avLst>
              <a:gd name="adj" fmla="val 11538"/>
            </a:avLst>
          </a:prstGeom>
          <a:solidFill>
            <a:schemeClr val="accent4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51" name="ret-48"/>
          <p:cNvSpPr/>
          <p:nvPr/>
        </p:nvSpPr>
        <p:spPr>
          <a:xfrm>
            <a:off x="10774375" y="1655064"/>
            <a:ext cx="118872" cy="118872"/>
          </a:xfrm>
          <a:prstGeom prst="roundRect">
            <a:avLst>
              <a:gd name="adj" fmla="val 11538"/>
            </a:avLst>
          </a:prstGeom>
          <a:solidFill>
            <a:schemeClr val="accent4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52" name="ret-49"/>
          <p:cNvSpPr/>
          <p:nvPr/>
        </p:nvSpPr>
        <p:spPr>
          <a:xfrm>
            <a:off x="10934395" y="1655064"/>
            <a:ext cx="118872" cy="118872"/>
          </a:xfrm>
          <a:prstGeom prst="roundRect">
            <a:avLst>
              <a:gd name="adj" fmla="val 11538"/>
            </a:avLst>
          </a:prstGeom>
          <a:solidFill>
            <a:schemeClr val="accent1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53" name="ret-50"/>
          <p:cNvSpPr/>
          <p:nvPr/>
        </p:nvSpPr>
        <p:spPr>
          <a:xfrm>
            <a:off x="11094415" y="1655064"/>
            <a:ext cx="118872" cy="118872"/>
          </a:xfrm>
          <a:prstGeom prst="roundRect">
            <a:avLst>
              <a:gd name="adj" fmla="val 11538"/>
            </a:avLst>
          </a:prstGeom>
          <a:solidFill>
            <a:schemeClr val="accent4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54" name="ret-51"/>
          <p:cNvSpPr/>
          <p:nvPr/>
        </p:nvSpPr>
        <p:spPr>
          <a:xfrm>
            <a:off x="11254435" y="1655064"/>
            <a:ext cx="118872" cy="118872"/>
          </a:xfrm>
          <a:prstGeom prst="roundRect">
            <a:avLst>
              <a:gd name="adj" fmla="val 11538"/>
            </a:avLst>
          </a:prstGeom>
          <a:solidFill>
            <a:schemeClr val="accent4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55" name="ret-52"/>
          <p:cNvSpPr/>
          <p:nvPr/>
        </p:nvSpPr>
        <p:spPr>
          <a:xfrm>
            <a:off x="11414455" y="1655064"/>
            <a:ext cx="118872" cy="118872"/>
          </a:xfrm>
          <a:prstGeom prst="roundRect">
            <a:avLst>
              <a:gd name="adj" fmla="val 11538"/>
            </a:avLst>
          </a:prstGeom>
          <a:solidFill>
            <a:schemeClr val="accent4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56" name="ret-53"/>
          <p:cNvSpPr/>
          <p:nvPr/>
        </p:nvSpPr>
        <p:spPr>
          <a:xfrm>
            <a:off x="9974275" y="1815084"/>
            <a:ext cx="118872" cy="118872"/>
          </a:xfrm>
          <a:prstGeom prst="roundRect">
            <a:avLst>
              <a:gd name="adj" fmla="val 11538"/>
            </a:avLst>
          </a:prstGeom>
          <a:solidFill>
            <a:schemeClr val="accent4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57" name="ret-54"/>
          <p:cNvSpPr/>
          <p:nvPr/>
        </p:nvSpPr>
        <p:spPr>
          <a:xfrm>
            <a:off x="10134295" y="1815084"/>
            <a:ext cx="118872" cy="118872"/>
          </a:xfrm>
          <a:prstGeom prst="roundRect">
            <a:avLst>
              <a:gd name="adj" fmla="val 11538"/>
            </a:avLst>
          </a:prstGeom>
          <a:solidFill>
            <a:schemeClr val="accent4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58" name="ret-55"/>
          <p:cNvSpPr/>
          <p:nvPr/>
        </p:nvSpPr>
        <p:spPr>
          <a:xfrm>
            <a:off x="10294315" y="1815084"/>
            <a:ext cx="118872" cy="118872"/>
          </a:xfrm>
          <a:prstGeom prst="roundRect">
            <a:avLst>
              <a:gd name="adj" fmla="val 11538"/>
            </a:avLst>
          </a:prstGeom>
          <a:solidFill>
            <a:schemeClr val="accent4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59" name="ret-56"/>
          <p:cNvSpPr/>
          <p:nvPr/>
        </p:nvSpPr>
        <p:spPr>
          <a:xfrm>
            <a:off x="10454335" y="1815084"/>
            <a:ext cx="118872" cy="118872"/>
          </a:xfrm>
          <a:prstGeom prst="roundRect">
            <a:avLst>
              <a:gd name="adj" fmla="val 11538"/>
            </a:avLst>
          </a:prstGeom>
          <a:solidFill>
            <a:schemeClr val="accent1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60" name="ret-57"/>
          <p:cNvSpPr/>
          <p:nvPr/>
        </p:nvSpPr>
        <p:spPr>
          <a:xfrm>
            <a:off x="10614355" y="1815084"/>
            <a:ext cx="118872" cy="118872"/>
          </a:xfrm>
          <a:prstGeom prst="roundRect">
            <a:avLst>
              <a:gd name="adj" fmla="val 11538"/>
            </a:avLst>
          </a:prstGeom>
          <a:solidFill>
            <a:schemeClr val="accent4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61" name="ret-58"/>
          <p:cNvSpPr/>
          <p:nvPr/>
        </p:nvSpPr>
        <p:spPr>
          <a:xfrm>
            <a:off x="10774375" y="1815084"/>
            <a:ext cx="118872" cy="118872"/>
          </a:xfrm>
          <a:prstGeom prst="roundRect">
            <a:avLst>
              <a:gd name="adj" fmla="val 11538"/>
            </a:avLst>
          </a:prstGeom>
          <a:solidFill>
            <a:schemeClr val="accent4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62" name="ret-59"/>
          <p:cNvSpPr/>
          <p:nvPr/>
        </p:nvSpPr>
        <p:spPr>
          <a:xfrm>
            <a:off x="10934395" y="1815084"/>
            <a:ext cx="118872" cy="118872"/>
          </a:xfrm>
          <a:prstGeom prst="roundRect">
            <a:avLst>
              <a:gd name="adj" fmla="val 11538"/>
            </a:avLst>
          </a:prstGeom>
          <a:solidFill>
            <a:schemeClr val="accent1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63" name="ret-60"/>
          <p:cNvSpPr/>
          <p:nvPr/>
        </p:nvSpPr>
        <p:spPr>
          <a:xfrm>
            <a:off x="11094415" y="1815084"/>
            <a:ext cx="118872" cy="118872"/>
          </a:xfrm>
          <a:prstGeom prst="roundRect">
            <a:avLst>
              <a:gd name="adj" fmla="val 11538"/>
            </a:avLst>
          </a:prstGeom>
          <a:solidFill>
            <a:schemeClr val="accent4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64" name="ret-61"/>
          <p:cNvSpPr/>
          <p:nvPr/>
        </p:nvSpPr>
        <p:spPr>
          <a:xfrm>
            <a:off x="11254435" y="1815084"/>
            <a:ext cx="118872" cy="118872"/>
          </a:xfrm>
          <a:prstGeom prst="roundRect">
            <a:avLst>
              <a:gd name="adj" fmla="val 11538"/>
            </a:avLst>
          </a:prstGeom>
          <a:solidFill>
            <a:schemeClr val="accent4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65" name="ret-62"/>
          <p:cNvSpPr/>
          <p:nvPr/>
        </p:nvSpPr>
        <p:spPr>
          <a:xfrm>
            <a:off x="11414455" y="1815084"/>
            <a:ext cx="118872" cy="118872"/>
          </a:xfrm>
          <a:prstGeom prst="roundRect">
            <a:avLst>
              <a:gd name="adj" fmla="val 11538"/>
            </a:avLst>
          </a:prstGeom>
          <a:solidFill>
            <a:schemeClr val="accent4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66" name="ret-63"/>
          <p:cNvSpPr/>
          <p:nvPr/>
        </p:nvSpPr>
        <p:spPr>
          <a:xfrm>
            <a:off x="9974275" y="1975104"/>
            <a:ext cx="118872" cy="118872"/>
          </a:xfrm>
          <a:prstGeom prst="roundRect">
            <a:avLst>
              <a:gd name="adj" fmla="val 11538"/>
            </a:avLst>
          </a:prstGeom>
          <a:solidFill>
            <a:schemeClr val="accent4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67" name="ret-64"/>
          <p:cNvSpPr/>
          <p:nvPr/>
        </p:nvSpPr>
        <p:spPr>
          <a:xfrm>
            <a:off x="10134295" y="1975104"/>
            <a:ext cx="118872" cy="118872"/>
          </a:xfrm>
          <a:prstGeom prst="roundRect">
            <a:avLst>
              <a:gd name="adj" fmla="val 11538"/>
            </a:avLst>
          </a:prstGeom>
          <a:solidFill>
            <a:schemeClr val="accent4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68" name="ret-65"/>
          <p:cNvSpPr/>
          <p:nvPr/>
        </p:nvSpPr>
        <p:spPr>
          <a:xfrm>
            <a:off x="10294315" y="1975104"/>
            <a:ext cx="118872" cy="118872"/>
          </a:xfrm>
          <a:prstGeom prst="roundRect">
            <a:avLst>
              <a:gd name="adj" fmla="val 11538"/>
            </a:avLst>
          </a:prstGeom>
          <a:solidFill>
            <a:schemeClr val="accent4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69" name="ret-66"/>
          <p:cNvSpPr/>
          <p:nvPr/>
        </p:nvSpPr>
        <p:spPr>
          <a:xfrm>
            <a:off x="10454335" y="1975104"/>
            <a:ext cx="118872" cy="118872"/>
          </a:xfrm>
          <a:prstGeom prst="roundRect">
            <a:avLst>
              <a:gd name="adj" fmla="val 11538"/>
            </a:avLst>
          </a:prstGeom>
          <a:solidFill>
            <a:schemeClr val="accent1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70" name="ret-67"/>
          <p:cNvSpPr/>
          <p:nvPr/>
        </p:nvSpPr>
        <p:spPr>
          <a:xfrm>
            <a:off x="10614355" y="1975104"/>
            <a:ext cx="118872" cy="118872"/>
          </a:xfrm>
          <a:prstGeom prst="roundRect">
            <a:avLst>
              <a:gd name="adj" fmla="val 11538"/>
            </a:avLst>
          </a:prstGeom>
          <a:solidFill>
            <a:schemeClr val="accent4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71" name="ret-68"/>
          <p:cNvSpPr/>
          <p:nvPr/>
        </p:nvSpPr>
        <p:spPr>
          <a:xfrm>
            <a:off x="10774375" y="1975104"/>
            <a:ext cx="118872" cy="118872"/>
          </a:xfrm>
          <a:prstGeom prst="roundRect">
            <a:avLst>
              <a:gd name="adj" fmla="val 11538"/>
            </a:avLst>
          </a:prstGeom>
          <a:solidFill>
            <a:schemeClr val="accent4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72" name="ret-69"/>
          <p:cNvSpPr/>
          <p:nvPr/>
        </p:nvSpPr>
        <p:spPr>
          <a:xfrm>
            <a:off x="10934395" y="1975104"/>
            <a:ext cx="118872" cy="118872"/>
          </a:xfrm>
          <a:prstGeom prst="roundRect">
            <a:avLst>
              <a:gd name="adj" fmla="val 11538"/>
            </a:avLst>
          </a:prstGeom>
          <a:solidFill>
            <a:schemeClr val="accent1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73" name="ret-70"/>
          <p:cNvSpPr/>
          <p:nvPr/>
        </p:nvSpPr>
        <p:spPr>
          <a:xfrm>
            <a:off x="11094415" y="1975104"/>
            <a:ext cx="118872" cy="118872"/>
          </a:xfrm>
          <a:prstGeom prst="roundRect">
            <a:avLst>
              <a:gd name="adj" fmla="val 11538"/>
            </a:avLst>
          </a:prstGeom>
          <a:solidFill>
            <a:schemeClr val="accent4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74" name="ret-71"/>
          <p:cNvSpPr/>
          <p:nvPr/>
        </p:nvSpPr>
        <p:spPr>
          <a:xfrm>
            <a:off x="11254435" y="1975104"/>
            <a:ext cx="118872" cy="118872"/>
          </a:xfrm>
          <a:prstGeom prst="roundRect">
            <a:avLst>
              <a:gd name="adj" fmla="val 11538"/>
            </a:avLst>
          </a:prstGeom>
          <a:solidFill>
            <a:schemeClr val="accent4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75" name="ret-72"/>
          <p:cNvSpPr/>
          <p:nvPr/>
        </p:nvSpPr>
        <p:spPr>
          <a:xfrm>
            <a:off x="11414455" y="1975104"/>
            <a:ext cx="118872" cy="118872"/>
          </a:xfrm>
          <a:prstGeom prst="roundRect">
            <a:avLst>
              <a:gd name="adj" fmla="val 11538"/>
            </a:avLst>
          </a:prstGeom>
          <a:solidFill>
            <a:schemeClr val="accent4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76" name="ret-73"/>
          <p:cNvSpPr/>
          <p:nvPr/>
        </p:nvSpPr>
        <p:spPr>
          <a:xfrm>
            <a:off x="9974275" y="2135124"/>
            <a:ext cx="118872" cy="118872"/>
          </a:xfrm>
          <a:prstGeom prst="roundRect">
            <a:avLst>
              <a:gd name="adj" fmla="val 11538"/>
            </a:avLst>
          </a:prstGeom>
          <a:solidFill>
            <a:schemeClr val="accent4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77" name="ret-74"/>
          <p:cNvSpPr/>
          <p:nvPr/>
        </p:nvSpPr>
        <p:spPr>
          <a:xfrm>
            <a:off x="10134295" y="2135124"/>
            <a:ext cx="118872" cy="118872"/>
          </a:xfrm>
          <a:prstGeom prst="roundRect">
            <a:avLst>
              <a:gd name="adj" fmla="val 11538"/>
            </a:avLst>
          </a:prstGeom>
          <a:solidFill>
            <a:schemeClr val="accent4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78" name="ret-75"/>
          <p:cNvSpPr/>
          <p:nvPr/>
        </p:nvSpPr>
        <p:spPr>
          <a:xfrm>
            <a:off x="10294315" y="2135124"/>
            <a:ext cx="118872" cy="118872"/>
          </a:xfrm>
          <a:prstGeom prst="roundRect">
            <a:avLst>
              <a:gd name="adj" fmla="val 11538"/>
            </a:avLst>
          </a:prstGeom>
          <a:solidFill>
            <a:schemeClr val="accent4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79" name="ret-76"/>
          <p:cNvSpPr/>
          <p:nvPr/>
        </p:nvSpPr>
        <p:spPr>
          <a:xfrm>
            <a:off x="10454335" y="2135124"/>
            <a:ext cx="118872" cy="118872"/>
          </a:xfrm>
          <a:prstGeom prst="roundRect">
            <a:avLst>
              <a:gd name="adj" fmla="val 11538"/>
            </a:avLst>
          </a:prstGeom>
          <a:solidFill>
            <a:schemeClr val="accent1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80" name="ret-77"/>
          <p:cNvSpPr/>
          <p:nvPr/>
        </p:nvSpPr>
        <p:spPr>
          <a:xfrm>
            <a:off x="10614355" y="2135124"/>
            <a:ext cx="118872" cy="118872"/>
          </a:xfrm>
          <a:prstGeom prst="roundRect">
            <a:avLst>
              <a:gd name="adj" fmla="val 11538"/>
            </a:avLst>
          </a:prstGeom>
          <a:solidFill>
            <a:schemeClr val="accent4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81" name="ret-78"/>
          <p:cNvSpPr/>
          <p:nvPr/>
        </p:nvSpPr>
        <p:spPr>
          <a:xfrm>
            <a:off x="10774375" y="2135124"/>
            <a:ext cx="118872" cy="118872"/>
          </a:xfrm>
          <a:prstGeom prst="roundRect">
            <a:avLst>
              <a:gd name="adj" fmla="val 11538"/>
            </a:avLst>
          </a:prstGeom>
          <a:solidFill>
            <a:schemeClr val="accent4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82" name="ret-79"/>
          <p:cNvSpPr/>
          <p:nvPr/>
        </p:nvSpPr>
        <p:spPr>
          <a:xfrm>
            <a:off x="10934395" y="2135124"/>
            <a:ext cx="118872" cy="118872"/>
          </a:xfrm>
          <a:prstGeom prst="roundRect">
            <a:avLst>
              <a:gd name="adj" fmla="val 11538"/>
            </a:avLst>
          </a:prstGeom>
          <a:solidFill>
            <a:schemeClr val="accent1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83" name="ret-80"/>
          <p:cNvSpPr/>
          <p:nvPr/>
        </p:nvSpPr>
        <p:spPr>
          <a:xfrm>
            <a:off x="11094415" y="2135124"/>
            <a:ext cx="118872" cy="118872"/>
          </a:xfrm>
          <a:prstGeom prst="roundRect">
            <a:avLst>
              <a:gd name="adj" fmla="val 11538"/>
            </a:avLst>
          </a:prstGeom>
          <a:solidFill>
            <a:schemeClr val="accent4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84" name="ret-81"/>
          <p:cNvSpPr/>
          <p:nvPr/>
        </p:nvSpPr>
        <p:spPr>
          <a:xfrm>
            <a:off x="11254435" y="2135124"/>
            <a:ext cx="118872" cy="118872"/>
          </a:xfrm>
          <a:prstGeom prst="roundRect">
            <a:avLst>
              <a:gd name="adj" fmla="val 11538"/>
            </a:avLst>
          </a:prstGeom>
          <a:solidFill>
            <a:schemeClr val="accent4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85" name="ret-82"/>
          <p:cNvSpPr/>
          <p:nvPr/>
        </p:nvSpPr>
        <p:spPr>
          <a:xfrm>
            <a:off x="11414455" y="2135124"/>
            <a:ext cx="118872" cy="118872"/>
          </a:xfrm>
          <a:prstGeom prst="roundRect">
            <a:avLst>
              <a:gd name="adj" fmla="val 11538"/>
            </a:avLst>
          </a:prstGeom>
          <a:solidFill>
            <a:schemeClr val="accent4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86" name="texto-83"/>
          <p:cNvSpPr txBox="1"/>
          <p:nvPr/>
        </p:nvSpPr>
        <p:spPr>
          <a:xfrm>
            <a:off x="658368" y="1874520"/>
            <a:ext cx="73152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ct val="100000"/>
              </a:lnSpc>
              <a:buNone/>
            </a:pPr>
            <a:endParaRPr lang="en-US" sz="1800" dirty="0"/>
          </a:p>
        </p:txBody>
      </p:sp>
      <p:sp>
        <p:nvSpPr>
          <p:cNvPr id="87" name="texto-84"/>
          <p:cNvSpPr txBox="1"/>
          <p:nvPr/>
        </p:nvSpPr>
        <p:spPr>
          <a:xfrm>
            <a:off x="658368" y="3727704"/>
            <a:ext cx="10515600" cy="262459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ct val="105000"/>
              </a:lnSpc>
              <a:buNone/>
            </a:pPr>
            <a:r>
              <a:rPr lang="en-US" sz="1500" b="1" dirty="0">
                <a:solidFill>
                  <a:schemeClr val="tx2"/>
                </a:solidFill>
              </a:rPr>
              <a:t>Carga:</a:t>
            </a:r>
            <a:r>
              <a:rPr lang="en-US" sz="1500" dirty="0">
                <a:solidFill>
                  <a:schemeClr val="tx2"/>
                </a:solidFill>
              </a:rPr>
              <a:t> 2 h · </a:t>
            </a:r>
            <a:r>
              <a:rPr lang="en-US" sz="1500" b="1" dirty="0">
                <a:solidFill>
                  <a:schemeClr val="tx2"/>
                </a:solidFill>
              </a:rPr>
              <a:t>Prática:</a:t>
            </a:r>
            <a:r>
              <a:rPr lang="en-US" sz="1500" dirty="0">
                <a:solidFill>
                  <a:schemeClr val="tx2"/>
                </a:solidFill>
              </a:rPr>
              <a:t> </a:t>
            </a:r>
            <a:r>
              <a:rPr lang="en-US" sz="1380" dirty="0">
                <a:solidFill>
                  <a:schemeClr val="tx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caderno.md</a:t>
            </a:r>
            <a:r>
              <a:rPr lang="en-US" sz="1500" dirty="0">
                <a:solidFill>
                  <a:schemeClr val="tx2"/>
                </a:solidFill>
              </a:rPr>
              <a:t> · </a:t>
            </a:r>
            <a:r>
              <a:rPr lang="en-US" sz="1500" b="1" dirty="0">
                <a:solidFill>
                  <a:schemeClr val="tx2"/>
                </a:solidFill>
              </a:rPr>
              <a:t>Projeto:</a:t>
            </a:r>
            <a:r>
              <a:rPr lang="en-US" sz="1500" dirty="0">
                <a:solidFill>
                  <a:schemeClr val="tx2"/>
                </a:solidFill>
              </a:rPr>
              <a:t> </a:t>
            </a:r>
            <a:r>
              <a:rPr lang="en-US" sz="1380" dirty="0" err="1">
                <a:solidFill>
                  <a:schemeClr val="tx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modelos</a:t>
            </a:r>
            <a:r>
              <a:rPr lang="en-US" sz="1380" dirty="0">
                <a:solidFill>
                  <a:schemeClr val="tx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/projeto-analise</a:t>
            </a:r>
            <a:endParaRPr lang="en-US" sz="1500" dirty="0"/>
          </a:p>
        </p:txBody>
      </p:sp>
      <p:sp>
        <p:nvSpPr>
          <p:cNvPr id="88" name="ret-85"/>
          <p:cNvSpPr/>
          <p:nvPr/>
        </p:nvSpPr>
        <p:spPr>
          <a:xfrm>
            <a:off x="658368" y="4856086"/>
            <a:ext cx="10515600" cy="1316114"/>
          </a:xfrm>
          <a:prstGeom prst="roundRect">
            <a:avLst>
              <a:gd name="adj" fmla="val 5558"/>
            </a:avLst>
          </a:prstGeom>
          <a:solidFill>
            <a:schemeClr val="accent6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89" name="texto-86"/>
          <p:cNvSpPr txBox="1"/>
          <p:nvPr/>
        </p:nvSpPr>
        <p:spPr>
          <a:xfrm>
            <a:off x="886968" y="4993246"/>
            <a:ext cx="10104120" cy="106008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ct val="105000"/>
              </a:lnSpc>
              <a:buNone/>
            </a:pPr>
            <a:r>
              <a:rPr lang="en-US" sz="1600" b="1" dirty="0">
                <a:solidFill>
                  <a:schemeClr val="tx1"/>
                </a:solidFill>
              </a:rPr>
              <a:t>Fio condutor:</a:t>
            </a:r>
            <a:r>
              <a:rPr lang="en-US" sz="1600" dirty="0">
                <a:solidFill>
                  <a:schemeClr val="tx1"/>
                </a:solidFill>
              </a:rPr>
              <a:t> nenhum modelo, por mais sofisticado, corrige um dado mal identificado, mal medido ou mal organizado. Antes de usar IA, o programa precisa de dados </a:t>
            </a:r>
            <a:r>
              <a:rPr lang="en-US" sz="1600" b="1" dirty="0">
                <a:solidFill>
                  <a:schemeClr val="tx1"/>
                </a:solidFill>
              </a:rPr>
              <a:t>consultáveis</a:t>
            </a:r>
            <a:r>
              <a:rPr lang="en-US" sz="1600" dirty="0">
                <a:solidFill>
                  <a:schemeClr val="tx1"/>
                </a:solidFill>
              </a:rPr>
              <a:t> (banco e SQL), </a:t>
            </a:r>
            <a:r>
              <a:rPr lang="en-US" sz="1600" b="1" dirty="0">
                <a:solidFill>
                  <a:schemeClr val="tx1"/>
                </a:solidFill>
              </a:rPr>
              <a:t>confiáveis</a:t>
            </a:r>
            <a:r>
              <a:rPr lang="en-US" sz="1600" dirty="0">
                <a:solidFill>
                  <a:schemeClr val="tx1"/>
                </a:solidFill>
              </a:rPr>
              <a:t> (QA/QC), </a:t>
            </a:r>
            <a:r>
              <a:rPr lang="en-US" sz="1600" b="1" dirty="0">
                <a:solidFill>
                  <a:schemeClr val="tx1"/>
                </a:solidFill>
              </a:rPr>
              <a:t>consistentes e curados</a:t>
            </a:r>
            <a:r>
              <a:rPr lang="en-US" sz="1600" dirty="0">
                <a:solidFill>
                  <a:schemeClr val="tx1"/>
                </a:solidFill>
              </a:rPr>
              <a:t>, guardados em uma </a:t>
            </a:r>
            <a:r>
              <a:rPr lang="en-US" sz="1600" b="1" dirty="0">
                <a:solidFill>
                  <a:schemeClr val="tx1"/>
                </a:solidFill>
              </a:rPr>
              <a:t>pasta de análise organizada</a:t>
            </a:r>
            <a:r>
              <a:rPr lang="en-US" sz="1600" dirty="0">
                <a:solidFill>
                  <a:schemeClr val="tx1"/>
                </a:solidFill>
              </a:rPr>
              <a:t>, que é também o contexto que o Claude Code vai ler.</a:t>
            </a:r>
            <a:endParaRPr lang="en-US" sz="16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>
            <a:spLocks noGrp="1"/>
          </p:cNvSpPr>
          <p:nvPr>
            <p:ph type="title" idx="100" hasCustomPrompt="1"/>
          </p:nvPr>
        </p:nvSpPr>
        <p:spPr>
          <a:xfrm>
            <a:off x="566928" y="384048"/>
            <a:ext cx="11057839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buNone/>
            </a:pPr>
            <a:r>
              <a:rPr lang="en-US" sz="2800" b="1" dirty="0">
                <a:solidFill>
                  <a:schemeClr val="tx1"/>
                </a:solidFill>
              </a:rPr>
              <a:t>Roteiro da seção</a:t>
            </a:r>
            <a:endParaRPr lang="en-US" sz="2800" dirty="0"/>
          </a:p>
        </p:txBody>
      </p:sp>
      <p:graphicFrame>
        <p:nvGraphicFramePr>
          <p:cNvPr id="3" name="tabela-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66928" y="1085240"/>
          <a:ext cx="11057838" cy="2508800"/>
        </p:xfrm>
        <a:graphic>
          <a:graphicData uri="http://schemas.openxmlformats.org/drawingml/2006/table">
            <a:tbl>
              <a:tblPr/>
              <a:tblGrid>
                <a:gridCol w="1218605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8410775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1428458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</a:tblGrid>
              <a:tr h="358400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722" b="1" dirty="0">
                          <a:solidFill>
                            <a:schemeClr val="tx1"/>
                          </a:solidFill>
                        </a:rPr>
                        <a:t>Bloco</a:t>
                      </a:r>
                      <a:endParaRPr lang="en-US" sz="1722" dirty="0"/>
                    </a:p>
                  </a:txBody>
                  <a:tcPr marL="73152" marR="73152" marT="32004" marB="32004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9050" cap="flat" cmpd="sng" algn="ctr">
                      <a:solidFill>
                        <a:srgbClr val="A6E35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722" b="1" dirty="0">
                          <a:solidFill>
                            <a:schemeClr val="tx1"/>
                          </a:solidFill>
                        </a:rPr>
                        <a:t>Tema</a:t>
                      </a:r>
                      <a:endParaRPr lang="en-US" sz="1722" dirty="0"/>
                    </a:p>
                  </a:txBody>
                  <a:tcPr marL="73152" marR="73152" marT="32004" marB="32004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9050" cap="flat" cmpd="sng" algn="ctr">
                      <a:solidFill>
                        <a:srgbClr val="A6E35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722" b="1" dirty="0">
                          <a:solidFill>
                            <a:schemeClr val="tx1"/>
                          </a:solidFill>
                        </a:rPr>
                        <a:t>Tempo</a:t>
                      </a:r>
                      <a:endParaRPr lang="en-US" sz="1722" dirty="0"/>
                    </a:p>
                  </a:txBody>
                  <a:tcPr marL="73152" marR="73152" marT="32004" marB="32004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9050" cap="flat" cmpd="sng" algn="ctr">
                      <a:solidFill>
                        <a:srgbClr val="A6E35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358400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722" dirty="0">
                          <a:solidFill>
                            <a:schemeClr val="tx1"/>
                          </a:solidFill>
                        </a:rPr>
                        <a:t>1</a:t>
                      </a:r>
                      <a:endParaRPr lang="en-US" sz="1722" dirty="0"/>
                    </a:p>
                  </a:txBody>
                  <a:tcPr marL="73152" marR="73152" marT="32004" marB="32004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19050" cap="flat" cmpd="sng" algn="ctr">
                      <a:solidFill>
                        <a:srgbClr val="A6E35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1D3A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722" dirty="0">
                          <a:solidFill>
                            <a:schemeClr val="tx1"/>
                          </a:solidFill>
                        </a:rPr>
                        <a:t>Por que os dados vêm antes da IA</a:t>
                      </a:r>
                      <a:endParaRPr lang="en-US" sz="1722" dirty="0"/>
                    </a:p>
                  </a:txBody>
                  <a:tcPr marL="73152" marR="73152" marT="32004" marB="32004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19050" cap="flat" cmpd="sng" algn="ctr">
                      <a:solidFill>
                        <a:srgbClr val="A6E35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1D3A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722" dirty="0">
                          <a:solidFill>
                            <a:schemeClr val="tx1"/>
                          </a:solidFill>
                        </a:rPr>
                        <a:t>15 min</a:t>
                      </a:r>
                      <a:endParaRPr lang="en-US" sz="1722" dirty="0"/>
                    </a:p>
                  </a:txBody>
                  <a:tcPr marL="73152" marR="73152" marT="32004" marB="32004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19050" cap="flat" cmpd="sng" algn="ctr">
                      <a:solidFill>
                        <a:srgbClr val="A6E35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1D3A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358400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722" dirty="0">
                          <a:solidFill>
                            <a:schemeClr val="tx1"/>
                          </a:solidFill>
                        </a:rPr>
                        <a:t>2</a:t>
                      </a:r>
                      <a:endParaRPr lang="en-US" sz="1722" dirty="0"/>
                    </a:p>
                  </a:txBody>
                  <a:tcPr marL="73152" marR="73152" marT="32004" marB="32004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9525" cap="flat" cmpd="sng" algn="ctr">
                      <a:solidFill>
                        <a:srgbClr val="1D3A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1D3A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722" dirty="0">
                          <a:solidFill>
                            <a:schemeClr val="tx1"/>
                          </a:solidFill>
                        </a:rPr>
                        <a:t>Bancos de dados relacionais e a linguagem SQL</a:t>
                      </a:r>
                      <a:endParaRPr lang="en-US" sz="1722" dirty="0"/>
                    </a:p>
                  </a:txBody>
                  <a:tcPr marL="73152" marR="73152" marT="32004" marB="32004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9525" cap="flat" cmpd="sng" algn="ctr">
                      <a:solidFill>
                        <a:srgbClr val="1D3A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1D3A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722" dirty="0">
                          <a:solidFill>
                            <a:schemeClr val="tx1"/>
                          </a:solidFill>
                        </a:rPr>
                        <a:t>35 min</a:t>
                      </a:r>
                      <a:endParaRPr lang="en-US" sz="1722" dirty="0"/>
                    </a:p>
                  </a:txBody>
                  <a:tcPr marL="73152" marR="73152" marT="32004" marB="32004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9525" cap="flat" cmpd="sng" algn="ctr">
                      <a:solidFill>
                        <a:srgbClr val="1D3A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1D3A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358400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722" dirty="0">
                          <a:solidFill>
                            <a:schemeClr val="tx1"/>
                          </a:solidFill>
                        </a:rPr>
                        <a:t>3</a:t>
                      </a:r>
                      <a:endParaRPr lang="en-US" sz="1722" dirty="0"/>
                    </a:p>
                  </a:txBody>
                  <a:tcPr marL="73152" marR="73152" marT="32004" marB="32004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9525" cap="flat" cmpd="sng" algn="ctr">
                      <a:solidFill>
                        <a:srgbClr val="1D3A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1D3A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722" dirty="0">
                          <a:solidFill>
                            <a:schemeClr val="tx1"/>
                          </a:solidFill>
                        </a:rPr>
                        <a:t>QA/QC: garantir e controlar a qualidade</a:t>
                      </a:r>
                      <a:endParaRPr lang="en-US" sz="1722" dirty="0"/>
                    </a:p>
                  </a:txBody>
                  <a:tcPr marL="73152" marR="73152" marT="32004" marB="32004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9525" cap="flat" cmpd="sng" algn="ctr">
                      <a:solidFill>
                        <a:srgbClr val="1D3A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1D3A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722" dirty="0">
                          <a:solidFill>
                            <a:schemeClr val="tx1"/>
                          </a:solidFill>
                        </a:rPr>
                        <a:t>30 min</a:t>
                      </a:r>
                      <a:endParaRPr lang="en-US" sz="1722" dirty="0"/>
                    </a:p>
                  </a:txBody>
                  <a:tcPr marL="73152" marR="73152" marT="32004" marB="32004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9525" cap="flat" cmpd="sng" algn="ctr">
                      <a:solidFill>
                        <a:srgbClr val="1D3A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1D3A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358400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722" dirty="0">
                          <a:solidFill>
                            <a:schemeClr val="tx1"/>
                          </a:solidFill>
                        </a:rPr>
                        <a:t>4</a:t>
                      </a:r>
                      <a:endParaRPr lang="en-US" sz="1722" dirty="0"/>
                    </a:p>
                  </a:txBody>
                  <a:tcPr marL="73152" marR="73152" marT="32004" marB="32004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9525" cap="flat" cmpd="sng" algn="ctr">
                      <a:solidFill>
                        <a:srgbClr val="1D3A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1D3A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722" dirty="0">
                          <a:solidFill>
                            <a:schemeClr val="tx1"/>
                          </a:solidFill>
                        </a:rPr>
                        <a:t>Consistência e curadoria</a:t>
                      </a:r>
                      <a:endParaRPr lang="en-US" sz="1722" dirty="0"/>
                    </a:p>
                  </a:txBody>
                  <a:tcPr marL="73152" marR="73152" marT="32004" marB="32004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9525" cap="flat" cmpd="sng" algn="ctr">
                      <a:solidFill>
                        <a:srgbClr val="1D3A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1D3A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722" dirty="0">
                          <a:solidFill>
                            <a:schemeClr val="tx1"/>
                          </a:solidFill>
                        </a:rPr>
                        <a:t>15 min</a:t>
                      </a:r>
                      <a:endParaRPr lang="en-US" sz="1722" dirty="0"/>
                    </a:p>
                  </a:txBody>
                  <a:tcPr marL="73152" marR="73152" marT="32004" marB="32004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9525" cap="flat" cmpd="sng" algn="ctr">
                      <a:solidFill>
                        <a:srgbClr val="1D3A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1D3A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358400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722" dirty="0">
                          <a:solidFill>
                            <a:schemeClr val="tx1"/>
                          </a:solidFill>
                        </a:rPr>
                        <a:t>5</a:t>
                      </a:r>
                      <a:endParaRPr lang="en-US" sz="1722" dirty="0"/>
                    </a:p>
                  </a:txBody>
                  <a:tcPr marL="73152" marR="73152" marT="32004" marB="32004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9525" cap="flat" cmpd="sng" algn="ctr">
                      <a:solidFill>
                        <a:srgbClr val="1D3A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1D3A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722" dirty="0">
                          <a:solidFill>
                            <a:schemeClr val="tx1"/>
                          </a:solidFill>
                        </a:rPr>
                        <a:t>A pasta de análise como projeto do Claude Code</a:t>
                      </a:r>
                      <a:endParaRPr lang="en-US" sz="1722" dirty="0"/>
                    </a:p>
                  </a:txBody>
                  <a:tcPr marL="73152" marR="73152" marT="32004" marB="32004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9525" cap="flat" cmpd="sng" algn="ctr">
                      <a:solidFill>
                        <a:srgbClr val="1D3A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1D3A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722" dirty="0">
                          <a:solidFill>
                            <a:schemeClr val="tx1"/>
                          </a:solidFill>
                        </a:rPr>
                        <a:t>20 min</a:t>
                      </a:r>
                      <a:endParaRPr lang="en-US" sz="1722" dirty="0"/>
                    </a:p>
                  </a:txBody>
                  <a:tcPr marL="73152" marR="73152" marT="32004" marB="32004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9525" cap="flat" cmpd="sng" algn="ctr">
                      <a:solidFill>
                        <a:srgbClr val="1D3A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1D3A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  <a:tr h="358400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722" dirty="0">
                          <a:solidFill>
                            <a:schemeClr val="tx1"/>
                          </a:solidFill>
                        </a:rPr>
                        <a:t>6</a:t>
                      </a:r>
                      <a:endParaRPr lang="en-US" sz="1722" dirty="0"/>
                    </a:p>
                  </a:txBody>
                  <a:tcPr marL="73152" marR="73152" marT="32004" marB="32004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9525" cap="flat" cmpd="sng" algn="ctr">
                      <a:solidFill>
                        <a:srgbClr val="1D3A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0" cap="flat" cmpd="sng" algn="ctr"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722" dirty="0">
                          <a:solidFill>
                            <a:schemeClr val="tx1"/>
                          </a:solidFill>
                        </a:rPr>
                        <a:t>Síntese e tarefa</a:t>
                      </a:r>
                      <a:endParaRPr lang="en-US" sz="1722" dirty="0"/>
                    </a:p>
                  </a:txBody>
                  <a:tcPr marL="73152" marR="73152" marT="32004" marB="32004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9525" cap="flat" cmpd="sng" algn="ctr">
                      <a:solidFill>
                        <a:srgbClr val="1D3A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0" cap="flat" cmpd="sng" algn="ctr"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722" dirty="0">
                          <a:solidFill>
                            <a:schemeClr val="tx1"/>
                          </a:solidFill>
                        </a:rPr>
                        <a:t>5 min</a:t>
                      </a:r>
                      <a:endParaRPr lang="en-US" sz="1722" dirty="0"/>
                    </a:p>
                  </a:txBody>
                  <a:tcPr marL="73152" marR="73152" marT="32004" marB="32004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9525" cap="flat" cmpd="sng" algn="ctr">
                      <a:solidFill>
                        <a:srgbClr val="1D3A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0" cap="flat" cmpd="sng" algn="ctr">
                      <a:noFill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6"/>
                  </a:ext>
                </a:extLst>
              </a:tr>
            </a:tbl>
          </a:graphicData>
        </a:graphic>
      </p:graphicFrame>
      <p:sp>
        <p:nvSpPr>
          <p:cNvPr id="4" name="rodape"/>
          <p:cNvSpPr txBox="1"/>
          <p:nvPr/>
        </p:nvSpPr>
        <p:spPr>
          <a:xfrm>
            <a:off x="566928" y="640080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50" kern="0" spc="100" dirty="0">
                <a:solidFill>
                  <a:schemeClr val="tx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SEÇÃO 1 · ROTEIRO</a:t>
            </a:r>
            <a:endParaRPr lang="en-US" sz="95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527487" y="6400800"/>
            <a:ext cx="109728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xmlns="" val="0"/>
            </a:ext>
          </a:extLst>
        </p:spPr>
        <p:txBody>
          <a:bodyPr lIns="0" tIns="0" rIns="0" bIns="0"/>
          <a:lstStyle>
            <a:lvl1pPr>
              <a:defRPr sz="1000">
                <a:solidFill>
                  <a:srgbClr val="8FA9A3"/>
                </a:solidFill>
                <a:latin typeface="Courier New"/>
                <a:ea typeface="Courier New"/>
                <a:cs typeface="Courier New"/>
              </a:defRPr>
            </a:lvl1pPr>
          </a:lstStyle>
          <a:p>
            <a:pPr algn="r"/>
            <a:fld id="{F7021451-1387-4CA6-816F-3879F97B5CBC}" type="slidenum">
              <a:rPr lang="en-US" b="0"/>
              <a:t>2</a:t>
            </a:fld>
            <a:endParaRPr lang="en-US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>
            <a:spLocks noGrp="1"/>
          </p:cNvSpPr>
          <p:nvPr>
            <p:ph type="title" idx="100" hasCustomPrompt="1"/>
          </p:nvPr>
        </p:nvSpPr>
        <p:spPr>
          <a:xfrm>
            <a:off x="914400" y="2560320"/>
            <a:ext cx="9875520" cy="1828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buNone/>
            </a:pPr>
            <a:r>
              <a:rPr lang="en-US" sz="4600" b="1" dirty="0">
                <a:solidFill>
                  <a:schemeClr val="tx1"/>
                </a:solidFill>
              </a:rPr>
              <a:t>Por que os dados vêm antes da IA</a:t>
            </a:r>
            <a:endParaRPr lang="en-US" sz="4600" dirty="0"/>
          </a:p>
        </p:txBody>
      </p:sp>
      <p:sp>
        <p:nvSpPr>
          <p:cNvPr id="3" name="texto-0"/>
          <p:cNvSpPr txBox="1"/>
          <p:nvPr/>
        </p:nvSpPr>
        <p:spPr>
          <a:xfrm>
            <a:off x="914400" y="4572000"/>
            <a:ext cx="5486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ct val="100000"/>
              </a:lnSpc>
              <a:buNone/>
            </a:pPr>
            <a:r>
              <a:rPr lang="en-US" sz="1800" dirty="0">
                <a:solidFill>
                  <a:srgbClr val="B9CFC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15 min</a:t>
            </a:r>
            <a:endParaRPr lang="en-US" sz="1800" dirty="0"/>
          </a:p>
        </p:txBody>
      </p:sp>
      <p:sp>
        <p:nvSpPr>
          <p:cNvPr id="4" name="texto-1"/>
          <p:cNvSpPr txBox="1"/>
          <p:nvPr/>
        </p:nvSpPr>
        <p:spPr>
          <a:xfrm>
            <a:off x="914400" y="2148840"/>
            <a:ext cx="73152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ct val="100000"/>
              </a:lnSpc>
              <a:buNone/>
            </a:pPr>
            <a:r>
              <a:rPr lang="en-US" sz="1800" kern="0" spc="300" dirty="0">
                <a:solidFill>
                  <a:schemeClr val="accent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BLOCO 1</a:t>
            </a:r>
            <a:endParaRPr lang="en-US" sz="1800" dirty="0"/>
          </a:p>
        </p:txBody>
      </p:sp>
      <p:sp>
        <p:nvSpPr>
          <p:cNvPr id="5" name="rodape"/>
          <p:cNvSpPr txBox="1"/>
          <p:nvPr/>
        </p:nvSpPr>
        <p:spPr>
          <a:xfrm>
            <a:off x="566928" y="640080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50" kern="0" spc="100" dirty="0">
                <a:solidFill>
                  <a:srgbClr val="B9CFC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SEÇÃO 1 · BLOCO 1</a:t>
            </a:r>
            <a:endParaRPr lang="en-US" sz="95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527487" y="6400800"/>
            <a:ext cx="109728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xmlns="" val="0"/>
            </a:ext>
          </a:extLst>
        </p:spPr>
        <p:txBody>
          <a:bodyPr lIns="0" tIns="0" rIns="0" bIns="0"/>
          <a:lstStyle>
            <a:lvl1pPr>
              <a:defRPr sz="1000">
                <a:solidFill>
                  <a:srgbClr val="B9CFC6"/>
                </a:solidFill>
                <a:latin typeface="Courier New"/>
                <a:ea typeface="Courier New"/>
                <a:cs typeface="Courier New"/>
              </a:defRPr>
            </a:lvl1pPr>
          </a:lstStyle>
          <a:p>
            <a:pPr algn="r"/>
            <a:fld id="{F7021451-1387-4CA6-816F-3879F97B5CBC}" type="slidenum">
              <a:rPr lang="en-US" b="0"/>
              <a:t>3</a:t>
            </a:fld>
            <a:endParaRPr lang="en-US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>
            <a:spLocks noGrp="1"/>
          </p:cNvSpPr>
          <p:nvPr>
            <p:ph type="title" idx="100" hasCustomPrompt="1"/>
          </p:nvPr>
        </p:nvSpPr>
        <p:spPr>
          <a:xfrm>
            <a:off x="566928" y="384048"/>
            <a:ext cx="11057839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buNone/>
            </a:pPr>
            <a:r>
              <a:rPr lang="en-US" sz="1900" b="1" dirty="0">
                <a:solidFill>
                  <a:schemeClr val="accent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1.1   </a:t>
            </a:r>
            <a:r>
              <a:rPr lang="en-US" sz="2800" b="1" dirty="0">
                <a:solidFill>
                  <a:schemeClr val="tx1"/>
                </a:solidFill>
              </a:rPr>
              <a:t>Pergunta de abertura</a:t>
            </a:r>
            <a:endParaRPr lang="en-US" sz="2800" dirty="0"/>
          </a:p>
        </p:txBody>
      </p:sp>
      <p:sp>
        <p:nvSpPr>
          <p:cNvPr id="3" name="ret-0"/>
          <p:cNvSpPr/>
          <p:nvPr/>
        </p:nvSpPr>
        <p:spPr>
          <a:xfrm>
            <a:off x="566928" y="1085240"/>
            <a:ext cx="5346040" cy="1244972"/>
          </a:xfrm>
          <a:prstGeom prst="roundRect">
            <a:avLst>
              <a:gd name="adj" fmla="val 5876"/>
            </a:avLst>
          </a:prstGeom>
          <a:solidFill>
            <a:schemeClr val="accent6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4" name="texto-1"/>
          <p:cNvSpPr txBox="1"/>
          <p:nvPr/>
        </p:nvSpPr>
        <p:spPr>
          <a:xfrm>
            <a:off x="749808" y="1194968"/>
            <a:ext cx="4980280" cy="104380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ct val="105000"/>
              </a:lnSpc>
              <a:buNone/>
            </a:pPr>
            <a:r>
              <a:rPr lang="en-US" sz="2100" dirty="0">
                <a:solidFill>
                  <a:schemeClr val="tx1"/>
                </a:solidFill>
              </a:rPr>
              <a:t>"Se o seu orientador pedisse hoje para reproduzir a análise conjunta dos ensaios de 2023, quanto tempo você levaria?"</a:t>
            </a:r>
            <a:endParaRPr lang="en-US" sz="2100" dirty="0"/>
          </a:p>
        </p:txBody>
      </p:sp>
      <p:sp>
        <p:nvSpPr>
          <p:cNvPr id="5" name="texto-2"/>
          <p:cNvSpPr txBox="1"/>
          <p:nvPr/>
        </p:nvSpPr>
        <p:spPr>
          <a:xfrm>
            <a:off x="6278728" y="1085240"/>
            <a:ext cx="5346040" cy="360127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ct val="105000"/>
              </a:lnSpc>
              <a:buNone/>
            </a:pPr>
            <a:r>
              <a:rPr lang="en-US" sz="2100" b="1" dirty="0">
                <a:solidFill>
                  <a:schemeClr val="accent2"/>
                </a:solidFill>
              </a:rPr>
              <a:t>Perguntas que costumam não ter resposta</a:t>
            </a:r>
            <a:endParaRPr lang="en-US" sz="2100" dirty="0"/>
          </a:p>
        </p:txBody>
      </p:sp>
      <p:sp>
        <p:nvSpPr>
          <p:cNvPr id="6" name="texto-3"/>
          <p:cNvSpPr txBox="1"/>
          <p:nvPr/>
        </p:nvSpPr>
        <p:spPr>
          <a:xfrm>
            <a:off x="6278728" y="1481086"/>
            <a:ext cx="5346040" cy="300903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279400" indent="-279400" algn="l">
              <a:lnSpc>
                <a:spcPct val="105000"/>
              </a:lnSpc>
              <a:spcAft>
                <a:spcPts val="672"/>
              </a:spcAft>
              <a:buSzPct val="100000"/>
              <a:buChar char="•"/>
            </a:pPr>
            <a:r>
              <a:rPr lang="en-US" sz="2100" dirty="0">
                <a:solidFill>
                  <a:schemeClr val="tx1"/>
                </a:solidFill>
              </a:rPr>
              <a:t>Onde está o arquivo bruto que veio do campo?</a:t>
            </a:r>
            <a:endParaRPr lang="en-US" sz="2100" dirty="0"/>
          </a:p>
          <a:p>
            <a:pPr marL="279400" indent="-279400" algn="l">
              <a:lnSpc>
                <a:spcPct val="105000"/>
              </a:lnSpc>
              <a:spcAft>
                <a:spcPts val="672"/>
              </a:spcAft>
              <a:buSzPct val="100000"/>
              <a:buChar char="•"/>
            </a:pPr>
            <a:r>
              <a:rPr lang="en-US" sz="2100" dirty="0">
                <a:solidFill>
                  <a:schemeClr val="tx1"/>
                </a:solidFill>
              </a:rPr>
              <a:t>Qual das cinco versões da planilha foi usada?</a:t>
            </a:r>
            <a:endParaRPr lang="en-US" sz="2100" dirty="0"/>
          </a:p>
          <a:p>
            <a:pPr marL="279400" indent="-279400" algn="l">
              <a:lnSpc>
                <a:spcPct val="105000"/>
              </a:lnSpc>
              <a:spcAft>
                <a:spcPts val="672"/>
              </a:spcAft>
              <a:buSzPct val="100000"/>
              <a:buChar char="•"/>
            </a:pPr>
            <a:r>
              <a:rPr lang="en-US" sz="2100" dirty="0">
                <a:solidFill>
                  <a:schemeClr val="tx1"/>
                </a:solidFill>
              </a:rPr>
              <a:t>Quem corrigiu aquele valor de 104.613 kg/ha, e para quanto?</a:t>
            </a:r>
            <a:endParaRPr lang="en-US" sz="2100" dirty="0"/>
          </a:p>
          <a:p>
            <a:pPr marL="279400" indent="-279400" algn="l">
              <a:lnSpc>
                <a:spcPct val="105000"/>
              </a:lnSpc>
              <a:buSzPct val="100000"/>
              <a:buChar char="•"/>
            </a:pPr>
            <a:r>
              <a:rPr lang="en-US" sz="2100" dirty="0">
                <a:solidFill>
                  <a:schemeClr val="tx1"/>
                </a:solidFill>
              </a:rPr>
              <a:t>Qual script gerou a Tabela 3 da dissertação, e com quais pacotes?</a:t>
            </a:r>
            <a:endParaRPr lang="en-US" sz="2100" dirty="0"/>
          </a:p>
        </p:txBody>
      </p:sp>
      <p:sp>
        <p:nvSpPr>
          <p:cNvPr id="7" name="rodape"/>
          <p:cNvSpPr txBox="1"/>
          <p:nvPr/>
        </p:nvSpPr>
        <p:spPr>
          <a:xfrm>
            <a:off x="566928" y="640080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50" kern="0" spc="100" dirty="0">
                <a:solidFill>
                  <a:schemeClr val="tx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SEÇÃO 1 · BLOCO 1</a:t>
            </a:r>
            <a:endParaRPr lang="en-US" sz="95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527487" y="6400800"/>
            <a:ext cx="109728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xmlns="" val="0"/>
            </a:ext>
          </a:extLst>
        </p:spPr>
        <p:txBody>
          <a:bodyPr lIns="0" tIns="0" rIns="0" bIns="0"/>
          <a:lstStyle>
            <a:lvl1pPr>
              <a:defRPr sz="1000">
                <a:solidFill>
                  <a:srgbClr val="8FA9A3"/>
                </a:solidFill>
                <a:latin typeface="Courier New"/>
                <a:ea typeface="Courier New"/>
                <a:cs typeface="Courier New"/>
              </a:defRPr>
            </a:lvl1pPr>
          </a:lstStyle>
          <a:p>
            <a:pPr algn="r"/>
            <a:fld id="{F7021451-1387-4CA6-816F-3879F97B5CBC}" type="slidenum">
              <a:rPr lang="en-US" b="0"/>
              <a:t>4</a:t>
            </a:fld>
            <a:endParaRPr lang="en-US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>
            <a:spLocks noGrp="1"/>
          </p:cNvSpPr>
          <p:nvPr>
            <p:ph type="title" idx="100" hasCustomPrompt="1"/>
          </p:nvPr>
        </p:nvSpPr>
        <p:spPr>
          <a:xfrm>
            <a:off x="566928" y="384048"/>
            <a:ext cx="11057839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buNone/>
            </a:pPr>
            <a:r>
              <a:rPr lang="en-US" sz="1900" b="1" dirty="0">
                <a:solidFill>
                  <a:schemeClr val="accent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1.2   </a:t>
            </a:r>
            <a:r>
              <a:rPr lang="en-US" sz="2800" b="1" dirty="0">
                <a:solidFill>
                  <a:schemeClr val="tx1"/>
                </a:solidFill>
              </a:rPr>
              <a:t>O ciclo de vida do dado em um programa de melhoramento</a:t>
            </a:r>
            <a:endParaRPr lang="en-US" sz="2800" dirty="0"/>
          </a:p>
        </p:txBody>
      </p:sp>
      <p:sp>
        <p:nvSpPr>
          <p:cNvPr id="3" name="ret-0"/>
          <p:cNvSpPr/>
          <p:nvPr/>
        </p:nvSpPr>
        <p:spPr>
          <a:xfrm>
            <a:off x="566928" y="1493825"/>
            <a:ext cx="1344560" cy="1099716"/>
          </a:xfrm>
          <a:prstGeom prst="roundRect">
            <a:avLst>
              <a:gd name="adj" fmla="val 5820"/>
            </a:avLst>
          </a:prstGeom>
          <a:solidFill>
            <a:schemeClr val="accent3"/>
          </a:solidFill>
          <a:ln w="9525">
            <a:solidFill>
              <a:schemeClr val="accent4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4" name="texto-1"/>
          <p:cNvSpPr txBox="1"/>
          <p:nvPr/>
        </p:nvSpPr>
        <p:spPr>
          <a:xfrm>
            <a:off x="658368" y="1585265"/>
            <a:ext cx="1161680" cy="987163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ct val="105000"/>
              </a:lnSpc>
              <a:spcAft>
                <a:spcPts val="200"/>
              </a:spcAft>
              <a:buNone/>
            </a:pPr>
            <a:r>
              <a:rPr lang="en-US" sz="1554" b="1" dirty="0">
                <a:solidFill>
                  <a:schemeClr val="accent1"/>
                </a:solidFill>
              </a:rPr>
              <a:t>Planejamento</a:t>
            </a:r>
            <a:endParaRPr lang="en-US" sz="1554" dirty="0"/>
          </a:p>
          <a:p>
            <a:pPr marL="0" indent="0" algn="l">
              <a:lnSpc>
                <a:spcPct val="105000"/>
              </a:lnSpc>
              <a:buNone/>
            </a:pPr>
            <a:r>
              <a:rPr lang="en-US" sz="1344" dirty="0">
                <a:solidFill>
                  <a:schemeClr val="tx2"/>
                </a:solidFill>
              </a:rPr>
              <a:t>delineamento, IDs, croqui</a:t>
            </a:r>
            <a:endParaRPr lang="en-US" sz="1554" dirty="0"/>
          </a:p>
        </p:txBody>
      </p:sp>
      <p:sp>
        <p:nvSpPr>
          <p:cNvPr id="5" name="seta-2"/>
          <p:cNvSpPr/>
          <p:nvPr/>
        </p:nvSpPr>
        <p:spPr>
          <a:xfrm>
            <a:off x="1957208" y="2043683"/>
            <a:ext cx="182880" cy="0"/>
          </a:xfrm>
          <a:prstGeom prst="line">
            <a:avLst/>
          </a:prstGeom>
          <a:noFill/>
          <a:ln w="22225">
            <a:solidFill>
              <a:schemeClr val="accent1"/>
            </a:solidFill>
            <a:prstDash val="solid"/>
            <a:tailEnd type="triangle"/>
          </a:ln>
        </p:spPr>
        <p:txBody>
          <a:bodyPr/>
          <a:lstStyle/>
          <a:p>
            <a:endParaRPr lang="en-US"/>
          </a:p>
        </p:txBody>
      </p:sp>
      <p:sp>
        <p:nvSpPr>
          <p:cNvPr id="6" name="ret-3"/>
          <p:cNvSpPr/>
          <p:nvPr/>
        </p:nvSpPr>
        <p:spPr>
          <a:xfrm>
            <a:off x="2185808" y="1493825"/>
            <a:ext cx="1344560" cy="1099716"/>
          </a:xfrm>
          <a:prstGeom prst="roundRect">
            <a:avLst>
              <a:gd name="adj" fmla="val 5820"/>
            </a:avLst>
          </a:prstGeom>
          <a:solidFill>
            <a:schemeClr val="accent3"/>
          </a:solidFill>
          <a:ln w="9525">
            <a:solidFill>
              <a:schemeClr val="accent4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7" name="texto-4"/>
          <p:cNvSpPr txBox="1"/>
          <p:nvPr/>
        </p:nvSpPr>
        <p:spPr>
          <a:xfrm>
            <a:off x="2277248" y="1585265"/>
            <a:ext cx="1161680" cy="952979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ct val="105000"/>
              </a:lnSpc>
              <a:spcAft>
                <a:spcPts val="200"/>
              </a:spcAft>
              <a:buNone/>
            </a:pPr>
            <a:r>
              <a:rPr lang="en-US" sz="1554" b="1" dirty="0">
                <a:solidFill>
                  <a:schemeClr val="accent1"/>
                </a:solidFill>
              </a:rPr>
              <a:t>Coleta</a:t>
            </a:r>
            <a:endParaRPr lang="en-US" sz="1554" dirty="0"/>
          </a:p>
          <a:p>
            <a:pPr marL="0" indent="0" algn="l">
              <a:lnSpc>
                <a:spcPct val="105000"/>
              </a:lnSpc>
              <a:buNone/>
            </a:pPr>
            <a:r>
              <a:rPr lang="en-US" sz="1344" dirty="0">
                <a:solidFill>
                  <a:schemeClr val="tx2"/>
                </a:solidFill>
              </a:rPr>
              <a:t>campo, laboratório, imagens</a:t>
            </a:r>
            <a:endParaRPr lang="en-US" sz="1554" dirty="0"/>
          </a:p>
        </p:txBody>
      </p:sp>
      <p:sp>
        <p:nvSpPr>
          <p:cNvPr id="8" name="seta-5"/>
          <p:cNvSpPr/>
          <p:nvPr/>
        </p:nvSpPr>
        <p:spPr>
          <a:xfrm>
            <a:off x="3576088" y="2043683"/>
            <a:ext cx="182880" cy="0"/>
          </a:xfrm>
          <a:prstGeom prst="line">
            <a:avLst/>
          </a:prstGeom>
          <a:noFill/>
          <a:ln w="22225">
            <a:solidFill>
              <a:schemeClr val="accent1"/>
            </a:solidFill>
            <a:prstDash val="solid"/>
            <a:tailEnd type="triangle"/>
          </a:ln>
        </p:spPr>
        <p:txBody>
          <a:bodyPr/>
          <a:lstStyle/>
          <a:p>
            <a:endParaRPr lang="en-US"/>
          </a:p>
        </p:txBody>
      </p:sp>
      <p:sp>
        <p:nvSpPr>
          <p:cNvPr id="9" name="ret-6"/>
          <p:cNvSpPr/>
          <p:nvPr/>
        </p:nvSpPr>
        <p:spPr>
          <a:xfrm>
            <a:off x="3804688" y="1493825"/>
            <a:ext cx="1344560" cy="1099716"/>
          </a:xfrm>
          <a:prstGeom prst="roundRect">
            <a:avLst>
              <a:gd name="adj" fmla="val 5820"/>
            </a:avLst>
          </a:prstGeom>
          <a:solidFill>
            <a:schemeClr val="accent3"/>
          </a:solidFill>
          <a:ln w="9525">
            <a:solidFill>
              <a:schemeClr val="accent4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0" name="texto-7"/>
          <p:cNvSpPr txBox="1"/>
          <p:nvPr/>
        </p:nvSpPr>
        <p:spPr>
          <a:xfrm>
            <a:off x="3896128" y="1585265"/>
            <a:ext cx="1161680" cy="73420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ct val="105000"/>
              </a:lnSpc>
              <a:spcAft>
                <a:spcPts val="200"/>
              </a:spcAft>
              <a:buNone/>
            </a:pPr>
            <a:r>
              <a:rPr lang="en-US" sz="1554" b="1" dirty="0">
                <a:solidFill>
                  <a:schemeClr val="accent1"/>
                </a:solidFill>
              </a:rPr>
              <a:t>Ingestão</a:t>
            </a:r>
            <a:endParaRPr lang="en-US" sz="1554" dirty="0"/>
          </a:p>
          <a:p>
            <a:pPr marL="0" indent="0" algn="l">
              <a:lnSpc>
                <a:spcPct val="105000"/>
              </a:lnSpc>
              <a:buNone/>
            </a:pPr>
            <a:r>
              <a:rPr lang="en-US" sz="1344" dirty="0">
                <a:solidFill>
                  <a:schemeClr val="tx2"/>
                </a:solidFill>
              </a:rPr>
              <a:t>digitação, importação</a:t>
            </a:r>
            <a:endParaRPr lang="en-US" sz="1554" dirty="0"/>
          </a:p>
        </p:txBody>
      </p:sp>
      <p:sp>
        <p:nvSpPr>
          <p:cNvPr id="11" name="seta-8"/>
          <p:cNvSpPr/>
          <p:nvPr/>
        </p:nvSpPr>
        <p:spPr>
          <a:xfrm>
            <a:off x="5194968" y="2043683"/>
            <a:ext cx="182880" cy="0"/>
          </a:xfrm>
          <a:prstGeom prst="line">
            <a:avLst/>
          </a:prstGeom>
          <a:noFill/>
          <a:ln w="22225">
            <a:solidFill>
              <a:schemeClr val="accent1"/>
            </a:solidFill>
            <a:prstDash val="solid"/>
            <a:tailEnd type="triangle"/>
          </a:ln>
        </p:spPr>
        <p:txBody>
          <a:bodyPr/>
          <a:lstStyle/>
          <a:p>
            <a:endParaRPr lang="en-US"/>
          </a:p>
        </p:txBody>
      </p:sp>
      <p:sp>
        <p:nvSpPr>
          <p:cNvPr id="12" name="ret-9"/>
          <p:cNvSpPr/>
          <p:nvPr/>
        </p:nvSpPr>
        <p:spPr>
          <a:xfrm>
            <a:off x="5423568" y="1493825"/>
            <a:ext cx="1344560" cy="1099716"/>
          </a:xfrm>
          <a:prstGeom prst="roundRect">
            <a:avLst>
              <a:gd name="adj" fmla="val 5820"/>
            </a:avLst>
          </a:prstGeom>
          <a:solidFill>
            <a:schemeClr val="accent3"/>
          </a:solidFill>
          <a:ln w="9525">
            <a:solidFill>
              <a:schemeClr val="accent4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3" name="texto-10"/>
          <p:cNvSpPr txBox="1"/>
          <p:nvPr/>
        </p:nvSpPr>
        <p:spPr>
          <a:xfrm>
            <a:off x="5515008" y="1585265"/>
            <a:ext cx="1161680" cy="73420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ct val="105000"/>
              </a:lnSpc>
              <a:spcAft>
                <a:spcPts val="200"/>
              </a:spcAft>
              <a:buNone/>
            </a:pPr>
            <a:r>
              <a:rPr lang="en-US" sz="1554" b="1" dirty="0">
                <a:solidFill>
                  <a:schemeClr val="accent1"/>
                </a:solidFill>
              </a:rPr>
              <a:t>QA/QC</a:t>
            </a:r>
            <a:endParaRPr lang="en-US" sz="1554" dirty="0"/>
          </a:p>
          <a:p>
            <a:pPr marL="0" indent="0" algn="l">
              <a:lnSpc>
                <a:spcPct val="105000"/>
              </a:lnSpc>
              <a:buNone/>
            </a:pPr>
            <a:r>
              <a:rPr lang="en-US" sz="1344" dirty="0">
                <a:solidFill>
                  <a:schemeClr val="tx2"/>
                </a:solidFill>
              </a:rPr>
              <a:t>regras e estatística</a:t>
            </a:r>
            <a:endParaRPr lang="en-US" sz="1554" dirty="0"/>
          </a:p>
        </p:txBody>
      </p:sp>
      <p:sp>
        <p:nvSpPr>
          <p:cNvPr id="14" name="seta-11"/>
          <p:cNvSpPr/>
          <p:nvPr/>
        </p:nvSpPr>
        <p:spPr>
          <a:xfrm>
            <a:off x="6813848" y="2043683"/>
            <a:ext cx="182880" cy="0"/>
          </a:xfrm>
          <a:prstGeom prst="line">
            <a:avLst/>
          </a:prstGeom>
          <a:noFill/>
          <a:ln w="22225">
            <a:solidFill>
              <a:schemeClr val="accent1"/>
            </a:solidFill>
            <a:prstDash val="solid"/>
            <a:tailEnd type="triangle"/>
          </a:ln>
        </p:spPr>
        <p:txBody>
          <a:bodyPr/>
          <a:lstStyle/>
          <a:p>
            <a:endParaRPr lang="en-US"/>
          </a:p>
        </p:txBody>
      </p:sp>
      <p:sp>
        <p:nvSpPr>
          <p:cNvPr id="15" name="ret-12"/>
          <p:cNvSpPr/>
          <p:nvPr/>
        </p:nvSpPr>
        <p:spPr>
          <a:xfrm>
            <a:off x="7042448" y="1493825"/>
            <a:ext cx="1344560" cy="1099716"/>
          </a:xfrm>
          <a:prstGeom prst="roundRect">
            <a:avLst>
              <a:gd name="adj" fmla="val 5820"/>
            </a:avLst>
          </a:prstGeom>
          <a:solidFill>
            <a:schemeClr val="accent3"/>
          </a:solidFill>
          <a:ln w="9525">
            <a:solidFill>
              <a:schemeClr val="accent4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6" name="texto-13"/>
          <p:cNvSpPr txBox="1"/>
          <p:nvPr/>
        </p:nvSpPr>
        <p:spPr>
          <a:xfrm>
            <a:off x="7133888" y="1585265"/>
            <a:ext cx="1161680" cy="73420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ct val="105000"/>
              </a:lnSpc>
              <a:spcAft>
                <a:spcPts val="200"/>
              </a:spcAft>
              <a:buNone/>
            </a:pPr>
            <a:r>
              <a:rPr lang="en-US" sz="1554" b="1" dirty="0">
                <a:solidFill>
                  <a:schemeClr val="accent1"/>
                </a:solidFill>
              </a:rPr>
              <a:t>Curadoria</a:t>
            </a:r>
            <a:endParaRPr lang="en-US" sz="1554" dirty="0"/>
          </a:p>
          <a:p>
            <a:pPr marL="0" indent="0" algn="l">
              <a:lnSpc>
                <a:spcPct val="105000"/>
              </a:lnSpc>
              <a:buNone/>
            </a:pPr>
            <a:r>
              <a:rPr lang="en-US" sz="1344" dirty="0">
                <a:solidFill>
                  <a:schemeClr val="tx2"/>
                </a:solidFill>
              </a:rPr>
              <a:t>correções registradas</a:t>
            </a:r>
            <a:endParaRPr lang="en-US" sz="1554" dirty="0"/>
          </a:p>
        </p:txBody>
      </p:sp>
      <p:sp>
        <p:nvSpPr>
          <p:cNvPr id="17" name="seta-14"/>
          <p:cNvSpPr/>
          <p:nvPr/>
        </p:nvSpPr>
        <p:spPr>
          <a:xfrm>
            <a:off x="8432727" y="2043683"/>
            <a:ext cx="182880" cy="0"/>
          </a:xfrm>
          <a:prstGeom prst="line">
            <a:avLst/>
          </a:prstGeom>
          <a:noFill/>
          <a:ln w="22225">
            <a:solidFill>
              <a:schemeClr val="accent1"/>
            </a:solidFill>
            <a:prstDash val="solid"/>
            <a:tailEnd type="triangle"/>
          </a:ln>
        </p:spPr>
        <p:txBody>
          <a:bodyPr/>
          <a:lstStyle/>
          <a:p>
            <a:endParaRPr lang="en-US"/>
          </a:p>
        </p:txBody>
      </p:sp>
      <p:sp>
        <p:nvSpPr>
          <p:cNvPr id="18" name="ret-15"/>
          <p:cNvSpPr/>
          <p:nvPr/>
        </p:nvSpPr>
        <p:spPr>
          <a:xfrm>
            <a:off x="8661327" y="1493825"/>
            <a:ext cx="1344560" cy="1099716"/>
          </a:xfrm>
          <a:prstGeom prst="roundRect">
            <a:avLst>
              <a:gd name="adj" fmla="val 5820"/>
            </a:avLst>
          </a:prstGeom>
          <a:solidFill>
            <a:schemeClr val="accent3"/>
          </a:solidFill>
          <a:ln w="9525">
            <a:solidFill>
              <a:schemeClr val="accent4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9" name="texto-16"/>
          <p:cNvSpPr txBox="1"/>
          <p:nvPr/>
        </p:nvSpPr>
        <p:spPr>
          <a:xfrm>
            <a:off x="8752767" y="1585265"/>
            <a:ext cx="1161680" cy="5154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ct val="105000"/>
              </a:lnSpc>
              <a:spcAft>
                <a:spcPts val="200"/>
              </a:spcAft>
              <a:buNone/>
            </a:pPr>
            <a:r>
              <a:rPr lang="en-US" sz="1554" b="1" dirty="0">
                <a:solidFill>
                  <a:schemeClr val="accent1"/>
                </a:solidFill>
              </a:rPr>
              <a:t>Análise</a:t>
            </a:r>
            <a:endParaRPr lang="en-US" sz="1554" dirty="0"/>
          </a:p>
          <a:p>
            <a:pPr marL="0" indent="0" algn="l">
              <a:lnSpc>
                <a:spcPct val="105000"/>
              </a:lnSpc>
              <a:buNone/>
            </a:pPr>
            <a:r>
              <a:rPr lang="en-US" sz="1344" dirty="0">
                <a:solidFill>
                  <a:schemeClr val="tx2"/>
                </a:solidFill>
              </a:rPr>
              <a:t>BLUP, GS, IA</a:t>
            </a:r>
            <a:endParaRPr lang="en-US" sz="1554" dirty="0"/>
          </a:p>
        </p:txBody>
      </p:sp>
      <p:sp>
        <p:nvSpPr>
          <p:cNvPr id="20" name="seta-17"/>
          <p:cNvSpPr/>
          <p:nvPr/>
        </p:nvSpPr>
        <p:spPr>
          <a:xfrm>
            <a:off x="10051607" y="2043683"/>
            <a:ext cx="182880" cy="0"/>
          </a:xfrm>
          <a:prstGeom prst="line">
            <a:avLst/>
          </a:prstGeom>
          <a:noFill/>
          <a:ln w="22225">
            <a:solidFill>
              <a:schemeClr val="accent1"/>
            </a:solidFill>
            <a:prstDash val="solid"/>
            <a:tailEnd type="triangle"/>
          </a:ln>
        </p:spPr>
        <p:txBody>
          <a:bodyPr/>
          <a:lstStyle/>
          <a:p>
            <a:endParaRPr lang="en-US"/>
          </a:p>
        </p:txBody>
      </p:sp>
      <p:sp>
        <p:nvSpPr>
          <p:cNvPr id="21" name="ret-18"/>
          <p:cNvSpPr/>
          <p:nvPr/>
        </p:nvSpPr>
        <p:spPr>
          <a:xfrm>
            <a:off x="10280207" y="1493825"/>
            <a:ext cx="1344560" cy="1099716"/>
          </a:xfrm>
          <a:prstGeom prst="roundRect">
            <a:avLst>
              <a:gd name="adj" fmla="val 5820"/>
            </a:avLst>
          </a:prstGeom>
          <a:solidFill>
            <a:schemeClr val="accent3"/>
          </a:solidFill>
          <a:ln w="9525">
            <a:solidFill>
              <a:schemeClr val="accent4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22" name="texto-19"/>
          <p:cNvSpPr txBox="1"/>
          <p:nvPr/>
        </p:nvSpPr>
        <p:spPr>
          <a:xfrm>
            <a:off x="10371647" y="1585265"/>
            <a:ext cx="1161680" cy="73420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ct val="105000"/>
              </a:lnSpc>
              <a:spcAft>
                <a:spcPts val="200"/>
              </a:spcAft>
              <a:buNone/>
            </a:pPr>
            <a:r>
              <a:rPr lang="en-US" sz="1554" b="1" dirty="0">
                <a:solidFill>
                  <a:schemeClr val="accent1"/>
                </a:solidFill>
              </a:rPr>
              <a:t>Decisão</a:t>
            </a:r>
            <a:endParaRPr lang="en-US" sz="1554" dirty="0"/>
          </a:p>
          <a:p>
            <a:pPr marL="0" indent="0" algn="l">
              <a:lnSpc>
                <a:spcPct val="105000"/>
              </a:lnSpc>
              <a:buNone/>
            </a:pPr>
            <a:r>
              <a:rPr lang="en-US" sz="1344" dirty="0">
                <a:solidFill>
                  <a:schemeClr val="tx2"/>
                </a:solidFill>
              </a:rPr>
              <a:t>seleção, cruzamentos</a:t>
            </a:r>
            <a:endParaRPr lang="en-US" sz="1554" dirty="0"/>
          </a:p>
        </p:txBody>
      </p:sp>
      <p:sp>
        <p:nvSpPr>
          <p:cNvPr id="23" name="texto-20"/>
          <p:cNvSpPr txBox="1"/>
          <p:nvPr/>
        </p:nvSpPr>
        <p:spPr>
          <a:xfrm>
            <a:off x="566928" y="2753560"/>
            <a:ext cx="11057839" cy="22400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279400" indent="-279400" algn="l">
              <a:lnSpc>
                <a:spcPct val="105000"/>
              </a:lnSpc>
              <a:spcAft>
                <a:spcPts val="672"/>
              </a:spcAft>
              <a:buSzPct val="100000"/>
              <a:buChar char="•"/>
            </a:pPr>
            <a:r>
              <a:rPr lang="en-US" sz="2100" dirty="0">
                <a:solidFill>
                  <a:schemeClr val="tx1"/>
                </a:solidFill>
              </a:rPr>
              <a:t>Cada seta é um ponto de entrada de erros: troca de etiqueta, digitação, unidade, cópia e cola, junção errada de tabelas.</a:t>
            </a:r>
            <a:endParaRPr lang="en-US" sz="2100" dirty="0"/>
          </a:p>
          <a:p>
            <a:pPr marL="279400" indent="-279400" algn="l">
              <a:lnSpc>
                <a:spcPct val="105000"/>
              </a:lnSpc>
              <a:spcAft>
                <a:spcPts val="672"/>
              </a:spcAft>
              <a:buSzPct val="100000"/>
              <a:buChar char="•"/>
            </a:pPr>
            <a:r>
              <a:rPr lang="en-US" sz="2100" dirty="0">
                <a:solidFill>
                  <a:schemeClr val="tx1"/>
                </a:solidFill>
              </a:rPr>
              <a:t>O custo de corrigir cresce ao longo do ciclo: um ID errado no croqui custa minutos; o mesmo erro descoberto depois da seleção custa um ciclo de melhoramento.</a:t>
            </a:r>
            <a:endParaRPr lang="en-US" sz="2100" dirty="0"/>
          </a:p>
          <a:p>
            <a:pPr marL="279400" indent="-279400" algn="l">
              <a:lnSpc>
                <a:spcPct val="105000"/>
              </a:lnSpc>
              <a:buSzPct val="100000"/>
              <a:buChar char="•"/>
            </a:pPr>
            <a:r>
              <a:rPr lang="en-US" sz="2100" b="1" dirty="0">
                <a:solidFill>
                  <a:schemeClr val="tx1"/>
                </a:solidFill>
              </a:rPr>
              <a:t>QA atua à esquerda</a:t>
            </a:r>
            <a:r>
              <a:rPr lang="en-US" sz="2100" dirty="0">
                <a:solidFill>
                  <a:schemeClr val="tx1"/>
                </a:solidFill>
              </a:rPr>
              <a:t> (prevenir); </a:t>
            </a:r>
            <a:r>
              <a:rPr lang="en-US" sz="2100" b="1" dirty="0">
                <a:solidFill>
                  <a:schemeClr val="tx1"/>
                </a:solidFill>
              </a:rPr>
              <a:t>QC atua no meio</a:t>
            </a:r>
            <a:r>
              <a:rPr lang="en-US" sz="2100" dirty="0">
                <a:solidFill>
                  <a:schemeClr val="tx1"/>
                </a:solidFill>
              </a:rPr>
              <a:t> (detectar); </a:t>
            </a:r>
            <a:r>
              <a:rPr lang="en-US" sz="2100" b="1" dirty="0">
                <a:solidFill>
                  <a:schemeClr val="tx1"/>
                </a:solidFill>
              </a:rPr>
              <a:t>curadoria</a:t>
            </a:r>
            <a:r>
              <a:rPr lang="en-US" sz="2100" dirty="0">
                <a:solidFill>
                  <a:schemeClr val="tx1"/>
                </a:solidFill>
              </a:rPr>
              <a:t> mantém o histórico de tudo que mudou.</a:t>
            </a:r>
            <a:endParaRPr lang="en-US" sz="2100" dirty="0"/>
          </a:p>
        </p:txBody>
      </p:sp>
      <p:sp>
        <p:nvSpPr>
          <p:cNvPr id="24" name="rodape"/>
          <p:cNvSpPr txBox="1"/>
          <p:nvPr/>
        </p:nvSpPr>
        <p:spPr>
          <a:xfrm>
            <a:off x="566928" y="640080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50" kern="0" spc="100" dirty="0">
                <a:solidFill>
                  <a:schemeClr val="tx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SEÇÃO 1 · BLOCO 1</a:t>
            </a:r>
            <a:endParaRPr lang="en-US" sz="95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527487" y="6400800"/>
            <a:ext cx="109728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xmlns="" val="0"/>
            </a:ext>
          </a:extLst>
        </p:spPr>
        <p:txBody>
          <a:bodyPr lIns="0" tIns="0" rIns="0" bIns="0"/>
          <a:lstStyle>
            <a:lvl1pPr>
              <a:defRPr sz="1000">
                <a:solidFill>
                  <a:srgbClr val="8FA9A3"/>
                </a:solidFill>
                <a:latin typeface="Courier New"/>
                <a:ea typeface="Courier New"/>
                <a:cs typeface="Courier New"/>
              </a:defRPr>
            </a:lvl1pPr>
          </a:lstStyle>
          <a:p>
            <a:pPr algn="r"/>
            <a:fld id="{F7021451-1387-4CA6-816F-3879F97B5CBC}" type="slidenum">
              <a:rPr lang="en-US" b="0"/>
              <a:t>5</a:t>
            </a:fld>
            <a:endParaRPr lang="en-US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>
            <a:spLocks noGrp="1"/>
          </p:cNvSpPr>
          <p:nvPr>
            <p:ph type="title" idx="100" hasCustomPrompt="1"/>
          </p:nvPr>
        </p:nvSpPr>
        <p:spPr>
          <a:xfrm>
            <a:off x="566928" y="384048"/>
            <a:ext cx="11057839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buNone/>
            </a:pPr>
            <a:r>
              <a:rPr lang="en-US" sz="1900" b="1" dirty="0">
                <a:solidFill>
                  <a:schemeClr val="accent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1.3   </a:t>
            </a:r>
            <a:r>
              <a:rPr lang="en-US" sz="2800" b="1" dirty="0">
                <a:solidFill>
                  <a:schemeClr val="tx1"/>
                </a:solidFill>
              </a:rPr>
              <a:t>O dado é o ativo de longo prazo do programa</a:t>
            </a:r>
            <a:endParaRPr lang="en-US" sz="2800" dirty="0"/>
          </a:p>
        </p:txBody>
      </p:sp>
      <p:sp>
        <p:nvSpPr>
          <p:cNvPr id="3" name="texto-0"/>
          <p:cNvSpPr txBox="1"/>
          <p:nvPr/>
        </p:nvSpPr>
        <p:spPr>
          <a:xfrm>
            <a:off x="566928" y="1085240"/>
            <a:ext cx="11057839" cy="189817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279400" indent="-279400" algn="l">
              <a:lnSpc>
                <a:spcPct val="105000"/>
              </a:lnSpc>
              <a:spcAft>
                <a:spcPts val="672"/>
              </a:spcAft>
              <a:buSzPct val="100000"/>
              <a:buChar char="•"/>
            </a:pPr>
            <a:r>
              <a:rPr lang="en-US" sz="2100" dirty="0">
                <a:solidFill>
                  <a:schemeClr val="tx1"/>
                </a:solidFill>
              </a:rPr>
              <a:t>Germoplasma e dados de ensaios acumulados por décadas são o que permite estimar G×E, treinar modelos de seleção genômica e comparar ciclos.</a:t>
            </a:r>
            <a:endParaRPr lang="en-US" sz="2100" dirty="0"/>
          </a:p>
          <a:p>
            <a:pPr marL="279400" indent="-279400" algn="l">
              <a:lnSpc>
                <a:spcPct val="105000"/>
              </a:lnSpc>
              <a:spcAft>
                <a:spcPts val="672"/>
              </a:spcAft>
              <a:buSzPct val="100000"/>
              <a:buChar char="•"/>
            </a:pPr>
            <a:r>
              <a:rPr lang="en-US" sz="2100" dirty="0">
                <a:solidFill>
                  <a:schemeClr val="tx1"/>
                </a:solidFill>
              </a:rPr>
              <a:t>Uma população de treinamento de GS é, na prática, </a:t>
            </a:r>
            <a:r>
              <a:rPr lang="en-US" sz="2100" b="1" dirty="0">
                <a:solidFill>
                  <a:schemeClr val="tx1"/>
                </a:solidFill>
              </a:rPr>
              <a:t>o histórico do banco</a:t>
            </a:r>
            <a:r>
              <a:rPr lang="en-US" sz="2100" dirty="0">
                <a:solidFill>
                  <a:schemeClr val="tx1"/>
                </a:solidFill>
              </a:rPr>
              <a:t>: se o histórico tem IDs inconsistentes, o modelo aprende com genótipos e fenótipos desemparelhados.</a:t>
            </a:r>
            <a:endParaRPr lang="en-US" sz="2100" dirty="0"/>
          </a:p>
          <a:p>
            <a:pPr marL="279400" indent="-279400" algn="l">
              <a:lnSpc>
                <a:spcPct val="105000"/>
              </a:lnSpc>
              <a:buSzPct val="100000"/>
              <a:buChar char="•"/>
            </a:pPr>
            <a:r>
              <a:rPr lang="en-US" sz="2100" dirty="0">
                <a:solidFill>
                  <a:schemeClr val="tx1"/>
                </a:solidFill>
              </a:rPr>
              <a:t>Modelos e ferramentas mudam a cada poucos anos; dados bem estruturados continuam úteis.</a:t>
            </a:r>
            <a:endParaRPr lang="en-US" sz="2100" dirty="0"/>
          </a:p>
        </p:txBody>
      </p:sp>
      <p:sp>
        <p:nvSpPr>
          <p:cNvPr id="4" name="ret-1"/>
          <p:cNvSpPr/>
          <p:nvPr/>
        </p:nvSpPr>
        <p:spPr>
          <a:xfrm>
            <a:off x="566928" y="3125142"/>
            <a:ext cx="11057839" cy="903133"/>
          </a:xfrm>
          <a:prstGeom prst="roundRect">
            <a:avLst>
              <a:gd name="adj" fmla="val 8100"/>
            </a:avLst>
          </a:prstGeom>
          <a:solidFill>
            <a:schemeClr val="accent6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5" name="texto-2"/>
          <p:cNvSpPr txBox="1"/>
          <p:nvPr/>
        </p:nvSpPr>
        <p:spPr>
          <a:xfrm>
            <a:off x="749808" y="3234870"/>
            <a:ext cx="10692079" cy="70196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ct val="105000"/>
              </a:lnSpc>
              <a:buNone/>
            </a:pPr>
            <a:r>
              <a:rPr lang="en-US" sz="2100" dirty="0">
                <a:solidFill>
                  <a:schemeClr val="tx1"/>
                </a:solidFill>
              </a:rPr>
              <a:t>Um programa com dados organizados troca de software em semanas. Um programa com dados desorganizados não consegue aproveitar nenhuma ferramenta nova, inclusive IA.</a:t>
            </a:r>
            <a:endParaRPr lang="en-US" sz="2100" dirty="0"/>
          </a:p>
        </p:txBody>
      </p:sp>
      <p:sp>
        <p:nvSpPr>
          <p:cNvPr id="6" name="rodape"/>
          <p:cNvSpPr txBox="1"/>
          <p:nvPr/>
        </p:nvSpPr>
        <p:spPr>
          <a:xfrm>
            <a:off x="566928" y="640080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50" kern="0" spc="100" dirty="0">
                <a:solidFill>
                  <a:schemeClr val="tx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SEÇÃO 1 · BLOCO 1</a:t>
            </a:r>
            <a:endParaRPr lang="en-US" sz="95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527487" y="6400800"/>
            <a:ext cx="109728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xmlns="" val="0"/>
            </a:ext>
          </a:extLst>
        </p:spPr>
        <p:txBody>
          <a:bodyPr lIns="0" tIns="0" rIns="0" bIns="0"/>
          <a:lstStyle>
            <a:lvl1pPr>
              <a:defRPr sz="1000">
                <a:solidFill>
                  <a:srgbClr val="8FA9A3"/>
                </a:solidFill>
                <a:latin typeface="Courier New"/>
                <a:ea typeface="Courier New"/>
                <a:cs typeface="Courier New"/>
              </a:defRPr>
            </a:lvl1pPr>
          </a:lstStyle>
          <a:p>
            <a:pPr algn="r"/>
            <a:fld id="{F7021451-1387-4CA6-816F-3879F97B5CBC}" type="slidenum">
              <a:rPr lang="en-US" b="0"/>
              <a:t>6</a:t>
            </a:fld>
            <a:endParaRPr lang="en-US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>
            <a:spLocks noGrp="1"/>
          </p:cNvSpPr>
          <p:nvPr>
            <p:ph type="title" idx="100" hasCustomPrompt="1"/>
          </p:nvPr>
        </p:nvSpPr>
        <p:spPr>
          <a:xfrm>
            <a:off x="566928" y="384048"/>
            <a:ext cx="11057839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buNone/>
            </a:pPr>
            <a:r>
              <a:rPr lang="en-US" sz="1900" b="1" dirty="0">
                <a:solidFill>
                  <a:schemeClr val="accent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1.4   </a:t>
            </a:r>
            <a:r>
              <a:rPr lang="en-US" sz="2800" b="1" dirty="0">
                <a:solidFill>
                  <a:schemeClr val="tx1"/>
                </a:solidFill>
              </a:rPr>
              <a:t>Consequência genética de um erro de dado</a:t>
            </a:r>
            <a:endParaRPr lang="en-US" sz="2800" dirty="0"/>
          </a:p>
        </p:txBody>
      </p:sp>
      <p:graphicFrame>
        <p:nvGraphicFramePr>
          <p:cNvPr id="8" name="tabela-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66928" y="1085240"/>
          <a:ext cx="11057839" cy="3309680"/>
        </p:xfrm>
        <a:graphic>
          <a:graphicData uri="http://schemas.openxmlformats.org/drawingml/2006/table">
            <a:tbl>
              <a:tblPr/>
              <a:tblGrid>
                <a:gridCol w="3275031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1880317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5902491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</a:tblGrid>
              <a:tr h="358400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722" b="1" dirty="0">
                          <a:solidFill>
                            <a:schemeClr val="tx1"/>
                          </a:solidFill>
                        </a:rPr>
                        <a:t>Erro</a:t>
                      </a:r>
                      <a:endParaRPr lang="en-US" sz="1722" dirty="0"/>
                    </a:p>
                  </a:txBody>
                  <a:tcPr marL="73152" marR="73152" marT="32004" marB="32004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9050" cap="flat" cmpd="sng" algn="ctr">
                      <a:solidFill>
                        <a:srgbClr val="A6E35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722" b="1" dirty="0">
                          <a:solidFill>
                            <a:schemeClr val="tx1"/>
                          </a:solidFill>
                        </a:rPr>
                        <a:t>Onde nasce</a:t>
                      </a:r>
                      <a:endParaRPr lang="en-US" sz="1722" dirty="0"/>
                    </a:p>
                  </a:txBody>
                  <a:tcPr marL="73152" marR="73152" marT="32004" marB="32004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9050" cap="flat" cmpd="sng" algn="ctr">
                      <a:solidFill>
                        <a:srgbClr val="A6E35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722" b="1" dirty="0">
                          <a:solidFill>
                            <a:schemeClr val="tx1"/>
                          </a:solidFill>
                        </a:rPr>
                        <a:t>O que contamina</a:t>
                      </a:r>
                      <a:endParaRPr lang="en-US" sz="1722" dirty="0"/>
                    </a:p>
                  </a:txBody>
                  <a:tcPr marL="73152" marR="73152" marT="32004" marB="32004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9050" cap="flat" cmpd="sng" algn="ctr">
                      <a:solidFill>
                        <a:srgbClr val="A6E35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358400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722" dirty="0">
                          <a:solidFill>
                            <a:schemeClr val="tx1"/>
                          </a:solidFill>
                        </a:rPr>
                        <a:t>ID de genótipo trocado</a:t>
                      </a:r>
                      <a:endParaRPr lang="en-US" sz="1722" dirty="0"/>
                    </a:p>
                  </a:txBody>
                  <a:tcPr marL="73152" marR="73152" marT="32004" marB="32004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19050" cap="flat" cmpd="sng" algn="ctr">
                      <a:solidFill>
                        <a:srgbClr val="A6E35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1D3A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722" dirty="0">
                          <a:solidFill>
                            <a:schemeClr val="tx1"/>
                          </a:solidFill>
                        </a:rPr>
                        <a:t>Etiqueta, digitação</a:t>
                      </a:r>
                      <a:endParaRPr lang="en-US" sz="1722" dirty="0"/>
                    </a:p>
                  </a:txBody>
                  <a:tcPr marL="73152" marR="73152" marT="32004" marB="32004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19050" cap="flat" cmpd="sng" algn="ctr">
                      <a:solidFill>
                        <a:srgbClr val="A6E35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1D3A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722" dirty="0">
                          <a:solidFill>
                            <a:schemeClr val="tx1"/>
                          </a:solidFill>
                        </a:rPr>
                        <a:t>Fenótipo atribuído ao genótipo errado → BLUP e GEBV errados</a:t>
                      </a:r>
                      <a:endParaRPr lang="en-US" sz="1722" dirty="0"/>
                    </a:p>
                  </a:txBody>
                  <a:tcPr marL="73152" marR="73152" marT="32004" marB="32004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19050" cap="flat" cmpd="sng" algn="ctr">
                      <a:solidFill>
                        <a:srgbClr val="A6E35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1D3A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625360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722" dirty="0">
                          <a:solidFill>
                            <a:schemeClr val="tx1"/>
                          </a:solidFill>
                        </a:rPr>
                        <a:t>Genitor errado no pedigree</a:t>
                      </a:r>
                      <a:endParaRPr lang="en-US" sz="1722" dirty="0"/>
                    </a:p>
                  </a:txBody>
                  <a:tcPr marL="73152" marR="73152" marT="32004" marB="32004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9525" cap="flat" cmpd="sng" algn="ctr">
                      <a:solidFill>
                        <a:srgbClr val="1D3A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1D3A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722" dirty="0">
                          <a:solidFill>
                            <a:schemeClr val="tx1"/>
                          </a:solidFill>
                        </a:rPr>
                        <a:t>Cadastro</a:t>
                      </a:r>
                      <a:endParaRPr lang="en-US" sz="1722" dirty="0"/>
                    </a:p>
                  </a:txBody>
                  <a:tcPr marL="73152" marR="73152" marT="32004" marB="32004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9525" cap="flat" cmpd="sng" algn="ctr">
                      <a:solidFill>
                        <a:srgbClr val="1D3A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1D3A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722" dirty="0">
                          <a:solidFill>
                            <a:schemeClr val="tx1"/>
                          </a:solidFill>
                        </a:rPr>
                        <a:t>Matriz A errada para toda a família → BLUP de parentes viesados</a:t>
                      </a:r>
                      <a:endParaRPr lang="en-US" sz="1722" dirty="0"/>
                    </a:p>
                  </a:txBody>
                  <a:tcPr marL="73152" marR="73152" marT="32004" marB="32004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9525" cap="flat" cmpd="sng" algn="ctr">
                      <a:solidFill>
                        <a:srgbClr val="1D3A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1D3A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625360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722" dirty="0">
                          <a:solidFill>
                            <a:schemeClr val="tx1"/>
                          </a:solidFill>
                        </a:rPr>
                        <a:t>Amostra de DNA trocada</a:t>
                      </a:r>
                      <a:endParaRPr lang="en-US" sz="1722" dirty="0"/>
                    </a:p>
                  </a:txBody>
                  <a:tcPr marL="73152" marR="73152" marT="32004" marB="32004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9525" cap="flat" cmpd="sng" algn="ctr">
                      <a:solidFill>
                        <a:srgbClr val="1D3A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1D3A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722" dirty="0">
                          <a:solidFill>
                            <a:schemeClr val="tx1"/>
                          </a:solidFill>
                        </a:rPr>
                        <a:t>Laboratório</a:t>
                      </a:r>
                      <a:endParaRPr lang="en-US" sz="1722" dirty="0"/>
                    </a:p>
                  </a:txBody>
                  <a:tcPr marL="73152" marR="73152" marT="32004" marB="32004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9525" cap="flat" cmpd="sng" algn="ctr">
                      <a:solidFill>
                        <a:srgbClr val="1D3A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1D3A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722" dirty="0">
                          <a:solidFill>
                            <a:schemeClr val="tx1"/>
                          </a:solidFill>
                        </a:rPr>
                        <a:t>Genótipo de um indivíduo usado para outro → matriz G e GEBV errados</a:t>
                      </a:r>
                      <a:endParaRPr lang="en-US" sz="1722" dirty="0"/>
                    </a:p>
                  </a:txBody>
                  <a:tcPr marL="73152" marR="73152" marT="32004" marB="32004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9525" cap="flat" cmpd="sng" algn="ctr">
                      <a:solidFill>
                        <a:srgbClr val="1D3A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1D3A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358400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722" dirty="0">
                          <a:solidFill>
                            <a:schemeClr val="tx1"/>
                          </a:solidFill>
                        </a:rPr>
                        <a:t>Unidade misturada (t/ha × kg/ha)</a:t>
                      </a:r>
                      <a:endParaRPr lang="en-US" sz="1722" dirty="0"/>
                    </a:p>
                  </a:txBody>
                  <a:tcPr marL="73152" marR="73152" marT="32004" marB="32004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9525" cap="flat" cmpd="sng" algn="ctr">
                      <a:solidFill>
                        <a:srgbClr val="1D3A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1D3A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722" dirty="0">
                          <a:solidFill>
                            <a:schemeClr val="tx1"/>
                          </a:solidFill>
                        </a:rPr>
                        <a:t>Planilha</a:t>
                      </a:r>
                      <a:endParaRPr lang="en-US" sz="1722" dirty="0"/>
                    </a:p>
                  </a:txBody>
                  <a:tcPr marL="73152" marR="73152" marT="32004" marB="32004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9525" cap="flat" cmpd="sng" algn="ctr">
                      <a:solidFill>
                        <a:srgbClr val="1D3A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1D3A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722" dirty="0">
                          <a:solidFill>
                            <a:schemeClr val="tx1"/>
                          </a:solidFill>
                        </a:rPr>
                        <a:t>Média do ensaio, variância residual e herdabilidade distorcidas</a:t>
                      </a:r>
                      <a:endParaRPr lang="en-US" sz="1722" dirty="0"/>
                    </a:p>
                  </a:txBody>
                  <a:tcPr marL="73152" marR="73152" marT="32004" marB="32004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9525" cap="flat" cmpd="sng" algn="ctr">
                      <a:solidFill>
                        <a:srgbClr val="1D3A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1D3A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625360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722" dirty="0">
                          <a:solidFill>
                            <a:schemeClr val="tx1"/>
                          </a:solidFill>
                        </a:rPr>
                        <a:t>Ausente codificado como 0</a:t>
                      </a:r>
                      <a:endParaRPr lang="en-US" sz="1722" dirty="0"/>
                    </a:p>
                  </a:txBody>
                  <a:tcPr marL="73152" marR="73152" marT="32004" marB="32004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9525" cap="flat" cmpd="sng" algn="ctr">
                      <a:solidFill>
                        <a:srgbClr val="1D3A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1D3A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722" dirty="0">
                          <a:solidFill>
                            <a:schemeClr val="tx1"/>
                          </a:solidFill>
                        </a:rPr>
                        <a:t>Planilha</a:t>
                      </a:r>
                      <a:endParaRPr lang="en-US" sz="1722" dirty="0"/>
                    </a:p>
                  </a:txBody>
                  <a:tcPr marL="73152" marR="73152" marT="32004" marB="32004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9525" cap="flat" cmpd="sng" algn="ctr">
                      <a:solidFill>
                        <a:srgbClr val="1D3A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1D3A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722" dirty="0">
                          <a:solidFill>
                            <a:schemeClr val="tx1"/>
                          </a:solidFill>
                        </a:rPr>
                        <a:t>Média puxada para baixo; genótipo penalizado sem ter sido avaliado</a:t>
                      </a:r>
                      <a:endParaRPr lang="en-US" sz="1722" dirty="0"/>
                    </a:p>
                  </a:txBody>
                  <a:tcPr marL="73152" marR="73152" marT="32004" marB="32004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9525" cap="flat" cmpd="sng" algn="ctr">
                      <a:solidFill>
                        <a:srgbClr val="1D3A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1D3A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  <a:tr h="358400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722" dirty="0">
                          <a:solidFill>
                            <a:schemeClr val="tx1"/>
                          </a:solidFill>
                        </a:rPr>
                        <a:t>Parcela duplicada</a:t>
                      </a:r>
                      <a:endParaRPr lang="en-US" sz="1722" dirty="0"/>
                    </a:p>
                  </a:txBody>
                  <a:tcPr marL="73152" marR="73152" marT="32004" marB="32004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9525" cap="flat" cmpd="sng" algn="ctr">
                      <a:solidFill>
                        <a:srgbClr val="1D3A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0" cap="flat" cmpd="sng" algn="ctr"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722" dirty="0">
                          <a:solidFill>
                            <a:schemeClr val="tx1"/>
                          </a:solidFill>
                        </a:rPr>
                        <a:t>Digitação</a:t>
                      </a:r>
                      <a:endParaRPr lang="en-US" sz="1722" dirty="0"/>
                    </a:p>
                  </a:txBody>
                  <a:tcPr marL="73152" marR="73152" marT="32004" marB="32004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9525" cap="flat" cmpd="sng" algn="ctr">
                      <a:solidFill>
                        <a:srgbClr val="1D3A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0" cap="flat" cmpd="sng" algn="ctr"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722" dirty="0">
                          <a:solidFill>
                            <a:schemeClr val="tx1"/>
                          </a:solidFill>
                        </a:rPr>
                        <a:t>Peso dobrado para uma observação; graus de liberdade inflados</a:t>
                      </a:r>
                      <a:endParaRPr lang="en-US" sz="1722" dirty="0"/>
                    </a:p>
                  </a:txBody>
                  <a:tcPr marL="73152" marR="73152" marT="32004" marB="32004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9525" cap="flat" cmpd="sng" algn="ctr">
                      <a:solidFill>
                        <a:srgbClr val="1D3A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0" cap="flat" cmpd="sng" algn="ctr">
                      <a:noFill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6"/>
                  </a:ext>
                </a:extLst>
              </a:tr>
            </a:tbl>
          </a:graphicData>
        </a:graphic>
      </p:graphicFrame>
      <p:sp>
        <p:nvSpPr>
          <p:cNvPr id="4" name="rodape"/>
          <p:cNvSpPr txBox="1"/>
          <p:nvPr/>
        </p:nvSpPr>
        <p:spPr>
          <a:xfrm>
            <a:off x="566928" y="640080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50" kern="0" spc="100" dirty="0">
                <a:solidFill>
                  <a:schemeClr val="tx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SEÇÃO 1 · BLOCO 1</a:t>
            </a:r>
            <a:endParaRPr lang="en-US" sz="95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527487" y="6400800"/>
            <a:ext cx="109728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xmlns="" val="0"/>
            </a:ext>
          </a:extLst>
        </p:spPr>
        <p:txBody>
          <a:bodyPr lIns="0" tIns="0" rIns="0" bIns="0"/>
          <a:lstStyle>
            <a:lvl1pPr>
              <a:defRPr sz="1000">
                <a:solidFill>
                  <a:srgbClr val="8FA9A3"/>
                </a:solidFill>
                <a:latin typeface="Courier New"/>
                <a:ea typeface="Courier New"/>
                <a:cs typeface="Courier New"/>
              </a:defRPr>
            </a:lvl1pPr>
          </a:lstStyle>
          <a:p>
            <a:pPr algn="r"/>
            <a:fld id="{F7021451-1387-4CA6-816F-3879F97B5CBC}" type="slidenum">
              <a:rPr lang="en-US" b="0"/>
              <a:t>7</a:t>
            </a:fld>
            <a:endParaRPr lang="en-US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>
            <a:spLocks noGrp="1"/>
          </p:cNvSpPr>
          <p:nvPr>
            <p:ph type="title" idx="100" hasCustomPrompt="1"/>
          </p:nvPr>
        </p:nvSpPr>
        <p:spPr>
          <a:xfrm>
            <a:off x="566928" y="384048"/>
            <a:ext cx="11057839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buNone/>
            </a:pPr>
            <a:r>
              <a:rPr lang="en-US" sz="1900" b="1" dirty="0">
                <a:solidFill>
                  <a:schemeClr val="accent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1.5   </a:t>
            </a:r>
            <a:r>
              <a:rPr lang="en-US" sz="2800" b="1" dirty="0">
                <a:solidFill>
                  <a:schemeClr val="tx1"/>
                </a:solidFill>
              </a:rPr>
              <a:t>A IA amplifica o que encontra</a:t>
            </a:r>
            <a:endParaRPr lang="en-US" sz="2800" dirty="0"/>
          </a:p>
        </p:txBody>
      </p:sp>
      <p:sp>
        <p:nvSpPr>
          <p:cNvPr id="3" name="texto-0"/>
          <p:cNvSpPr txBox="1"/>
          <p:nvPr/>
        </p:nvSpPr>
        <p:spPr>
          <a:xfrm>
            <a:off x="566928" y="1085240"/>
            <a:ext cx="5346040" cy="32655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279400" indent="-279400" algn="l">
              <a:lnSpc>
                <a:spcPct val="105000"/>
              </a:lnSpc>
              <a:spcAft>
                <a:spcPts val="672"/>
              </a:spcAft>
              <a:buSzPct val="100000"/>
              <a:buChar char="•"/>
            </a:pPr>
            <a:r>
              <a:rPr lang="en-US" sz="2100" dirty="0">
                <a:solidFill>
                  <a:schemeClr val="tx1"/>
                </a:solidFill>
              </a:rPr>
              <a:t>Um agente de código lê seus arquivos, infere o significado das colunas e escreve a análise.</a:t>
            </a:r>
            <a:endParaRPr lang="en-US" sz="2100" dirty="0"/>
          </a:p>
          <a:p>
            <a:pPr marL="279400" indent="-279400" algn="l">
              <a:lnSpc>
                <a:spcPct val="105000"/>
              </a:lnSpc>
              <a:spcAft>
                <a:spcPts val="672"/>
              </a:spcAft>
              <a:buSzPct val="100000"/>
              <a:buChar char="•"/>
            </a:pPr>
            <a:r>
              <a:rPr lang="en-US" sz="2100" dirty="0">
                <a:solidFill>
                  <a:schemeClr val="tx1"/>
                </a:solidFill>
              </a:rPr>
              <a:t>Se o dicionário diz kg/ha e alguns valores estão em t/ha, o código </a:t>
            </a:r>
            <a:r>
              <a:rPr lang="en-US" sz="2100" b="1" dirty="0">
                <a:solidFill>
                  <a:schemeClr val="tx1"/>
                </a:solidFill>
              </a:rPr>
              <a:t>roda sem erro</a:t>
            </a:r>
            <a:r>
              <a:rPr lang="en-US" sz="2100" dirty="0">
                <a:solidFill>
                  <a:schemeClr val="tx1"/>
                </a:solidFill>
              </a:rPr>
              <a:t> e o resultado sai errado, com aparência de correto.</a:t>
            </a:r>
            <a:endParaRPr lang="en-US" sz="2100" dirty="0"/>
          </a:p>
          <a:p>
            <a:pPr marL="279400" indent="-279400" algn="l">
              <a:lnSpc>
                <a:spcPct val="105000"/>
              </a:lnSpc>
              <a:buSzPct val="100000"/>
              <a:buChar char="•"/>
            </a:pPr>
            <a:r>
              <a:rPr lang="en-US" sz="2100" dirty="0">
                <a:solidFill>
                  <a:schemeClr val="tx1"/>
                </a:solidFill>
              </a:rPr>
              <a:t>Se os IDs têm grafias diferentes, a junção de tabelas descarta linhas em silêncio.</a:t>
            </a:r>
            <a:endParaRPr lang="en-US" sz="2100" dirty="0"/>
          </a:p>
        </p:txBody>
      </p:sp>
      <p:sp>
        <p:nvSpPr>
          <p:cNvPr id="4" name="texto-1"/>
          <p:cNvSpPr txBox="1"/>
          <p:nvPr/>
        </p:nvSpPr>
        <p:spPr>
          <a:xfrm>
            <a:off x="6278728" y="1085240"/>
            <a:ext cx="5346040" cy="360127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ct val="105000"/>
              </a:lnSpc>
              <a:buNone/>
            </a:pPr>
            <a:r>
              <a:rPr lang="en-US" sz="2100" b="1" dirty="0">
                <a:solidFill>
                  <a:schemeClr val="accent2"/>
                </a:solidFill>
              </a:rPr>
              <a:t>O que a IA precisa para acertar</a:t>
            </a:r>
            <a:endParaRPr lang="en-US" sz="2100" dirty="0"/>
          </a:p>
        </p:txBody>
      </p:sp>
      <p:sp>
        <p:nvSpPr>
          <p:cNvPr id="5" name="texto-2"/>
          <p:cNvSpPr txBox="1"/>
          <p:nvPr/>
        </p:nvSpPr>
        <p:spPr>
          <a:xfrm>
            <a:off x="6278728" y="1481086"/>
            <a:ext cx="5346040" cy="206885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279400" indent="-279400" algn="l">
              <a:lnSpc>
                <a:spcPct val="105000"/>
              </a:lnSpc>
              <a:spcAft>
                <a:spcPts val="672"/>
              </a:spcAft>
              <a:buSzPct val="100000"/>
              <a:buChar char="•"/>
            </a:pPr>
            <a:r>
              <a:rPr lang="en-US" sz="2100" dirty="0">
                <a:solidFill>
                  <a:schemeClr val="tx1"/>
                </a:solidFill>
              </a:rPr>
              <a:t>Tabelas com chaves e tipos definidos</a:t>
            </a:r>
            <a:endParaRPr lang="en-US" sz="2100" dirty="0"/>
          </a:p>
          <a:p>
            <a:pPr marL="279400" indent="-279400" algn="l">
              <a:lnSpc>
                <a:spcPct val="105000"/>
              </a:lnSpc>
              <a:spcAft>
                <a:spcPts val="672"/>
              </a:spcAft>
              <a:buSzPct val="100000"/>
              <a:buChar char="•"/>
            </a:pPr>
            <a:r>
              <a:rPr lang="en-US" sz="2100" dirty="0">
                <a:solidFill>
                  <a:schemeClr val="tx1"/>
                </a:solidFill>
              </a:rPr>
              <a:t>Dicionário com unidades e intervalos válidos</a:t>
            </a:r>
            <a:endParaRPr lang="en-US" sz="2100" dirty="0"/>
          </a:p>
          <a:p>
            <a:pPr marL="279400" indent="-279400" algn="l">
              <a:lnSpc>
                <a:spcPct val="105000"/>
              </a:lnSpc>
              <a:spcAft>
                <a:spcPts val="672"/>
              </a:spcAft>
              <a:buSzPct val="100000"/>
              <a:buChar char="•"/>
            </a:pPr>
            <a:r>
              <a:rPr lang="en-US" sz="2100" dirty="0">
                <a:solidFill>
                  <a:schemeClr val="tx1"/>
                </a:solidFill>
              </a:rPr>
              <a:t>Identificadores padronizados</a:t>
            </a:r>
            <a:endParaRPr lang="en-US" sz="2100" dirty="0"/>
          </a:p>
          <a:p>
            <a:pPr marL="279400" indent="-279400" algn="l">
              <a:lnSpc>
                <a:spcPct val="105000"/>
              </a:lnSpc>
              <a:spcAft>
                <a:spcPts val="672"/>
              </a:spcAft>
              <a:buSzPct val="100000"/>
              <a:buChar char="•"/>
            </a:pPr>
            <a:r>
              <a:rPr lang="en-US" sz="2100" dirty="0">
                <a:solidFill>
                  <a:schemeClr val="tx1"/>
                </a:solidFill>
              </a:rPr>
              <a:t>Registro do que foi corrigido e por quê</a:t>
            </a:r>
            <a:endParaRPr lang="en-US" sz="2100" dirty="0"/>
          </a:p>
          <a:p>
            <a:pPr marL="279400" indent="-279400" algn="l">
              <a:lnSpc>
                <a:spcPct val="105000"/>
              </a:lnSpc>
              <a:buSzPct val="100000"/>
              <a:buChar char="•"/>
            </a:pPr>
            <a:r>
              <a:rPr lang="en-US" sz="2100" dirty="0">
                <a:solidFill>
                  <a:schemeClr val="tx1"/>
                </a:solidFill>
              </a:rPr>
              <a:t>Uma pasta com estrutura previsível</a:t>
            </a:r>
            <a:endParaRPr lang="en-US" sz="2100" dirty="0"/>
          </a:p>
        </p:txBody>
      </p:sp>
      <p:sp>
        <p:nvSpPr>
          <p:cNvPr id="6" name="ret-3"/>
          <p:cNvSpPr/>
          <p:nvPr/>
        </p:nvSpPr>
        <p:spPr>
          <a:xfrm>
            <a:off x="6278728" y="3651670"/>
            <a:ext cx="5346040" cy="903133"/>
          </a:xfrm>
          <a:prstGeom prst="roundRect">
            <a:avLst>
              <a:gd name="adj" fmla="val 8100"/>
            </a:avLst>
          </a:prstGeom>
          <a:solidFill>
            <a:schemeClr val="accent6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7" name="texto-4"/>
          <p:cNvSpPr txBox="1"/>
          <p:nvPr/>
        </p:nvSpPr>
        <p:spPr>
          <a:xfrm>
            <a:off x="6461608" y="3761398"/>
            <a:ext cx="4980280" cy="70196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ct val="105000"/>
              </a:lnSpc>
              <a:buNone/>
            </a:pPr>
            <a:r>
              <a:rPr lang="en-US" sz="2100" i="1" dirty="0">
                <a:solidFill>
                  <a:schemeClr val="tx1"/>
                </a:solidFill>
              </a:rPr>
              <a:t>Garbage in, garbage out</a:t>
            </a:r>
            <a:r>
              <a:rPr lang="en-US" sz="2100" dirty="0">
                <a:solidFill>
                  <a:schemeClr val="tx1"/>
                </a:solidFill>
              </a:rPr>
              <a:t> virou </a:t>
            </a:r>
            <a:r>
              <a:rPr lang="en-US" sz="2100" i="1" dirty="0">
                <a:solidFill>
                  <a:schemeClr val="tx1"/>
                </a:solidFill>
              </a:rPr>
              <a:t>garbage in, confident garbage out</a:t>
            </a:r>
            <a:r>
              <a:rPr lang="en-US" sz="2100" dirty="0">
                <a:solidFill>
                  <a:schemeClr val="tx1"/>
                </a:solidFill>
              </a:rPr>
              <a:t>.</a:t>
            </a:r>
            <a:endParaRPr lang="en-US" sz="2100" dirty="0"/>
          </a:p>
        </p:txBody>
      </p:sp>
      <p:sp>
        <p:nvSpPr>
          <p:cNvPr id="8" name="rodape"/>
          <p:cNvSpPr txBox="1"/>
          <p:nvPr/>
        </p:nvSpPr>
        <p:spPr>
          <a:xfrm>
            <a:off x="566928" y="640080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50" kern="0" spc="100" dirty="0">
                <a:solidFill>
                  <a:schemeClr val="tx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SEÇÃO 1 · BLOCO 1</a:t>
            </a:r>
            <a:endParaRPr lang="en-US" sz="95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527487" y="6400800"/>
            <a:ext cx="109728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xmlns="" val="0"/>
            </a:ext>
          </a:extLst>
        </p:spPr>
        <p:txBody>
          <a:bodyPr lIns="0" tIns="0" rIns="0" bIns="0"/>
          <a:lstStyle>
            <a:lvl1pPr>
              <a:defRPr sz="1000">
                <a:solidFill>
                  <a:srgbClr val="8FA9A3"/>
                </a:solidFill>
                <a:latin typeface="Courier New"/>
                <a:ea typeface="Courier New"/>
                <a:cs typeface="Courier New"/>
              </a:defRPr>
            </a:lvl1pPr>
          </a:lstStyle>
          <a:p>
            <a:pPr algn="r"/>
            <a:fld id="{F7021451-1387-4CA6-816F-3879F97B5CBC}" type="slidenum">
              <a:rPr lang="en-US" b="0"/>
              <a:t>8</a:t>
            </a:fld>
            <a:endParaRPr lang="en-US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>
            <a:spLocks noGrp="1"/>
          </p:cNvSpPr>
          <p:nvPr>
            <p:ph type="title" idx="100" hasCustomPrompt="1"/>
          </p:nvPr>
        </p:nvSpPr>
        <p:spPr>
          <a:xfrm>
            <a:off x="914400" y="2560320"/>
            <a:ext cx="9875520" cy="1828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buNone/>
            </a:pPr>
            <a:r>
              <a:rPr lang="en-US" sz="4600" b="1" dirty="0">
                <a:solidFill>
                  <a:schemeClr val="tx1"/>
                </a:solidFill>
              </a:rPr>
              <a:t>Bancos de dados relacionais e a linguagem SQL</a:t>
            </a:r>
            <a:endParaRPr lang="en-US" sz="4600" dirty="0"/>
          </a:p>
        </p:txBody>
      </p:sp>
      <p:sp>
        <p:nvSpPr>
          <p:cNvPr id="3" name="texto-0"/>
          <p:cNvSpPr txBox="1"/>
          <p:nvPr/>
        </p:nvSpPr>
        <p:spPr>
          <a:xfrm>
            <a:off x="914400" y="4572000"/>
            <a:ext cx="5486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ct val="100000"/>
              </a:lnSpc>
              <a:buNone/>
            </a:pPr>
            <a:r>
              <a:rPr lang="en-US" sz="1800" dirty="0">
                <a:solidFill>
                  <a:srgbClr val="B9CFC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35 min</a:t>
            </a:r>
            <a:endParaRPr lang="en-US" sz="1800" dirty="0"/>
          </a:p>
        </p:txBody>
      </p:sp>
      <p:sp>
        <p:nvSpPr>
          <p:cNvPr id="4" name="texto-1"/>
          <p:cNvSpPr txBox="1"/>
          <p:nvPr/>
        </p:nvSpPr>
        <p:spPr>
          <a:xfrm>
            <a:off x="914400" y="2148840"/>
            <a:ext cx="73152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ct val="100000"/>
              </a:lnSpc>
              <a:buNone/>
            </a:pPr>
            <a:r>
              <a:rPr lang="en-US" sz="1800" kern="0" spc="300" dirty="0">
                <a:solidFill>
                  <a:schemeClr val="accent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BLOCO 2</a:t>
            </a:r>
            <a:endParaRPr lang="en-US" sz="1800" dirty="0"/>
          </a:p>
        </p:txBody>
      </p:sp>
      <p:sp>
        <p:nvSpPr>
          <p:cNvPr id="5" name="rodape"/>
          <p:cNvSpPr txBox="1"/>
          <p:nvPr/>
        </p:nvSpPr>
        <p:spPr>
          <a:xfrm>
            <a:off x="566928" y="640080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50" kern="0" spc="100" dirty="0">
                <a:solidFill>
                  <a:srgbClr val="B9CFC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SEÇÃO 1 · BLOCO 2</a:t>
            </a:r>
            <a:endParaRPr lang="en-US" sz="95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527487" y="6400800"/>
            <a:ext cx="109728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xmlns="" val="0"/>
            </a:ext>
          </a:extLst>
        </p:spPr>
        <p:txBody>
          <a:bodyPr lIns="0" tIns="0" rIns="0" bIns="0"/>
          <a:lstStyle>
            <a:lvl1pPr>
              <a:defRPr sz="1000">
                <a:solidFill>
                  <a:srgbClr val="B9CFC6"/>
                </a:solidFill>
                <a:latin typeface="Courier New"/>
                <a:ea typeface="Courier New"/>
                <a:cs typeface="Courier New"/>
              </a:defRPr>
            </a:lvl1pPr>
          </a:lstStyle>
          <a:p>
            <a:pPr algn="r"/>
            <a:fld id="{F7021451-1387-4CA6-816F-3879F97B5CBC}" type="slidenum">
              <a:rPr lang="en-US" b="0"/>
              <a:t>9</a:t>
            </a:fld>
            <a:endParaRPr lang="en-US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>
            <a:spLocks noGrp="1"/>
          </p:cNvSpPr>
          <p:nvPr>
            <p:ph type="title" idx="100" hasCustomPrompt="1"/>
          </p:nvPr>
        </p:nvSpPr>
        <p:spPr>
          <a:xfrm>
            <a:off x="566928" y="384048"/>
            <a:ext cx="11057839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buNone/>
            </a:pPr>
            <a:r>
              <a:rPr lang="en-US" sz="1900" b="1" dirty="0">
                <a:solidFill>
                  <a:schemeClr val="accent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2.1   </a:t>
            </a:r>
            <a:r>
              <a:rPr lang="en-US" sz="2800" b="1" dirty="0">
                <a:solidFill>
                  <a:schemeClr val="tx1"/>
                </a:solidFill>
              </a:rPr>
              <a:t>Planilha ou banco de dados?</a:t>
            </a:r>
            <a:endParaRPr lang="en-US" sz="2800" dirty="0"/>
          </a:p>
        </p:txBody>
      </p:sp>
      <p:graphicFrame>
        <p:nvGraphicFramePr>
          <p:cNvPr id="11" name="tabela-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66928" y="1085240"/>
          <a:ext cx="11057839" cy="2867200"/>
        </p:xfrm>
        <a:graphic>
          <a:graphicData uri="http://schemas.openxmlformats.org/drawingml/2006/table">
            <a:tbl>
              <a:tblPr/>
              <a:tblGrid>
                <a:gridCol w="4224228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263078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4202831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</a:tblGrid>
              <a:tr h="358400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722" b="1" dirty="0">
                          <a:solidFill>
                            <a:schemeClr val="tx1"/>
                          </a:solidFill>
                        </a:rPr>
                        <a:t>Necessidade</a:t>
                      </a:r>
                      <a:endParaRPr lang="en-US" sz="1722" dirty="0"/>
                    </a:p>
                  </a:txBody>
                  <a:tcPr marL="73152" marR="73152" marT="32004" marB="32004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9050" cap="flat" cmpd="sng" algn="ctr">
                      <a:solidFill>
                        <a:srgbClr val="A6E35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722" b="1" dirty="0">
                          <a:solidFill>
                            <a:schemeClr val="tx1"/>
                          </a:solidFill>
                        </a:rPr>
                        <a:t>Planilha</a:t>
                      </a:r>
                      <a:endParaRPr lang="en-US" sz="1722" dirty="0"/>
                    </a:p>
                  </a:txBody>
                  <a:tcPr marL="73152" marR="73152" marT="32004" marB="32004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9050" cap="flat" cmpd="sng" algn="ctr">
                      <a:solidFill>
                        <a:srgbClr val="A6E35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722" b="1" dirty="0">
                          <a:solidFill>
                            <a:schemeClr val="tx1"/>
                          </a:solidFill>
                        </a:rPr>
                        <a:t>Banco relacional</a:t>
                      </a:r>
                      <a:endParaRPr lang="en-US" sz="1722" dirty="0"/>
                    </a:p>
                  </a:txBody>
                  <a:tcPr marL="73152" marR="73152" marT="32004" marB="32004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9050" cap="flat" cmpd="sng" algn="ctr">
                      <a:solidFill>
                        <a:srgbClr val="A6E35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358400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722" dirty="0">
                          <a:solidFill>
                            <a:schemeClr val="tx1"/>
                          </a:solidFill>
                        </a:rPr>
                        <a:t>Impedir genótipo sem cadastro</a:t>
                      </a:r>
                      <a:endParaRPr lang="en-US" sz="1722" dirty="0"/>
                    </a:p>
                  </a:txBody>
                  <a:tcPr marL="73152" marR="73152" marT="32004" marB="32004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19050" cap="flat" cmpd="sng" algn="ctr">
                      <a:solidFill>
                        <a:srgbClr val="A6E35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1D3A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722" dirty="0">
                          <a:solidFill>
                            <a:schemeClr val="tx1"/>
                          </a:solidFill>
                        </a:rPr>
                        <a:t>Não há como</a:t>
                      </a:r>
                      <a:endParaRPr lang="en-US" sz="1722" dirty="0"/>
                    </a:p>
                  </a:txBody>
                  <a:tcPr marL="73152" marR="73152" marT="32004" marB="32004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19050" cap="flat" cmpd="sng" algn="ctr">
                      <a:solidFill>
                        <a:srgbClr val="A6E35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1D3A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722" dirty="0">
                          <a:solidFill>
                            <a:schemeClr val="tx1"/>
                          </a:solidFill>
                        </a:rPr>
                        <a:t>Chave estrangeira</a:t>
                      </a:r>
                      <a:endParaRPr lang="en-US" sz="1722" dirty="0"/>
                    </a:p>
                  </a:txBody>
                  <a:tcPr marL="73152" marR="73152" marT="32004" marB="32004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19050" cap="flat" cmpd="sng" algn="ctr">
                      <a:solidFill>
                        <a:srgbClr val="A6E35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1D3A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358400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722" dirty="0">
                          <a:solidFill>
                            <a:schemeClr val="tx1"/>
                          </a:solidFill>
                        </a:rPr>
                        <a:t>Impedir duas parcelas na mesma posição</a:t>
                      </a:r>
                      <a:endParaRPr lang="en-US" sz="1722" dirty="0"/>
                    </a:p>
                  </a:txBody>
                  <a:tcPr marL="73152" marR="73152" marT="32004" marB="32004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9525" cap="flat" cmpd="sng" algn="ctr">
                      <a:solidFill>
                        <a:srgbClr val="1D3A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1D3A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722" dirty="0">
                          <a:solidFill>
                            <a:schemeClr val="tx1"/>
                          </a:solidFill>
                        </a:rPr>
                        <a:t>Não há como</a:t>
                      </a:r>
                      <a:endParaRPr lang="en-US" sz="1722" dirty="0"/>
                    </a:p>
                  </a:txBody>
                  <a:tcPr marL="73152" marR="73152" marT="32004" marB="32004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9525" cap="flat" cmpd="sng" algn="ctr">
                      <a:solidFill>
                        <a:srgbClr val="1D3A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1D3A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584" dirty="0">
                          <a:solidFill>
                            <a:schemeClr val="accent2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UNIQUE (ensaio, linha, coluna)</a:t>
                      </a:r>
                      <a:endParaRPr lang="en-US" sz="1722" dirty="0"/>
                    </a:p>
                  </a:txBody>
                  <a:tcPr marL="73152" marR="73152" marT="32004" marB="32004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9525" cap="flat" cmpd="sng" algn="ctr">
                      <a:solidFill>
                        <a:srgbClr val="1D3A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1D3A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358400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722" dirty="0">
                          <a:solidFill>
                            <a:schemeClr val="tx1"/>
                          </a:solidFill>
                        </a:rPr>
                        <a:t>Tipos e intervalos válidos</a:t>
                      </a:r>
                      <a:endParaRPr lang="en-US" sz="1722" dirty="0"/>
                    </a:p>
                  </a:txBody>
                  <a:tcPr marL="73152" marR="73152" marT="32004" marB="32004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9525" cap="flat" cmpd="sng" algn="ctr">
                      <a:solidFill>
                        <a:srgbClr val="1D3A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1D3A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722" dirty="0">
                          <a:solidFill>
                            <a:schemeClr val="tx1"/>
                          </a:solidFill>
                        </a:rPr>
                        <a:t>Validação manual e frágil</a:t>
                      </a:r>
                      <a:endParaRPr lang="en-US" sz="1722" dirty="0"/>
                    </a:p>
                  </a:txBody>
                  <a:tcPr marL="73152" marR="73152" marT="32004" marB="32004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9525" cap="flat" cmpd="sng" algn="ctr">
                      <a:solidFill>
                        <a:srgbClr val="1D3A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1D3A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722" dirty="0">
                          <a:solidFill>
                            <a:schemeClr val="tx1"/>
                          </a:solidFill>
                        </a:rPr>
                        <a:t>Tipos e </a:t>
                      </a:r>
                      <a:r>
                        <a:rPr lang="en-US" sz="1584" dirty="0">
                          <a:solidFill>
                            <a:schemeClr val="accent2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CHECK</a:t>
                      </a:r>
                      <a:endParaRPr lang="en-US" sz="1722" dirty="0"/>
                    </a:p>
                  </a:txBody>
                  <a:tcPr marL="73152" marR="73152" marT="32004" marB="32004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9525" cap="flat" cmpd="sng" algn="ctr">
                      <a:solidFill>
                        <a:srgbClr val="1D3A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1D3A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358400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722" dirty="0">
                          <a:solidFill>
                            <a:schemeClr val="tx1"/>
                          </a:solidFill>
                        </a:rPr>
                        <a:t>Vários usuários ao mesmo tempo</a:t>
                      </a:r>
                      <a:endParaRPr lang="en-US" sz="1722" dirty="0"/>
                    </a:p>
                  </a:txBody>
                  <a:tcPr marL="73152" marR="73152" marT="32004" marB="32004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9525" cap="flat" cmpd="sng" algn="ctr">
                      <a:solidFill>
                        <a:srgbClr val="1D3A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1D3A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722" dirty="0">
                          <a:solidFill>
                            <a:schemeClr val="tx1"/>
                          </a:solidFill>
                        </a:rPr>
                        <a:t>Cópias divergentes</a:t>
                      </a:r>
                      <a:endParaRPr lang="en-US" sz="1722" dirty="0"/>
                    </a:p>
                  </a:txBody>
                  <a:tcPr marL="73152" marR="73152" marT="32004" marB="32004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9525" cap="flat" cmpd="sng" algn="ctr">
                      <a:solidFill>
                        <a:srgbClr val="1D3A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1D3A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722" dirty="0">
                          <a:solidFill>
                            <a:schemeClr val="tx1"/>
                          </a:solidFill>
                        </a:rPr>
                        <a:t>Acesso concorrente</a:t>
                      </a:r>
                      <a:endParaRPr lang="en-US" sz="1722" dirty="0"/>
                    </a:p>
                  </a:txBody>
                  <a:tcPr marL="73152" marR="73152" marT="32004" marB="32004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9525" cap="flat" cmpd="sng" algn="ctr">
                      <a:solidFill>
                        <a:srgbClr val="1D3A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1D3A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358400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722" dirty="0">
                          <a:solidFill>
                            <a:schemeClr val="tx1"/>
                          </a:solidFill>
                        </a:rPr>
                        <a:t>Cruzar 10 safras</a:t>
                      </a:r>
                      <a:endParaRPr lang="en-US" sz="1722" dirty="0"/>
                    </a:p>
                  </a:txBody>
                  <a:tcPr marL="73152" marR="73152" marT="32004" marB="32004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9525" cap="flat" cmpd="sng" algn="ctr">
                      <a:solidFill>
                        <a:srgbClr val="1D3A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1D3A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722" dirty="0">
                          <a:solidFill>
                            <a:schemeClr val="tx1"/>
                          </a:solidFill>
                        </a:rPr>
                        <a:t>Copiar e colar</a:t>
                      </a:r>
                      <a:endParaRPr lang="en-US" sz="1722" dirty="0"/>
                    </a:p>
                  </a:txBody>
                  <a:tcPr marL="73152" marR="73152" marT="32004" marB="32004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9525" cap="flat" cmpd="sng" algn="ctr">
                      <a:solidFill>
                        <a:srgbClr val="1D3A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1D3A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722" dirty="0">
                          <a:solidFill>
                            <a:schemeClr val="tx1"/>
                          </a:solidFill>
                        </a:rPr>
                        <a:t>Uma consulta</a:t>
                      </a:r>
                      <a:endParaRPr lang="en-US" sz="1722" dirty="0"/>
                    </a:p>
                  </a:txBody>
                  <a:tcPr marL="73152" marR="73152" marT="32004" marB="32004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9525" cap="flat" cmpd="sng" algn="ctr">
                      <a:solidFill>
                        <a:srgbClr val="1D3A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1D3A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  <a:tr h="358400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722" dirty="0">
                          <a:solidFill>
                            <a:schemeClr val="tx1"/>
                          </a:solidFill>
                        </a:rPr>
                        <a:t>Saber o que mudou</a:t>
                      </a:r>
                      <a:endParaRPr lang="en-US" sz="1722" dirty="0"/>
                    </a:p>
                  </a:txBody>
                  <a:tcPr marL="73152" marR="73152" marT="32004" marB="32004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9525" cap="flat" cmpd="sng" algn="ctr">
                      <a:solidFill>
                        <a:srgbClr val="1D3A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1D3A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722" dirty="0">
                          <a:solidFill>
                            <a:schemeClr val="tx1"/>
                          </a:solidFill>
                        </a:rPr>
                        <a:t>Não há histórico</a:t>
                      </a:r>
                      <a:endParaRPr lang="en-US" sz="1722" dirty="0"/>
                    </a:p>
                  </a:txBody>
                  <a:tcPr marL="73152" marR="73152" marT="32004" marB="32004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9525" cap="flat" cmpd="sng" algn="ctr">
                      <a:solidFill>
                        <a:srgbClr val="1D3A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1D3A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722" dirty="0">
                          <a:solidFill>
                            <a:schemeClr val="tx1"/>
                          </a:solidFill>
                        </a:rPr>
                        <a:t>Camadas + registro de correções</a:t>
                      </a:r>
                      <a:endParaRPr lang="en-US" sz="1722" dirty="0"/>
                    </a:p>
                  </a:txBody>
                  <a:tcPr marL="73152" marR="73152" marT="32004" marB="32004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9525" cap="flat" cmpd="sng" algn="ctr">
                      <a:solidFill>
                        <a:srgbClr val="1D3A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1D3A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6"/>
                  </a:ext>
                </a:extLst>
              </a:tr>
              <a:tr h="358400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722" dirty="0">
                          <a:solidFill>
                            <a:schemeClr val="tx1"/>
                          </a:solidFill>
                        </a:rPr>
                        <a:t>Milhões de observações</a:t>
                      </a:r>
                      <a:endParaRPr lang="en-US" sz="1722" dirty="0"/>
                    </a:p>
                  </a:txBody>
                  <a:tcPr marL="73152" marR="73152" marT="32004" marB="32004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9525" cap="flat" cmpd="sng" algn="ctr">
                      <a:solidFill>
                        <a:srgbClr val="1D3A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0" cap="flat" cmpd="sng" algn="ctr"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722" dirty="0">
                          <a:solidFill>
                            <a:schemeClr val="tx1"/>
                          </a:solidFill>
                        </a:rPr>
                        <a:t>Lento ou impossível</a:t>
                      </a:r>
                      <a:endParaRPr lang="en-US" sz="1722" dirty="0"/>
                    </a:p>
                  </a:txBody>
                  <a:tcPr marL="73152" marR="73152" marT="32004" marB="32004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9525" cap="flat" cmpd="sng" algn="ctr">
                      <a:solidFill>
                        <a:srgbClr val="1D3A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0" cap="flat" cmpd="sng" algn="ctr"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722" dirty="0">
                          <a:solidFill>
                            <a:schemeClr val="tx1"/>
                          </a:solidFill>
                        </a:rPr>
                        <a:t>Rotina</a:t>
                      </a:r>
                      <a:endParaRPr lang="en-US" sz="1722" dirty="0"/>
                    </a:p>
                  </a:txBody>
                  <a:tcPr marL="73152" marR="73152" marT="32004" marB="32004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9525" cap="flat" cmpd="sng" algn="ctr">
                      <a:solidFill>
                        <a:srgbClr val="1D3A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0" cap="flat" cmpd="sng" algn="ctr">
                      <a:noFill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7"/>
                  </a:ext>
                </a:extLst>
              </a:tr>
            </a:tbl>
          </a:graphicData>
        </a:graphic>
      </p:graphicFrame>
      <p:sp>
        <p:nvSpPr>
          <p:cNvPr id="4" name="texto-1"/>
          <p:cNvSpPr txBox="1"/>
          <p:nvPr/>
        </p:nvSpPr>
        <p:spPr>
          <a:xfrm>
            <a:off x="566928" y="6093726"/>
            <a:ext cx="11057839" cy="19734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ct val="105000"/>
              </a:lnSpc>
              <a:buNone/>
            </a:pPr>
            <a:r>
              <a:rPr lang="en-US" sz="1100" dirty="0">
                <a:solidFill>
                  <a:schemeClr val="tx2"/>
                </a:solidFill>
              </a:rPr>
              <a:t>Planilhas continuam úteis para coleta e visualização rápida; o problema é usá-las como sistema de armazenamento do programa.</a:t>
            </a:r>
            <a:endParaRPr lang="en-US" sz="1100" dirty="0"/>
          </a:p>
        </p:txBody>
      </p:sp>
      <p:sp>
        <p:nvSpPr>
          <p:cNvPr id="5" name="rodape"/>
          <p:cNvSpPr txBox="1"/>
          <p:nvPr/>
        </p:nvSpPr>
        <p:spPr>
          <a:xfrm>
            <a:off x="566928" y="640080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50" kern="0" spc="100" dirty="0">
                <a:solidFill>
                  <a:schemeClr val="tx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SEÇÃO 1 · BLOCO 2</a:t>
            </a:r>
            <a:endParaRPr lang="en-US" sz="95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527487" y="6400800"/>
            <a:ext cx="109728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xmlns="" val="0"/>
            </a:ext>
          </a:extLst>
        </p:spPr>
        <p:txBody>
          <a:bodyPr lIns="0" tIns="0" rIns="0" bIns="0"/>
          <a:lstStyle>
            <a:lvl1pPr>
              <a:defRPr sz="1000">
                <a:solidFill>
                  <a:srgbClr val="8FA9A3"/>
                </a:solidFill>
                <a:latin typeface="Courier New"/>
                <a:ea typeface="Courier New"/>
                <a:cs typeface="Courier New"/>
              </a:defRPr>
            </a:lvl1pPr>
          </a:lstStyle>
          <a:p>
            <a:pPr algn="r"/>
            <a:fld id="{F7021451-1387-4CA6-816F-3879F97B5CBC}" type="slidenum">
              <a:rPr lang="en-US" b="0"/>
              <a:t>10</a:t>
            </a:fld>
            <a:endParaRPr lang="en-US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>
            <a:spLocks noGrp="1"/>
          </p:cNvSpPr>
          <p:nvPr>
            <p:ph type="title" idx="100" hasCustomPrompt="1"/>
          </p:nvPr>
        </p:nvSpPr>
        <p:spPr>
          <a:xfrm>
            <a:off x="566928" y="384048"/>
            <a:ext cx="11057839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buNone/>
            </a:pPr>
            <a:r>
              <a:rPr lang="en-US" sz="1900" b="1" dirty="0">
                <a:solidFill>
                  <a:schemeClr val="accent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2.2   </a:t>
            </a:r>
            <a:r>
              <a:rPr lang="en-US" sz="2800" b="1" dirty="0">
                <a:solidFill>
                  <a:schemeClr val="tx1"/>
                </a:solidFill>
              </a:rPr>
              <a:t>O modelo relacional de um programa</a:t>
            </a:r>
            <a:endParaRPr lang="en-US" sz="2800" dirty="0"/>
          </a:p>
        </p:txBody>
      </p:sp>
      <p:sp>
        <p:nvSpPr>
          <p:cNvPr id="3" name="ret-0"/>
          <p:cNvSpPr/>
          <p:nvPr/>
        </p:nvSpPr>
        <p:spPr>
          <a:xfrm>
            <a:off x="566928" y="1085240"/>
            <a:ext cx="2668448" cy="1173175"/>
          </a:xfrm>
          <a:prstGeom prst="roundRect">
            <a:avLst>
              <a:gd name="adj" fmla="val 4677"/>
            </a:avLst>
          </a:prstGeom>
          <a:solidFill>
            <a:schemeClr val="accent3"/>
          </a:solidFill>
          <a:ln w="9525">
            <a:solidFill>
              <a:schemeClr val="accent4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4" name="texto-1"/>
          <p:cNvSpPr txBox="1"/>
          <p:nvPr/>
        </p:nvSpPr>
        <p:spPr>
          <a:xfrm>
            <a:off x="658368" y="1158392"/>
            <a:ext cx="2485568" cy="24007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ct val="105000"/>
              </a:lnSpc>
              <a:buNone/>
            </a:pPr>
            <a:r>
              <a:rPr lang="en-US" sz="1386" b="1" dirty="0">
                <a:solidFill>
                  <a:schemeClr val="accent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ambiente</a:t>
            </a:r>
            <a:endParaRPr lang="en-US" sz="1386" dirty="0"/>
          </a:p>
        </p:txBody>
      </p:sp>
      <p:sp>
        <p:nvSpPr>
          <p:cNvPr id="5" name="linha-2"/>
          <p:cNvSpPr/>
          <p:nvPr/>
        </p:nvSpPr>
        <p:spPr>
          <a:xfrm>
            <a:off x="658368" y="1406195"/>
            <a:ext cx="2485568" cy="0"/>
          </a:xfrm>
          <a:prstGeom prst="line">
            <a:avLst/>
          </a:prstGeom>
          <a:noFill/>
          <a:ln w="9525">
            <a:solidFill>
              <a:schemeClr val="accent4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6" name="texto-3"/>
          <p:cNvSpPr txBox="1"/>
          <p:nvPr/>
        </p:nvSpPr>
        <p:spPr>
          <a:xfrm>
            <a:off x="658368" y="1442771"/>
            <a:ext cx="2485568" cy="60300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ct val="100000"/>
              </a:lnSpc>
              <a:buNone/>
            </a:pPr>
            <a:r>
              <a:rPr lang="en-US" sz="1218" dirty="0">
                <a:solidFill>
                  <a:schemeClr val="tx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ambiente_id PK</a:t>
            </a:r>
            <a:endParaRPr lang="en-US" sz="1218" dirty="0"/>
          </a:p>
          <a:p>
            <a:pPr marL="0" indent="0" algn="l">
              <a:lnSpc>
                <a:spcPct val="100000"/>
              </a:lnSpc>
              <a:buNone/>
            </a:pPr>
            <a:r>
              <a:rPr lang="en-US" sz="1218" dirty="0">
                <a:solidFill>
                  <a:schemeClr val="tx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local, ano, safra</a:t>
            </a:r>
            <a:endParaRPr lang="en-US" sz="1218" dirty="0"/>
          </a:p>
          <a:p>
            <a:pPr marL="0" indent="0" algn="l">
              <a:lnSpc>
                <a:spcPct val="100000"/>
              </a:lnSpc>
              <a:buNone/>
            </a:pPr>
            <a:r>
              <a:rPr lang="en-US" sz="1218" dirty="0">
                <a:solidFill>
                  <a:schemeClr val="tx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latitude, longitude</a:t>
            </a:r>
            <a:endParaRPr lang="en-US" sz="1218" dirty="0"/>
          </a:p>
        </p:txBody>
      </p:sp>
      <p:sp>
        <p:nvSpPr>
          <p:cNvPr id="7" name="ret-4"/>
          <p:cNvSpPr/>
          <p:nvPr/>
        </p:nvSpPr>
        <p:spPr>
          <a:xfrm>
            <a:off x="3363392" y="1085240"/>
            <a:ext cx="2668448" cy="1173175"/>
          </a:xfrm>
          <a:prstGeom prst="roundRect">
            <a:avLst>
              <a:gd name="adj" fmla="val 4677"/>
            </a:avLst>
          </a:prstGeom>
          <a:solidFill>
            <a:schemeClr val="accent3"/>
          </a:solidFill>
          <a:ln w="9525">
            <a:solidFill>
              <a:schemeClr val="accent4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8" name="texto-5"/>
          <p:cNvSpPr txBox="1"/>
          <p:nvPr/>
        </p:nvSpPr>
        <p:spPr>
          <a:xfrm>
            <a:off x="3454832" y="1158392"/>
            <a:ext cx="2485568" cy="24007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ct val="105000"/>
              </a:lnSpc>
              <a:buNone/>
            </a:pPr>
            <a:r>
              <a:rPr lang="en-US" sz="1386" b="1" dirty="0">
                <a:solidFill>
                  <a:schemeClr val="accent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ensaio</a:t>
            </a:r>
            <a:endParaRPr lang="en-US" sz="1386" dirty="0"/>
          </a:p>
        </p:txBody>
      </p:sp>
      <p:sp>
        <p:nvSpPr>
          <p:cNvPr id="9" name="linha-6"/>
          <p:cNvSpPr/>
          <p:nvPr/>
        </p:nvSpPr>
        <p:spPr>
          <a:xfrm>
            <a:off x="3454832" y="1406195"/>
            <a:ext cx="2485568" cy="0"/>
          </a:xfrm>
          <a:prstGeom prst="line">
            <a:avLst/>
          </a:prstGeom>
          <a:noFill/>
          <a:ln w="9525">
            <a:solidFill>
              <a:schemeClr val="accent4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0" name="texto-7"/>
          <p:cNvSpPr txBox="1"/>
          <p:nvPr/>
        </p:nvSpPr>
        <p:spPr>
          <a:xfrm>
            <a:off x="3454832" y="1442771"/>
            <a:ext cx="2485568" cy="60300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ct val="100000"/>
              </a:lnSpc>
              <a:buNone/>
            </a:pPr>
            <a:r>
              <a:rPr lang="en-US" sz="1218" dirty="0">
                <a:solidFill>
                  <a:schemeClr val="tx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ensaio_id PK</a:t>
            </a:r>
            <a:endParaRPr lang="en-US" sz="1218" dirty="0"/>
          </a:p>
          <a:p>
            <a:pPr marL="0" indent="0" algn="l">
              <a:lnSpc>
                <a:spcPct val="100000"/>
              </a:lnSpc>
              <a:buNone/>
            </a:pPr>
            <a:r>
              <a:rPr lang="en-US" sz="1218" dirty="0">
                <a:solidFill>
                  <a:schemeClr val="tx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ambiente_id FK</a:t>
            </a:r>
            <a:endParaRPr lang="en-US" sz="1218" dirty="0"/>
          </a:p>
          <a:p>
            <a:pPr marL="0" indent="0" algn="l">
              <a:lnSpc>
                <a:spcPct val="100000"/>
              </a:lnSpc>
              <a:buNone/>
            </a:pPr>
            <a:r>
              <a:rPr lang="en-US" sz="1218" dirty="0">
                <a:solidFill>
                  <a:schemeClr val="tx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delineamento, n_rep</a:t>
            </a:r>
            <a:endParaRPr lang="en-US" sz="1218" dirty="0"/>
          </a:p>
        </p:txBody>
      </p:sp>
      <p:sp>
        <p:nvSpPr>
          <p:cNvPr id="11" name="ret-8"/>
          <p:cNvSpPr/>
          <p:nvPr/>
        </p:nvSpPr>
        <p:spPr>
          <a:xfrm>
            <a:off x="6159856" y="1085240"/>
            <a:ext cx="2668448" cy="1173175"/>
          </a:xfrm>
          <a:prstGeom prst="roundRect">
            <a:avLst>
              <a:gd name="adj" fmla="val 4677"/>
            </a:avLst>
          </a:prstGeom>
          <a:solidFill>
            <a:schemeClr val="accent3"/>
          </a:solidFill>
          <a:ln w="9525">
            <a:solidFill>
              <a:schemeClr val="accent4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2" name="texto-9"/>
          <p:cNvSpPr txBox="1"/>
          <p:nvPr/>
        </p:nvSpPr>
        <p:spPr>
          <a:xfrm>
            <a:off x="6251296" y="1158392"/>
            <a:ext cx="2485568" cy="24007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ct val="105000"/>
              </a:lnSpc>
              <a:buNone/>
            </a:pPr>
            <a:r>
              <a:rPr lang="en-US" sz="1386" b="1" dirty="0">
                <a:solidFill>
                  <a:schemeClr val="accent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parcela</a:t>
            </a:r>
            <a:endParaRPr lang="en-US" sz="1386" dirty="0"/>
          </a:p>
        </p:txBody>
      </p:sp>
      <p:sp>
        <p:nvSpPr>
          <p:cNvPr id="13" name="linha-10"/>
          <p:cNvSpPr/>
          <p:nvPr/>
        </p:nvSpPr>
        <p:spPr>
          <a:xfrm>
            <a:off x="6251296" y="1406195"/>
            <a:ext cx="2485568" cy="0"/>
          </a:xfrm>
          <a:prstGeom prst="line">
            <a:avLst/>
          </a:prstGeom>
          <a:noFill/>
          <a:ln w="9525">
            <a:solidFill>
              <a:schemeClr val="accent4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4" name="texto-11"/>
          <p:cNvSpPr txBox="1"/>
          <p:nvPr/>
        </p:nvSpPr>
        <p:spPr>
          <a:xfrm>
            <a:off x="6251296" y="1442771"/>
            <a:ext cx="2485568" cy="79790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ct val="100000"/>
              </a:lnSpc>
              <a:buNone/>
            </a:pPr>
            <a:r>
              <a:rPr lang="en-US" sz="1218" dirty="0">
                <a:solidFill>
                  <a:schemeClr val="tx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parcela_id PK</a:t>
            </a:r>
            <a:endParaRPr lang="en-US" sz="1218" dirty="0"/>
          </a:p>
          <a:p>
            <a:pPr marL="0" indent="0" algn="l">
              <a:lnSpc>
                <a:spcPct val="100000"/>
              </a:lnSpc>
              <a:buNone/>
            </a:pPr>
            <a:r>
              <a:rPr lang="en-US" sz="1218" dirty="0">
                <a:solidFill>
                  <a:schemeClr val="tx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ensaio_id FK</a:t>
            </a:r>
            <a:endParaRPr lang="en-US" sz="1218" dirty="0"/>
          </a:p>
          <a:p>
            <a:pPr marL="0" indent="0" algn="l">
              <a:lnSpc>
                <a:spcPct val="100000"/>
              </a:lnSpc>
              <a:buNone/>
            </a:pPr>
            <a:r>
              <a:rPr lang="en-US" sz="1218" dirty="0">
                <a:solidFill>
                  <a:schemeClr val="tx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germoplasma_id FK</a:t>
            </a:r>
            <a:endParaRPr lang="en-US" sz="1218" dirty="0"/>
          </a:p>
          <a:p>
            <a:pPr marL="0" indent="0" algn="l">
              <a:lnSpc>
                <a:spcPct val="100000"/>
              </a:lnSpc>
              <a:buNone/>
            </a:pPr>
            <a:r>
              <a:rPr lang="en-US" sz="1218" dirty="0">
                <a:solidFill>
                  <a:schemeClr val="tx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bloco, linha, coluna</a:t>
            </a:r>
            <a:endParaRPr lang="en-US" sz="1218" dirty="0"/>
          </a:p>
        </p:txBody>
      </p:sp>
      <p:sp>
        <p:nvSpPr>
          <p:cNvPr id="15" name="ret-12"/>
          <p:cNvSpPr/>
          <p:nvPr/>
        </p:nvSpPr>
        <p:spPr>
          <a:xfrm>
            <a:off x="8956319" y="1085240"/>
            <a:ext cx="2668448" cy="1173175"/>
          </a:xfrm>
          <a:prstGeom prst="roundRect">
            <a:avLst>
              <a:gd name="adj" fmla="val 4677"/>
            </a:avLst>
          </a:prstGeom>
          <a:solidFill>
            <a:schemeClr val="accent3"/>
          </a:solidFill>
          <a:ln w="9525">
            <a:solidFill>
              <a:schemeClr val="accent4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6" name="texto-13"/>
          <p:cNvSpPr txBox="1"/>
          <p:nvPr/>
        </p:nvSpPr>
        <p:spPr>
          <a:xfrm>
            <a:off x="9047759" y="1158392"/>
            <a:ext cx="2485568" cy="24007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ct val="105000"/>
              </a:lnSpc>
              <a:buNone/>
            </a:pPr>
            <a:r>
              <a:rPr lang="en-US" sz="1386" b="1" dirty="0">
                <a:solidFill>
                  <a:schemeClr val="accent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observacao</a:t>
            </a:r>
            <a:endParaRPr lang="en-US" sz="1386" dirty="0"/>
          </a:p>
        </p:txBody>
      </p:sp>
      <p:sp>
        <p:nvSpPr>
          <p:cNvPr id="17" name="linha-14"/>
          <p:cNvSpPr/>
          <p:nvPr/>
        </p:nvSpPr>
        <p:spPr>
          <a:xfrm>
            <a:off x="9047759" y="1406195"/>
            <a:ext cx="2485568" cy="0"/>
          </a:xfrm>
          <a:prstGeom prst="line">
            <a:avLst/>
          </a:prstGeom>
          <a:noFill/>
          <a:ln w="9525">
            <a:solidFill>
              <a:schemeClr val="accent4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8" name="texto-15"/>
          <p:cNvSpPr txBox="1"/>
          <p:nvPr/>
        </p:nvSpPr>
        <p:spPr>
          <a:xfrm>
            <a:off x="9047759" y="1442771"/>
            <a:ext cx="2485568" cy="79790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ct val="100000"/>
              </a:lnSpc>
              <a:buNone/>
            </a:pPr>
            <a:r>
              <a:rPr lang="en-US" sz="1218" dirty="0">
                <a:solidFill>
                  <a:schemeClr val="tx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obs_id PK</a:t>
            </a:r>
            <a:endParaRPr lang="en-US" sz="1218" dirty="0"/>
          </a:p>
          <a:p>
            <a:pPr marL="0" indent="0" algn="l">
              <a:lnSpc>
                <a:spcPct val="100000"/>
              </a:lnSpc>
              <a:buNone/>
            </a:pPr>
            <a:r>
              <a:rPr lang="en-US" sz="1218" dirty="0">
                <a:solidFill>
                  <a:schemeClr val="tx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parcela_id FK</a:t>
            </a:r>
            <a:endParaRPr lang="en-US" sz="1218" dirty="0"/>
          </a:p>
          <a:p>
            <a:pPr marL="0" indent="0" algn="l">
              <a:lnSpc>
                <a:spcPct val="100000"/>
              </a:lnSpc>
              <a:buNone/>
            </a:pPr>
            <a:r>
              <a:rPr lang="en-US" sz="1218" dirty="0">
                <a:solidFill>
                  <a:schemeClr val="tx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variavel_id FK</a:t>
            </a:r>
            <a:endParaRPr lang="en-US" sz="1218" dirty="0"/>
          </a:p>
          <a:p>
            <a:pPr marL="0" indent="0" algn="l">
              <a:lnSpc>
                <a:spcPct val="100000"/>
              </a:lnSpc>
              <a:buNone/>
            </a:pPr>
            <a:r>
              <a:rPr lang="en-US" sz="1218" dirty="0">
                <a:solidFill>
                  <a:schemeClr val="tx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valor, data</a:t>
            </a:r>
            <a:endParaRPr lang="en-US" sz="1218" dirty="0"/>
          </a:p>
        </p:txBody>
      </p:sp>
      <p:sp>
        <p:nvSpPr>
          <p:cNvPr id="19" name="ret-16"/>
          <p:cNvSpPr/>
          <p:nvPr/>
        </p:nvSpPr>
        <p:spPr>
          <a:xfrm>
            <a:off x="566928" y="2386432"/>
            <a:ext cx="2668448" cy="987552"/>
          </a:xfrm>
          <a:prstGeom prst="roundRect">
            <a:avLst>
              <a:gd name="adj" fmla="val 5556"/>
            </a:avLst>
          </a:prstGeom>
          <a:solidFill>
            <a:schemeClr val="accent3"/>
          </a:solidFill>
          <a:ln w="9525">
            <a:solidFill>
              <a:schemeClr val="accent4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20" name="texto-17"/>
          <p:cNvSpPr txBox="1"/>
          <p:nvPr/>
        </p:nvSpPr>
        <p:spPr>
          <a:xfrm>
            <a:off x="658368" y="2459584"/>
            <a:ext cx="2485568" cy="24007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ct val="105000"/>
              </a:lnSpc>
              <a:buNone/>
            </a:pPr>
            <a:r>
              <a:rPr lang="en-US" sz="1386" b="1" dirty="0">
                <a:solidFill>
                  <a:schemeClr val="accent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variavel</a:t>
            </a:r>
            <a:endParaRPr lang="en-US" sz="1386" dirty="0"/>
          </a:p>
        </p:txBody>
      </p:sp>
      <p:sp>
        <p:nvSpPr>
          <p:cNvPr id="21" name="linha-18"/>
          <p:cNvSpPr/>
          <p:nvPr/>
        </p:nvSpPr>
        <p:spPr>
          <a:xfrm>
            <a:off x="658368" y="2707386"/>
            <a:ext cx="2485568" cy="0"/>
          </a:xfrm>
          <a:prstGeom prst="line">
            <a:avLst/>
          </a:prstGeom>
          <a:noFill/>
          <a:ln w="9525">
            <a:solidFill>
              <a:schemeClr val="accent4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22" name="texto-19"/>
          <p:cNvSpPr txBox="1"/>
          <p:nvPr/>
        </p:nvSpPr>
        <p:spPr>
          <a:xfrm>
            <a:off x="658368" y="2743962"/>
            <a:ext cx="2485568" cy="60300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ct val="100000"/>
              </a:lnSpc>
              <a:buNone/>
            </a:pPr>
            <a:r>
              <a:rPr lang="en-US" sz="1218" dirty="0">
                <a:solidFill>
                  <a:schemeClr val="tx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variavel_id PK</a:t>
            </a:r>
            <a:endParaRPr lang="en-US" sz="1218" dirty="0"/>
          </a:p>
          <a:p>
            <a:pPr marL="0" indent="0" algn="l">
              <a:lnSpc>
                <a:spcPct val="100000"/>
              </a:lnSpc>
              <a:buNone/>
            </a:pPr>
            <a:r>
              <a:rPr lang="en-US" sz="1218" dirty="0">
                <a:solidFill>
                  <a:schemeClr val="tx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codigo, unidade</a:t>
            </a:r>
            <a:endParaRPr lang="en-US" sz="1218" dirty="0"/>
          </a:p>
          <a:p>
            <a:pPr marL="0" indent="0" algn="l">
              <a:lnSpc>
                <a:spcPct val="100000"/>
              </a:lnSpc>
              <a:buNone/>
            </a:pPr>
            <a:r>
              <a:rPr lang="en-US" sz="1218" dirty="0">
                <a:solidFill>
                  <a:schemeClr val="tx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minimo, maximo</a:t>
            </a:r>
            <a:endParaRPr lang="en-US" sz="1218" dirty="0"/>
          </a:p>
        </p:txBody>
      </p:sp>
      <p:sp>
        <p:nvSpPr>
          <p:cNvPr id="23" name="ret-20"/>
          <p:cNvSpPr/>
          <p:nvPr/>
        </p:nvSpPr>
        <p:spPr>
          <a:xfrm>
            <a:off x="3363392" y="2386432"/>
            <a:ext cx="2668448" cy="987552"/>
          </a:xfrm>
          <a:prstGeom prst="roundRect">
            <a:avLst>
              <a:gd name="adj" fmla="val 5556"/>
            </a:avLst>
          </a:prstGeom>
          <a:solidFill>
            <a:schemeClr val="accent3"/>
          </a:solidFill>
          <a:ln w="9525">
            <a:solidFill>
              <a:schemeClr val="accent4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24" name="texto-21"/>
          <p:cNvSpPr txBox="1"/>
          <p:nvPr/>
        </p:nvSpPr>
        <p:spPr>
          <a:xfrm>
            <a:off x="3454832" y="2459584"/>
            <a:ext cx="2485568" cy="24007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ct val="105000"/>
              </a:lnSpc>
              <a:buNone/>
            </a:pPr>
            <a:r>
              <a:rPr lang="en-US" sz="1386" b="1" dirty="0">
                <a:solidFill>
                  <a:schemeClr val="accent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germoplasma</a:t>
            </a:r>
            <a:endParaRPr lang="en-US" sz="1386" dirty="0"/>
          </a:p>
        </p:txBody>
      </p:sp>
      <p:sp>
        <p:nvSpPr>
          <p:cNvPr id="25" name="linha-22"/>
          <p:cNvSpPr/>
          <p:nvPr/>
        </p:nvSpPr>
        <p:spPr>
          <a:xfrm>
            <a:off x="3454832" y="2707386"/>
            <a:ext cx="2485568" cy="0"/>
          </a:xfrm>
          <a:prstGeom prst="line">
            <a:avLst/>
          </a:prstGeom>
          <a:noFill/>
          <a:ln w="9525">
            <a:solidFill>
              <a:schemeClr val="accent4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26" name="texto-23"/>
          <p:cNvSpPr txBox="1"/>
          <p:nvPr/>
        </p:nvSpPr>
        <p:spPr>
          <a:xfrm>
            <a:off x="3454832" y="2743962"/>
            <a:ext cx="2485568" cy="408097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ct val="100000"/>
              </a:lnSpc>
              <a:buNone/>
            </a:pPr>
            <a:r>
              <a:rPr lang="en-US" sz="1218" dirty="0">
                <a:solidFill>
                  <a:schemeClr val="tx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germoplasma_id PK</a:t>
            </a:r>
            <a:endParaRPr lang="en-US" sz="1218" dirty="0"/>
          </a:p>
          <a:p>
            <a:pPr marL="0" indent="0" algn="l">
              <a:lnSpc>
                <a:spcPct val="100000"/>
              </a:lnSpc>
              <a:buNone/>
            </a:pPr>
            <a:r>
              <a:rPr lang="en-US" sz="1218" dirty="0">
                <a:solidFill>
                  <a:schemeClr val="tx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grupo, coorte, origem</a:t>
            </a:r>
            <a:endParaRPr lang="en-US" sz="1218" dirty="0"/>
          </a:p>
        </p:txBody>
      </p:sp>
      <p:sp>
        <p:nvSpPr>
          <p:cNvPr id="27" name="ret-24"/>
          <p:cNvSpPr/>
          <p:nvPr/>
        </p:nvSpPr>
        <p:spPr>
          <a:xfrm>
            <a:off x="6159856" y="2386432"/>
            <a:ext cx="2668448" cy="987552"/>
          </a:xfrm>
          <a:prstGeom prst="roundRect">
            <a:avLst>
              <a:gd name="adj" fmla="val 5556"/>
            </a:avLst>
          </a:prstGeom>
          <a:solidFill>
            <a:schemeClr val="accent3"/>
          </a:solidFill>
          <a:ln w="9525">
            <a:solidFill>
              <a:schemeClr val="accent4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28" name="texto-25"/>
          <p:cNvSpPr txBox="1"/>
          <p:nvPr/>
        </p:nvSpPr>
        <p:spPr>
          <a:xfrm>
            <a:off x="6251296" y="2459584"/>
            <a:ext cx="2485568" cy="24007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ct val="105000"/>
              </a:lnSpc>
              <a:buNone/>
            </a:pPr>
            <a:r>
              <a:rPr lang="en-US" sz="1386" b="1" dirty="0">
                <a:solidFill>
                  <a:schemeClr val="accent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pedigree</a:t>
            </a:r>
            <a:endParaRPr lang="en-US" sz="1386" dirty="0"/>
          </a:p>
        </p:txBody>
      </p:sp>
      <p:sp>
        <p:nvSpPr>
          <p:cNvPr id="29" name="linha-26"/>
          <p:cNvSpPr/>
          <p:nvPr/>
        </p:nvSpPr>
        <p:spPr>
          <a:xfrm>
            <a:off x="6251296" y="2707386"/>
            <a:ext cx="2485568" cy="0"/>
          </a:xfrm>
          <a:prstGeom prst="line">
            <a:avLst/>
          </a:prstGeom>
          <a:noFill/>
          <a:ln w="9525">
            <a:solidFill>
              <a:schemeClr val="accent4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30" name="texto-27"/>
          <p:cNvSpPr txBox="1"/>
          <p:nvPr/>
        </p:nvSpPr>
        <p:spPr>
          <a:xfrm>
            <a:off x="6251296" y="2743962"/>
            <a:ext cx="2485568" cy="408097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ct val="100000"/>
              </a:lnSpc>
              <a:buNone/>
            </a:pPr>
            <a:r>
              <a:rPr lang="en-US" sz="1218" dirty="0">
                <a:solidFill>
                  <a:schemeClr val="tx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germoplasma_id PK/FK</a:t>
            </a:r>
            <a:endParaRPr lang="en-US" sz="1218" dirty="0"/>
          </a:p>
          <a:p>
            <a:pPr marL="0" indent="0" algn="l">
              <a:lnSpc>
                <a:spcPct val="100000"/>
              </a:lnSpc>
              <a:buNone/>
            </a:pPr>
            <a:r>
              <a:rPr lang="en-US" sz="1218" dirty="0">
                <a:solidFill>
                  <a:schemeClr val="tx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mae_id FK, pai_id FK</a:t>
            </a:r>
            <a:endParaRPr lang="en-US" sz="1218" dirty="0"/>
          </a:p>
        </p:txBody>
      </p:sp>
      <p:sp>
        <p:nvSpPr>
          <p:cNvPr id="31" name="ret-28"/>
          <p:cNvSpPr/>
          <p:nvPr/>
        </p:nvSpPr>
        <p:spPr>
          <a:xfrm>
            <a:off x="8956319" y="2386432"/>
            <a:ext cx="2668448" cy="987552"/>
          </a:xfrm>
          <a:prstGeom prst="roundRect">
            <a:avLst>
              <a:gd name="adj" fmla="val 5556"/>
            </a:avLst>
          </a:prstGeom>
          <a:solidFill>
            <a:schemeClr val="accent3"/>
          </a:solidFill>
          <a:ln w="9525">
            <a:solidFill>
              <a:schemeClr val="accent4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32" name="texto-29"/>
          <p:cNvSpPr txBox="1"/>
          <p:nvPr/>
        </p:nvSpPr>
        <p:spPr>
          <a:xfrm>
            <a:off x="9047759" y="2459584"/>
            <a:ext cx="2485568" cy="24007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ct val="105000"/>
              </a:lnSpc>
              <a:buNone/>
            </a:pPr>
            <a:r>
              <a:rPr lang="en-US" sz="1386" b="1" dirty="0">
                <a:solidFill>
                  <a:schemeClr val="accent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amostra_genotipo</a:t>
            </a:r>
            <a:endParaRPr lang="en-US" sz="1386" dirty="0"/>
          </a:p>
        </p:txBody>
      </p:sp>
      <p:sp>
        <p:nvSpPr>
          <p:cNvPr id="33" name="linha-30"/>
          <p:cNvSpPr/>
          <p:nvPr/>
        </p:nvSpPr>
        <p:spPr>
          <a:xfrm>
            <a:off x="9047759" y="2707386"/>
            <a:ext cx="2485568" cy="0"/>
          </a:xfrm>
          <a:prstGeom prst="line">
            <a:avLst/>
          </a:prstGeom>
          <a:noFill/>
          <a:ln w="9525">
            <a:solidFill>
              <a:schemeClr val="accent4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34" name="texto-31"/>
          <p:cNvSpPr txBox="1"/>
          <p:nvPr/>
        </p:nvSpPr>
        <p:spPr>
          <a:xfrm>
            <a:off x="9047759" y="2743962"/>
            <a:ext cx="2485568" cy="408097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ct val="100000"/>
              </a:lnSpc>
              <a:buNone/>
            </a:pPr>
            <a:r>
              <a:rPr lang="en-US" sz="1218" dirty="0">
                <a:solidFill>
                  <a:schemeClr val="tx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germoplasma_id PK/FK</a:t>
            </a:r>
            <a:endParaRPr lang="en-US" sz="1218" dirty="0"/>
          </a:p>
          <a:p>
            <a:pPr marL="0" indent="0" algn="l">
              <a:lnSpc>
                <a:spcPct val="100000"/>
              </a:lnSpc>
              <a:buNone/>
            </a:pPr>
            <a:r>
              <a:rPr lang="en-US" sz="1218" dirty="0">
                <a:solidFill>
                  <a:schemeClr val="tx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arquivo da matriz SNP</a:t>
            </a:r>
            <a:endParaRPr lang="en-US" sz="1218" dirty="0"/>
          </a:p>
        </p:txBody>
      </p:sp>
      <p:sp>
        <p:nvSpPr>
          <p:cNvPr id="35" name="texto-32"/>
          <p:cNvSpPr txBox="1"/>
          <p:nvPr/>
        </p:nvSpPr>
        <p:spPr>
          <a:xfrm>
            <a:off x="566928" y="3534004"/>
            <a:ext cx="11057839" cy="11291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279400" indent="-279400" algn="l">
              <a:lnSpc>
                <a:spcPct val="105000"/>
              </a:lnSpc>
              <a:spcAft>
                <a:spcPts val="672"/>
              </a:spcAft>
              <a:buSzPct val="100000"/>
              <a:buChar char="•"/>
            </a:pPr>
            <a:r>
              <a:rPr lang="en-US" sz="2100" dirty="0">
                <a:solidFill>
                  <a:schemeClr val="tx1"/>
                </a:solidFill>
              </a:rPr>
              <a:t>Cada informação vive em </a:t>
            </a:r>
            <a:r>
              <a:rPr lang="en-US" sz="2100" b="1" dirty="0">
                <a:solidFill>
                  <a:schemeClr val="tx1"/>
                </a:solidFill>
              </a:rPr>
              <a:t>um único lugar</a:t>
            </a:r>
            <a:r>
              <a:rPr lang="en-US" sz="2100" dirty="0">
                <a:solidFill>
                  <a:schemeClr val="tx1"/>
                </a:solidFill>
              </a:rPr>
              <a:t>: a latitude está no ambiente, não repetida em 4.800 parcelas.</a:t>
            </a:r>
            <a:endParaRPr lang="en-US" sz="2100" dirty="0"/>
          </a:p>
          <a:p>
            <a:pPr marL="279400" indent="-279400" algn="l">
              <a:lnSpc>
                <a:spcPct val="105000"/>
              </a:lnSpc>
              <a:buSzPct val="100000"/>
              <a:buChar char="•"/>
            </a:pPr>
            <a:r>
              <a:rPr lang="en-US" sz="2100" dirty="0">
                <a:solidFill>
                  <a:schemeClr val="tx1"/>
                </a:solidFill>
              </a:rPr>
              <a:t>As chaves estrangeiras (FK) ligam as tabelas e impedem registros órfãos.</a:t>
            </a:r>
            <a:endParaRPr lang="en-US" sz="2100" dirty="0"/>
          </a:p>
        </p:txBody>
      </p:sp>
      <p:sp>
        <p:nvSpPr>
          <p:cNvPr id="36" name="rodape"/>
          <p:cNvSpPr txBox="1"/>
          <p:nvPr/>
        </p:nvSpPr>
        <p:spPr>
          <a:xfrm>
            <a:off x="566928" y="640080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50" kern="0" spc="100" dirty="0">
                <a:solidFill>
                  <a:schemeClr val="tx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SEÇÃO 1 · BLOCO 2</a:t>
            </a:r>
            <a:endParaRPr lang="en-US" sz="950" dirty="0"/>
          </a:p>
        </p:txBody>
      </p:sp>
      <p:sp>
        <p:nvSpPr>
          <p:cNvPr id="37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527487" y="6400800"/>
            <a:ext cx="109728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xmlns="" val="0"/>
            </a:ext>
          </a:extLst>
        </p:spPr>
        <p:txBody>
          <a:bodyPr lIns="0" tIns="0" rIns="0" bIns="0"/>
          <a:lstStyle>
            <a:lvl1pPr>
              <a:defRPr sz="1000">
                <a:solidFill>
                  <a:srgbClr val="8FA9A3"/>
                </a:solidFill>
                <a:latin typeface="Courier New"/>
                <a:ea typeface="Courier New"/>
                <a:cs typeface="Courier New"/>
              </a:defRPr>
            </a:lvl1pPr>
          </a:lstStyle>
          <a:p>
            <a:pPr algn="r"/>
            <a:fld id="{F7021451-1387-4CA6-816F-3879F97B5CBC}" type="slidenum">
              <a:rPr lang="en-US" b="0"/>
              <a:t>11</a:t>
            </a:fld>
            <a:endParaRPr lang="en-US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>
            <a:spLocks noGrp="1"/>
          </p:cNvSpPr>
          <p:nvPr>
            <p:ph type="title" idx="100" hasCustomPrompt="1"/>
          </p:nvPr>
        </p:nvSpPr>
        <p:spPr>
          <a:xfrm>
            <a:off x="566928" y="384048"/>
            <a:ext cx="11057839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buNone/>
            </a:pPr>
            <a:r>
              <a:rPr lang="en-US" sz="1900" b="1" dirty="0">
                <a:solidFill>
                  <a:schemeClr val="accent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2.3   </a:t>
            </a:r>
            <a:r>
              <a:rPr lang="en-US" sz="2800" b="1" dirty="0">
                <a:solidFill>
                  <a:schemeClr val="tx1"/>
                </a:solidFill>
              </a:rPr>
              <a:t>Chaves e restrições: regras do programa escritas no banco</a:t>
            </a:r>
            <a:endParaRPr lang="en-US" sz="2800" dirty="0"/>
          </a:p>
        </p:txBody>
      </p:sp>
      <p:sp>
        <p:nvSpPr>
          <p:cNvPr id="3" name="ret-0"/>
          <p:cNvSpPr/>
          <p:nvPr/>
        </p:nvSpPr>
        <p:spPr>
          <a:xfrm>
            <a:off x="566928" y="1493825"/>
            <a:ext cx="11057839" cy="2134199"/>
          </a:xfrm>
          <a:prstGeom prst="roundRect">
            <a:avLst>
              <a:gd name="adj" fmla="val 2571"/>
            </a:avLst>
          </a:prstGeom>
          <a:solidFill>
            <a:schemeClr val="accent5"/>
          </a:solidFill>
          <a:ln w="9525">
            <a:solidFill>
              <a:schemeClr val="accent4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4" name="texto-1"/>
          <p:cNvSpPr txBox="1"/>
          <p:nvPr/>
        </p:nvSpPr>
        <p:spPr>
          <a:xfrm>
            <a:off x="713232" y="1585265"/>
            <a:ext cx="10765231" cy="1969607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ct val="100000"/>
              </a:lnSpc>
              <a:buNone/>
            </a:pPr>
            <a:r>
              <a:rPr lang="en-US" sz="1280" dirty="0">
                <a:solidFill>
                  <a:schemeClr val="tx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CREATE TABLE parcela (</a:t>
            </a:r>
            <a:endParaRPr lang="en-US" sz="1280" dirty="0"/>
          </a:p>
          <a:p>
            <a:pPr marL="0" indent="0" algn="l">
              <a:lnSpc>
                <a:spcPct val="100000"/>
              </a:lnSpc>
              <a:buNone/>
            </a:pPr>
            <a:r>
              <a:rPr lang="en-US" sz="1280" dirty="0">
                <a:solidFill>
                  <a:schemeClr val="tx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parcela_id     TEXT PRIMARY KEY,                                   </a:t>
            </a:r>
            <a:r>
              <a:rPr lang="en-US" sz="1280" dirty="0">
                <a:solidFill>
                  <a:schemeClr val="tx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-- uma linha por parcela</a:t>
            </a:r>
            <a:endParaRPr lang="en-US" sz="1280" dirty="0"/>
          </a:p>
          <a:p>
            <a:pPr marL="0" indent="0" algn="l">
              <a:lnSpc>
                <a:spcPct val="100000"/>
              </a:lnSpc>
              <a:buNone/>
            </a:pPr>
            <a:r>
              <a:rPr lang="en-US" sz="1280" dirty="0">
                <a:solidFill>
                  <a:schemeClr val="tx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ensaio_id      TEXT NOT NULL REFERENCES ensaio(ensaio_id),         </a:t>
            </a:r>
            <a:r>
              <a:rPr lang="en-US" sz="1280" dirty="0">
                <a:solidFill>
                  <a:schemeClr val="tx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-- ensaio precisa existir</a:t>
            </a:r>
            <a:endParaRPr lang="en-US" sz="1280" dirty="0"/>
          </a:p>
          <a:p>
            <a:pPr marL="0" indent="0" algn="l">
              <a:lnSpc>
                <a:spcPct val="100000"/>
              </a:lnSpc>
              <a:buNone/>
            </a:pPr>
            <a:r>
              <a:rPr lang="en-US" sz="1280" dirty="0">
                <a:solidFill>
                  <a:schemeClr val="tx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germoplasma_id TEXT NOT NULL REFERENCES germoplasma(germoplasma_id), </a:t>
            </a:r>
            <a:r>
              <a:rPr lang="en-US" sz="1280" dirty="0">
                <a:solidFill>
                  <a:schemeClr val="tx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-- genótipo precisa estar cadastrado</a:t>
            </a:r>
            <a:endParaRPr lang="en-US" sz="1280" dirty="0"/>
          </a:p>
          <a:p>
            <a:pPr marL="0" indent="0" algn="l">
              <a:lnSpc>
                <a:spcPct val="100000"/>
              </a:lnSpc>
              <a:buNone/>
            </a:pPr>
            <a:r>
              <a:rPr lang="en-US" sz="1280" dirty="0">
                <a:solidFill>
                  <a:schemeClr val="tx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bloco          INTEGER CHECK (bloco BETWEEN 1 AND 4),</a:t>
            </a:r>
            <a:endParaRPr lang="en-US" sz="1280" dirty="0"/>
          </a:p>
          <a:p>
            <a:pPr marL="0" indent="0" algn="l">
              <a:lnSpc>
                <a:spcPct val="100000"/>
              </a:lnSpc>
              <a:buNone/>
            </a:pPr>
            <a:r>
              <a:rPr lang="en-US" sz="1280" dirty="0">
                <a:solidFill>
                  <a:schemeClr val="tx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linha          INTEGER,</a:t>
            </a:r>
            <a:endParaRPr lang="en-US" sz="1280" dirty="0"/>
          </a:p>
          <a:p>
            <a:pPr marL="0" indent="0" algn="l">
              <a:lnSpc>
                <a:spcPct val="100000"/>
              </a:lnSpc>
              <a:buNone/>
            </a:pPr>
            <a:r>
              <a:rPr lang="en-US" sz="1280" dirty="0">
                <a:solidFill>
                  <a:schemeClr val="tx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coluna         INTEGER,</a:t>
            </a:r>
            <a:endParaRPr lang="en-US" sz="1280" dirty="0"/>
          </a:p>
          <a:p>
            <a:pPr marL="0" indent="0" algn="l">
              <a:lnSpc>
                <a:spcPct val="100000"/>
              </a:lnSpc>
              <a:buNone/>
            </a:pPr>
            <a:r>
              <a:rPr lang="en-US" sz="1280" dirty="0">
                <a:solidFill>
                  <a:schemeClr val="tx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UNIQUE (ensaio_id, linha, coluna)                                  </a:t>
            </a:r>
            <a:r>
              <a:rPr lang="en-US" sz="1280" dirty="0">
                <a:solidFill>
                  <a:schemeClr val="tx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-- uma parcela por posição</a:t>
            </a:r>
            <a:endParaRPr lang="en-US" sz="1280" dirty="0"/>
          </a:p>
          <a:p>
            <a:pPr marL="0" indent="0" algn="l">
              <a:lnSpc>
                <a:spcPct val="100000"/>
              </a:lnSpc>
              <a:buNone/>
            </a:pPr>
            <a:r>
              <a:rPr lang="en-US" sz="1280" dirty="0">
                <a:solidFill>
                  <a:schemeClr val="tx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);</a:t>
            </a:r>
            <a:endParaRPr lang="en-US" sz="1280" dirty="0"/>
          </a:p>
        </p:txBody>
      </p:sp>
      <p:sp>
        <p:nvSpPr>
          <p:cNvPr id="5" name="texto-2"/>
          <p:cNvSpPr txBox="1"/>
          <p:nvPr/>
        </p:nvSpPr>
        <p:spPr>
          <a:xfrm>
            <a:off x="566928" y="3788044"/>
            <a:ext cx="11057839" cy="1470987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279400" indent="-279400" algn="l">
              <a:lnSpc>
                <a:spcPct val="105000"/>
              </a:lnSpc>
              <a:spcAft>
                <a:spcPts val="672"/>
              </a:spcAft>
              <a:buSzPct val="100000"/>
              <a:buChar char="•"/>
            </a:pPr>
            <a:r>
              <a:rPr lang="en-US" sz="1932" dirty="0">
                <a:solidFill>
                  <a:schemeClr val="accent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PRIMARY KEY</a:t>
            </a:r>
            <a:r>
              <a:rPr lang="en-US" sz="2100" dirty="0">
                <a:solidFill>
                  <a:schemeClr val="tx1"/>
                </a:solidFill>
              </a:rPr>
              <a:t>: identidade única. </a:t>
            </a:r>
            <a:r>
              <a:rPr lang="en-US" sz="1932" dirty="0">
                <a:solidFill>
                  <a:schemeClr val="accent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REFERENCES</a:t>
            </a:r>
            <a:r>
              <a:rPr lang="en-US" sz="2100" dirty="0">
                <a:solidFill>
                  <a:schemeClr val="tx1"/>
                </a:solidFill>
              </a:rPr>
              <a:t>: integridade referencial. </a:t>
            </a:r>
            <a:r>
              <a:rPr lang="en-US" sz="1932" dirty="0">
                <a:solidFill>
                  <a:schemeClr val="accent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UNIQUE</a:t>
            </a:r>
            <a:r>
              <a:rPr lang="en-US" sz="2100" dirty="0">
                <a:solidFill>
                  <a:schemeClr val="tx1"/>
                </a:solidFill>
              </a:rPr>
              <a:t>: sem duplicatas físicas. </a:t>
            </a:r>
            <a:r>
              <a:rPr lang="en-US" sz="1932" dirty="0">
                <a:solidFill>
                  <a:schemeClr val="accent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CHECK</a:t>
            </a:r>
            <a:r>
              <a:rPr lang="en-US" sz="2100" dirty="0">
                <a:solidFill>
                  <a:schemeClr val="tx1"/>
                </a:solidFill>
              </a:rPr>
              <a:t>: valores válidos. </a:t>
            </a:r>
            <a:r>
              <a:rPr lang="en-US" sz="1932" dirty="0">
                <a:solidFill>
                  <a:schemeClr val="accent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NOT NULL</a:t>
            </a:r>
            <a:r>
              <a:rPr lang="en-US" sz="2100" dirty="0">
                <a:solidFill>
                  <a:schemeClr val="tx1"/>
                </a:solidFill>
              </a:rPr>
              <a:t>: campo obrigatório.</a:t>
            </a:r>
            <a:endParaRPr lang="en-US" sz="1932" dirty="0"/>
          </a:p>
          <a:p>
            <a:pPr marL="279400" indent="-279400" algn="l">
              <a:lnSpc>
                <a:spcPct val="105000"/>
              </a:lnSpc>
              <a:buSzPct val="100000"/>
              <a:buChar char="•"/>
            </a:pPr>
            <a:r>
              <a:rPr lang="en-US" sz="2100" dirty="0">
                <a:solidFill>
                  <a:schemeClr val="tx1"/>
                </a:solidFill>
              </a:rPr>
              <a:t>A restrição transforma uma regra que dependia da atenção de alguém em uma regra que </a:t>
            </a:r>
            <a:r>
              <a:rPr lang="en-US" sz="2100" b="1" dirty="0">
                <a:solidFill>
                  <a:schemeClr val="tx1"/>
                </a:solidFill>
              </a:rPr>
              <a:t>o banco garante</a:t>
            </a:r>
            <a:r>
              <a:rPr lang="en-US" sz="2100" dirty="0">
                <a:solidFill>
                  <a:schemeClr val="tx1"/>
                </a:solidFill>
              </a:rPr>
              <a:t>.</a:t>
            </a:r>
            <a:endParaRPr lang="en-US" sz="1932" dirty="0"/>
          </a:p>
        </p:txBody>
      </p:sp>
      <p:sp>
        <p:nvSpPr>
          <p:cNvPr id="6" name="rodape"/>
          <p:cNvSpPr txBox="1"/>
          <p:nvPr/>
        </p:nvSpPr>
        <p:spPr>
          <a:xfrm>
            <a:off x="566928" y="640080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50" kern="0" spc="100" dirty="0">
                <a:solidFill>
                  <a:schemeClr val="tx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SEÇÃO 1 · BLOCO 2</a:t>
            </a:r>
            <a:endParaRPr lang="en-US" sz="95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527487" y="6400800"/>
            <a:ext cx="109728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xmlns="" val="0"/>
            </a:ext>
          </a:extLst>
        </p:spPr>
        <p:txBody>
          <a:bodyPr lIns="0" tIns="0" rIns="0" bIns="0"/>
          <a:lstStyle>
            <a:lvl1pPr>
              <a:defRPr sz="1000">
                <a:solidFill>
                  <a:srgbClr val="8FA9A3"/>
                </a:solidFill>
                <a:latin typeface="Courier New"/>
                <a:ea typeface="Courier New"/>
                <a:cs typeface="Courier New"/>
              </a:defRPr>
            </a:lvl1pPr>
          </a:lstStyle>
          <a:p>
            <a:pPr algn="r"/>
            <a:fld id="{F7021451-1387-4CA6-816F-3879F97B5CBC}" type="slidenum">
              <a:rPr lang="en-US" b="0"/>
              <a:t>12</a:t>
            </a:fld>
            <a:endParaRPr lang="en-US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>
            <a:spLocks noGrp="1"/>
          </p:cNvSpPr>
          <p:nvPr>
            <p:ph type="title" idx="100" hasCustomPrompt="1"/>
          </p:nvPr>
        </p:nvSpPr>
        <p:spPr>
          <a:xfrm>
            <a:off x="566928" y="384048"/>
            <a:ext cx="11057839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buNone/>
            </a:pPr>
            <a:r>
              <a:rPr lang="en-US" sz="1900" b="1" dirty="0">
                <a:solidFill>
                  <a:schemeClr val="accent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2.4   </a:t>
            </a:r>
            <a:r>
              <a:rPr lang="en-US" sz="2800" b="1" dirty="0">
                <a:solidFill>
                  <a:schemeClr val="tx1"/>
                </a:solidFill>
              </a:rPr>
              <a:t>Normalização: por que não uma tabela única</a:t>
            </a:r>
            <a:endParaRPr lang="en-US" sz="2800" dirty="0"/>
          </a:p>
        </p:txBody>
      </p:sp>
      <p:sp>
        <p:nvSpPr>
          <p:cNvPr id="3" name="texto-0"/>
          <p:cNvSpPr txBox="1"/>
          <p:nvPr/>
        </p:nvSpPr>
        <p:spPr>
          <a:xfrm>
            <a:off x="566928" y="1085240"/>
            <a:ext cx="11057839" cy="360127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ct val="105000"/>
              </a:lnSpc>
              <a:buNone/>
            </a:pPr>
            <a:r>
              <a:rPr lang="en-US" sz="2100" b="1" dirty="0">
                <a:solidFill>
                  <a:schemeClr val="accent2"/>
                </a:solidFill>
              </a:rPr>
              <a:t>Tabela "larga" (uma linha por parcela, tudo junto):</a:t>
            </a:r>
            <a:endParaRPr lang="en-US" sz="2100" dirty="0"/>
          </a:p>
        </p:txBody>
      </p:sp>
      <p:graphicFrame>
        <p:nvGraphicFramePr>
          <p:cNvPr id="14" name="tabela-1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66928" y="1499088"/>
          <a:ext cx="11057838" cy="1075200"/>
        </p:xfrm>
        <a:graphic>
          <a:graphicData uri="http://schemas.openxmlformats.org/drawingml/2006/table">
            <a:tbl>
              <a:tblPr/>
              <a:tblGrid>
                <a:gridCol w="1333492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1967989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1860176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1408473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  <a:gridCol w="968131">
                  <a:extLst>
                    <a:ext uri="{9D8B030D-6E8A-4147-A177-3AD203B41FA5}">
                      <a16:colId xmlns:a16="http://schemas.microsoft.com/office/drawing/2014/main" val="20004"/>
                    </a:ext>
                  </a:extLst>
                </a:gridCol>
                <a:gridCol w="1137690">
                  <a:extLst>
                    <a:ext uri="{9D8B030D-6E8A-4147-A177-3AD203B41FA5}">
                      <a16:colId xmlns:a16="http://schemas.microsoft.com/office/drawing/2014/main" val="20005"/>
                    </a:ext>
                  </a:extLst>
                </a:gridCol>
                <a:gridCol w="1137690">
                  <a:extLst>
                    <a:ext uri="{9D8B030D-6E8A-4147-A177-3AD203B41FA5}">
                      <a16:colId xmlns:a16="http://schemas.microsoft.com/office/drawing/2014/main" val="20006"/>
                    </a:ext>
                  </a:extLst>
                </a:gridCol>
                <a:gridCol w="1244197">
                  <a:extLst>
                    <a:ext uri="{9D8B030D-6E8A-4147-A177-3AD203B41FA5}">
                      <a16:colId xmlns:a16="http://schemas.microsoft.com/office/drawing/2014/main" val="20007"/>
                    </a:ext>
                  </a:extLst>
                </a:gridCol>
              </a:tblGrid>
              <a:tr h="358400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722" b="1" dirty="0">
                          <a:solidFill>
                            <a:schemeClr val="tx1"/>
                          </a:solidFill>
                        </a:rPr>
                        <a:t>parcela</a:t>
                      </a:r>
                      <a:endParaRPr lang="en-US" sz="1722" dirty="0"/>
                    </a:p>
                  </a:txBody>
                  <a:tcPr marL="73152" marR="73152" marT="32004" marB="32004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9050" cap="flat" cmpd="sng" algn="ctr">
                      <a:solidFill>
                        <a:srgbClr val="A6E35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722" b="1" dirty="0">
                          <a:solidFill>
                            <a:schemeClr val="tx1"/>
                          </a:solidFill>
                        </a:rPr>
                        <a:t>genotipo</a:t>
                      </a:r>
                      <a:endParaRPr lang="en-US" sz="1722" dirty="0"/>
                    </a:p>
                  </a:txBody>
                  <a:tcPr marL="73152" marR="73152" marT="32004" marB="32004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9050" cap="flat" cmpd="sng" algn="ctr">
                      <a:solidFill>
                        <a:srgbClr val="A6E35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722" b="1" dirty="0">
                          <a:solidFill>
                            <a:schemeClr val="tx1"/>
                          </a:solidFill>
                        </a:rPr>
                        <a:t>local</a:t>
                      </a:r>
                      <a:endParaRPr lang="en-US" sz="1722" dirty="0"/>
                    </a:p>
                  </a:txBody>
                  <a:tcPr marL="73152" marR="73152" marT="32004" marB="32004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9050" cap="flat" cmpd="sng" algn="ctr">
                      <a:solidFill>
                        <a:srgbClr val="A6E35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722" b="1" dirty="0">
                          <a:solidFill>
                            <a:schemeClr val="tx1"/>
                          </a:solidFill>
                        </a:rPr>
                        <a:t>latitude</a:t>
                      </a:r>
                      <a:endParaRPr lang="en-US" sz="1722" dirty="0"/>
                    </a:p>
                  </a:txBody>
                  <a:tcPr marL="73152" marR="73152" marT="32004" marB="32004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9050" cap="flat" cmpd="sng" algn="ctr">
                      <a:solidFill>
                        <a:srgbClr val="A6E35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722" b="1" dirty="0">
                          <a:solidFill>
                            <a:schemeClr val="tx1"/>
                          </a:solidFill>
                        </a:rPr>
                        <a:t>ano</a:t>
                      </a:r>
                      <a:endParaRPr lang="en-US" sz="1722" dirty="0"/>
                    </a:p>
                  </a:txBody>
                  <a:tcPr marL="73152" marR="73152" marT="32004" marB="32004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9050" cap="flat" cmpd="sng" algn="ctr">
                      <a:solidFill>
                        <a:srgbClr val="A6E35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722" b="1" dirty="0">
                          <a:solidFill>
                            <a:schemeClr val="tx1"/>
                          </a:solidFill>
                        </a:rPr>
                        <a:t>mae</a:t>
                      </a:r>
                      <a:endParaRPr lang="en-US" sz="1722" dirty="0"/>
                    </a:p>
                  </a:txBody>
                  <a:tcPr marL="73152" marR="73152" marT="32004" marB="32004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9050" cap="flat" cmpd="sng" algn="ctr">
                      <a:solidFill>
                        <a:srgbClr val="A6E35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722" b="1" dirty="0">
                          <a:solidFill>
                            <a:schemeClr val="tx1"/>
                          </a:solidFill>
                        </a:rPr>
                        <a:t>pai</a:t>
                      </a:r>
                      <a:endParaRPr lang="en-US" sz="1722" dirty="0"/>
                    </a:p>
                  </a:txBody>
                  <a:tcPr marL="73152" marR="73152" marT="32004" marB="32004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9050" cap="flat" cmpd="sng" algn="ctr">
                      <a:solidFill>
                        <a:srgbClr val="A6E35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722" b="1" dirty="0">
                          <a:solidFill>
                            <a:schemeClr val="tx1"/>
                          </a:solidFill>
                        </a:rPr>
                        <a:t>PROD</a:t>
                      </a:r>
                      <a:endParaRPr lang="en-US" sz="1722" dirty="0"/>
                    </a:p>
                  </a:txBody>
                  <a:tcPr marL="73152" marR="73152" marT="32004" marB="32004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9050" cap="flat" cmpd="sng" algn="ctr">
                      <a:solidFill>
                        <a:srgbClr val="A6E35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358400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722" dirty="0">
                          <a:solidFill>
                            <a:schemeClr val="tx1"/>
                          </a:solidFill>
                        </a:rPr>
                        <a:t>P0001</a:t>
                      </a:r>
                      <a:endParaRPr lang="en-US" sz="1722" dirty="0"/>
                    </a:p>
                  </a:txBody>
                  <a:tcPr marL="73152" marR="73152" marT="32004" marB="32004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19050" cap="flat" cmpd="sng" algn="ctr">
                      <a:solidFill>
                        <a:srgbClr val="A6E35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1D3A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722" dirty="0">
                          <a:solidFill>
                            <a:schemeClr val="tx1"/>
                          </a:solidFill>
                        </a:rPr>
                        <a:t>DH24_0012</a:t>
                      </a:r>
                      <a:endParaRPr lang="en-US" sz="1722" dirty="0"/>
                    </a:p>
                  </a:txBody>
                  <a:tcPr marL="73152" marR="73152" marT="32004" marB="32004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19050" cap="flat" cmpd="sng" algn="ctr">
                      <a:solidFill>
                        <a:srgbClr val="A6E35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1D3A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722" dirty="0">
                          <a:solidFill>
                            <a:schemeClr val="tx1"/>
                          </a:solidFill>
                        </a:rPr>
                        <a:t>Uberlandia</a:t>
                      </a:r>
                      <a:endParaRPr lang="en-US" sz="1722" dirty="0"/>
                    </a:p>
                  </a:txBody>
                  <a:tcPr marL="73152" marR="73152" marT="32004" marB="32004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19050" cap="flat" cmpd="sng" algn="ctr">
                      <a:solidFill>
                        <a:srgbClr val="A6E35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1D3A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722" dirty="0">
                          <a:solidFill>
                            <a:schemeClr val="tx1"/>
                          </a:solidFill>
                        </a:rPr>
                        <a:t>−18,92</a:t>
                      </a:r>
                      <a:endParaRPr lang="en-US" sz="1722" dirty="0"/>
                    </a:p>
                  </a:txBody>
                  <a:tcPr marL="73152" marR="73152" marT="32004" marB="32004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19050" cap="flat" cmpd="sng" algn="ctr">
                      <a:solidFill>
                        <a:srgbClr val="A6E35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1D3A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722" dirty="0">
                          <a:solidFill>
                            <a:schemeClr val="tx1"/>
                          </a:solidFill>
                        </a:rPr>
                        <a:t>2024</a:t>
                      </a:r>
                      <a:endParaRPr lang="en-US" sz="1722" dirty="0"/>
                    </a:p>
                  </a:txBody>
                  <a:tcPr marL="73152" marR="73152" marT="32004" marB="32004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19050" cap="flat" cmpd="sng" algn="ctr">
                      <a:solidFill>
                        <a:srgbClr val="A6E35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1D3A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722" dirty="0">
                          <a:solidFill>
                            <a:schemeClr val="tx1"/>
                          </a:solidFill>
                        </a:rPr>
                        <a:t>FA_03</a:t>
                      </a:r>
                      <a:endParaRPr lang="en-US" sz="1722" dirty="0"/>
                    </a:p>
                  </a:txBody>
                  <a:tcPr marL="73152" marR="73152" marT="32004" marB="32004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19050" cap="flat" cmpd="sng" algn="ctr">
                      <a:solidFill>
                        <a:srgbClr val="A6E35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1D3A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722" dirty="0">
                          <a:solidFill>
                            <a:schemeClr val="tx1"/>
                          </a:solidFill>
                        </a:rPr>
                        <a:t>FA_17</a:t>
                      </a:r>
                      <a:endParaRPr lang="en-US" sz="1722" dirty="0"/>
                    </a:p>
                  </a:txBody>
                  <a:tcPr marL="73152" marR="73152" marT="32004" marB="32004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19050" cap="flat" cmpd="sng" algn="ctr">
                      <a:solidFill>
                        <a:srgbClr val="A6E35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1D3A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722" dirty="0">
                          <a:solidFill>
                            <a:schemeClr val="tx1"/>
                          </a:solidFill>
                        </a:rPr>
                        <a:t>10.540</a:t>
                      </a:r>
                      <a:endParaRPr lang="en-US" sz="1722" dirty="0"/>
                    </a:p>
                  </a:txBody>
                  <a:tcPr marL="73152" marR="73152" marT="32004" marB="32004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19050" cap="flat" cmpd="sng" algn="ctr">
                      <a:solidFill>
                        <a:srgbClr val="A6E35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1D3A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358400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722" dirty="0">
                          <a:solidFill>
                            <a:schemeClr val="tx1"/>
                          </a:solidFill>
                        </a:rPr>
                        <a:t>P0002</a:t>
                      </a:r>
                      <a:endParaRPr lang="en-US" sz="1722" dirty="0"/>
                    </a:p>
                  </a:txBody>
                  <a:tcPr marL="73152" marR="73152" marT="32004" marB="32004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9525" cap="flat" cmpd="sng" algn="ctr">
                      <a:solidFill>
                        <a:srgbClr val="1D3A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0" cap="flat" cmpd="sng" algn="ctr"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722" dirty="0">
                          <a:solidFill>
                            <a:schemeClr val="tx1"/>
                          </a:solidFill>
                        </a:rPr>
                        <a:t>DH24_0012</a:t>
                      </a:r>
                      <a:endParaRPr lang="en-US" sz="1722" dirty="0"/>
                    </a:p>
                  </a:txBody>
                  <a:tcPr marL="73152" marR="73152" marT="32004" marB="32004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9525" cap="flat" cmpd="sng" algn="ctr">
                      <a:solidFill>
                        <a:srgbClr val="1D3A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0" cap="flat" cmpd="sng" algn="ctr"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722" dirty="0">
                          <a:solidFill>
                            <a:schemeClr val="tx1"/>
                          </a:solidFill>
                        </a:rPr>
                        <a:t>Uberlândia</a:t>
                      </a:r>
                      <a:endParaRPr lang="en-US" sz="1722" dirty="0"/>
                    </a:p>
                  </a:txBody>
                  <a:tcPr marL="73152" marR="73152" marT="32004" marB="32004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9525" cap="flat" cmpd="sng" algn="ctr">
                      <a:solidFill>
                        <a:srgbClr val="1D3A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0" cap="flat" cmpd="sng" algn="ctr"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722" dirty="0">
                          <a:solidFill>
                            <a:schemeClr val="tx1"/>
                          </a:solidFill>
                        </a:rPr>
                        <a:t>−18,92</a:t>
                      </a:r>
                      <a:endParaRPr lang="en-US" sz="1722" dirty="0"/>
                    </a:p>
                  </a:txBody>
                  <a:tcPr marL="73152" marR="73152" marT="32004" marB="32004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9525" cap="flat" cmpd="sng" algn="ctr">
                      <a:solidFill>
                        <a:srgbClr val="1D3A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0" cap="flat" cmpd="sng" algn="ctr"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722" dirty="0">
                          <a:solidFill>
                            <a:schemeClr val="tx1"/>
                          </a:solidFill>
                        </a:rPr>
                        <a:t>2024</a:t>
                      </a:r>
                      <a:endParaRPr lang="en-US" sz="1722" dirty="0"/>
                    </a:p>
                  </a:txBody>
                  <a:tcPr marL="73152" marR="73152" marT="32004" marB="32004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9525" cap="flat" cmpd="sng" algn="ctr">
                      <a:solidFill>
                        <a:srgbClr val="1D3A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0" cap="flat" cmpd="sng" algn="ctr"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722" dirty="0">
                          <a:solidFill>
                            <a:schemeClr val="tx1"/>
                          </a:solidFill>
                        </a:rPr>
                        <a:t>FA_03</a:t>
                      </a:r>
                      <a:endParaRPr lang="en-US" sz="1722" dirty="0"/>
                    </a:p>
                  </a:txBody>
                  <a:tcPr marL="73152" marR="73152" marT="32004" marB="32004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9525" cap="flat" cmpd="sng" algn="ctr">
                      <a:solidFill>
                        <a:srgbClr val="1D3A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0" cap="flat" cmpd="sng" algn="ctr"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722" dirty="0">
                          <a:solidFill>
                            <a:schemeClr val="tx1"/>
                          </a:solidFill>
                        </a:rPr>
                        <a:t>FA_71</a:t>
                      </a:r>
                      <a:endParaRPr lang="en-US" sz="1722" dirty="0"/>
                    </a:p>
                  </a:txBody>
                  <a:tcPr marL="73152" marR="73152" marT="32004" marB="32004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9525" cap="flat" cmpd="sng" algn="ctr">
                      <a:solidFill>
                        <a:srgbClr val="1D3A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0" cap="flat" cmpd="sng" algn="ctr"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722" dirty="0">
                          <a:solidFill>
                            <a:schemeClr val="tx1"/>
                          </a:solidFill>
                        </a:rPr>
                        <a:t>10.210</a:t>
                      </a:r>
                      <a:endParaRPr lang="en-US" sz="1722" dirty="0"/>
                    </a:p>
                  </a:txBody>
                  <a:tcPr marL="73152" marR="73152" marT="32004" marB="32004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9525" cap="flat" cmpd="sng" algn="ctr">
                      <a:solidFill>
                        <a:srgbClr val="1D3A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0" cap="flat" cmpd="sng" algn="ctr">
                      <a:noFill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</a:tbl>
          </a:graphicData>
        </a:graphic>
      </p:graphicFrame>
      <p:sp>
        <p:nvSpPr>
          <p:cNvPr id="5" name="texto-2"/>
          <p:cNvSpPr txBox="1"/>
          <p:nvPr/>
        </p:nvSpPr>
        <p:spPr>
          <a:xfrm>
            <a:off x="566928" y="2734307"/>
            <a:ext cx="11057839" cy="155633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279400" indent="-279400" algn="l">
              <a:lnSpc>
                <a:spcPct val="105000"/>
              </a:lnSpc>
              <a:spcAft>
                <a:spcPts val="672"/>
              </a:spcAft>
              <a:buSzPct val="100000"/>
              <a:buChar char="•"/>
            </a:pPr>
            <a:r>
              <a:rPr lang="en-US" sz="2100" dirty="0">
                <a:solidFill>
                  <a:schemeClr val="tx1"/>
                </a:solidFill>
              </a:rPr>
              <a:t>Latitude e pedigree repetidos em cada parcela: um erro de digitação cria </a:t>
            </a:r>
            <a:r>
              <a:rPr lang="en-US" sz="2100" b="1" dirty="0">
                <a:solidFill>
                  <a:schemeClr val="tx1"/>
                </a:solidFill>
              </a:rPr>
              <a:t>duas versões da verdade</a:t>
            </a:r>
            <a:r>
              <a:rPr lang="en-US" sz="2100" dirty="0">
                <a:solidFill>
                  <a:schemeClr val="tx1"/>
                </a:solidFill>
              </a:rPr>
              <a:t> (veja "Uberlandia" × "Uberlândia" e o pai FA_17 × FA_71 do mesmo genótipo).</a:t>
            </a:r>
            <a:endParaRPr lang="en-US" sz="2100" dirty="0"/>
          </a:p>
          <a:p>
            <a:pPr marL="279400" indent="-279400" algn="l">
              <a:lnSpc>
                <a:spcPct val="105000"/>
              </a:lnSpc>
              <a:spcAft>
                <a:spcPts val="672"/>
              </a:spcAft>
              <a:buSzPct val="100000"/>
              <a:buChar char="•"/>
            </a:pPr>
            <a:r>
              <a:rPr lang="en-US" sz="2100" dirty="0">
                <a:solidFill>
                  <a:schemeClr val="tx1"/>
                </a:solidFill>
              </a:rPr>
              <a:t>Corrigir exige atualizar milhares de linhas; esquecer uma cria inconsistência.</a:t>
            </a:r>
            <a:endParaRPr lang="en-US" sz="2100" dirty="0"/>
          </a:p>
          <a:p>
            <a:pPr marL="279400" indent="-279400" algn="l">
              <a:lnSpc>
                <a:spcPct val="105000"/>
              </a:lnSpc>
              <a:buSzPct val="100000"/>
              <a:buChar char="•"/>
            </a:pPr>
            <a:r>
              <a:rPr lang="en-US" sz="2100" dirty="0">
                <a:solidFill>
                  <a:schemeClr val="tx1"/>
                </a:solidFill>
              </a:rPr>
              <a:t>Normalizar = cada fato registrado uma vez, ligado por chaves.</a:t>
            </a:r>
            <a:endParaRPr lang="en-US" sz="2100" dirty="0"/>
          </a:p>
        </p:txBody>
      </p:sp>
      <p:sp>
        <p:nvSpPr>
          <p:cNvPr id="6" name="rodape"/>
          <p:cNvSpPr txBox="1"/>
          <p:nvPr/>
        </p:nvSpPr>
        <p:spPr>
          <a:xfrm>
            <a:off x="566928" y="640080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50" kern="0" spc="100" dirty="0">
                <a:solidFill>
                  <a:schemeClr val="tx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SEÇÃO 1 · BLOCO 2</a:t>
            </a:r>
            <a:endParaRPr lang="en-US" sz="95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527487" y="6400800"/>
            <a:ext cx="109728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xmlns="" val="0"/>
            </a:ext>
          </a:extLst>
        </p:spPr>
        <p:txBody>
          <a:bodyPr lIns="0" tIns="0" rIns="0" bIns="0"/>
          <a:lstStyle>
            <a:lvl1pPr>
              <a:defRPr sz="1000">
                <a:solidFill>
                  <a:srgbClr val="8FA9A3"/>
                </a:solidFill>
                <a:latin typeface="Courier New"/>
                <a:ea typeface="Courier New"/>
                <a:cs typeface="Courier New"/>
              </a:defRPr>
            </a:lvl1pPr>
          </a:lstStyle>
          <a:p>
            <a:pPr algn="r"/>
            <a:fld id="{F7021451-1387-4CA6-816F-3879F97B5CBC}" type="slidenum">
              <a:rPr lang="en-US" b="0"/>
              <a:t>13</a:t>
            </a:fld>
            <a:endParaRPr lang="en-US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>
            <a:spLocks noGrp="1"/>
          </p:cNvSpPr>
          <p:nvPr>
            <p:ph type="title" idx="100" hasCustomPrompt="1"/>
          </p:nvPr>
        </p:nvSpPr>
        <p:spPr>
          <a:xfrm>
            <a:off x="566928" y="384048"/>
            <a:ext cx="11057839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buNone/>
            </a:pPr>
            <a:r>
              <a:rPr lang="en-US" sz="1900" b="1" dirty="0">
                <a:solidFill>
                  <a:schemeClr val="accent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2.5   </a:t>
            </a:r>
            <a:r>
              <a:rPr lang="en-US" sz="2800" b="1" dirty="0">
                <a:solidFill>
                  <a:schemeClr val="tx1"/>
                </a:solidFill>
              </a:rPr>
              <a:t>Duas camadas: bruta e curada</a:t>
            </a:r>
            <a:endParaRPr lang="en-US" sz="2800" dirty="0"/>
          </a:p>
        </p:txBody>
      </p:sp>
      <p:sp>
        <p:nvSpPr>
          <p:cNvPr id="3" name="ret-0"/>
          <p:cNvSpPr/>
          <p:nvPr/>
        </p:nvSpPr>
        <p:spPr>
          <a:xfrm>
            <a:off x="566928" y="1085240"/>
            <a:ext cx="2741066" cy="1366958"/>
          </a:xfrm>
          <a:prstGeom prst="roundRect">
            <a:avLst>
              <a:gd name="adj" fmla="val 4683"/>
            </a:avLst>
          </a:prstGeom>
          <a:solidFill>
            <a:schemeClr val="accent3"/>
          </a:solidFill>
          <a:ln w="9525">
            <a:solidFill>
              <a:schemeClr val="accent4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4" name="texto-1"/>
          <p:cNvSpPr txBox="1"/>
          <p:nvPr/>
        </p:nvSpPr>
        <p:spPr>
          <a:xfrm>
            <a:off x="685800" y="1194968"/>
            <a:ext cx="2503322" cy="12225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ct val="105000"/>
              </a:lnSpc>
              <a:spcAft>
                <a:spcPts val="300"/>
              </a:spcAft>
              <a:buNone/>
            </a:pPr>
            <a:r>
              <a:rPr lang="en-US" sz="1554" b="1" dirty="0">
                <a:solidFill>
                  <a:schemeClr val="tx2"/>
                </a:solidFill>
              </a:rPr>
              <a:t>Camada bruta</a:t>
            </a:r>
            <a:endParaRPr lang="en-US" sz="1554" dirty="0"/>
          </a:p>
          <a:p>
            <a:pPr marL="0" indent="0" algn="l">
              <a:lnSpc>
                <a:spcPct val="105000"/>
              </a:lnSpc>
              <a:spcAft>
                <a:spcPts val="300"/>
              </a:spcAft>
              <a:buNone/>
            </a:pPr>
            <a:r>
              <a:rPr lang="en-US" sz="1344" dirty="0">
                <a:solidFill>
                  <a:schemeClr val="tx2"/>
                </a:solidFill>
              </a:rPr>
              <a:t>bruto_parcelas, bruto_germoplasma</a:t>
            </a:r>
            <a:endParaRPr lang="en-US" sz="1554" dirty="0"/>
          </a:p>
          <a:p>
            <a:pPr marL="0" indent="0" algn="l">
              <a:lnSpc>
                <a:spcPct val="105000"/>
              </a:lnSpc>
              <a:buNone/>
            </a:pPr>
            <a:r>
              <a:rPr lang="en-US" sz="1344" dirty="0">
                <a:solidFill>
                  <a:schemeClr val="tx2"/>
                </a:solidFill>
              </a:rPr>
              <a:t>como chegou do campo · sem restrições · nunca editada</a:t>
            </a:r>
            <a:endParaRPr lang="en-US" sz="1554" dirty="0"/>
          </a:p>
        </p:txBody>
      </p:sp>
      <p:sp>
        <p:nvSpPr>
          <p:cNvPr id="5" name="texto-2"/>
          <p:cNvSpPr txBox="1"/>
          <p:nvPr/>
        </p:nvSpPr>
        <p:spPr>
          <a:xfrm>
            <a:off x="3399434" y="1381014"/>
            <a:ext cx="1234440" cy="36777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lnSpc>
                <a:spcPct val="100000"/>
              </a:lnSpc>
              <a:buNone/>
            </a:pPr>
            <a:r>
              <a:rPr lang="en-US" sz="1092" dirty="0">
                <a:solidFill>
                  <a:schemeClr val="accent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QC + correções registradas</a:t>
            </a:r>
            <a:endParaRPr lang="en-US" sz="1092" dirty="0"/>
          </a:p>
        </p:txBody>
      </p:sp>
      <p:sp>
        <p:nvSpPr>
          <p:cNvPr id="6" name="seta-3"/>
          <p:cNvSpPr/>
          <p:nvPr/>
        </p:nvSpPr>
        <p:spPr>
          <a:xfrm>
            <a:off x="3490874" y="1841872"/>
            <a:ext cx="1051560" cy="0"/>
          </a:xfrm>
          <a:prstGeom prst="line">
            <a:avLst/>
          </a:prstGeom>
          <a:noFill/>
          <a:ln w="22225">
            <a:solidFill>
              <a:schemeClr val="accent1"/>
            </a:solidFill>
            <a:prstDash val="solid"/>
            <a:tailEnd type="triangle"/>
          </a:ln>
        </p:spPr>
        <p:txBody>
          <a:bodyPr/>
          <a:lstStyle/>
          <a:p>
            <a:endParaRPr lang="en-US"/>
          </a:p>
        </p:txBody>
      </p:sp>
      <p:sp>
        <p:nvSpPr>
          <p:cNvPr id="7" name="ret-4"/>
          <p:cNvSpPr/>
          <p:nvPr/>
        </p:nvSpPr>
        <p:spPr>
          <a:xfrm>
            <a:off x="4725314" y="1085240"/>
            <a:ext cx="2741066" cy="1366958"/>
          </a:xfrm>
          <a:prstGeom prst="roundRect">
            <a:avLst>
              <a:gd name="adj" fmla="val 4683"/>
            </a:avLst>
          </a:prstGeom>
          <a:solidFill>
            <a:schemeClr val="accent3"/>
          </a:solidFill>
          <a:ln w="9525">
            <a:solidFill>
              <a:schemeClr val="accent4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8" name="texto-5"/>
          <p:cNvSpPr txBox="1"/>
          <p:nvPr/>
        </p:nvSpPr>
        <p:spPr>
          <a:xfrm>
            <a:off x="4844186" y="1194968"/>
            <a:ext cx="2503322" cy="12225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ct val="105000"/>
              </a:lnSpc>
              <a:spcAft>
                <a:spcPts val="300"/>
              </a:spcAft>
              <a:buNone/>
            </a:pPr>
            <a:r>
              <a:rPr lang="en-US" sz="1554" b="1" dirty="0">
                <a:solidFill>
                  <a:schemeClr val="accent1"/>
                </a:solidFill>
              </a:rPr>
              <a:t>Camada curada</a:t>
            </a:r>
            <a:endParaRPr lang="en-US" sz="1554" dirty="0"/>
          </a:p>
          <a:p>
            <a:pPr marL="0" indent="0" algn="l">
              <a:lnSpc>
                <a:spcPct val="105000"/>
              </a:lnSpc>
              <a:spcAft>
                <a:spcPts val="300"/>
              </a:spcAft>
              <a:buNone/>
            </a:pPr>
            <a:r>
              <a:rPr lang="en-US" sz="1344" dirty="0">
                <a:solidFill>
                  <a:schemeClr val="tx2"/>
                </a:solidFill>
              </a:rPr>
              <a:t>germoplasma, pedigree, parcela, observacao…</a:t>
            </a:r>
            <a:endParaRPr lang="en-US" sz="1554" dirty="0"/>
          </a:p>
          <a:p>
            <a:pPr marL="0" indent="0" algn="l">
              <a:lnSpc>
                <a:spcPct val="105000"/>
              </a:lnSpc>
              <a:buNone/>
            </a:pPr>
            <a:r>
              <a:rPr lang="en-US" sz="1344" dirty="0">
                <a:solidFill>
                  <a:schemeClr val="tx2"/>
                </a:solidFill>
              </a:rPr>
              <a:t>com chaves e restrições · reconstruída pelo script de QC</a:t>
            </a:r>
            <a:endParaRPr lang="en-US" sz="1554" dirty="0"/>
          </a:p>
        </p:txBody>
      </p:sp>
      <p:sp>
        <p:nvSpPr>
          <p:cNvPr id="9" name="texto-6"/>
          <p:cNvSpPr txBox="1"/>
          <p:nvPr/>
        </p:nvSpPr>
        <p:spPr>
          <a:xfrm>
            <a:off x="7557821" y="1381014"/>
            <a:ext cx="1234440" cy="36777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lnSpc>
                <a:spcPct val="100000"/>
              </a:lnSpc>
              <a:buNone/>
            </a:pPr>
            <a:r>
              <a:rPr lang="en-US" sz="1092" dirty="0">
                <a:solidFill>
                  <a:schemeClr val="accent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visões de análise</a:t>
            </a:r>
            <a:endParaRPr lang="en-US" sz="1092" dirty="0"/>
          </a:p>
        </p:txBody>
      </p:sp>
      <p:sp>
        <p:nvSpPr>
          <p:cNvPr id="10" name="seta-7"/>
          <p:cNvSpPr/>
          <p:nvPr/>
        </p:nvSpPr>
        <p:spPr>
          <a:xfrm>
            <a:off x="7649261" y="1841872"/>
            <a:ext cx="1051560" cy="0"/>
          </a:xfrm>
          <a:prstGeom prst="line">
            <a:avLst/>
          </a:prstGeom>
          <a:noFill/>
          <a:ln w="22225">
            <a:solidFill>
              <a:schemeClr val="accent1"/>
            </a:solidFill>
            <a:prstDash val="solid"/>
            <a:tailEnd type="triangle"/>
          </a:ln>
        </p:spPr>
        <p:txBody>
          <a:bodyPr/>
          <a:lstStyle/>
          <a:p>
            <a:endParaRPr lang="en-US"/>
          </a:p>
        </p:txBody>
      </p:sp>
      <p:sp>
        <p:nvSpPr>
          <p:cNvPr id="11" name="ret-8"/>
          <p:cNvSpPr/>
          <p:nvPr/>
        </p:nvSpPr>
        <p:spPr>
          <a:xfrm>
            <a:off x="8883701" y="1085240"/>
            <a:ext cx="2741066" cy="1366958"/>
          </a:xfrm>
          <a:prstGeom prst="roundRect">
            <a:avLst>
              <a:gd name="adj" fmla="val 4683"/>
            </a:avLst>
          </a:prstGeom>
          <a:solidFill>
            <a:schemeClr val="accent3"/>
          </a:solidFill>
          <a:ln w="9525">
            <a:solidFill>
              <a:schemeClr val="accent4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2" name="texto-9"/>
          <p:cNvSpPr txBox="1"/>
          <p:nvPr/>
        </p:nvSpPr>
        <p:spPr>
          <a:xfrm>
            <a:off x="9002573" y="1194968"/>
            <a:ext cx="2503322" cy="74690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ct val="105000"/>
              </a:lnSpc>
              <a:spcAft>
                <a:spcPts val="300"/>
              </a:spcAft>
              <a:buNone/>
            </a:pPr>
            <a:r>
              <a:rPr lang="en-US" sz="1554" b="1" dirty="0">
                <a:solidFill>
                  <a:schemeClr val="accent2"/>
                </a:solidFill>
              </a:rPr>
              <a:t>Análise</a:t>
            </a:r>
            <a:endParaRPr lang="en-US" sz="1554" dirty="0"/>
          </a:p>
          <a:p>
            <a:pPr marL="0" indent="0" algn="l">
              <a:lnSpc>
                <a:spcPct val="105000"/>
              </a:lnSpc>
              <a:buNone/>
            </a:pPr>
            <a:r>
              <a:rPr lang="en-US" sz="1344" dirty="0">
                <a:solidFill>
                  <a:schemeClr val="tx2"/>
                </a:solidFill>
              </a:rPr>
              <a:t>v_prod_parcela → lme4, GBLUP, ML</a:t>
            </a:r>
            <a:endParaRPr lang="en-US" sz="1554" dirty="0"/>
          </a:p>
        </p:txBody>
      </p:sp>
      <p:sp>
        <p:nvSpPr>
          <p:cNvPr id="13" name="texto-10"/>
          <p:cNvSpPr txBox="1"/>
          <p:nvPr/>
        </p:nvSpPr>
        <p:spPr>
          <a:xfrm>
            <a:off x="566928" y="2612219"/>
            <a:ext cx="11057839" cy="1470987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279400" indent="-279400" algn="l">
              <a:lnSpc>
                <a:spcPct val="105000"/>
              </a:lnSpc>
              <a:spcAft>
                <a:spcPts val="672"/>
              </a:spcAft>
              <a:buSzPct val="100000"/>
              <a:buChar char="•"/>
            </a:pPr>
            <a:r>
              <a:rPr lang="en-US" sz="2100" dirty="0">
                <a:solidFill>
                  <a:schemeClr val="tx1"/>
                </a:solidFill>
              </a:rPr>
              <a:t>A camada bruta aceita erros </a:t>
            </a:r>
            <a:r>
              <a:rPr lang="en-US" sz="2100" b="1" dirty="0">
                <a:solidFill>
                  <a:schemeClr val="tx1"/>
                </a:solidFill>
              </a:rPr>
              <a:t>de propósito</a:t>
            </a:r>
            <a:r>
              <a:rPr lang="en-US" sz="2100" dirty="0">
                <a:solidFill>
                  <a:schemeClr val="tx1"/>
                </a:solidFill>
              </a:rPr>
              <a:t>: só assim eles podem ser carregados, auditados e corrigidos de forma rastreável.</a:t>
            </a:r>
            <a:endParaRPr lang="en-US" sz="2100" dirty="0"/>
          </a:p>
          <a:p>
            <a:pPr marL="279400" indent="-279400" algn="l">
              <a:lnSpc>
                <a:spcPct val="105000"/>
              </a:lnSpc>
              <a:buSzPct val="100000"/>
              <a:buChar char="•"/>
            </a:pPr>
            <a:r>
              <a:rPr lang="en-US" sz="2100" dirty="0">
                <a:solidFill>
                  <a:schemeClr val="tx1"/>
                </a:solidFill>
              </a:rPr>
              <a:t>As restrições da camada curada são a última barreira: um erro que passar pelo QC é rejeitado na carga.</a:t>
            </a:r>
            <a:endParaRPr lang="en-US" sz="2100" dirty="0"/>
          </a:p>
        </p:txBody>
      </p:sp>
      <p:sp>
        <p:nvSpPr>
          <p:cNvPr id="14" name="rodape"/>
          <p:cNvSpPr txBox="1"/>
          <p:nvPr/>
        </p:nvSpPr>
        <p:spPr>
          <a:xfrm>
            <a:off x="566928" y="640080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50" kern="0" spc="100" dirty="0">
                <a:solidFill>
                  <a:schemeClr val="tx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SEÇÃO 1 · BLOCO 2</a:t>
            </a:r>
            <a:endParaRPr lang="en-US" sz="95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527487" y="6400800"/>
            <a:ext cx="109728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xmlns="" val="0"/>
            </a:ext>
          </a:extLst>
        </p:spPr>
        <p:txBody>
          <a:bodyPr lIns="0" tIns="0" rIns="0" bIns="0"/>
          <a:lstStyle>
            <a:lvl1pPr>
              <a:defRPr sz="1000">
                <a:solidFill>
                  <a:srgbClr val="8FA9A3"/>
                </a:solidFill>
                <a:latin typeface="Courier New"/>
                <a:ea typeface="Courier New"/>
                <a:cs typeface="Courier New"/>
              </a:defRPr>
            </a:lvl1pPr>
          </a:lstStyle>
          <a:p>
            <a:pPr algn="r"/>
            <a:fld id="{F7021451-1387-4CA6-816F-3879F97B5CBC}" type="slidenum">
              <a:rPr lang="en-US" b="0"/>
              <a:t>14</a:t>
            </a:fld>
            <a:endParaRPr lang="en-US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>
            <a:spLocks noGrp="1"/>
          </p:cNvSpPr>
          <p:nvPr>
            <p:ph type="title" idx="100" hasCustomPrompt="1"/>
          </p:nvPr>
        </p:nvSpPr>
        <p:spPr>
          <a:xfrm>
            <a:off x="566928" y="384048"/>
            <a:ext cx="11057839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buNone/>
            </a:pPr>
            <a:r>
              <a:rPr lang="en-US" sz="1900" b="1" dirty="0">
                <a:solidFill>
                  <a:schemeClr val="accent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2.6   </a:t>
            </a:r>
            <a:r>
              <a:rPr lang="en-US" sz="2800" b="1" dirty="0">
                <a:solidFill>
                  <a:schemeClr val="tx1"/>
                </a:solidFill>
              </a:rPr>
              <a:t>Por que saber SQL, mesmo com IA</a:t>
            </a:r>
            <a:endParaRPr lang="en-US" sz="2800" dirty="0"/>
          </a:p>
        </p:txBody>
      </p:sp>
      <p:sp>
        <p:nvSpPr>
          <p:cNvPr id="3" name="texto-0"/>
          <p:cNvSpPr txBox="1"/>
          <p:nvPr/>
        </p:nvSpPr>
        <p:spPr>
          <a:xfrm>
            <a:off x="566928" y="1085240"/>
            <a:ext cx="5346040" cy="4718223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279400" indent="-279400" algn="l">
              <a:lnSpc>
                <a:spcPct val="105000"/>
              </a:lnSpc>
              <a:spcAft>
                <a:spcPts val="672"/>
              </a:spcAft>
              <a:buSzPct val="100000"/>
              <a:buChar char="•"/>
            </a:pPr>
            <a:r>
              <a:rPr lang="en-US" sz="2100" b="1" dirty="0">
                <a:solidFill>
                  <a:schemeClr val="tx1"/>
                </a:solidFill>
              </a:rPr>
              <a:t>Linguagem padrão</a:t>
            </a:r>
            <a:r>
              <a:rPr lang="en-US" sz="2100" dirty="0">
                <a:solidFill>
                  <a:schemeClr val="tx1"/>
                </a:solidFill>
              </a:rPr>
              <a:t> (ANSI/ISO) há décadas; o mesmo </a:t>
            </a:r>
            <a:r>
              <a:rPr lang="en-US" sz="1932" dirty="0">
                <a:solidFill>
                  <a:schemeClr val="accent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SELECT</a:t>
            </a:r>
            <a:r>
              <a:rPr lang="en-US" sz="2100" dirty="0">
                <a:solidFill>
                  <a:schemeClr val="tx1"/>
                </a:solidFill>
              </a:rPr>
              <a:t> funciona em DuckDB, SQLite, PostgreSQL, MySQL, BigQuery.</a:t>
            </a:r>
            <a:endParaRPr lang="en-US" sz="2100" dirty="0"/>
          </a:p>
          <a:p>
            <a:pPr marL="279400" indent="-279400" algn="l">
              <a:lnSpc>
                <a:spcPct val="105000"/>
              </a:lnSpc>
              <a:spcAft>
                <a:spcPts val="672"/>
              </a:spcAft>
              <a:buSzPct val="100000"/>
              <a:buChar char="•"/>
            </a:pPr>
            <a:r>
              <a:rPr lang="en-US" sz="2100" dirty="0">
                <a:solidFill>
                  <a:schemeClr val="tx1"/>
                </a:solidFill>
              </a:rPr>
              <a:t>Sistemas de gestão de melhoramento são bancos relacionais: o Breedbase, por exemplo, usa PostgreSQL e expõe os dados pela BrAPI.</a:t>
            </a:r>
            <a:endParaRPr lang="en-US" sz="2100" dirty="0"/>
          </a:p>
          <a:p>
            <a:pPr marL="279400" indent="-279400" algn="l">
              <a:lnSpc>
                <a:spcPct val="105000"/>
              </a:lnSpc>
              <a:spcAft>
                <a:spcPts val="672"/>
              </a:spcAft>
              <a:buSzPct val="100000"/>
              <a:buChar char="•"/>
            </a:pPr>
            <a:r>
              <a:rPr lang="en-US" sz="2100" b="1" dirty="0">
                <a:solidFill>
                  <a:schemeClr val="tx1"/>
                </a:solidFill>
              </a:rPr>
              <a:t>DuckDB</a:t>
            </a:r>
            <a:r>
              <a:rPr lang="en-US" sz="2100" dirty="0">
                <a:solidFill>
                  <a:schemeClr val="tx1"/>
                </a:solidFill>
              </a:rPr>
              <a:t> consulta CSV e Parquet diretamente, sem servidor: ideal para análise local e para ensino.</a:t>
            </a:r>
            <a:endParaRPr lang="en-US" sz="2100" dirty="0"/>
          </a:p>
          <a:p>
            <a:pPr marL="279400" indent="-279400" algn="l">
              <a:lnSpc>
                <a:spcPct val="105000"/>
              </a:lnSpc>
              <a:buSzPct val="100000"/>
              <a:buChar char="•"/>
            </a:pPr>
            <a:r>
              <a:rPr lang="en-US" sz="2100" dirty="0">
                <a:solidFill>
                  <a:schemeClr val="tx1"/>
                </a:solidFill>
              </a:rPr>
              <a:t>A IA escreve SQL muito bem, mas </a:t>
            </a:r>
            <a:r>
              <a:rPr lang="en-US" sz="2100" b="1" dirty="0">
                <a:solidFill>
                  <a:schemeClr val="tx1"/>
                </a:solidFill>
              </a:rPr>
              <a:t>você precisa ler e validar</a:t>
            </a:r>
            <a:r>
              <a:rPr lang="en-US" sz="2100" dirty="0">
                <a:solidFill>
                  <a:schemeClr val="tx1"/>
                </a:solidFill>
              </a:rPr>
              <a:t>: uma consulta errada não dá erro, dá um número errado.</a:t>
            </a:r>
            <a:endParaRPr lang="en-US" sz="2100" dirty="0"/>
          </a:p>
        </p:txBody>
      </p:sp>
      <p:sp>
        <p:nvSpPr>
          <p:cNvPr id="4" name="texto-1"/>
          <p:cNvSpPr txBox="1"/>
          <p:nvPr/>
        </p:nvSpPr>
        <p:spPr>
          <a:xfrm>
            <a:off x="6278728" y="1085240"/>
            <a:ext cx="5346040" cy="360127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ct val="105000"/>
              </a:lnSpc>
              <a:buNone/>
            </a:pPr>
            <a:r>
              <a:rPr lang="en-US" sz="2100" b="1" dirty="0">
                <a:solidFill>
                  <a:schemeClr val="accent2"/>
                </a:solidFill>
              </a:rPr>
              <a:t>O que o pesquisador precisa dominar</a:t>
            </a:r>
            <a:endParaRPr lang="en-US" sz="2100" dirty="0"/>
          </a:p>
        </p:txBody>
      </p:sp>
      <p:sp>
        <p:nvSpPr>
          <p:cNvPr id="5" name="texto-2"/>
          <p:cNvSpPr txBox="1"/>
          <p:nvPr/>
        </p:nvSpPr>
        <p:spPr>
          <a:xfrm>
            <a:off x="6278728" y="1481086"/>
            <a:ext cx="5346040" cy="2923223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279400" indent="-279400" algn="l">
              <a:lnSpc>
                <a:spcPct val="105000"/>
              </a:lnSpc>
              <a:spcAft>
                <a:spcPts val="672"/>
              </a:spcAft>
              <a:buSzPct val="100000"/>
              <a:buChar char="•"/>
            </a:pPr>
            <a:r>
              <a:rPr lang="en-US" sz="1932" dirty="0">
                <a:solidFill>
                  <a:schemeClr val="accent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SELECT … FROM … WHERE … ORDER BY</a:t>
            </a:r>
            <a:endParaRPr lang="en-US" sz="1932" dirty="0"/>
          </a:p>
          <a:p>
            <a:pPr marL="279400" indent="-279400" algn="l">
              <a:lnSpc>
                <a:spcPct val="105000"/>
              </a:lnSpc>
              <a:spcAft>
                <a:spcPts val="672"/>
              </a:spcAft>
              <a:buSzPct val="100000"/>
              <a:buChar char="•"/>
            </a:pPr>
            <a:r>
              <a:rPr lang="en-US" sz="1932" dirty="0">
                <a:solidFill>
                  <a:schemeClr val="accent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JOIN</a:t>
            </a:r>
            <a:r>
              <a:rPr lang="en-US" sz="2100" dirty="0">
                <a:solidFill>
                  <a:schemeClr val="tx1"/>
                </a:solidFill>
              </a:rPr>
              <a:t> (interno e </a:t>
            </a:r>
            <a:r>
              <a:rPr lang="en-US" sz="1932" dirty="0">
                <a:solidFill>
                  <a:schemeClr val="accent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LEFT</a:t>
            </a:r>
            <a:r>
              <a:rPr lang="en-US" sz="2100" dirty="0">
                <a:solidFill>
                  <a:schemeClr val="tx1"/>
                </a:solidFill>
              </a:rPr>
              <a:t>)</a:t>
            </a:r>
            <a:endParaRPr lang="en-US" sz="1932" dirty="0"/>
          </a:p>
          <a:p>
            <a:pPr marL="279400" indent="-279400" algn="l">
              <a:lnSpc>
                <a:spcPct val="105000"/>
              </a:lnSpc>
              <a:spcAft>
                <a:spcPts val="672"/>
              </a:spcAft>
              <a:buSzPct val="100000"/>
              <a:buChar char="•"/>
            </a:pPr>
            <a:r>
              <a:rPr lang="en-US" sz="1932" dirty="0">
                <a:solidFill>
                  <a:schemeClr val="accent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GROUP BY</a:t>
            </a:r>
            <a:r>
              <a:rPr lang="en-US" sz="2100" dirty="0">
                <a:solidFill>
                  <a:schemeClr val="tx1"/>
                </a:solidFill>
              </a:rPr>
              <a:t> e </a:t>
            </a:r>
            <a:r>
              <a:rPr lang="en-US" sz="1932" dirty="0">
                <a:solidFill>
                  <a:schemeClr val="accent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HAVING</a:t>
            </a:r>
            <a:endParaRPr lang="en-US" sz="1932" dirty="0"/>
          </a:p>
          <a:p>
            <a:pPr marL="279400" indent="-279400" algn="l">
              <a:lnSpc>
                <a:spcPct val="105000"/>
              </a:lnSpc>
              <a:spcAft>
                <a:spcPts val="672"/>
              </a:spcAft>
              <a:buSzPct val="100000"/>
              <a:buChar char="•"/>
            </a:pPr>
            <a:r>
              <a:rPr lang="en-US" sz="2100" dirty="0">
                <a:solidFill>
                  <a:schemeClr val="tx1"/>
                </a:solidFill>
              </a:rPr>
              <a:t>Subconsultas e </a:t>
            </a:r>
            <a:r>
              <a:rPr lang="en-US" sz="1932" dirty="0">
                <a:solidFill>
                  <a:schemeClr val="accent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WITH</a:t>
            </a:r>
            <a:r>
              <a:rPr lang="en-US" sz="2100" dirty="0">
                <a:solidFill>
                  <a:schemeClr val="tx1"/>
                </a:solidFill>
              </a:rPr>
              <a:t> (CTE)</a:t>
            </a:r>
            <a:endParaRPr lang="en-US" sz="1932" dirty="0"/>
          </a:p>
          <a:p>
            <a:pPr marL="279400" indent="-279400" algn="l">
              <a:lnSpc>
                <a:spcPct val="105000"/>
              </a:lnSpc>
              <a:spcAft>
                <a:spcPts val="672"/>
              </a:spcAft>
              <a:buSzPct val="100000"/>
              <a:buChar char="•"/>
            </a:pPr>
            <a:r>
              <a:rPr lang="en-US" sz="2100" dirty="0">
                <a:solidFill>
                  <a:schemeClr val="tx1"/>
                </a:solidFill>
              </a:rPr>
              <a:t>Funções de janela (</a:t>
            </a:r>
            <a:r>
              <a:rPr lang="en-US" sz="1932" dirty="0">
                <a:solidFill>
                  <a:schemeClr val="accent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OVER</a:t>
            </a:r>
            <a:r>
              <a:rPr lang="en-US" sz="2100" dirty="0">
                <a:solidFill>
                  <a:schemeClr val="tx1"/>
                </a:solidFill>
              </a:rPr>
              <a:t>)</a:t>
            </a:r>
            <a:endParaRPr lang="en-US" sz="1932" dirty="0"/>
          </a:p>
          <a:p>
            <a:pPr marL="279400" indent="-279400" algn="l">
              <a:lnSpc>
                <a:spcPct val="105000"/>
              </a:lnSpc>
              <a:spcAft>
                <a:spcPts val="672"/>
              </a:spcAft>
              <a:buSzPct val="100000"/>
              <a:buChar char="•"/>
            </a:pPr>
            <a:r>
              <a:rPr lang="en-US" sz="2100" dirty="0">
                <a:solidFill>
                  <a:schemeClr val="tx1"/>
                </a:solidFill>
              </a:rPr>
              <a:t>Como </a:t>
            </a:r>
            <a:r>
              <a:rPr lang="en-US" sz="1932" dirty="0">
                <a:solidFill>
                  <a:schemeClr val="accent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NULL</a:t>
            </a:r>
            <a:r>
              <a:rPr lang="en-US" sz="2100" dirty="0">
                <a:solidFill>
                  <a:schemeClr val="tx1"/>
                </a:solidFill>
              </a:rPr>
              <a:t> se comporta</a:t>
            </a:r>
            <a:endParaRPr lang="en-US" sz="1932" dirty="0"/>
          </a:p>
          <a:p>
            <a:pPr marL="279400" indent="-279400" algn="l">
              <a:lnSpc>
                <a:spcPct val="105000"/>
              </a:lnSpc>
              <a:buSzPct val="100000"/>
              <a:buChar char="•"/>
            </a:pPr>
            <a:r>
              <a:rPr lang="en-US" sz="2100" dirty="0">
                <a:solidFill>
                  <a:schemeClr val="tx1"/>
                </a:solidFill>
              </a:rPr>
              <a:t>Contar linhas antes e depois de cada junção</a:t>
            </a:r>
            <a:endParaRPr lang="en-US" sz="1932" dirty="0"/>
          </a:p>
        </p:txBody>
      </p:sp>
      <p:sp>
        <p:nvSpPr>
          <p:cNvPr id="6" name="texto-3"/>
          <p:cNvSpPr txBox="1"/>
          <p:nvPr/>
        </p:nvSpPr>
        <p:spPr>
          <a:xfrm>
            <a:off x="566928" y="6093726"/>
            <a:ext cx="11057839" cy="19734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ct val="105000"/>
              </a:lnSpc>
              <a:buNone/>
            </a:pPr>
            <a:r>
              <a:rPr lang="en-US" sz="1100" dirty="0">
                <a:solidFill>
                  <a:schemeClr val="tx2"/>
                </a:solidFill>
              </a:rPr>
              <a:t>Morales et al. (2022), G3, 12: jkac078 — Breedbase.</a:t>
            </a:r>
            <a:endParaRPr lang="en-US" sz="1100" dirty="0"/>
          </a:p>
        </p:txBody>
      </p:sp>
      <p:sp>
        <p:nvSpPr>
          <p:cNvPr id="7" name="rodape"/>
          <p:cNvSpPr txBox="1"/>
          <p:nvPr/>
        </p:nvSpPr>
        <p:spPr>
          <a:xfrm>
            <a:off x="566928" y="640080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50" kern="0" spc="100" dirty="0">
                <a:solidFill>
                  <a:schemeClr val="tx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SEÇÃO 1 · BLOCO 2</a:t>
            </a:r>
            <a:endParaRPr lang="en-US" sz="95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527487" y="6400800"/>
            <a:ext cx="109728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xmlns="" val="0"/>
            </a:ext>
          </a:extLst>
        </p:spPr>
        <p:txBody>
          <a:bodyPr lIns="0" tIns="0" rIns="0" bIns="0"/>
          <a:lstStyle>
            <a:lvl1pPr>
              <a:defRPr sz="1000">
                <a:solidFill>
                  <a:srgbClr val="8FA9A3"/>
                </a:solidFill>
                <a:latin typeface="Courier New"/>
                <a:ea typeface="Courier New"/>
                <a:cs typeface="Courier New"/>
              </a:defRPr>
            </a:lvl1pPr>
          </a:lstStyle>
          <a:p>
            <a:pPr algn="r"/>
            <a:fld id="{F7021451-1387-4CA6-816F-3879F97B5CBC}" type="slidenum">
              <a:rPr lang="en-US" b="0"/>
              <a:t>15</a:t>
            </a:fld>
            <a:endParaRPr lang="en-US"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>
            <a:spLocks noGrp="1"/>
          </p:cNvSpPr>
          <p:nvPr>
            <p:ph type="title" idx="100" hasCustomPrompt="1"/>
          </p:nvPr>
        </p:nvSpPr>
        <p:spPr>
          <a:xfrm>
            <a:off x="566928" y="384048"/>
            <a:ext cx="11057839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buNone/>
            </a:pPr>
            <a:r>
              <a:rPr lang="en-US" sz="1900" b="1" dirty="0">
                <a:solidFill>
                  <a:schemeClr val="accent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2.7   </a:t>
            </a:r>
            <a:r>
              <a:rPr lang="en-US" sz="2800" b="1" dirty="0">
                <a:solidFill>
                  <a:schemeClr val="tx1"/>
                </a:solidFill>
              </a:rPr>
              <a:t>SQL essencial (1): selecionar e filtrar</a:t>
            </a:r>
            <a:endParaRPr lang="en-US" sz="2800" dirty="0"/>
          </a:p>
        </p:txBody>
      </p:sp>
      <p:sp>
        <p:nvSpPr>
          <p:cNvPr id="3" name="ret-0"/>
          <p:cNvSpPr/>
          <p:nvPr/>
        </p:nvSpPr>
        <p:spPr>
          <a:xfrm>
            <a:off x="566928" y="1085240"/>
            <a:ext cx="11057839" cy="1872691"/>
          </a:xfrm>
          <a:prstGeom prst="roundRect">
            <a:avLst>
              <a:gd name="adj" fmla="val 2930"/>
            </a:avLst>
          </a:prstGeom>
          <a:solidFill>
            <a:schemeClr val="accent5"/>
          </a:solidFill>
          <a:ln w="9525">
            <a:solidFill>
              <a:schemeClr val="accent4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4" name="texto-1"/>
          <p:cNvSpPr txBox="1"/>
          <p:nvPr/>
        </p:nvSpPr>
        <p:spPr>
          <a:xfrm>
            <a:off x="713232" y="1176680"/>
            <a:ext cx="10765231" cy="1708099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ct val="100000"/>
              </a:lnSpc>
              <a:buNone/>
            </a:pPr>
            <a:r>
              <a:rPr lang="en-US" sz="1386" dirty="0">
                <a:solidFill>
                  <a:schemeClr val="tx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SELECT p.parcela_id, p.germoplasma_id, o.valor AS prod_kg_ha</a:t>
            </a:r>
            <a:endParaRPr lang="en-US" sz="1386" dirty="0"/>
          </a:p>
          <a:p>
            <a:pPr marL="0" indent="0" algn="l">
              <a:lnSpc>
                <a:spcPct val="100000"/>
              </a:lnSpc>
              <a:buNone/>
            </a:pPr>
            <a:r>
              <a:rPr lang="en-US" sz="1386" dirty="0">
                <a:solidFill>
                  <a:schemeClr val="tx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FROM observacao o</a:t>
            </a:r>
            <a:endParaRPr lang="en-US" sz="1386" dirty="0"/>
          </a:p>
          <a:p>
            <a:pPr marL="0" indent="0" algn="l">
              <a:lnSpc>
                <a:spcPct val="100000"/>
              </a:lnSpc>
              <a:buNone/>
            </a:pPr>
            <a:r>
              <a:rPr lang="en-US" sz="1386" dirty="0">
                <a:solidFill>
                  <a:schemeClr val="tx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JOIN parcela  p ON o.parcela_id  = p.parcela_id</a:t>
            </a:r>
            <a:endParaRPr lang="en-US" sz="1386" dirty="0"/>
          </a:p>
          <a:p>
            <a:pPr marL="0" indent="0" algn="l">
              <a:lnSpc>
                <a:spcPct val="100000"/>
              </a:lnSpc>
              <a:buNone/>
            </a:pPr>
            <a:r>
              <a:rPr lang="en-US" sz="1386" dirty="0">
                <a:solidFill>
                  <a:schemeClr val="tx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JOIN ensaio   e ON p.ensaio_id   = e.ensaio_id</a:t>
            </a:r>
            <a:endParaRPr lang="en-US" sz="1386" dirty="0"/>
          </a:p>
          <a:p>
            <a:pPr marL="0" indent="0" algn="l">
              <a:lnSpc>
                <a:spcPct val="100000"/>
              </a:lnSpc>
              <a:buNone/>
            </a:pPr>
            <a:r>
              <a:rPr lang="en-US" sz="1386" dirty="0">
                <a:solidFill>
                  <a:schemeClr val="tx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JOIN ambiente a ON e.ambiente_id = a.ambiente_id</a:t>
            </a:r>
            <a:endParaRPr lang="en-US" sz="1386" dirty="0"/>
          </a:p>
          <a:p>
            <a:pPr marL="0" indent="0" algn="l">
              <a:lnSpc>
                <a:spcPct val="100000"/>
              </a:lnSpc>
              <a:buNone/>
            </a:pPr>
            <a:r>
              <a:rPr lang="en-US" sz="1386" dirty="0">
                <a:solidFill>
                  <a:schemeClr val="tx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WHERE a.local = 'Uberlandia' AND a.ano = 2025 AND o.valor IS NOT NULL</a:t>
            </a:r>
            <a:endParaRPr lang="en-US" sz="1386" dirty="0"/>
          </a:p>
          <a:p>
            <a:pPr marL="0" indent="0" algn="l">
              <a:lnSpc>
                <a:spcPct val="100000"/>
              </a:lnSpc>
              <a:buNone/>
            </a:pPr>
            <a:r>
              <a:rPr lang="en-US" sz="1386" dirty="0">
                <a:solidFill>
                  <a:schemeClr val="tx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ORDER BY o.valor DESC</a:t>
            </a:r>
            <a:endParaRPr lang="en-US" sz="1386" dirty="0"/>
          </a:p>
          <a:p>
            <a:pPr marL="0" indent="0" algn="l">
              <a:lnSpc>
                <a:spcPct val="100000"/>
              </a:lnSpc>
              <a:buNone/>
            </a:pPr>
            <a:r>
              <a:rPr lang="en-US" sz="1386" dirty="0">
                <a:solidFill>
                  <a:schemeClr val="tx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LIMIT 5;</a:t>
            </a:r>
            <a:endParaRPr lang="en-US" sz="1386" dirty="0"/>
          </a:p>
        </p:txBody>
      </p:sp>
      <p:graphicFrame>
        <p:nvGraphicFramePr>
          <p:cNvPr id="17" name="tabela-2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66928" y="3117952"/>
          <a:ext cx="11057840" cy="1433600"/>
        </p:xfrm>
        <a:graphic>
          <a:graphicData uri="http://schemas.openxmlformats.org/drawingml/2006/table">
            <a:tbl>
              <a:tblPr/>
              <a:tblGrid>
                <a:gridCol w="4575631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3734581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2747628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</a:tblGrid>
              <a:tr h="358400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722" b="1" dirty="0">
                          <a:solidFill>
                            <a:schemeClr val="tx1"/>
                          </a:solidFill>
                        </a:rPr>
                        <a:t>parcela_id</a:t>
                      </a:r>
                      <a:endParaRPr lang="en-US" sz="1722" dirty="0"/>
                    </a:p>
                  </a:txBody>
                  <a:tcPr marL="73152" marR="73152" marT="32004" marB="32004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9050" cap="flat" cmpd="sng" algn="ctr">
                      <a:solidFill>
                        <a:srgbClr val="A6E35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722" b="1" dirty="0">
                          <a:solidFill>
                            <a:schemeClr val="tx1"/>
                          </a:solidFill>
                        </a:rPr>
                        <a:t>germoplasma_id</a:t>
                      </a:r>
                      <a:endParaRPr lang="en-US" sz="1722" dirty="0"/>
                    </a:p>
                  </a:txBody>
                  <a:tcPr marL="73152" marR="73152" marT="32004" marB="32004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9050" cap="flat" cmpd="sng" algn="ctr">
                      <a:solidFill>
                        <a:srgbClr val="A6E35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722" b="1" dirty="0">
                          <a:solidFill>
                            <a:schemeClr val="tx1"/>
                          </a:solidFill>
                        </a:rPr>
                        <a:t>prod_kg_ha</a:t>
                      </a:r>
                      <a:endParaRPr lang="en-US" sz="1722" dirty="0"/>
                    </a:p>
                  </a:txBody>
                  <a:tcPr marL="73152" marR="73152" marT="32004" marB="32004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9050" cap="flat" cmpd="sng" algn="ctr">
                      <a:solidFill>
                        <a:srgbClr val="A6E35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358400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722" dirty="0">
                          <a:solidFill>
                            <a:schemeClr val="tx1"/>
                          </a:solidFill>
                        </a:rPr>
                        <a:t>P_UDI_2025_V_0635</a:t>
                      </a:r>
                      <a:endParaRPr lang="en-US" sz="1722" dirty="0"/>
                    </a:p>
                  </a:txBody>
                  <a:tcPr marL="73152" marR="73152" marT="32004" marB="32004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19050" cap="flat" cmpd="sng" algn="ctr">
                      <a:solidFill>
                        <a:srgbClr val="A6E35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1D3A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722" dirty="0">
                          <a:solidFill>
                            <a:schemeClr val="tx1"/>
                          </a:solidFill>
                        </a:rPr>
                        <a:t>DH25_0089</a:t>
                      </a:r>
                      <a:endParaRPr lang="en-US" sz="1722" dirty="0"/>
                    </a:p>
                  </a:txBody>
                  <a:tcPr marL="73152" marR="73152" marT="32004" marB="32004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19050" cap="flat" cmpd="sng" algn="ctr">
                      <a:solidFill>
                        <a:srgbClr val="A6E35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1D3A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722" dirty="0">
                          <a:solidFill>
                            <a:schemeClr val="tx1"/>
                          </a:solidFill>
                        </a:rPr>
                        <a:t>14.435,1</a:t>
                      </a:r>
                      <a:endParaRPr lang="en-US" sz="1722" dirty="0"/>
                    </a:p>
                  </a:txBody>
                  <a:tcPr marL="73152" marR="73152" marT="32004" marB="32004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19050" cap="flat" cmpd="sng" algn="ctr">
                      <a:solidFill>
                        <a:srgbClr val="A6E35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1D3A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358400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722" dirty="0">
                          <a:solidFill>
                            <a:schemeClr val="tx1"/>
                          </a:solidFill>
                        </a:rPr>
                        <a:t>P_UDI_2025_V_0768</a:t>
                      </a:r>
                      <a:endParaRPr lang="en-US" sz="1722" dirty="0"/>
                    </a:p>
                  </a:txBody>
                  <a:tcPr marL="73152" marR="73152" marT="32004" marB="32004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9525" cap="flat" cmpd="sng" algn="ctr">
                      <a:solidFill>
                        <a:srgbClr val="1D3A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1D3A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722" dirty="0">
                          <a:solidFill>
                            <a:schemeClr val="tx1"/>
                          </a:solidFill>
                        </a:rPr>
                        <a:t>DH25_0288</a:t>
                      </a:r>
                      <a:endParaRPr lang="en-US" sz="1722" dirty="0"/>
                    </a:p>
                  </a:txBody>
                  <a:tcPr marL="73152" marR="73152" marT="32004" marB="32004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9525" cap="flat" cmpd="sng" algn="ctr">
                      <a:solidFill>
                        <a:srgbClr val="1D3A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1D3A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722" dirty="0">
                          <a:solidFill>
                            <a:schemeClr val="tx1"/>
                          </a:solidFill>
                        </a:rPr>
                        <a:t>14.358,5</a:t>
                      </a:r>
                      <a:endParaRPr lang="en-US" sz="1722" dirty="0"/>
                    </a:p>
                  </a:txBody>
                  <a:tcPr marL="73152" marR="73152" marT="32004" marB="32004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9525" cap="flat" cmpd="sng" algn="ctr">
                      <a:solidFill>
                        <a:srgbClr val="1D3A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1D3A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358400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722" dirty="0">
                          <a:solidFill>
                            <a:schemeClr val="tx1"/>
                          </a:solidFill>
                        </a:rPr>
                        <a:t>P_UDI_2025_V_0448</a:t>
                      </a:r>
                      <a:endParaRPr lang="en-US" sz="1722" dirty="0"/>
                    </a:p>
                  </a:txBody>
                  <a:tcPr marL="73152" marR="73152" marT="32004" marB="32004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9525" cap="flat" cmpd="sng" algn="ctr">
                      <a:solidFill>
                        <a:srgbClr val="1D3A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0" cap="flat" cmpd="sng" algn="ctr"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722" dirty="0">
                          <a:solidFill>
                            <a:schemeClr val="tx1"/>
                          </a:solidFill>
                        </a:rPr>
                        <a:t>DH25_0030</a:t>
                      </a:r>
                      <a:endParaRPr lang="en-US" sz="1722" dirty="0"/>
                    </a:p>
                  </a:txBody>
                  <a:tcPr marL="73152" marR="73152" marT="32004" marB="32004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9525" cap="flat" cmpd="sng" algn="ctr">
                      <a:solidFill>
                        <a:srgbClr val="1D3A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0" cap="flat" cmpd="sng" algn="ctr"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722" dirty="0">
                          <a:solidFill>
                            <a:schemeClr val="tx1"/>
                          </a:solidFill>
                        </a:rPr>
                        <a:t>14.178,8</a:t>
                      </a:r>
                      <a:endParaRPr lang="en-US" sz="1722" dirty="0"/>
                    </a:p>
                  </a:txBody>
                  <a:tcPr marL="73152" marR="73152" marT="32004" marB="32004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9525" cap="flat" cmpd="sng" algn="ctr">
                      <a:solidFill>
                        <a:srgbClr val="1D3A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0" cap="flat" cmpd="sng" algn="ctr">
                      <a:noFill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</a:tbl>
          </a:graphicData>
        </a:graphic>
      </p:graphicFrame>
      <p:sp>
        <p:nvSpPr>
          <p:cNvPr id="6" name="rodape"/>
          <p:cNvSpPr txBox="1"/>
          <p:nvPr/>
        </p:nvSpPr>
        <p:spPr>
          <a:xfrm>
            <a:off x="566928" y="640080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50" kern="0" spc="100" dirty="0">
                <a:solidFill>
                  <a:schemeClr val="tx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SEÇÃO 1 · BLOCO 2</a:t>
            </a:r>
            <a:endParaRPr lang="en-US" sz="95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527487" y="6400800"/>
            <a:ext cx="109728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xmlns="" val="0"/>
            </a:ext>
          </a:extLst>
        </p:spPr>
        <p:txBody>
          <a:bodyPr lIns="0" tIns="0" rIns="0" bIns="0"/>
          <a:lstStyle>
            <a:lvl1pPr>
              <a:defRPr sz="1000">
                <a:solidFill>
                  <a:srgbClr val="8FA9A3"/>
                </a:solidFill>
                <a:latin typeface="Courier New"/>
                <a:ea typeface="Courier New"/>
                <a:cs typeface="Courier New"/>
              </a:defRPr>
            </a:lvl1pPr>
          </a:lstStyle>
          <a:p>
            <a:pPr algn="r"/>
            <a:fld id="{F7021451-1387-4CA6-816F-3879F97B5CBC}" type="slidenum">
              <a:rPr lang="en-US" b="0"/>
              <a:t>16</a:t>
            </a:fld>
            <a:endParaRPr lang="en-US"/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>
            <a:spLocks noGrp="1"/>
          </p:cNvSpPr>
          <p:nvPr>
            <p:ph type="title" idx="100" hasCustomPrompt="1"/>
          </p:nvPr>
        </p:nvSpPr>
        <p:spPr>
          <a:xfrm>
            <a:off x="566928" y="384048"/>
            <a:ext cx="11057839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buNone/>
            </a:pPr>
            <a:r>
              <a:rPr lang="en-US" sz="1900" b="1" dirty="0">
                <a:solidFill>
                  <a:schemeClr val="accent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2.8   </a:t>
            </a:r>
            <a:r>
              <a:rPr lang="en-US" sz="2800" b="1" dirty="0">
                <a:solidFill>
                  <a:schemeClr val="tx1"/>
                </a:solidFill>
              </a:rPr>
              <a:t>SQL essencial (2): junções</a:t>
            </a:r>
            <a:endParaRPr lang="en-US" sz="2800" dirty="0"/>
          </a:p>
        </p:txBody>
      </p:sp>
      <p:sp>
        <p:nvSpPr>
          <p:cNvPr id="3" name="texto-0"/>
          <p:cNvSpPr txBox="1"/>
          <p:nvPr/>
        </p:nvSpPr>
        <p:spPr>
          <a:xfrm>
            <a:off x="566928" y="1085240"/>
            <a:ext cx="11057839" cy="11291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279400" indent="-279400" algn="l">
              <a:lnSpc>
                <a:spcPct val="105000"/>
              </a:lnSpc>
              <a:spcAft>
                <a:spcPts val="672"/>
              </a:spcAft>
              <a:buSzPct val="100000"/>
              <a:buChar char="•"/>
            </a:pPr>
            <a:r>
              <a:rPr lang="en-US" sz="1932" dirty="0">
                <a:solidFill>
                  <a:schemeClr val="accent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JOIN</a:t>
            </a:r>
            <a:r>
              <a:rPr lang="en-US" sz="2100" dirty="0">
                <a:solidFill>
                  <a:schemeClr val="tx1"/>
                </a:solidFill>
              </a:rPr>
              <a:t> (interno): só linhas com correspondência nas duas tabelas.</a:t>
            </a:r>
            <a:endParaRPr lang="en-US" sz="1932" dirty="0"/>
          </a:p>
          <a:p>
            <a:pPr marL="279400" indent="-279400" algn="l">
              <a:lnSpc>
                <a:spcPct val="105000"/>
              </a:lnSpc>
              <a:buSzPct val="100000"/>
              <a:buChar char="•"/>
            </a:pPr>
            <a:r>
              <a:rPr lang="en-US" sz="1932" dirty="0">
                <a:solidFill>
                  <a:schemeClr val="accent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LEFT JOIN</a:t>
            </a:r>
            <a:r>
              <a:rPr lang="en-US" sz="2100" dirty="0">
                <a:solidFill>
                  <a:schemeClr val="tx1"/>
                </a:solidFill>
              </a:rPr>
              <a:t>: todas as linhas da esquerda; </a:t>
            </a:r>
            <a:r>
              <a:rPr lang="en-US" sz="1932" dirty="0">
                <a:solidFill>
                  <a:schemeClr val="accent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NULL</a:t>
            </a:r>
            <a:r>
              <a:rPr lang="en-US" sz="2100" dirty="0">
                <a:solidFill>
                  <a:schemeClr val="tx1"/>
                </a:solidFill>
              </a:rPr>
              <a:t> onde não há correspondência. Serve para achar </a:t>
            </a:r>
            <a:r>
              <a:rPr lang="en-US" sz="2100" b="1" dirty="0">
                <a:solidFill>
                  <a:schemeClr val="tx1"/>
                </a:solidFill>
              </a:rPr>
              <a:t>o que falta</a:t>
            </a:r>
            <a:r>
              <a:rPr lang="en-US" sz="2100" dirty="0">
                <a:solidFill>
                  <a:schemeClr val="tx1"/>
                </a:solidFill>
              </a:rPr>
              <a:t>.</a:t>
            </a:r>
            <a:endParaRPr lang="en-US" sz="1932" dirty="0"/>
          </a:p>
        </p:txBody>
      </p:sp>
      <p:sp>
        <p:nvSpPr>
          <p:cNvPr id="4" name="ret-1"/>
          <p:cNvSpPr/>
          <p:nvPr/>
        </p:nvSpPr>
        <p:spPr>
          <a:xfrm>
            <a:off x="566928" y="2356121"/>
            <a:ext cx="11057839" cy="1450238"/>
          </a:xfrm>
          <a:prstGeom prst="roundRect">
            <a:avLst>
              <a:gd name="adj" fmla="val 3783"/>
            </a:avLst>
          </a:prstGeom>
          <a:solidFill>
            <a:schemeClr val="accent5"/>
          </a:solidFill>
          <a:ln w="9525">
            <a:solidFill>
              <a:schemeClr val="accent4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5" name="texto-2"/>
          <p:cNvSpPr txBox="1"/>
          <p:nvPr/>
        </p:nvSpPr>
        <p:spPr>
          <a:xfrm>
            <a:off x="713232" y="2447561"/>
            <a:ext cx="10765231" cy="128564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ct val="100000"/>
              </a:lnSpc>
              <a:buNone/>
            </a:pPr>
            <a:r>
              <a:rPr lang="en-US" sz="1386" dirty="0">
                <a:solidFill>
                  <a:schemeClr val="tx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-- Germoplasma cadastrado sem nenhuma parcela, por origem</a:t>
            </a:r>
            <a:endParaRPr lang="en-US" sz="1386" dirty="0"/>
          </a:p>
          <a:p>
            <a:pPr marL="0" indent="0" algn="l">
              <a:lnSpc>
                <a:spcPct val="100000"/>
              </a:lnSpc>
              <a:buNone/>
            </a:pPr>
            <a:r>
              <a:rPr lang="en-US" sz="1386" dirty="0">
                <a:solidFill>
                  <a:schemeClr val="tx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SELECT g.origem, COUNT(*) AS n_sem_parcela</a:t>
            </a:r>
            <a:endParaRPr lang="en-US" sz="1386" dirty="0"/>
          </a:p>
          <a:p>
            <a:pPr marL="0" indent="0" algn="l">
              <a:lnSpc>
                <a:spcPct val="100000"/>
              </a:lnSpc>
              <a:buNone/>
            </a:pPr>
            <a:r>
              <a:rPr lang="en-US" sz="1386" dirty="0">
                <a:solidFill>
                  <a:schemeClr val="tx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FROM germoplasma g</a:t>
            </a:r>
            <a:endParaRPr lang="en-US" sz="1386" dirty="0"/>
          </a:p>
          <a:p>
            <a:pPr marL="0" indent="0" algn="l">
              <a:lnSpc>
                <a:spcPct val="100000"/>
              </a:lnSpc>
              <a:buNone/>
            </a:pPr>
            <a:r>
              <a:rPr lang="en-US" sz="1386" dirty="0">
                <a:solidFill>
                  <a:schemeClr val="tx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LEFT JOIN parcela p ON g.germoplasma_id = p.germoplasma_id</a:t>
            </a:r>
            <a:endParaRPr lang="en-US" sz="1386" dirty="0"/>
          </a:p>
          <a:p>
            <a:pPr marL="0" indent="0" algn="l">
              <a:lnSpc>
                <a:spcPct val="100000"/>
              </a:lnSpc>
              <a:buNone/>
            </a:pPr>
            <a:r>
              <a:rPr lang="en-US" sz="1386" dirty="0">
                <a:solidFill>
                  <a:schemeClr val="tx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WHERE p.parcela_id IS NULL</a:t>
            </a:r>
            <a:endParaRPr lang="en-US" sz="1386" dirty="0"/>
          </a:p>
          <a:p>
            <a:pPr marL="0" indent="0" algn="l">
              <a:lnSpc>
                <a:spcPct val="100000"/>
              </a:lnSpc>
              <a:buNone/>
            </a:pPr>
            <a:r>
              <a:rPr lang="en-US" sz="1386" dirty="0">
                <a:solidFill>
                  <a:schemeClr val="tx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GROUP BY g.origem;</a:t>
            </a:r>
            <a:endParaRPr lang="en-US" sz="1386" dirty="0"/>
          </a:p>
        </p:txBody>
      </p:sp>
      <p:graphicFrame>
        <p:nvGraphicFramePr>
          <p:cNvPr id="18" name="tabela-3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66928" y="3966379"/>
          <a:ext cx="11057839" cy="1075200"/>
        </p:xfrm>
        <a:graphic>
          <a:graphicData uri="http://schemas.openxmlformats.org/drawingml/2006/table">
            <a:tbl>
              <a:tblPr/>
              <a:tblGrid>
                <a:gridCol w="4297928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6759911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</a:tblGrid>
              <a:tr h="358400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722" b="1" dirty="0">
                          <a:solidFill>
                            <a:schemeClr val="tx1"/>
                          </a:solidFill>
                        </a:rPr>
                        <a:t>origem</a:t>
                      </a:r>
                      <a:endParaRPr lang="en-US" sz="1722" dirty="0"/>
                    </a:p>
                  </a:txBody>
                  <a:tcPr marL="73152" marR="73152" marT="32004" marB="32004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9050" cap="flat" cmpd="sng" algn="ctr">
                      <a:solidFill>
                        <a:srgbClr val="A6E35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722" b="1" dirty="0">
                          <a:solidFill>
                            <a:schemeClr val="tx1"/>
                          </a:solidFill>
                        </a:rPr>
                        <a:t>n_sem_parcela</a:t>
                      </a:r>
                      <a:endParaRPr lang="en-US" sz="1722" dirty="0"/>
                    </a:p>
                  </a:txBody>
                  <a:tcPr marL="73152" marR="73152" marT="32004" marB="32004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9050" cap="flat" cmpd="sng" algn="ctr">
                      <a:solidFill>
                        <a:srgbClr val="A6E35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358400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722" dirty="0">
                          <a:solidFill>
                            <a:schemeClr val="tx1"/>
                          </a:solidFill>
                        </a:rPr>
                        <a:t>fundador</a:t>
                      </a:r>
                      <a:endParaRPr lang="en-US" sz="1722" dirty="0"/>
                    </a:p>
                  </a:txBody>
                  <a:tcPr marL="73152" marR="73152" marT="32004" marB="32004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19050" cap="flat" cmpd="sng" algn="ctr">
                      <a:solidFill>
                        <a:srgbClr val="A6E35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1D3A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722" dirty="0">
                          <a:solidFill>
                            <a:schemeClr val="tx1"/>
                          </a:solidFill>
                        </a:rPr>
                        <a:t>99</a:t>
                      </a:r>
                      <a:endParaRPr lang="en-US" sz="1722" dirty="0"/>
                    </a:p>
                  </a:txBody>
                  <a:tcPr marL="73152" marR="73152" marT="32004" marB="32004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19050" cap="flat" cmpd="sng" algn="ctr">
                      <a:solidFill>
                        <a:srgbClr val="A6E35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1D3A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358400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722" dirty="0">
                          <a:solidFill>
                            <a:schemeClr val="tx1"/>
                          </a:solidFill>
                        </a:rPr>
                        <a:t>testador</a:t>
                      </a:r>
                      <a:endParaRPr lang="en-US" sz="1722" dirty="0"/>
                    </a:p>
                  </a:txBody>
                  <a:tcPr marL="73152" marR="73152" marT="32004" marB="32004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9525" cap="flat" cmpd="sng" algn="ctr">
                      <a:solidFill>
                        <a:srgbClr val="1D3A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0" cap="flat" cmpd="sng" algn="ctr"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722" dirty="0">
                          <a:solidFill>
                            <a:schemeClr val="tx1"/>
                          </a:solidFill>
                        </a:rPr>
                        <a:t>1</a:t>
                      </a:r>
                      <a:endParaRPr lang="en-US" sz="1722" dirty="0"/>
                    </a:p>
                  </a:txBody>
                  <a:tcPr marL="73152" marR="73152" marT="32004" marB="32004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9525" cap="flat" cmpd="sng" algn="ctr">
                      <a:solidFill>
                        <a:srgbClr val="1D3A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0" cap="flat" cmpd="sng" algn="ctr">
                      <a:noFill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</a:tbl>
          </a:graphicData>
        </a:graphic>
      </p:graphicFrame>
      <p:sp>
        <p:nvSpPr>
          <p:cNvPr id="7" name="texto-4"/>
          <p:cNvSpPr txBox="1"/>
          <p:nvPr/>
        </p:nvSpPr>
        <p:spPr>
          <a:xfrm>
            <a:off x="566928" y="5201598"/>
            <a:ext cx="11057839" cy="70196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ct val="105000"/>
              </a:lnSpc>
              <a:buNone/>
            </a:pPr>
            <a:r>
              <a:rPr lang="en-US" sz="2100" dirty="0">
                <a:solidFill>
                  <a:schemeClr val="tx1"/>
                </a:solidFill>
              </a:rPr>
              <a:t>Resultado esperado: fundadores e testador não são avaliados em parcela. Se aparecesse uma linhagem DH aqui, seria um problema.</a:t>
            </a:r>
            <a:endParaRPr lang="en-US" sz="2100" dirty="0"/>
          </a:p>
        </p:txBody>
      </p:sp>
      <p:sp>
        <p:nvSpPr>
          <p:cNvPr id="8" name="rodape"/>
          <p:cNvSpPr txBox="1"/>
          <p:nvPr/>
        </p:nvSpPr>
        <p:spPr>
          <a:xfrm>
            <a:off x="566928" y="640080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50" kern="0" spc="100" dirty="0">
                <a:solidFill>
                  <a:schemeClr val="tx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SEÇÃO 1 · BLOCO 2</a:t>
            </a:r>
            <a:endParaRPr lang="en-US" sz="95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527487" y="6400800"/>
            <a:ext cx="109728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xmlns="" val="0"/>
            </a:ext>
          </a:extLst>
        </p:spPr>
        <p:txBody>
          <a:bodyPr lIns="0" tIns="0" rIns="0" bIns="0"/>
          <a:lstStyle>
            <a:lvl1pPr>
              <a:defRPr sz="1000">
                <a:solidFill>
                  <a:srgbClr val="8FA9A3"/>
                </a:solidFill>
                <a:latin typeface="Courier New"/>
                <a:ea typeface="Courier New"/>
                <a:cs typeface="Courier New"/>
              </a:defRPr>
            </a:lvl1pPr>
          </a:lstStyle>
          <a:p>
            <a:pPr algn="r"/>
            <a:fld id="{F7021451-1387-4CA6-816F-3879F97B5CBC}" type="slidenum">
              <a:rPr lang="en-US" b="0"/>
              <a:t>17</a:t>
            </a:fld>
            <a:endParaRPr lang="en-US"/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8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>
            <a:spLocks noGrp="1"/>
          </p:cNvSpPr>
          <p:nvPr>
            <p:ph type="title" idx="100" hasCustomPrompt="1"/>
          </p:nvPr>
        </p:nvSpPr>
        <p:spPr>
          <a:xfrm>
            <a:off x="566928" y="384048"/>
            <a:ext cx="11057839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buNone/>
            </a:pPr>
            <a:r>
              <a:rPr lang="en-US" sz="1900" b="1" dirty="0">
                <a:solidFill>
                  <a:schemeClr val="accent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2.9   </a:t>
            </a:r>
            <a:r>
              <a:rPr lang="en-US" sz="2800" b="1" dirty="0">
                <a:solidFill>
                  <a:schemeClr val="tx1"/>
                </a:solidFill>
              </a:rPr>
              <a:t>SQL essencial (3): agregar</a:t>
            </a:r>
            <a:endParaRPr lang="en-US" sz="2800" dirty="0"/>
          </a:p>
        </p:txBody>
      </p:sp>
      <p:sp>
        <p:nvSpPr>
          <p:cNvPr id="3" name="ret-0"/>
          <p:cNvSpPr/>
          <p:nvPr/>
        </p:nvSpPr>
        <p:spPr>
          <a:xfrm>
            <a:off x="566928" y="1085240"/>
            <a:ext cx="11057839" cy="1450238"/>
          </a:xfrm>
          <a:prstGeom prst="roundRect">
            <a:avLst>
              <a:gd name="adj" fmla="val 3783"/>
            </a:avLst>
          </a:prstGeom>
          <a:solidFill>
            <a:schemeClr val="accent5"/>
          </a:solidFill>
          <a:ln w="9525">
            <a:solidFill>
              <a:schemeClr val="accent4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4" name="texto-1"/>
          <p:cNvSpPr txBox="1"/>
          <p:nvPr/>
        </p:nvSpPr>
        <p:spPr>
          <a:xfrm>
            <a:off x="713232" y="1176680"/>
            <a:ext cx="10765231" cy="128564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ct val="100000"/>
              </a:lnSpc>
              <a:buNone/>
            </a:pPr>
            <a:r>
              <a:rPr lang="en-US" sz="1386" dirty="0">
                <a:solidFill>
                  <a:schemeClr val="tx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SELECT germoplasma_id, ambiente_id, COUNT(prod) AS n, ROUND(AVG(prod), 0) AS media</a:t>
            </a:r>
            <a:endParaRPr lang="en-US" sz="1386" dirty="0"/>
          </a:p>
          <a:p>
            <a:pPr marL="0" indent="0" algn="l">
              <a:lnSpc>
                <a:spcPct val="100000"/>
              </a:lnSpc>
              <a:buNone/>
            </a:pPr>
            <a:r>
              <a:rPr lang="en-US" sz="1386" dirty="0">
                <a:solidFill>
                  <a:schemeClr val="tx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FROM v_prod_parcela</a:t>
            </a:r>
            <a:endParaRPr lang="en-US" sz="1386" dirty="0"/>
          </a:p>
          <a:p>
            <a:pPr marL="0" indent="0" algn="l">
              <a:lnSpc>
                <a:spcPct val="100000"/>
              </a:lnSpc>
              <a:buNone/>
            </a:pPr>
            <a:r>
              <a:rPr lang="en-US" sz="1386" dirty="0">
                <a:solidFill>
                  <a:schemeClr val="tx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GROUP BY germoplasma_id, ambiente_id</a:t>
            </a:r>
            <a:endParaRPr lang="en-US" sz="1386" dirty="0"/>
          </a:p>
          <a:p>
            <a:pPr marL="0" indent="0" algn="l">
              <a:lnSpc>
                <a:spcPct val="100000"/>
              </a:lnSpc>
              <a:buNone/>
            </a:pPr>
            <a:r>
              <a:rPr lang="en-US" sz="1386" dirty="0">
                <a:solidFill>
                  <a:schemeClr val="tx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HAVING COUNT(prod) = 2          </a:t>
            </a:r>
            <a:r>
              <a:rPr lang="en-US" sz="1386" dirty="0">
                <a:solidFill>
                  <a:schemeClr val="tx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-- só combinações com as duas repetições válidas</a:t>
            </a:r>
            <a:endParaRPr lang="en-US" sz="1386" dirty="0"/>
          </a:p>
          <a:p>
            <a:pPr marL="0" indent="0" algn="l">
              <a:lnSpc>
                <a:spcPct val="100000"/>
              </a:lnSpc>
              <a:buNone/>
            </a:pPr>
            <a:r>
              <a:rPr lang="en-US" sz="1386" dirty="0">
                <a:solidFill>
                  <a:schemeClr val="tx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ORDER BY media DESC</a:t>
            </a:r>
            <a:endParaRPr lang="en-US" sz="1386" dirty="0"/>
          </a:p>
          <a:p>
            <a:pPr marL="0" indent="0" algn="l">
              <a:lnSpc>
                <a:spcPct val="100000"/>
              </a:lnSpc>
              <a:buNone/>
            </a:pPr>
            <a:r>
              <a:rPr lang="en-US" sz="1386" dirty="0">
                <a:solidFill>
                  <a:schemeClr val="tx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LIMIT 3;</a:t>
            </a:r>
            <a:endParaRPr lang="en-US" sz="1386" dirty="0"/>
          </a:p>
        </p:txBody>
      </p:sp>
      <p:graphicFrame>
        <p:nvGraphicFramePr>
          <p:cNvPr id="19" name="tabela-2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66928" y="2695499"/>
          <a:ext cx="11057839" cy="1433600"/>
        </p:xfrm>
        <a:graphic>
          <a:graphicData uri="http://schemas.openxmlformats.org/drawingml/2006/table">
            <a:tbl>
              <a:tblPr/>
              <a:tblGrid>
                <a:gridCol w="4640855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3600592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718487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2097905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</a:tblGrid>
              <a:tr h="358400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722" b="1" dirty="0">
                          <a:solidFill>
                            <a:schemeClr val="tx1"/>
                          </a:solidFill>
                        </a:rPr>
                        <a:t>germoplasma_id</a:t>
                      </a:r>
                      <a:endParaRPr lang="en-US" sz="1722" dirty="0"/>
                    </a:p>
                  </a:txBody>
                  <a:tcPr marL="73152" marR="73152" marT="32004" marB="32004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9050" cap="flat" cmpd="sng" algn="ctr">
                      <a:solidFill>
                        <a:srgbClr val="A6E35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722" b="1" dirty="0">
                          <a:solidFill>
                            <a:schemeClr val="tx1"/>
                          </a:solidFill>
                        </a:rPr>
                        <a:t>ambiente_id</a:t>
                      </a:r>
                      <a:endParaRPr lang="en-US" sz="1722" dirty="0"/>
                    </a:p>
                  </a:txBody>
                  <a:tcPr marL="73152" marR="73152" marT="32004" marB="32004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9050" cap="flat" cmpd="sng" algn="ctr">
                      <a:solidFill>
                        <a:srgbClr val="A6E35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722" b="1" dirty="0">
                          <a:solidFill>
                            <a:schemeClr val="tx1"/>
                          </a:solidFill>
                        </a:rPr>
                        <a:t>n</a:t>
                      </a:r>
                      <a:endParaRPr lang="en-US" sz="1722" dirty="0"/>
                    </a:p>
                  </a:txBody>
                  <a:tcPr marL="73152" marR="73152" marT="32004" marB="32004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9050" cap="flat" cmpd="sng" algn="ctr">
                      <a:solidFill>
                        <a:srgbClr val="A6E35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722" b="1" dirty="0">
                          <a:solidFill>
                            <a:schemeClr val="tx1"/>
                          </a:solidFill>
                        </a:rPr>
                        <a:t>media</a:t>
                      </a:r>
                      <a:endParaRPr lang="en-US" sz="1722" dirty="0"/>
                    </a:p>
                  </a:txBody>
                  <a:tcPr marL="73152" marR="73152" marT="32004" marB="32004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9050" cap="flat" cmpd="sng" algn="ctr">
                      <a:solidFill>
                        <a:srgbClr val="A6E35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358400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722" dirty="0">
                          <a:solidFill>
                            <a:schemeClr val="tx1"/>
                          </a:solidFill>
                        </a:rPr>
                        <a:t>DH25_0046</a:t>
                      </a:r>
                      <a:endParaRPr lang="en-US" sz="1722" dirty="0"/>
                    </a:p>
                  </a:txBody>
                  <a:tcPr marL="73152" marR="73152" marT="32004" marB="32004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19050" cap="flat" cmpd="sng" algn="ctr">
                      <a:solidFill>
                        <a:srgbClr val="A6E35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1D3A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722" dirty="0">
                          <a:solidFill>
                            <a:schemeClr val="tx1"/>
                          </a:solidFill>
                        </a:rPr>
                        <a:t>UDI_2025_V</a:t>
                      </a:r>
                      <a:endParaRPr lang="en-US" sz="1722" dirty="0"/>
                    </a:p>
                  </a:txBody>
                  <a:tcPr marL="73152" marR="73152" marT="32004" marB="32004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19050" cap="flat" cmpd="sng" algn="ctr">
                      <a:solidFill>
                        <a:srgbClr val="A6E35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1D3A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722" dirty="0">
                          <a:solidFill>
                            <a:schemeClr val="tx1"/>
                          </a:solidFill>
                        </a:rPr>
                        <a:t>2</a:t>
                      </a:r>
                      <a:endParaRPr lang="en-US" sz="1722" dirty="0"/>
                    </a:p>
                  </a:txBody>
                  <a:tcPr marL="73152" marR="73152" marT="32004" marB="32004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19050" cap="flat" cmpd="sng" algn="ctr">
                      <a:solidFill>
                        <a:srgbClr val="A6E35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1D3A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722" dirty="0">
                          <a:solidFill>
                            <a:schemeClr val="tx1"/>
                          </a:solidFill>
                        </a:rPr>
                        <a:t>13.759</a:t>
                      </a:r>
                      <a:endParaRPr lang="en-US" sz="1722" dirty="0"/>
                    </a:p>
                  </a:txBody>
                  <a:tcPr marL="73152" marR="73152" marT="32004" marB="32004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19050" cap="flat" cmpd="sng" algn="ctr">
                      <a:solidFill>
                        <a:srgbClr val="A6E35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1D3A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358400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722" dirty="0">
                          <a:solidFill>
                            <a:schemeClr val="tx1"/>
                          </a:solidFill>
                        </a:rPr>
                        <a:t>DH25_0259</a:t>
                      </a:r>
                      <a:endParaRPr lang="en-US" sz="1722" dirty="0"/>
                    </a:p>
                  </a:txBody>
                  <a:tcPr marL="73152" marR="73152" marT="32004" marB="32004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9525" cap="flat" cmpd="sng" algn="ctr">
                      <a:solidFill>
                        <a:srgbClr val="1D3A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1D3A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722" dirty="0">
                          <a:solidFill>
                            <a:schemeClr val="tx1"/>
                          </a:solidFill>
                        </a:rPr>
                        <a:t>UDI_2025_V</a:t>
                      </a:r>
                      <a:endParaRPr lang="en-US" sz="1722" dirty="0"/>
                    </a:p>
                  </a:txBody>
                  <a:tcPr marL="73152" marR="73152" marT="32004" marB="32004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9525" cap="flat" cmpd="sng" algn="ctr">
                      <a:solidFill>
                        <a:srgbClr val="1D3A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1D3A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722" dirty="0">
                          <a:solidFill>
                            <a:schemeClr val="tx1"/>
                          </a:solidFill>
                        </a:rPr>
                        <a:t>2</a:t>
                      </a:r>
                      <a:endParaRPr lang="en-US" sz="1722" dirty="0"/>
                    </a:p>
                  </a:txBody>
                  <a:tcPr marL="73152" marR="73152" marT="32004" marB="32004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9525" cap="flat" cmpd="sng" algn="ctr">
                      <a:solidFill>
                        <a:srgbClr val="1D3A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1D3A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722" dirty="0">
                          <a:solidFill>
                            <a:schemeClr val="tx1"/>
                          </a:solidFill>
                        </a:rPr>
                        <a:t>13.568</a:t>
                      </a:r>
                      <a:endParaRPr lang="en-US" sz="1722" dirty="0"/>
                    </a:p>
                  </a:txBody>
                  <a:tcPr marL="73152" marR="73152" marT="32004" marB="32004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9525" cap="flat" cmpd="sng" algn="ctr">
                      <a:solidFill>
                        <a:srgbClr val="1D3A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1D3A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358400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722" dirty="0">
                          <a:solidFill>
                            <a:schemeClr val="tx1"/>
                          </a:solidFill>
                        </a:rPr>
                        <a:t>DH25_0073</a:t>
                      </a:r>
                      <a:endParaRPr lang="en-US" sz="1722" dirty="0"/>
                    </a:p>
                  </a:txBody>
                  <a:tcPr marL="73152" marR="73152" marT="32004" marB="32004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9525" cap="flat" cmpd="sng" algn="ctr">
                      <a:solidFill>
                        <a:srgbClr val="1D3A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0" cap="flat" cmpd="sng" algn="ctr"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722" dirty="0">
                          <a:solidFill>
                            <a:schemeClr val="tx1"/>
                          </a:solidFill>
                        </a:rPr>
                        <a:t>UDI_2025_V</a:t>
                      </a:r>
                      <a:endParaRPr lang="en-US" sz="1722" dirty="0"/>
                    </a:p>
                  </a:txBody>
                  <a:tcPr marL="73152" marR="73152" marT="32004" marB="32004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9525" cap="flat" cmpd="sng" algn="ctr">
                      <a:solidFill>
                        <a:srgbClr val="1D3A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0" cap="flat" cmpd="sng" algn="ctr"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722" dirty="0">
                          <a:solidFill>
                            <a:schemeClr val="tx1"/>
                          </a:solidFill>
                        </a:rPr>
                        <a:t>2</a:t>
                      </a:r>
                      <a:endParaRPr lang="en-US" sz="1722" dirty="0"/>
                    </a:p>
                  </a:txBody>
                  <a:tcPr marL="73152" marR="73152" marT="32004" marB="32004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9525" cap="flat" cmpd="sng" algn="ctr">
                      <a:solidFill>
                        <a:srgbClr val="1D3A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0" cap="flat" cmpd="sng" algn="ctr"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722" dirty="0">
                          <a:solidFill>
                            <a:schemeClr val="tx1"/>
                          </a:solidFill>
                        </a:rPr>
                        <a:t>13.551</a:t>
                      </a:r>
                      <a:endParaRPr lang="en-US" sz="1722" dirty="0"/>
                    </a:p>
                  </a:txBody>
                  <a:tcPr marL="73152" marR="73152" marT="32004" marB="32004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9525" cap="flat" cmpd="sng" algn="ctr">
                      <a:solidFill>
                        <a:srgbClr val="1D3A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0" cap="flat" cmpd="sng" algn="ctr">
                      <a:noFill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</a:tbl>
          </a:graphicData>
        </a:graphic>
      </p:graphicFrame>
      <p:sp>
        <p:nvSpPr>
          <p:cNvPr id="6" name="texto-3"/>
          <p:cNvSpPr txBox="1"/>
          <p:nvPr/>
        </p:nvSpPr>
        <p:spPr>
          <a:xfrm>
            <a:off x="566928" y="4289118"/>
            <a:ext cx="11057839" cy="11291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279400" indent="-279400" algn="l">
              <a:lnSpc>
                <a:spcPct val="105000"/>
              </a:lnSpc>
              <a:spcAft>
                <a:spcPts val="672"/>
              </a:spcAft>
              <a:buSzPct val="100000"/>
              <a:buChar char="•"/>
            </a:pPr>
            <a:r>
              <a:rPr lang="en-US" sz="1932" dirty="0">
                <a:solidFill>
                  <a:schemeClr val="accent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WHERE</a:t>
            </a:r>
            <a:r>
              <a:rPr lang="en-US" sz="2100" dirty="0">
                <a:solidFill>
                  <a:schemeClr val="tx1"/>
                </a:solidFill>
              </a:rPr>
              <a:t> filtra linhas </a:t>
            </a:r>
            <a:r>
              <a:rPr lang="en-US" sz="2100" b="1" dirty="0">
                <a:solidFill>
                  <a:schemeClr val="tx1"/>
                </a:solidFill>
              </a:rPr>
              <a:t>antes</a:t>
            </a:r>
            <a:r>
              <a:rPr lang="en-US" sz="2100" dirty="0">
                <a:solidFill>
                  <a:schemeClr val="tx1"/>
                </a:solidFill>
              </a:rPr>
              <a:t> de agrupar; </a:t>
            </a:r>
            <a:r>
              <a:rPr lang="en-US" sz="1932" dirty="0">
                <a:solidFill>
                  <a:schemeClr val="accent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HAVING</a:t>
            </a:r>
            <a:r>
              <a:rPr lang="en-US" sz="2100" dirty="0">
                <a:solidFill>
                  <a:schemeClr val="tx1"/>
                </a:solidFill>
              </a:rPr>
              <a:t> filtra grupos </a:t>
            </a:r>
            <a:r>
              <a:rPr lang="en-US" sz="2100" b="1" dirty="0">
                <a:solidFill>
                  <a:schemeClr val="tx1"/>
                </a:solidFill>
              </a:rPr>
              <a:t>depois</a:t>
            </a:r>
            <a:r>
              <a:rPr lang="en-US" sz="2100" dirty="0">
                <a:solidFill>
                  <a:schemeClr val="tx1"/>
                </a:solidFill>
              </a:rPr>
              <a:t>.</a:t>
            </a:r>
            <a:endParaRPr lang="en-US" sz="1932" dirty="0"/>
          </a:p>
          <a:p>
            <a:pPr marL="279400" indent="-279400" algn="l">
              <a:lnSpc>
                <a:spcPct val="105000"/>
              </a:lnSpc>
              <a:buSzPct val="100000"/>
              <a:buChar char="•"/>
            </a:pPr>
            <a:r>
              <a:rPr lang="en-US" sz="2100" dirty="0">
                <a:solidFill>
                  <a:schemeClr val="tx1"/>
                </a:solidFill>
              </a:rPr>
              <a:t>Tabela de médias G×E serve para exploração e estabilidade; para BLUP, use os dados de parcela.</a:t>
            </a:r>
            <a:endParaRPr lang="en-US" sz="1932" dirty="0"/>
          </a:p>
        </p:txBody>
      </p:sp>
      <p:sp>
        <p:nvSpPr>
          <p:cNvPr id="7" name="rodape"/>
          <p:cNvSpPr txBox="1"/>
          <p:nvPr/>
        </p:nvSpPr>
        <p:spPr>
          <a:xfrm>
            <a:off x="566928" y="640080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50" kern="0" spc="100" dirty="0">
                <a:solidFill>
                  <a:schemeClr val="tx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SEÇÃO 1 · BLOCO 2</a:t>
            </a:r>
            <a:endParaRPr lang="en-US" sz="95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527487" y="6400800"/>
            <a:ext cx="109728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xmlns="" val="0"/>
            </a:ext>
          </a:extLst>
        </p:spPr>
        <p:txBody>
          <a:bodyPr lIns="0" tIns="0" rIns="0" bIns="0"/>
          <a:lstStyle>
            <a:lvl1pPr>
              <a:defRPr sz="1000">
                <a:solidFill>
                  <a:srgbClr val="8FA9A3"/>
                </a:solidFill>
                <a:latin typeface="Courier New"/>
                <a:ea typeface="Courier New"/>
                <a:cs typeface="Courier New"/>
              </a:defRPr>
            </a:lvl1pPr>
          </a:lstStyle>
          <a:p>
            <a:pPr algn="r"/>
            <a:fld id="{F7021451-1387-4CA6-816F-3879F97B5CBC}" type="slidenum">
              <a:rPr lang="en-US" b="0"/>
              <a:t>18</a:t>
            </a:fld>
            <a:endParaRPr lang="en-US"/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9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>
            <a:spLocks noGrp="1"/>
          </p:cNvSpPr>
          <p:nvPr>
            <p:ph type="title" idx="100" hasCustomPrompt="1"/>
          </p:nvPr>
        </p:nvSpPr>
        <p:spPr>
          <a:xfrm>
            <a:off x="566928" y="384048"/>
            <a:ext cx="11057839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buNone/>
            </a:pPr>
            <a:r>
              <a:rPr lang="en-US" sz="1900" b="1" dirty="0">
                <a:solidFill>
                  <a:schemeClr val="accent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2.10   </a:t>
            </a:r>
            <a:r>
              <a:rPr lang="en-US" sz="2800" b="1" dirty="0">
                <a:solidFill>
                  <a:schemeClr val="tx1"/>
                </a:solidFill>
              </a:rPr>
              <a:t>SQL intermediário: CTE e funções de janela</a:t>
            </a:r>
            <a:endParaRPr lang="en-US" sz="2800" dirty="0"/>
          </a:p>
        </p:txBody>
      </p:sp>
      <p:sp>
        <p:nvSpPr>
          <p:cNvPr id="3" name="ret-0"/>
          <p:cNvSpPr/>
          <p:nvPr/>
        </p:nvSpPr>
        <p:spPr>
          <a:xfrm>
            <a:off x="566928" y="1085240"/>
            <a:ext cx="11057839" cy="2295144"/>
          </a:xfrm>
          <a:prstGeom prst="roundRect">
            <a:avLst>
              <a:gd name="adj" fmla="val 2390"/>
            </a:avLst>
          </a:prstGeom>
          <a:solidFill>
            <a:schemeClr val="accent5"/>
          </a:solidFill>
          <a:ln w="9525">
            <a:solidFill>
              <a:schemeClr val="accent4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4" name="texto-1"/>
          <p:cNvSpPr txBox="1"/>
          <p:nvPr/>
        </p:nvSpPr>
        <p:spPr>
          <a:xfrm>
            <a:off x="713232" y="1176680"/>
            <a:ext cx="10765231" cy="213055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ct val="100000"/>
              </a:lnSpc>
              <a:buNone/>
            </a:pPr>
            <a:r>
              <a:rPr lang="en-US" sz="1386" dirty="0">
                <a:solidFill>
                  <a:schemeClr val="tx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WITH medias AS (</a:t>
            </a:r>
            <a:endParaRPr lang="en-US" sz="1386" dirty="0"/>
          </a:p>
          <a:p>
            <a:pPr marL="0" indent="0" algn="l">
              <a:lnSpc>
                <a:spcPct val="100000"/>
              </a:lnSpc>
              <a:buNone/>
            </a:pPr>
            <a:r>
              <a:rPr lang="en-US" sz="1386" dirty="0">
                <a:solidFill>
                  <a:schemeClr val="tx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SELECT ambiente_id, germoplasma_id, AVG(prod) AS media</a:t>
            </a:r>
            <a:endParaRPr lang="en-US" sz="1386" dirty="0"/>
          </a:p>
          <a:p>
            <a:pPr marL="0" indent="0" algn="l">
              <a:lnSpc>
                <a:spcPct val="100000"/>
              </a:lnSpc>
              <a:buNone/>
            </a:pPr>
            <a:r>
              <a:rPr lang="en-US" sz="1386" dirty="0">
                <a:solidFill>
                  <a:schemeClr val="tx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FROM v_prod_parcela GROUP BY ambiente_id, germoplasma_id</a:t>
            </a:r>
            <a:endParaRPr lang="en-US" sz="1386" dirty="0"/>
          </a:p>
          <a:p>
            <a:pPr marL="0" indent="0" algn="l">
              <a:lnSpc>
                <a:spcPct val="100000"/>
              </a:lnSpc>
              <a:buNone/>
            </a:pPr>
            <a:r>
              <a:rPr lang="en-US" sz="1386" dirty="0">
                <a:solidFill>
                  <a:schemeClr val="tx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),</a:t>
            </a:r>
            <a:endParaRPr lang="en-US" sz="1386" dirty="0"/>
          </a:p>
          <a:p>
            <a:pPr marL="0" indent="0" algn="l">
              <a:lnSpc>
                <a:spcPct val="100000"/>
              </a:lnSpc>
              <a:buNone/>
            </a:pPr>
            <a:r>
              <a:rPr lang="en-US" sz="1386" dirty="0">
                <a:solidFill>
                  <a:schemeClr val="tx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ordenado AS (</a:t>
            </a:r>
            <a:endParaRPr lang="en-US" sz="1386" dirty="0"/>
          </a:p>
          <a:p>
            <a:pPr marL="0" indent="0" algn="l">
              <a:lnSpc>
                <a:spcPct val="100000"/>
              </a:lnSpc>
              <a:buNone/>
            </a:pPr>
            <a:r>
              <a:rPr lang="en-US" sz="1386" dirty="0">
                <a:solidFill>
                  <a:schemeClr val="tx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SELECT *, RANK() OVER (PARTITION BY ambiente_id ORDER BY media DESC) AS posicao</a:t>
            </a:r>
            <a:endParaRPr lang="en-US" sz="1386" dirty="0"/>
          </a:p>
          <a:p>
            <a:pPr marL="0" indent="0" algn="l">
              <a:lnSpc>
                <a:spcPct val="100000"/>
              </a:lnSpc>
              <a:buNone/>
            </a:pPr>
            <a:r>
              <a:rPr lang="en-US" sz="1386" dirty="0">
                <a:solidFill>
                  <a:schemeClr val="tx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FROM medias</a:t>
            </a:r>
            <a:endParaRPr lang="en-US" sz="1386" dirty="0"/>
          </a:p>
          <a:p>
            <a:pPr marL="0" indent="0" algn="l">
              <a:lnSpc>
                <a:spcPct val="100000"/>
              </a:lnSpc>
              <a:buNone/>
            </a:pPr>
            <a:r>
              <a:rPr lang="en-US" sz="1386" dirty="0">
                <a:solidFill>
                  <a:schemeClr val="tx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)</a:t>
            </a:r>
            <a:endParaRPr lang="en-US" sz="1386" dirty="0"/>
          </a:p>
          <a:p>
            <a:pPr marL="0" indent="0" algn="l">
              <a:lnSpc>
                <a:spcPct val="100000"/>
              </a:lnSpc>
              <a:buNone/>
            </a:pPr>
            <a:r>
              <a:rPr lang="en-US" sz="1386" dirty="0">
                <a:solidFill>
                  <a:schemeClr val="tx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SELECT ambiente_id, posicao, germoplasma_id, ROUND(media, 0) AS media</a:t>
            </a:r>
            <a:endParaRPr lang="en-US" sz="1386" dirty="0"/>
          </a:p>
          <a:p>
            <a:pPr marL="0" indent="0" algn="l">
              <a:lnSpc>
                <a:spcPct val="100000"/>
              </a:lnSpc>
              <a:buNone/>
            </a:pPr>
            <a:r>
              <a:rPr lang="en-US" sz="1386" dirty="0">
                <a:solidFill>
                  <a:schemeClr val="tx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FROM ordenado WHERE posicao &lt;= 3 ORDER BY ambiente_id, posicao;</a:t>
            </a:r>
            <a:endParaRPr lang="en-US" sz="1386" dirty="0"/>
          </a:p>
        </p:txBody>
      </p:sp>
      <p:sp>
        <p:nvSpPr>
          <p:cNvPr id="5" name="texto-2"/>
          <p:cNvSpPr txBox="1"/>
          <p:nvPr/>
        </p:nvSpPr>
        <p:spPr>
          <a:xfrm>
            <a:off x="566928" y="3540404"/>
            <a:ext cx="11057839" cy="155633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279400" indent="-279400" algn="l">
              <a:lnSpc>
                <a:spcPct val="105000"/>
              </a:lnSpc>
              <a:spcAft>
                <a:spcPts val="672"/>
              </a:spcAft>
              <a:buSzPct val="100000"/>
              <a:buChar char="•"/>
            </a:pPr>
            <a:r>
              <a:rPr lang="en-US" sz="1932" dirty="0">
                <a:solidFill>
                  <a:schemeClr val="accent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WITH</a:t>
            </a:r>
            <a:r>
              <a:rPr lang="en-US" sz="2100" dirty="0">
                <a:solidFill>
                  <a:schemeClr val="tx1"/>
                </a:solidFill>
              </a:rPr>
              <a:t> dá nome a etapas intermediárias: a consulta fica legível como um script.</a:t>
            </a:r>
            <a:endParaRPr lang="en-US" sz="1932" dirty="0"/>
          </a:p>
          <a:p>
            <a:pPr marL="279400" indent="-279400" algn="l">
              <a:lnSpc>
                <a:spcPct val="105000"/>
              </a:lnSpc>
              <a:spcAft>
                <a:spcPts val="672"/>
              </a:spcAft>
              <a:buSzPct val="100000"/>
              <a:buChar char="•"/>
            </a:pPr>
            <a:r>
              <a:rPr lang="en-US" sz="1932" dirty="0">
                <a:solidFill>
                  <a:schemeClr val="accent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OVER (PARTITION BY …)</a:t>
            </a:r>
            <a:r>
              <a:rPr lang="en-US" sz="2100" dirty="0">
                <a:solidFill>
                  <a:schemeClr val="tx1"/>
                </a:solidFill>
              </a:rPr>
              <a:t> calcula por grupo </a:t>
            </a:r>
            <a:r>
              <a:rPr lang="en-US" sz="2100" b="1" dirty="0">
                <a:solidFill>
                  <a:schemeClr val="tx1"/>
                </a:solidFill>
              </a:rPr>
              <a:t>sem colapsar as linhas</a:t>
            </a:r>
            <a:r>
              <a:rPr lang="en-US" sz="2100" dirty="0">
                <a:solidFill>
                  <a:schemeClr val="tx1"/>
                </a:solidFill>
              </a:rPr>
              <a:t>: posição no ambiente, desvio da média do ensaio, z-escore por ambiente.</a:t>
            </a:r>
            <a:endParaRPr lang="en-US" sz="1932" dirty="0"/>
          </a:p>
          <a:p>
            <a:pPr marL="279400" indent="-279400" algn="l">
              <a:lnSpc>
                <a:spcPct val="105000"/>
              </a:lnSpc>
              <a:buSzPct val="100000"/>
              <a:buChar char="•"/>
            </a:pPr>
            <a:r>
              <a:rPr lang="en-US" sz="2100" dirty="0">
                <a:solidFill>
                  <a:schemeClr val="tx1"/>
                </a:solidFill>
              </a:rPr>
              <a:t>Resultado: as 3 melhores linhagens em cada um dos 6 ambientes (18 linhas).</a:t>
            </a:r>
            <a:endParaRPr lang="en-US" sz="1932" dirty="0"/>
          </a:p>
        </p:txBody>
      </p:sp>
      <p:sp>
        <p:nvSpPr>
          <p:cNvPr id="6" name="rodape"/>
          <p:cNvSpPr txBox="1"/>
          <p:nvPr/>
        </p:nvSpPr>
        <p:spPr>
          <a:xfrm>
            <a:off x="566928" y="640080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50" kern="0" spc="100" dirty="0">
                <a:solidFill>
                  <a:schemeClr val="tx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SEÇÃO 1 · BLOCO 2</a:t>
            </a:r>
            <a:endParaRPr lang="en-US" sz="95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527487" y="6400800"/>
            <a:ext cx="109728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xmlns="" val="0"/>
            </a:ext>
          </a:extLst>
        </p:spPr>
        <p:txBody>
          <a:bodyPr lIns="0" tIns="0" rIns="0" bIns="0"/>
          <a:lstStyle>
            <a:lvl1pPr>
              <a:defRPr sz="1000">
                <a:solidFill>
                  <a:srgbClr val="8FA9A3"/>
                </a:solidFill>
                <a:latin typeface="Courier New"/>
                <a:ea typeface="Courier New"/>
                <a:cs typeface="Courier New"/>
              </a:defRPr>
            </a:lvl1pPr>
          </a:lstStyle>
          <a:p>
            <a:pPr algn="r"/>
            <a:fld id="{F7021451-1387-4CA6-816F-3879F97B5CBC}" type="slidenum">
              <a:rPr lang="en-US" b="0"/>
              <a:t>19</a:t>
            </a:fld>
            <a:endParaRPr lang="en-US"/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0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>
            <a:spLocks noGrp="1"/>
          </p:cNvSpPr>
          <p:nvPr>
            <p:ph type="title" idx="100" hasCustomPrompt="1"/>
          </p:nvPr>
        </p:nvSpPr>
        <p:spPr>
          <a:xfrm>
            <a:off x="566928" y="384048"/>
            <a:ext cx="11057839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buNone/>
            </a:pPr>
            <a:r>
              <a:rPr lang="en-US" sz="1900" b="1" dirty="0">
                <a:solidFill>
                  <a:schemeClr val="accent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2.11   </a:t>
            </a:r>
            <a:r>
              <a:rPr lang="en-US" sz="2800" b="1" dirty="0">
                <a:solidFill>
                  <a:schemeClr val="tx1"/>
                </a:solidFill>
              </a:rPr>
              <a:t>Armadilhas que geram números errados sem erro</a:t>
            </a:r>
            <a:endParaRPr lang="en-US" sz="2800" dirty="0"/>
          </a:p>
        </p:txBody>
      </p:sp>
      <p:graphicFrame>
        <p:nvGraphicFramePr>
          <p:cNvPr id="21" name="tabela-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66928" y="1085240"/>
          <a:ext cx="11057840" cy="2417360"/>
        </p:xfrm>
        <a:graphic>
          <a:graphicData uri="http://schemas.openxmlformats.org/drawingml/2006/table">
            <a:tbl>
              <a:tblPr/>
              <a:tblGrid>
                <a:gridCol w="5483556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5574284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</a:tblGrid>
              <a:tr h="358400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722" b="1" dirty="0">
                          <a:solidFill>
                            <a:schemeClr val="tx1"/>
                          </a:solidFill>
                        </a:rPr>
                        <a:t>Armadilha</a:t>
                      </a:r>
                      <a:endParaRPr lang="en-US" sz="1722" dirty="0"/>
                    </a:p>
                  </a:txBody>
                  <a:tcPr marL="73152" marR="73152" marT="32004" marB="32004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9050" cap="flat" cmpd="sng" algn="ctr">
                      <a:solidFill>
                        <a:srgbClr val="A6E35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722" b="1" dirty="0">
                          <a:solidFill>
                            <a:schemeClr val="tx1"/>
                          </a:solidFill>
                        </a:rPr>
                        <a:t>No banco do curso</a:t>
                      </a:r>
                      <a:endParaRPr lang="en-US" sz="1722" dirty="0"/>
                    </a:p>
                  </a:txBody>
                  <a:tcPr marL="73152" marR="73152" marT="32004" marB="32004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9050" cap="flat" cmpd="sng" algn="ctr">
                      <a:solidFill>
                        <a:srgbClr val="A6E35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358400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584" dirty="0">
                          <a:solidFill>
                            <a:schemeClr val="accent2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COUNT(*)</a:t>
                      </a:r>
                      <a:r>
                        <a:rPr lang="en-US" sz="1722" dirty="0">
                          <a:solidFill>
                            <a:schemeClr val="tx1"/>
                          </a:solidFill>
                        </a:rPr>
                        <a:t> conta linhas; </a:t>
                      </a:r>
                      <a:r>
                        <a:rPr lang="en-US" sz="1584" dirty="0">
                          <a:solidFill>
                            <a:schemeClr val="accent2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COUNT(valor)</a:t>
                      </a:r>
                      <a:r>
                        <a:rPr lang="en-US" sz="1722" dirty="0">
                          <a:solidFill>
                            <a:schemeClr val="tx1"/>
                          </a:solidFill>
                        </a:rPr>
                        <a:t> ignora </a:t>
                      </a:r>
                      <a:r>
                        <a:rPr lang="en-US" sz="1584" dirty="0">
                          <a:solidFill>
                            <a:schemeClr val="accent2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NULL</a:t>
                      </a:r>
                      <a:endParaRPr lang="en-US" sz="1722" dirty="0"/>
                    </a:p>
                  </a:txBody>
                  <a:tcPr marL="73152" marR="73152" marT="32004" marB="32004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19050" cap="flat" cmpd="sng" algn="ctr">
                      <a:solidFill>
                        <a:srgbClr val="A6E35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1D3A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722" dirty="0">
                          <a:solidFill>
                            <a:schemeClr val="tx1"/>
                          </a:solidFill>
                        </a:rPr>
                        <a:t>4.800 linhas, 4.790 valores válidos</a:t>
                      </a:r>
                      <a:endParaRPr lang="en-US" sz="1722" dirty="0"/>
                    </a:p>
                  </a:txBody>
                  <a:tcPr marL="73152" marR="73152" marT="32004" marB="32004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19050" cap="flat" cmpd="sng" algn="ctr">
                      <a:solidFill>
                        <a:srgbClr val="A6E35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1D3A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358400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722" dirty="0">
                          <a:solidFill>
                            <a:schemeClr val="tx1"/>
                          </a:solidFill>
                        </a:rPr>
                        <a:t>Filtro da tabela da direita no </a:t>
                      </a:r>
                      <a:r>
                        <a:rPr lang="en-US" sz="1584" dirty="0">
                          <a:solidFill>
                            <a:schemeClr val="accent2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WHERE</a:t>
                      </a:r>
                      <a:r>
                        <a:rPr lang="en-US" sz="1722" dirty="0">
                          <a:solidFill>
                            <a:schemeClr val="tx1"/>
                          </a:solidFill>
                        </a:rPr>
                        <a:t> desfaz o </a:t>
                      </a:r>
                      <a:r>
                        <a:rPr lang="en-US" sz="1584" dirty="0">
                          <a:solidFill>
                            <a:schemeClr val="accent2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LEFT JOIN</a:t>
                      </a:r>
                      <a:endParaRPr lang="en-US" sz="1722" dirty="0"/>
                    </a:p>
                  </a:txBody>
                  <a:tcPr marL="73152" marR="73152" marT="32004" marB="32004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9525" cap="flat" cmpd="sng" algn="ctr">
                      <a:solidFill>
                        <a:srgbClr val="1D3A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1D3A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722" dirty="0">
                          <a:solidFill>
                            <a:schemeClr val="tx1"/>
                          </a:solidFill>
                        </a:rPr>
                        <a:t>2.400 linhas (WHERE) × 2.500 (ON)</a:t>
                      </a:r>
                      <a:endParaRPr lang="en-US" sz="1722" dirty="0"/>
                    </a:p>
                  </a:txBody>
                  <a:tcPr marL="73152" marR="73152" marT="32004" marB="32004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9525" cap="flat" cmpd="sng" algn="ctr">
                      <a:solidFill>
                        <a:srgbClr val="1D3A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1D3A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358400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584" dirty="0">
                          <a:solidFill>
                            <a:schemeClr val="accent2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valor = NULL</a:t>
                      </a:r>
                      <a:r>
                        <a:rPr lang="en-US" sz="1722" dirty="0">
                          <a:solidFill>
                            <a:schemeClr val="tx1"/>
                          </a:solidFill>
                        </a:rPr>
                        <a:t> nunca é verdadeiro</a:t>
                      </a:r>
                      <a:endParaRPr lang="en-US" sz="1722" dirty="0"/>
                    </a:p>
                  </a:txBody>
                  <a:tcPr marL="73152" marR="73152" marT="32004" marB="32004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9525" cap="flat" cmpd="sng" algn="ctr">
                      <a:solidFill>
                        <a:srgbClr val="1D3A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1D3A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722" dirty="0">
                          <a:solidFill>
                            <a:schemeClr val="tx1"/>
                          </a:solidFill>
                        </a:rPr>
                        <a:t>use </a:t>
                      </a:r>
                      <a:r>
                        <a:rPr lang="en-US" sz="1584" dirty="0">
                          <a:solidFill>
                            <a:schemeClr val="accent2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valor IS NULL</a:t>
                      </a:r>
                      <a:endParaRPr lang="en-US" sz="1722" dirty="0"/>
                    </a:p>
                  </a:txBody>
                  <a:tcPr marL="73152" marR="73152" marT="32004" marB="32004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9525" cap="flat" cmpd="sng" algn="ctr">
                      <a:solidFill>
                        <a:srgbClr val="1D3A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1D3A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358400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722" dirty="0">
                          <a:solidFill>
                            <a:schemeClr val="tx1"/>
                          </a:solidFill>
                        </a:rPr>
                        <a:t>Junção que multiplica linhas (chave não única)</a:t>
                      </a:r>
                      <a:endParaRPr lang="en-US" sz="1722" dirty="0"/>
                    </a:p>
                  </a:txBody>
                  <a:tcPr marL="73152" marR="73152" marT="32004" marB="32004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9525" cap="flat" cmpd="sng" algn="ctr">
                      <a:solidFill>
                        <a:srgbClr val="1D3A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1D3A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722" dirty="0">
                          <a:solidFill>
                            <a:schemeClr val="tx1"/>
                          </a:solidFill>
                        </a:rPr>
                        <a:t>conte linhas antes e depois de cada </a:t>
                      </a:r>
                      <a:r>
                        <a:rPr lang="en-US" sz="1584" dirty="0">
                          <a:solidFill>
                            <a:schemeClr val="accent2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JOIN</a:t>
                      </a:r>
                      <a:endParaRPr lang="en-US" sz="1722" dirty="0"/>
                    </a:p>
                  </a:txBody>
                  <a:tcPr marL="73152" marR="73152" marT="32004" marB="32004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9525" cap="flat" cmpd="sng" algn="ctr">
                      <a:solidFill>
                        <a:srgbClr val="1D3A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1D3A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625360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722" dirty="0">
                          <a:solidFill>
                            <a:schemeClr val="tx1"/>
                          </a:solidFill>
                        </a:rPr>
                        <a:t>Média de médias ≠ média das parcelas</a:t>
                      </a:r>
                      <a:endParaRPr lang="en-US" sz="1722" dirty="0"/>
                    </a:p>
                  </a:txBody>
                  <a:tcPr marL="73152" marR="73152" marT="32004" marB="32004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9525" cap="flat" cmpd="sng" algn="ctr">
                      <a:solidFill>
                        <a:srgbClr val="1D3A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0" cap="flat" cmpd="sng" algn="ctr"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722" dirty="0">
                          <a:solidFill>
                            <a:schemeClr val="tx1"/>
                          </a:solidFill>
                        </a:rPr>
                        <a:t>10.242 × 10.246 kg/ha aqui; em redes desbalanceadas, a diferença cresce</a:t>
                      </a:r>
                      <a:endParaRPr lang="en-US" sz="1722" dirty="0"/>
                    </a:p>
                  </a:txBody>
                  <a:tcPr marL="73152" marR="73152" marT="32004" marB="32004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9525" cap="flat" cmpd="sng" algn="ctr">
                      <a:solidFill>
                        <a:srgbClr val="1D3A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0" cap="flat" cmpd="sng" algn="ctr">
                      <a:noFill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</a:tbl>
          </a:graphicData>
        </a:graphic>
      </p:graphicFrame>
      <p:sp>
        <p:nvSpPr>
          <p:cNvPr id="4" name="ret-1"/>
          <p:cNvSpPr/>
          <p:nvPr/>
        </p:nvSpPr>
        <p:spPr>
          <a:xfrm>
            <a:off x="566928" y="3662619"/>
            <a:ext cx="11057839" cy="561295"/>
          </a:xfrm>
          <a:prstGeom prst="roundRect">
            <a:avLst>
              <a:gd name="adj" fmla="val 13033"/>
            </a:avLst>
          </a:prstGeom>
          <a:solidFill>
            <a:schemeClr val="accent6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5" name="texto-2"/>
          <p:cNvSpPr txBox="1"/>
          <p:nvPr/>
        </p:nvSpPr>
        <p:spPr>
          <a:xfrm>
            <a:off x="749808" y="3772347"/>
            <a:ext cx="10692079" cy="360127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ct val="105000"/>
              </a:lnSpc>
              <a:buNone/>
            </a:pPr>
            <a:r>
              <a:rPr lang="en-US" sz="2100" dirty="0">
                <a:solidFill>
                  <a:schemeClr val="tx1"/>
                </a:solidFill>
              </a:rPr>
              <a:t>Ao revisar SQL escrito por IA, pergunte: quantas linhas eu esperava? Quantas vieram?</a:t>
            </a:r>
            <a:endParaRPr lang="en-US" sz="2100" dirty="0"/>
          </a:p>
        </p:txBody>
      </p:sp>
      <p:sp>
        <p:nvSpPr>
          <p:cNvPr id="6" name="rodape"/>
          <p:cNvSpPr txBox="1"/>
          <p:nvPr/>
        </p:nvSpPr>
        <p:spPr>
          <a:xfrm>
            <a:off x="566928" y="640080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50" kern="0" spc="100" dirty="0">
                <a:solidFill>
                  <a:schemeClr val="tx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SEÇÃO 1 · BLOCO 2</a:t>
            </a:r>
            <a:endParaRPr lang="en-US" sz="95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527487" y="6400800"/>
            <a:ext cx="109728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xmlns="" val="0"/>
            </a:ext>
          </a:extLst>
        </p:spPr>
        <p:txBody>
          <a:bodyPr lIns="0" tIns="0" rIns="0" bIns="0"/>
          <a:lstStyle>
            <a:lvl1pPr>
              <a:defRPr sz="1000">
                <a:solidFill>
                  <a:srgbClr val="8FA9A3"/>
                </a:solidFill>
                <a:latin typeface="Courier New"/>
                <a:ea typeface="Courier New"/>
                <a:cs typeface="Courier New"/>
              </a:defRPr>
            </a:lvl1pPr>
          </a:lstStyle>
          <a:p>
            <a:pPr algn="r"/>
            <a:fld id="{F7021451-1387-4CA6-816F-3879F97B5CBC}" type="slidenum">
              <a:rPr lang="en-US" b="0"/>
              <a:t>20</a:t>
            </a:fld>
            <a:endParaRPr lang="en-US"/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>
            <a:spLocks noGrp="1"/>
          </p:cNvSpPr>
          <p:nvPr>
            <p:ph type="title" idx="100" hasCustomPrompt="1"/>
          </p:nvPr>
        </p:nvSpPr>
        <p:spPr>
          <a:xfrm>
            <a:off x="566928" y="384048"/>
            <a:ext cx="11057839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buNone/>
            </a:pPr>
            <a:r>
              <a:rPr lang="en-US" sz="1900" b="1" dirty="0">
                <a:solidFill>
                  <a:schemeClr val="accent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2.12   </a:t>
            </a:r>
            <a:r>
              <a:rPr lang="en-US" sz="2800" b="1" dirty="0">
                <a:solidFill>
                  <a:schemeClr val="tx1"/>
                </a:solidFill>
              </a:rPr>
              <a:t>SQL dentro do R</a:t>
            </a:r>
            <a:endParaRPr lang="en-US" sz="2800" dirty="0"/>
          </a:p>
        </p:txBody>
      </p:sp>
      <p:sp>
        <p:nvSpPr>
          <p:cNvPr id="3" name="ret-0"/>
          <p:cNvSpPr/>
          <p:nvPr/>
        </p:nvSpPr>
        <p:spPr>
          <a:xfrm>
            <a:off x="566928" y="1085240"/>
            <a:ext cx="11057839" cy="1450238"/>
          </a:xfrm>
          <a:prstGeom prst="roundRect">
            <a:avLst>
              <a:gd name="adj" fmla="val 3783"/>
            </a:avLst>
          </a:prstGeom>
          <a:solidFill>
            <a:schemeClr val="accent5"/>
          </a:solidFill>
          <a:ln w="9525">
            <a:solidFill>
              <a:schemeClr val="accent4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4" name="texto-1"/>
          <p:cNvSpPr txBox="1"/>
          <p:nvPr/>
        </p:nvSpPr>
        <p:spPr>
          <a:xfrm>
            <a:off x="713232" y="1176680"/>
            <a:ext cx="10765231" cy="128564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ct val="100000"/>
              </a:lnSpc>
              <a:buNone/>
            </a:pPr>
            <a:r>
              <a:rPr lang="en-US" sz="1386" dirty="0">
                <a:solidFill>
                  <a:schemeClr val="tx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library(DBI)</a:t>
            </a:r>
            <a:endParaRPr lang="en-US" sz="1386" dirty="0"/>
          </a:p>
          <a:p>
            <a:pPr marL="0" indent="0" algn="l">
              <a:lnSpc>
                <a:spcPct val="100000"/>
              </a:lnSpc>
              <a:buNone/>
            </a:pPr>
            <a:r>
              <a:rPr lang="en-US" sz="1386" dirty="0">
                <a:solidFill>
                  <a:schemeClr val="tx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con &lt;- dbConnect(duckdb::duckdb(), dbdir = "db/programa_milho.duckdb")</a:t>
            </a:r>
            <a:endParaRPr lang="en-US" sz="1386" dirty="0"/>
          </a:p>
          <a:p>
            <a:pPr marL="0" indent="0" algn="l">
              <a:lnSpc>
                <a:spcPct val="100000"/>
              </a:lnSpc>
              <a:buNone/>
            </a:pPr>
            <a:r>
              <a:rPr lang="en-US" sz="1386" dirty="0">
                <a:solidFill>
                  <a:schemeClr val="tx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d &lt;- dbGetQuery(con, "SELECT * FROM v_prod_parcela WHERE prod IS NOT NULL ORDER BY parcela_id")</a:t>
            </a:r>
            <a:endParaRPr lang="en-US" sz="1386" dirty="0"/>
          </a:p>
          <a:p>
            <a:pPr marL="0" indent="0" algn="l">
              <a:lnSpc>
                <a:spcPct val="100000"/>
              </a:lnSpc>
              <a:buNone/>
            </a:pPr>
            <a:r>
              <a:rPr lang="en-US" sz="1386" dirty="0">
                <a:solidFill>
                  <a:schemeClr val="tx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modelo &lt;- lme4::lmer(prod ~ ambiente_id + (1 | ambiente_id:bloco) + (1 | germoplasma_id) +</a:t>
            </a:r>
            <a:endParaRPr lang="en-US" sz="1386" dirty="0"/>
          </a:p>
          <a:p>
            <a:pPr marL="0" indent="0" algn="l">
              <a:lnSpc>
                <a:spcPct val="100000"/>
              </a:lnSpc>
              <a:buNone/>
            </a:pPr>
            <a:r>
              <a:rPr lang="en-US" sz="1386" dirty="0">
                <a:solidFill>
                  <a:schemeClr val="tx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             (1 | germoplasma_id:ambiente_id), data = d)</a:t>
            </a:r>
            <a:endParaRPr lang="en-US" sz="1386" dirty="0"/>
          </a:p>
          <a:p>
            <a:pPr marL="0" indent="0" algn="l">
              <a:lnSpc>
                <a:spcPct val="100000"/>
              </a:lnSpc>
              <a:buNone/>
            </a:pPr>
            <a:r>
              <a:rPr lang="en-US" sz="1386" dirty="0">
                <a:solidFill>
                  <a:schemeClr val="tx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dbDisconnect(con, shutdown = TRUE)</a:t>
            </a:r>
            <a:endParaRPr lang="en-US" sz="1386" dirty="0"/>
          </a:p>
        </p:txBody>
      </p:sp>
      <p:sp>
        <p:nvSpPr>
          <p:cNvPr id="5" name="texto-2"/>
          <p:cNvSpPr txBox="1"/>
          <p:nvPr/>
        </p:nvSpPr>
        <p:spPr>
          <a:xfrm>
            <a:off x="566928" y="2695499"/>
            <a:ext cx="11057839" cy="11291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279400" indent="-279400" algn="l">
              <a:lnSpc>
                <a:spcPct val="105000"/>
              </a:lnSpc>
              <a:spcAft>
                <a:spcPts val="672"/>
              </a:spcAft>
              <a:buSzPct val="100000"/>
              <a:buChar char="•"/>
            </a:pPr>
            <a:r>
              <a:rPr lang="en-US" sz="2100" dirty="0">
                <a:solidFill>
                  <a:schemeClr val="tx1"/>
                </a:solidFill>
              </a:rPr>
              <a:t>O banco filtra e junta; o R modela. Só o necessário vem para a memória.</a:t>
            </a:r>
            <a:endParaRPr lang="en-US" sz="2100" dirty="0"/>
          </a:p>
          <a:p>
            <a:pPr marL="279400" indent="-279400" algn="l">
              <a:lnSpc>
                <a:spcPct val="105000"/>
              </a:lnSpc>
              <a:buSzPct val="100000"/>
              <a:buChar char="•"/>
            </a:pPr>
            <a:r>
              <a:rPr lang="en-US" sz="1932" dirty="0">
                <a:solidFill>
                  <a:schemeClr val="accent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ORDER BY</a:t>
            </a:r>
            <a:r>
              <a:rPr lang="en-US" sz="2100" dirty="0">
                <a:solidFill>
                  <a:schemeClr val="tx1"/>
                </a:solidFill>
              </a:rPr>
              <a:t> em toda consulta que alimenta sorteios (folds, amostras): sem ele, a ordem das linhas pode mudar entre sistemas e o resultado deixa de ser reproduzível.</a:t>
            </a:r>
            <a:endParaRPr lang="en-US" sz="2100" dirty="0"/>
          </a:p>
        </p:txBody>
      </p:sp>
      <p:sp>
        <p:nvSpPr>
          <p:cNvPr id="6" name="rodape"/>
          <p:cNvSpPr txBox="1"/>
          <p:nvPr/>
        </p:nvSpPr>
        <p:spPr>
          <a:xfrm>
            <a:off x="566928" y="640080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50" kern="0" spc="100" dirty="0">
                <a:solidFill>
                  <a:schemeClr val="tx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SEÇÃO 1 · BLOCO 2</a:t>
            </a:r>
            <a:endParaRPr lang="en-US" sz="95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527487" y="6400800"/>
            <a:ext cx="109728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xmlns="" val="0"/>
            </a:ext>
          </a:extLst>
        </p:spPr>
        <p:txBody>
          <a:bodyPr lIns="0" tIns="0" rIns="0" bIns="0"/>
          <a:lstStyle>
            <a:lvl1pPr>
              <a:defRPr sz="1000">
                <a:solidFill>
                  <a:srgbClr val="8FA9A3"/>
                </a:solidFill>
                <a:latin typeface="Courier New"/>
                <a:ea typeface="Courier New"/>
                <a:cs typeface="Courier New"/>
              </a:defRPr>
            </a:lvl1pPr>
          </a:lstStyle>
          <a:p>
            <a:pPr algn="r"/>
            <a:fld id="{F7021451-1387-4CA6-816F-3879F97B5CBC}" type="slidenum">
              <a:rPr lang="en-US" b="0"/>
              <a:t>21</a:t>
            </a:fld>
            <a:endParaRPr lang="en-US"/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>
            <a:spLocks noGrp="1"/>
          </p:cNvSpPr>
          <p:nvPr>
            <p:ph type="title" idx="100" hasCustomPrompt="1"/>
          </p:nvPr>
        </p:nvSpPr>
        <p:spPr>
          <a:xfrm>
            <a:off x="566928" y="384048"/>
            <a:ext cx="11057839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buNone/>
            </a:pPr>
            <a:r>
              <a:rPr lang="en-US" sz="1900" b="1" dirty="0">
                <a:solidFill>
                  <a:schemeClr val="accent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2.13   </a:t>
            </a:r>
            <a:r>
              <a:rPr lang="en-US" sz="2800" b="1" dirty="0">
                <a:solidFill>
                  <a:schemeClr val="tx1"/>
                </a:solidFill>
              </a:rPr>
              <a:t>E os dados genômicos?</a:t>
            </a:r>
            <a:endParaRPr lang="en-US" sz="2800" dirty="0"/>
          </a:p>
        </p:txBody>
      </p:sp>
      <p:graphicFrame>
        <p:nvGraphicFramePr>
          <p:cNvPr id="23" name="tabela-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66928" y="1085240"/>
          <a:ext cx="11057839" cy="1967520"/>
        </p:xfrm>
        <a:graphic>
          <a:graphicData uri="http://schemas.openxmlformats.org/drawingml/2006/table">
            <a:tbl>
              <a:tblPr/>
              <a:tblGrid>
                <a:gridCol w="2809263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4124288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4124288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</a:tblGrid>
              <a:tr h="358400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722" b="1" dirty="0">
                          <a:solidFill>
                            <a:schemeClr val="tx1"/>
                          </a:solidFill>
                        </a:rPr>
                        <a:t>Dado</a:t>
                      </a:r>
                      <a:endParaRPr lang="en-US" sz="1722" dirty="0"/>
                    </a:p>
                  </a:txBody>
                  <a:tcPr marL="73152" marR="73152" marT="32004" marB="32004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9050" cap="flat" cmpd="sng" algn="ctr">
                      <a:solidFill>
                        <a:srgbClr val="A6E35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722" b="1" dirty="0">
                          <a:solidFill>
                            <a:schemeClr val="tx1"/>
                          </a:solidFill>
                        </a:rPr>
                        <a:t>Onde guardar</a:t>
                      </a:r>
                      <a:endParaRPr lang="en-US" sz="1722" dirty="0"/>
                    </a:p>
                  </a:txBody>
                  <a:tcPr marL="73152" marR="73152" marT="32004" marB="32004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9050" cap="flat" cmpd="sng" algn="ctr">
                      <a:solidFill>
                        <a:srgbClr val="A6E35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722" b="1" dirty="0">
                          <a:solidFill>
                            <a:schemeClr val="tx1"/>
                          </a:solidFill>
                        </a:rPr>
                        <a:t>Por quê</a:t>
                      </a:r>
                      <a:endParaRPr lang="en-US" sz="1722" dirty="0"/>
                    </a:p>
                  </a:txBody>
                  <a:tcPr marL="73152" marR="73152" marT="32004" marB="32004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9050" cap="flat" cmpd="sng" algn="ctr">
                      <a:solidFill>
                        <a:srgbClr val="A6E35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358400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722" dirty="0">
                          <a:solidFill>
                            <a:schemeClr val="tx1"/>
                          </a:solidFill>
                        </a:rPr>
                        <a:t>Fenótipos, ensaios, pedigree</a:t>
                      </a:r>
                      <a:endParaRPr lang="en-US" sz="1722" dirty="0"/>
                    </a:p>
                  </a:txBody>
                  <a:tcPr marL="73152" marR="73152" marT="32004" marB="32004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19050" cap="flat" cmpd="sng" algn="ctr">
                      <a:solidFill>
                        <a:srgbClr val="A6E35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1D3A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722" dirty="0">
                          <a:solidFill>
                            <a:schemeClr val="tx1"/>
                          </a:solidFill>
                        </a:rPr>
                        <a:t>Banco relacional</a:t>
                      </a:r>
                      <a:endParaRPr lang="en-US" sz="1722" dirty="0"/>
                    </a:p>
                  </a:txBody>
                  <a:tcPr marL="73152" marR="73152" marT="32004" marB="32004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19050" cap="flat" cmpd="sng" algn="ctr">
                      <a:solidFill>
                        <a:srgbClr val="A6E35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1D3A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722" dirty="0">
                          <a:solidFill>
                            <a:schemeClr val="tx1"/>
                          </a:solidFill>
                        </a:rPr>
                        <a:t>Relações, integridade, consultas</a:t>
                      </a:r>
                      <a:endParaRPr lang="en-US" sz="1722" dirty="0"/>
                    </a:p>
                  </a:txBody>
                  <a:tcPr marL="73152" marR="73152" marT="32004" marB="32004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19050" cap="flat" cmpd="sng" algn="ctr">
                      <a:solidFill>
                        <a:srgbClr val="A6E35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1D3A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625360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722" dirty="0">
                          <a:solidFill>
                            <a:schemeClr val="tx1"/>
                          </a:solidFill>
                        </a:rPr>
                        <a:t>Matriz de marcadores</a:t>
                      </a:r>
                      <a:endParaRPr lang="en-US" sz="1722" dirty="0"/>
                    </a:p>
                  </a:txBody>
                  <a:tcPr marL="73152" marR="73152" marT="32004" marB="32004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9525" cap="flat" cmpd="sng" algn="ctr">
                      <a:solidFill>
                        <a:srgbClr val="1D3A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1D3A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722" dirty="0">
                          <a:solidFill>
                            <a:schemeClr val="tx1"/>
                          </a:solidFill>
                        </a:rPr>
                        <a:t>Arquivo próprio (VCF indexado, PLINK, HDF5, Parquet, RDS)</a:t>
                      </a:r>
                      <a:endParaRPr lang="en-US" sz="1722" dirty="0"/>
                    </a:p>
                  </a:txBody>
                  <a:tcPr marL="73152" marR="73152" marT="32004" marB="32004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9525" cap="flat" cmpd="sng" algn="ctr">
                      <a:solidFill>
                        <a:srgbClr val="1D3A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1D3A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722" dirty="0">
                          <a:solidFill>
                            <a:schemeClr val="tx1"/>
                          </a:solidFill>
                        </a:rPr>
                        <a:t>500 mil SNPs × 2 mil indivíduos = 10⁹ linhas em formato longo</a:t>
                      </a:r>
                      <a:endParaRPr lang="en-US" sz="1722" dirty="0"/>
                    </a:p>
                  </a:txBody>
                  <a:tcPr marL="73152" marR="73152" marT="32004" marB="32004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9525" cap="flat" cmpd="sng" algn="ctr">
                      <a:solidFill>
                        <a:srgbClr val="1D3A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1D3A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625360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722" dirty="0">
                          <a:solidFill>
                            <a:schemeClr val="tx1"/>
                          </a:solidFill>
                        </a:rPr>
                        <a:t>Imagens, LiDAR</a:t>
                      </a:r>
                      <a:endParaRPr lang="en-US" sz="1722" dirty="0"/>
                    </a:p>
                  </a:txBody>
                  <a:tcPr marL="73152" marR="73152" marT="32004" marB="32004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9525" cap="flat" cmpd="sng" algn="ctr">
                      <a:solidFill>
                        <a:srgbClr val="1D3A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0" cap="flat" cmpd="sng" algn="ctr"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722" dirty="0">
                          <a:solidFill>
                            <a:schemeClr val="tx1"/>
                          </a:solidFill>
                        </a:rPr>
                        <a:t>Armazenamento de arquivos + tabela com caminho e metadados</a:t>
                      </a:r>
                      <a:endParaRPr lang="en-US" sz="1722" dirty="0"/>
                    </a:p>
                  </a:txBody>
                  <a:tcPr marL="73152" marR="73152" marT="32004" marB="32004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9525" cap="flat" cmpd="sng" algn="ctr">
                      <a:solidFill>
                        <a:srgbClr val="1D3A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0" cap="flat" cmpd="sng" algn="ctr"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722" dirty="0">
                          <a:solidFill>
                            <a:schemeClr val="tx1"/>
                          </a:solidFill>
                        </a:rPr>
                        <a:t>Arquivos grandes, binários</a:t>
                      </a:r>
                      <a:endParaRPr lang="en-US" sz="1722" dirty="0"/>
                    </a:p>
                  </a:txBody>
                  <a:tcPr marL="73152" marR="73152" marT="32004" marB="32004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9525" cap="flat" cmpd="sng" algn="ctr">
                      <a:solidFill>
                        <a:srgbClr val="1D3A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0" cap="flat" cmpd="sng" algn="ctr">
                      <a:noFill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</a:tbl>
          </a:graphicData>
        </a:graphic>
      </p:graphicFrame>
      <p:sp>
        <p:nvSpPr>
          <p:cNvPr id="4" name="texto-1"/>
          <p:cNvSpPr txBox="1"/>
          <p:nvPr/>
        </p:nvSpPr>
        <p:spPr>
          <a:xfrm>
            <a:off x="566928" y="3212779"/>
            <a:ext cx="11057839" cy="11291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279400" indent="-279400" algn="l">
              <a:lnSpc>
                <a:spcPct val="105000"/>
              </a:lnSpc>
              <a:spcAft>
                <a:spcPts val="672"/>
              </a:spcAft>
              <a:buSzPct val="100000"/>
              <a:buChar char="•"/>
            </a:pPr>
            <a:r>
              <a:rPr lang="en-US" sz="2100" dirty="0">
                <a:solidFill>
                  <a:schemeClr val="tx1"/>
                </a:solidFill>
              </a:rPr>
              <a:t>O banco guarda o </a:t>
            </a:r>
            <a:r>
              <a:rPr lang="en-US" sz="2100" b="1" dirty="0">
                <a:solidFill>
                  <a:schemeClr val="tx1"/>
                </a:solidFill>
              </a:rPr>
              <a:t>vínculo</a:t>
            </a:r>
            <a:r>
              <a:rPr lang="en-US" sz="2100" dirty="0">
                <a:solidFill>
                  <a:schemeClr val="tx1"/>
                </a:solidFill>
              </a:rPr>
              <a:t> (</a:t>
            </a:r>
            <a:r>
              <a:rPr lang="en-US" sz="1932" dirty="0">
                <a:solidFill>
                  <a:schemeClr val="accent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amostra_genotipo</a:t>
            </a:r>
            <a:r>
              <a:rPr lang="en-US" sz="2100" dirty="0">
                <a:solidFill>
                  <a:schemeClr val="tx1"/>
                </a:solidFill>
              </a:rPr>
              <a:t>: germoplasma ↔ amostra ↔ arquivo), não a matriz.</a:t>
            </a:r>
            <a:endParaRPr lang="en-US" sz="2100" dirty="0"/>
          </a:p>
          <a:p>
            <a:pPr marL="279400" indent="-279400" algn="l">
              <a:lnSpc>
                <a:spcPct val="105000"/>
              </a:lnSpc>
              <a:buSzPct val="100000"/>
              <a:buChar char="•"/>
            </a:pPr>
            <a:r>
              <a:rPr lang="en-US" sz="2100" dirty="0">
                <a:solidFill>
                  <a:schemeClr val="tx1"/>
                </a:solidFill>
              </a:rPr>
              <a:t>O vínculo é exatamente onde ocorre a troca de amostras: ele também passa por QC (Bloco 3).</a:t>
            </a:r>
            <a:endParaRPr lang="en-US" sz="2100" dirty="0"/>
          </a:p>
        </p:txBody>
      </p:sp>
      <p:sp>
        <p:nvSpPr>
          <p:cNvPr id="5" name="rodape"/>
          <p:cNvSpPr txBox="1"/>
          <p:nvPr/>
        </p:nvSpPr>
        <p:spPr>
          <a:xfrm>
            <a:off x="566928" y="640080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50" kern="0" spc="100" dirty="0">
                <a:solidFill>
                  <a:schemeClr val="tx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SEÇÃO 1 · BLOCO 2</a:t>
            </a:r>
            <a:endParaRPr lang="en-US" sz="95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527487" y="6400800"/>
            <a:ext cx="109728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xmlns="" val="0"/>
            </a:ext>
          </a:extLst>
        </p:spPr>
        <p:txBody>
          <a:bodyPr lIns="0" tIns="0" rIns="0" bIns="0"/>
          <a:lstStyle>
            <a:lvl1pPr>
              <a:defRPr sz="1000">
                <a:solidFill>
                  <a:srgbClr val="8FA9A3"/>
                </a:solidFill>
                <a:latin typeface="Courier New"/>
                <a:ea typeface="Courier New"/>
                <a:cs typeface="Courier New"/>
              </a:defRPr>
            </a:lvl1pPr>
          </a:lstStyle>
          <a:p>
            <a:pPr algn="r"/>
            <a:fld id="{F7021451-1387-4CA6-816F-3879F97B5CBC}" type="slidenum">
              <a:rPr lang="en-US" b="0"/>
              <a:t>22</a:t>
            </a:fld>
            <a:endParaRPr lang="en-US"/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>
            <a:spLocks noGrp="1"/>
          </p:cNvSpPr>
          <p:nvPr>
            <p:ph type="title" idx="100" hasCustomPrompt="1"/>
          </p:nvPr>
        </p:nvSpPr>
        <p:spPr>
          <a:xfrm>
            <a:off x="914400" y="2560320"/>
            <a:ext cx="9875520" cy="1828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buNone/>
            </a:pPr>
            <a:r>
              <a:rPr lang="en-US" sz="4600" b="1" dirty="0">
                <a:solidFill>
                  <a:schemeClr val="tx1"/>
                </a:solidFill>
              </a:rPr>
              <a:t>QA/QC: garantir e controlar a qualidade</a:t>
            </a:r>
            <a:endParaRPr lang="en-US" sz="4600" dirty="0"/>
          </a:p>
        </p:txBody>
      </p:sp>
      <p:sp>
        <p:nvSpPr>
          <p:cNvPr id="3" name="texto-0"/>
          <p:cNvSpPr txBox="1"/>
          <p:nvPr/>
        </p:nvSpPr>
        <p:spPr>
          <a:xfrm>
            <a:off x="914400" y="4572000"/>
            <a:ext cx="5486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ct val="100000"/>
              </a:lnSpc>
              <a:buNone/>
            </a:pPr>
            <a:r>
              <a:rPr lang="en-US" sz="1800" dirty="0">
                <a:solidFill>
                  <a:srgbClr val="B9CFC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30 min</a:t>
            </a:r>
            <a:endParaRPr lang="en-US" sz="1800" dirty="0"/>
          </a:p>
        </p:txBody>
      </p:sp>
      <p:sp>
        <p:nvSpPr>
          <p:cNvPr id="4" name="texto-1"/>
          <p:cNvSpPr txBox="1"/>
          <p:nvPr/>
        </p:nvSpPr>
        <p:spPr>
          <a:xfrm>
            <a:off x="914400" y="2148840"/>
            <a:ext cx="73152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ct val="100000"/>
              </a:lnSpc>
              <a:buNone/>
            </a:pPr>
            <a:r>
              <a:rPr lang="en-US" sz="1800" kern="0" spc="300" dirty="0">
                <a:solidFill>
                  <a:schemeClr val="accent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BLOCO 3</a:t>
            </a:r>
            <a:endParaRPr lang="en-US" sz="1800" dirty="0"/>
          </a:p>
        </p:txBody>
      </p:sp>
      <p:sp>
        <p:nvSpPr>
          <p:cNvPr id="5" name="rodape"/>
          <p:cNvSpPr txBox="1"/>
          <p:nvPr/>
        </p:nvSpPr>
        <p:spPr>
          <a:xfrm>
            <a:off x="566928" y="640080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50" kern="0" spc="100" dirty="0">
                <a:solidFill>
                  <a:srgbClr val="B9CFC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SEÇÃO 1 · BLOCO 3</a:t>
            </a:r>
            <a:endParaRPr lang="en-US" sz="95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527487" y="6400800"/>
            <a:ext cx="109728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xmlns="" val="0"/>
            </a:ext>
          </a:extLst>
        </p:spPr>
        <p:txBody>
          <a:bodyPr lIns="0" tIns="0" rIns="0" bIns="0"/>
          <a:lstStyle>
            <a:lvl1pPr>
              <a:defRPr sz="1000">
                <a:solidFill>
                  <a:srgbClr val="B9CFC6"/>
                </a:solidFill>
                <a:latin typeface="Courier New"/>
                <a:ea typeface="Courier New"/>
                <a:cs typeface="Courier New"/>
              </a:defRPr>
            </a:lvl1pPr>
          </a:lstStyle>
          <a:p>
            <a:pPr algn="r"/>
            <a:fld id="{F7021451-1387-4CA6-816F-3879F97B5CBC}" type="slidenum">
              <a:rPr lang="en-US" b="0"/>
              <a:t>23</a:t>
            </a:fld>
            <a:endParaRPr lang="en-US"/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>
            <a:spLocks noGrp="1"/>
          </p:cNvSpPr>
          <p:nvPr>
            <p:ph type="title" idx="100" hasCustomPrompt="1"/>
          </p:nvPr>
        </p:nvSpPr>
        <p:spPr>
          <a:xfrm>
            <a:off x="566928" y="384048"/>
            <a:ext cx="11057839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buNone/>
            </a:pPr>
            <a:r>
              <a:rPr lang="en-US" sz="1900" b="1" dirty="0">
                <a:solidFill>
                  <a:schemeClr val="accent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3.1   </a:t>
            </a:r>
            <a:r>
              <a:rPr lang="en-US" sz="2800" b="1" dirty="0">
                <a:solidFill>
                  <a:schemeClr val="tx1"/>
                </a:solidFill>
              </a:rPr>
              <a:t>QA e QC não são a mesma coisa</a:t>
            </a:r>
            <a:endParaRPr lang="en-US" sz="2800" dirty="0"/>
          </a:p>
        </p:txBody>
      </p:sp>
      <p:graphicFrame>
        <p:nvGraphicFramePr>
          <p:cNvPr id="25" name="tabela-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66928" y="1085240"/>
          <a:ext cx="11057839" cy="2684319"/>
        </p:xfrm>
        <a:graphic>
          <a:graphicData uri="http://schemas.openxmlformats.org/drawingml/2006/table">
            <a:tbl>
              <a:tblPr/>
              <a:tblGrid>
                <a:gridCol w="1036007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5010916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5010916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</a:tblGrid>
              <a:tr h="358400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endParaRPr lang="en-US" sz="1722" dirty="0"/>
                    </a:p>
                  </a:txBody>
                  <a:tcPr marL="73152" marR="73152" marT="32004" marB="32004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9050" cap="flat" cmpd="sng" algn="ctr">
                      <a:solidFill>
                        <a:srgbClr val="A6E35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722" b="1" dirty="0">
                          <a:solidFill>
                            <a:schemeClr val="tx1"/>
                          </a:solidFill>
                        </a:rPr>
                        <a:t>Garantia de qualidade (QA)</a:t>
                      </a:r>
                      <a:endParaRPr lang="en-US" sz="1722" dirty="0"/>
                    </a:p>
                  </a:txBody>
                  <a:tcPr marL="73152" marR="73152" marT="32004" marB="32004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9050" cap="flat" cmpd="sng" algn="ctr">
                      <a:solidFill>
                        <a:srgbClr val="A6E35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722" b="1" dirty="0">
                          <a:solidFill>
                            <a:schemeClr val="tx1"/>
                          </a:solidFill>
                        </a:rPr>
                        <a:t>Controle de qualidade (QC)</a:t>
                      </a:r>
                      <a:endParaRPr lang="en-US" sz="1722" dirty="0"/>
                    </a:p>
                  </a:txBody>
                  <a:tcPr marL="73152" marR="73152" marT="32004" marB="32004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9050" cap="flat" cmpd="sng" algn="ctr">
                      <a:solidFill>
                        <a:srgbClr val="A6E35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358400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722" dirty="0">
                          <a:solidFill>
                            <a:schemeClr val="tx1"/>
                          </a:solidFill>
                        </a:rPr>
                        <a:t>Objetivo</a:t>
                      </a:r>
                      <a:endParaRPr lang="en-US" sz="1722" dirty="0"/>
                    </a:p>
                  </a:txBody>
                  <a:tcPr marL="73152" marR="73152" marT="32004" marB="32004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19050" cap="flat" cmpd="sng" algn="ctr">
                      <a:solidFill>
                        <a:srgbClr val="A6E35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1D3A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722" dirty="0">
                          <a:solidFill>
                            <a:schemeClr val="tx1"/>
                          </a:solidFill>
                        </a:rPr>
                        <a:t>Evitar que o erro aconteça</a:t>
                      </a:r>
                      <a:endParaRPr lang="en-US" sz="1722" dirty="0"/>
                    </a:p>
                  </a:txBody>
                  <a:tcPr marL="73152" marR="73152" marT="32004" marB="32004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19050" cap="flat" cmpd="sng" algn="ctr">
                      <a:solidFill>
                        <a:srgbClr val="A6E35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1D3A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722" dirty="0">
                          <a:solidFill>
                            <a:schemeClr val="tx1"/>
                          </a:solidFill>
                        </a:rPr>
                        <a:t>Detectar e tratar o erro que aconteceu</a:t>
                      </a:r>
                      <a:endParaRPr lang="en-US" sz="1722" dirty="0"/>
                    </a:p>
                  </a:txBody>
                  <a:tcPr marL="73152" marR="73152" marT="32004" marB="32004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19050" cap="flat" cmpd="sng" algn="ctr">
                      <a:solidFill>
                        <a:srgbClr val="A6E35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1D3A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358400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722" dirty="0">
                          <a:solidFill>
                            <a:schemeClr val="tx1"/>
                          </a:solidFill>
                        </a:rPr>
                        <a:t>Quando</a:t>
                      </a:r>
                      <a:endParaRPr lang="en-US" sz="1722" dirty="0"/>
                    </a:p>
                  </a:txBody>
                  <a:tcPr marL="73152" marR="73152" marT="32004" marB="32004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9525" cap="flat" cmpd="sng" algn="ctr">
                      <a:solidFill>
                        <a:srgbClr val="1D3A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1D3A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722" dirty="0">
                          <a:solidFill>
                            <a:schemeClr val="tx1"/>
                          </a:solidFill>
                        </a:rPr>
                        <a:t>Antes e durante a coleta</a:t>
                      </a:r>
                      <a:endParaRPr lang="en-US" sz="1722" dirty="0"/>
                    </a:p>
                  </a:txBody>
                  <a:tcPr marL="73152" marR="73152" marT="32004" marB="32004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9525" cap="flat" cmpd="sng" algn="ctr">
                      <a:solidFill>
                        <a:srgbClr val="1D3A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1D3A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722" dirty="0">
                          <a:solidFill>
                            <a:schemeClr val="tx1"/>
                          </a:solidFill>
                        </a:rPr>
                        <a:t>Depois da coleta, antes da análise</a:t>
                      </a:r>
                      <a:endParaRPr lang="en-US" sz="1722" dirty="0"/>
                    </a:p>
                  </a:txBody>
                  <a:tcPr marL="73152" marR="73152" marT="32004" marB="32004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9525" cap="flat" cmpd="sng" algn="ctr">
                      <a:solidFill>
                        <a:srgbClr val="1D3A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1D3A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358400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722" dirty="0">
                          <a:solidFill>
                            <a:schemeClr val="tx1"/>
                          </a:solidFill>
                        </a:rPr>
                        <a:t>Natureza</a:t>
                      </a:r>
                      <a:endParaRPr lang="en-US" sz="1722" dirty="0"/>
                    </a:p>
                  </a:txBody>
                  <a:tcPr marL="73152" marR="73152" marT="32004" marB="32004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9525" cap="flat" cmpd="sng" algn="ctr">
                      <a:solidFill>
                        <a:srgbClr val="1D3A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1D3A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722" dirty="0">
                          <a:solidFill>
                            <a:schemeClr val="tx1"/>
                          </a:solidFill>
                        </a:rPr>
                        <a:t>Processo</a:t>
                      </a:r>
                      <a:endParaRPr lang="en-US" sz="1722" dirty="0"/>
                    </a:p>
                  </a:txBody>
                  <a:tcPr marL="73152" marR="73152" marT="32004" marB="32004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9525" cap="flat" cmpd="sng" algn="ctr">
                      <a:solidFill>
                        <a:srgbClr val="1D3A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1D3A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722" dirty="0">
                          <a:solidFill>
                            <a:schemeClr val="tx1"/>
                          </a:solidFill>
                        </a:rPr>
                        <a:t>Verificação</a:t>
                      </a:r>
                      <a:endParaRPr lang="en-US" sz="1722" dirty="0"/>
                    </a:p>
                  </a:txBody>
                  <a:tcPr marL="73152" marR="73152" marT="32004" marB="32004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9525" cap="flat" cmpd="sng" algn="ctr">
                      <a:solidFill>
                        <a:srgbClr val="1D3A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1D3A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892319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722" dirty="0">
                          <a:solidFill>
                            <a:schemeClr val="tx1"/>
                          </a:solidFill>
                        </a:rPr>
                        <a:t>Exemplos</a:t>
                      </a:r>
                      <a:endParaRPr lang="en-US" sz="1722" dirty="0"/>
                    </a:p>
                  </a:txBody>
                  <a:tcPr marL="73152" marR="73152" marT="32004" marB="32004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9525" cap="flat" cmpd="sng" algn="ctr">
                      <a:solidFill>
                        <a:srgbClr val="1D3A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1D3A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722" dirty="0">
                          <a:solidFill>
                            <a:schemeClr val="tx1"/>
                          </a:solidFill>
                        </a:rPr>
                        <a:t>IDs gerados pelo sistema, etiquetas com código de barras, coletor digital com intervalos válidos, calibração de balanças</a:t>
                      </a:r>
                      <a:endParaRPr lang="en-US" sz="1722" dirty="0"/>
                    </a:p>
                  </a:txBody>
                  <a:tcPr marL="73152" marR="73152" marT="32004" marB="32004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9525" cap="flat" cmpd="sng" algn="ctr">
                      <a:solidFill>
                        <a:srgbClr val="1D3A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1D3A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722" dirty="0">
                          <a:solidFill>
                            <a:schemeClr val="tx1"/>
                          </a:solidFill>
                        </a:rPr>
                        <a:t>Consultas de duplicatas e intervalos, resíduos studentizados, checagem de pedigree com marcadores</a:t>
                      </a:r>
                      <a:endParaRPr lang="en-US" sz="1722" dirty="0"/>
                    </a:p>
                  </a:txBody>
                  <a:tcPr marL="73152" marR="73152" marT="32004" marB="32004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9525" cap="flat" cmpd="sng" algn="ctr">
                      <a:solidFill>
                        <a:srgbClr val="1D3A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1D3A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358400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722" dirty="0">
                          <a:solidFill>
                            <a:schemeClr val="tx1"/>
                          </a:solidFill>
                        </a:rPr>
                        <a:t>Pergunta</a:t>
                      </a:r>
                      <a:endParaRPr lang="en-US" sz="1722" dirty="0"/>
                    </a:p>
                  </a:txBody>
                  <a:tcPr marL="73152" marR="73152" marT="32004" marB="32004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9525" cap="flat" cmpd="sng" algn="ctr">
                      <a:solidFill>
                        <a:srgbClr val="1D3A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0" cap="flat" cmpd="sng" algn="ctr"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722" dirty="0">
                          <a:solidFill>
                            <a:schemeClr val="tx1"/>
                          </a:solidFill>
                        </a:rPr>
                        <a:t>"Como impedir?"</a:t>
                      </a:r>
                      <a:endParaRPr lang="en-US" sz="1722" dirty="0"/>
                    </a:p>
                  </a:txBody>
                  <a:tcPr marL="73152" marR="73152" marT="32004" marB="32004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9525" cap="flat" cmpd="sng" algn="ctr">
                      <a:solidFill>
                        <a:srgbClr val="1D3A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0" cap="flat" cmpd="sng" algn="ctr"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722" dirty="0">
                          <a:solidFill>
                            <a:schemeClr val="tx1"/>
                          </a:solidFill>
                        </a:rPr>
                        <a:t>"O que passou?"</a:t>
                      </a:r>
                      <a:endParaRPr lang="en-US" sz="1722" dirty="0"/>
                    </a:p>
                  </a:txBody>
                  <a:tcPr marL="73152" marR="73152" marT="32004" marB="32004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9525" cap="flat" cmpd="sng" algn="ctr">
                      <a:solidFill>
                        <a:srgbClr val="1D3A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0" cap="flat" cmpd="sng" algn="ctr">
                      <a:noFill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</a:tbl>
          </a:graphicData>
        </a:graphic>
      </p:graphicFrame>
      <p:sp>
        <p:nvSpPr>
          <p:cNvPr id="4" name="rodape"/>
          <p:cNvSpPr txBox="1"/>
          <p:nvPr/>
        </p:nvSpPr>
        <p:spPr>
          <a:xfrm>
            <a:off x="566928" y="640080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50" kern="0" spc="100" dirty="0">
                <a:solidFill>
                  <a:schemeClr val="tx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SEÇÃO 1 · BLOCO 3</a:t>
            </a:r>
            <a:endParaRPr lang="en-US" sz="950" dirty="0"/>
          </a:p>
        </p:txBody>
      </p:sp>
      <p:sp>
        <p:nvSpPr>
          <p:cNvPr id="3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527487" y="6400800"/>
            <a:ext cx="109728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xmlns="" val="0"/>
            </a:ext>
          </a:extLst>
        </p:spPr>
        <p:txBody>
          <a:bodyPr lIns="0" tIns="0" rIns="0" bIns="0"/>
          <a:lstStyle>
            <a:lvl1pPr>
              <a:defRPr sz="1000">
                <a:solidFill>
                  <a:srgbClr val="8FA9A3"/>
                </a:solidFill>
                <a:latin typeface="Courier New"/>
                <a:ea typeface="Courier New"/>
                <a:cs typeface="Courier New"/>
              </a:defRPr>
            </a:lvl1pPr>
          </a:lstStyle>
          <a:p>
            <a:pPr algn="r"/>
            <a:fld id="{F7021451-1387-4CA6-816F-3879F97B5CBC}" type="slidenum">
              <a:rPr lang="en-US" b="0"/>
              <a:t>24</a:t>
            </a:fld>
            <a:endParaRPr lang="en-US"/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>
            <a:spLocks noGrp="1"/>
          </p:cNvSpPr>
          <p:nvPr>
            <p:ph type="title" idx="100" hasCustomPrompt="1"/>
          </p:nvPr>
        </p:nvSpPr>
        <p:spPr>
          <a:xfrm>
            <a:off x="566928" y="384048"/>
            <a:ext cx="11057839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buNone/>
            </a:pPr>
            <a:r>
              <a:rPr lang="en-US" sz="1900" b="1" dirty="0">
                <a:solidFill>
                  <a:schemeClr val="accent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3.2   </a:t>
            </a:r>
            <a:r>
              <a:rPr lang="en-US" sz="2800" b="1" dirty="0">
                <a:solidFill>
                  <a:schemeClr val="tx1"/>
                </a:solidFill>
              </a:rPr>
              <a:t>Dimensões da qualidade de dados</a:t>
            </a:r>
            <a:endParaRPr lang="en-US" sz="2800" dirty="0"/>
          </a:p>
        </p:txBody>
      </p:sp>
      <p:graphicFrame>
        <p:nvGraphicFramePr>
          <p:cNvPr id="26" name="tabela-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66928" y="1085240"/>
          <a:ext cx="11057840" cy="3134160"/>
        </p:xfrm>
        <a:graphic>
          <a:graphicData uri="http://schemas.openxmlformats.org/drawingml/2006/table">
            <a:tbl>
              <a:tblPr/>
              <a:tblGrid>
                <a:gridCol w="2267384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2786279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2751101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3253076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</a:tblGrid>
              <a:tr h="358400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722" b="1" dirty="0">
                          <a:solidFill>
                            <a:schemeClr val="tx1"/>
                          </a:solidFill>
                        </a:rPr>
                        <a:t>Dimensão</a:t>
                      </a:r>
                      <a:endParaRPr lang="en-US" sz="1722" dirty="0"/>
                    </a:p>
                  </a:txBody>
                  <a:tcPr marL="73152" marR="73152" marT="32004" marB="32004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9050" cap="flat" cmpd="sng" algn="ctr">
                      <a:solidFill>
                        <a:srgbClr val="A6E35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722" b="1" dirty="0">
                          <a:solidFill>
                            <a:schemeClr val="tx1"/>
                          </a:solidFill>
                        </a:rPr>
                        <a:t>Pergunta</a:t>
                      </a:r>
                      <a:endParaRPr lang="en-US" sz="1722" dirty="0"/>
                    </a:p>
                  </a:txBody>
                  <a:tcPr marL="73152" marR="73152" marT="32004" marB="32004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9050" cap="flat" cmpd="sng" algn="ctr">
                      <a:solidFill>
                        <a:srgbClr val="A6E35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722" b="1" dirty="0">
                          <a:solidFill>
                            <a:schemeClr val="tx1"/>
                          </a:solidFill>
                        </a:rPr>
                        <a:t>Exemplo no programa</a:t>
                      </a:r>
                      <a:endParaRPr lang="en-US" sz="1722" dirty="0"/>
                    </a:p>
                  </a:txBody>
                  <a:tcPr marL="73152" marR="73152" marT="32004" marB="32004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9050" cap="flat" cmpd="sng" algn="ctr">
                      <a:solidFill>
                        <a:srgbClr val="A6E35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722" b="1" dirty="0">
                          <a:solidFill>
                            <a:schemeClr val="tx1"/>
                          </a:solidFill>
                        </a:rPr>
                        <a:t>Verificação</a:t>
                      </a:r>
                      <a:endParaRPr lang="en-US" sz="1722" dirty="0"/>
                    </a:p>
                  </a:txBody>
                  <a:tcPr marL="73152" marR="73152" marT="32004" marB="32004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9050" cap="flat" cmpd="sng" algn="ctr">
                      <a:solidFill>
                        <a:srgbClr val="A6E35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358400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722" dirty="0">
                          <a:solidFill>
                            <a:schemeClr val="tx1"/>
                          </a:solidFill>
                        </a:rPr>
                        <a:t>Completude</a:t>
                      </a:r>
                      <a:endParaRPr lang="en-US" sz="1722" dirty="0"/>
                    </a:p>
                  </a:txBody>
                  <a:tcPr marL="73152" marR="73152" marT="32004" marB="32004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19050" cap="flat" cmpd="sng" algn="ctr">
                      <a:solidFill>
                        <a:srgbClr val="A6E35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1D3A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722" dirty="0">
                          <a:solidFill>
                            <a:schemeClr val="tx1"/>
                          </a:solidFill>
                        </a:rPr>
                        <a:t>Falta algo?</a:t>
                      </a:r>
                      <a:endParaRPr lang="en-US" sz="1722" dirty="0"/>
                    </a:p>
                  </a:txBody>
                  <a:tcPr marL="73152" marR="73152" marT="32004" marB="32004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19050" cap="flat" cmpd="sng" algn="ctr">
                      <a:solidFill>
                        <a:srgbClr val="A6E35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1D3A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722" dirty="0">
                          <a:solidFill>
                            <a:schemeClr val="tx1"/>
                          </a:solidFill>
                        </a:rPr>
                        <a:t>Parcela sem produtividade</a:t>
                      </a:r>
                      <a:endParaRPr lang="en-US" sz="1722" dirty="0"/>
                    </a:p>
                  </a:txBody>
                  <a:tcPr marL="73152" marR="73152" marT="32004" marB="32004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19050" cap="flat" cmpd="sng" algn="ctr">
                      <a:solidFill>
                        <a:srgbClr val="A6E35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1D3A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722" dirty="0">
                          <a:solidFill>
                            <a:schemeClr val="tx1"/>
                          </a:solidFill>
                        </a:rPr>
                        <a:t>Contagem de ausentes por ensaio</a:t>
                      </a:r>
                      <a:endParaRPr lang="en-US" sz="1722" dirty="0"/>
                    </a:p>
                  </a:txBody>
                  <a:tcPr marL="73152" marR="73152" marT="32004" marB="32004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19050" cap="flat" cmpd="sng" algn="ctr">
                      <a:solidFill>
                        <a:srgbClr val="A6E35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1D3A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358400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722" dirty="0">
                          <a:solidFill>
                            <a:schemeClr val="tx1"/>
                          </a:solidFill>
                        </a:rPr>
                        <a:t>Validade</a:t>
                      </a:r>
                      <a:endParaRPr lang="en-US" sz="1722" dirty="0"/>
                    </a:p>
                  </a:txBody>
                  <a:tcPr marL="73152" marR="73152" marT="32004" marB="32004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9525" cap="flat" cmpd="sng" algn="ctr">
                      <a:solidFill>
                        <a:srgbClr val="1D3A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1D3A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722" dirty="0">
                          <a:solidFill>
                            <a:schemeClr val="tx1"/>
                          </a:solidFill>
                        </a:rPr>
                        <a:t>Está no formato e intervalo?</a:t>
                      </a:r>
                      <a:endParaRPr lang="en-US" sz="1722" dirty="0"/>
                    </a:p>
                  </a:txBody>
                  <a:tcPr marL="73152" marR="73152" marT="32004" marB="32004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9525" cap="flat" cmpd="sng" algn="ctr">
                      <a:solidFill>
                        <a:srgbClr val="1D3A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1D3A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722" dirty="0">
                          <a:solidFill>
                            <a:schemeClr val="tx1"/>
                          </a:solidFill>
                        </a:rPr>
                        <a:t>PROD = 104.613 kg/ha</a:t>
                      </a:r>
                      <a:endParaRPr lang="en-US" sz="1722" dirty="0"/>
                    </a:p>
                  </a:txBody>
                  <a:tcPr marL="73152" marR="73152" marT="32004" marB="32004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9525" cap="flat" cmpd="sng" algn="ctr">
                      <a:solidFill>
                        <a:srgbClr val="1D3A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1D3A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722" dirty="0">
                          <a:solidFill>
                            <a:schemeClr val="tx1"/>
                          </a:solidFill>
                        </a:rPr>
                        <a:t>Intervalo do dicionário</a:t>
                      </a:r>
                      <a:endParaRPr lang="en-US" sz="1722" dirty="0"/>
                    </a:p>
                  </a:txBody>
                  <a:tcPr marL="73152" marR="73152" marT="32004" marB="32004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9525" cap="flat" cmpd="sng" algn="ctr">
                      <a:solidFill>
                        <a:srgbClr val="1D3A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1D3A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625360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722" dirty="0">
                          <a:solidFill>
                            <a:schemeClr val="tx1"/>
                          </a:solidFill>
                        </a:rPr>
                        <a:t>Unicidade</a:t>
                      </a:r>
                      <a:endParaRPr lang="en-US" sz="1722" dirty="0"/>
                    </a:p>
                  </a:txBody>
                  <a:tcPr marL="73152" marR="73152" marT="32004" marB="32004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9525" cap="flat" cmpd="sng" algn="ctr">
                      <a:solidFill>
                        <a:srgbClr val="1D3A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1D3A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722" dirty="0">
                          <a:solidFill>
                            <a:schemeClr val="tx1"/>
                          </a:solidFill>
                        </a:rPr>
                        <a:t>Está registrado uma vez?</a:t>
                      </a:r>
                      <a:endParaRPr lang="en-US" sz="1722" dirty="0"/>
                    </a:p>
                  </a:txBody>
                  <a:tcPr marL="73152" marR="73152" marT="32004" marB="32004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9525" cap="flat" cmpd="sng" algn="ctr">
                      <a:solidFill>
                        <a:srgbClr val="1D3A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1D3A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722" dirty="0">
                          <a:solidFill>
                            <a:schemeClr val="tx1"/>
                          </a:solidFill>
                        </a:rPr>
                        <a:t>Parcela digitada duas vezes</a:t>
                      </a:r>
                      <a:endParaRPr lang="en-US" sz="1722" dirty="0"/>
                    </a:p>
                  </a:txBody>
                  <a:tcPr marL="73152" marR="73152" marT="32004" marB="32004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9525" cap="flat" cmpd="sng" algn="ctr">
                      <a:solidFill>
                        <a:srgbClr val="1D3A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1D3A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584" dirty="0">
                          <a:solidFill>
                            <a:schemeClr val="accent2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GROUP BY … HAVING COUNT(*) &gt; 1</a:t>
                      </a:r>
                      <a:endParaRPr lang="en-US" sz="1722" dirty="0"/>
                    </a:p>
                  </a:txBody>
                  <a:tcPr marL="73152" marR="73152" marT="32004" marB="32004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9525" cap="flat" cmpd="sng" algn="ctr">
                      <a:solidFill>
                        <a:srgbClr val="1D3A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1D3A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358400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722" dirty="0">
                          <a:solidFill>
                            <a:schemeClr val="tx1"/>
                          </a:solidFill>
                        </a:rPr>
                        <a:t>Consistência</a:t>
                      </a:r>
                      <a:endParaRPr lang="en-US" sz="1722" dirty="0"/>
                    </a:p>
                  </a:txBody>
                  <a:tcPr marL="73152" marR="73152" marT="32004" marB="32004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9525" cap="flat" cmpd="sng" algn="ctr">
                      <a:solidFill>
                        <a:srgbClr val="1D3A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1D3A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722" dirty="0">
                          <a:solidFill>
                            <a:schemeClr val="tx1"/>
                          </a:solidFill>
                        </a:rPr>
                        <a:t>Concorda consigo mesmo?</a:t>
                      </a:r>
                      <a:endParaRPr lang="en-US" sz="1722" dirty="0"/>
                    </a:p>
                  </a:txBody>
                  <a:tcPr marL="73152" marR="73152" marT="32004" marB="32004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9525" cap="flat" cmpd="sng" algn="ctr">
                      <a:solidFill>
                        <a:srgbClr val="1D3A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1D3A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584" dirty="0">
                          <a:solidFill>
                            <a:schemeClr val="accent2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DH24-0094</a:t>
                      </a:r>
                      <a:r>
                        <a:rPr lang="en-US" sz="1722" dirty="0">
                          <a:solidFill>
                            <a:schemeClr val="tx1"/>
                          </a:solidFill>
                        </a:rPr>
                        <a:t> × </a:t>
                      </a:r>
                      <a:r>
                        <a:rPr lang="en-US" sz="1584" dirty="0">
                          <a:solidFill>
                            <a:schemeClr val="accent2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DH24_0094</a:t>
                      </a:r>
                      <a:endParaRPr lang="en-US" sz="1722" dirty="0"/>
                    </a:p>
                  </a:txBody>
                  <a:tcPr marL="73152" marR="73152" marT="32004" marB="32004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9525" cap="flat" cmpd="sng" algn="ctr">
                      <a:solidFill>
                        <a:srgbClr val="1D3A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1D3A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722" dirty="0">
                          <a:solidFill>
                            <a:schemeClr val="tx1"/>
                          </a:solidFill>
                        </a:rPr>
                        <a:t>Padrão de ID (regex)</a:t>
                      </a:r>
                      <a:endParaRPr lang="en-US" sz="1722" dirty="0"/>
                    </a:p>
                  </a:txBody>
                  <a:tcPr marL="73152" marR="73152" marT="32004" marB="32004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9525" cap="flat" cmpd="sng" algn="ctr">
                      <a:solidFill>
                        <a:srgbClr val="1D3A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1D3A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358400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722" dirty="0">
                          <a:solidFill>
                            <a:schemeClr val="tx1"/>
                          </a:solidFill>
                        </a:rPr>
                        <a:t>Integridade referencial</a:t>
                      </a:r>
                      <a:endParaRPr lang="en-US" sz="1722" dirty="0"/>
                    </a:p>
                  </a:txBody>
                  <a:tcPr marL="73152" marR="73152" marT="32004" marB="32004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9525" cap="flat" cmpd="sng" algn="ctr">
                      <a:solidFill>
                        <a:srgbClr val="1D3A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1D3A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722" dirty="0">
                          <a:solidFill>
                            <a:schemeClr val="tx1"/>
                          </a:solidFill>
                        </a:rPr>
                        <a:t>As ligações existem?</a:t>
                      </a:r>
                      <a:endParaRPr lang="en-US" sz="1722" dirty="0"/>
                    </a:p>
                  </a:txBody>
                  <a:tcPr marL="73152" marR="73152" marT="32004" marB="32004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9525" cap="flat" cmpd="sng" algn="ctr">
                      <a:solidFill>
                        <a:srgbClr val="1D3A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1D3A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722" dirty="0">
                          <a:solidFill>
                            <a:schemeClr val="tx1"/>
                          </a:solidFill>
                        </a:rPr>
                        <a:t>Mãe FA_91 não cadastrada</a:t>
                      </a:r>
                      <a:endParaRPr lang="en-US" sz="1722" dirty="0"/>
                    </a:p>
                  </a:txBody>
                  <a:tcPr marL="73152" marR="73152" marT="32004" marB="32004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9525" cap="flat" cmpd="sng" algn="ctr">
                      <a:solidFill>
                        <a:srgbClr val="1D3A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1D3A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584" dirty="0">
                          <a:solidFill>
                            <a:schemeClr val="accent2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LEFT JOIN … IS NULL</a:t>
                      </a:r>
                      <a:endParaRPr lang="en-US" sz="1722" dirty="0"/>
                    </a:p>
                  </a:txBody>
                  <a:tcPr marL="73152" marR="73152" marT="32004" marB="32004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9525" cap="flat" cmpd="sng" algn="ctr">
                      <a:solidFill>
                        <a:srgbClr val="1D3A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1D3A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  <a:tr h="358400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722" dirty="0">
                          <a:solidFill>
                            <a:schemeClr val="tx1"/>
                          </a:solidFill>
                        </a:rPr>
                        <a:t>Acurácia</a:t>
                      </a:r>
                      <a:endParaRPr lang="en-US" sz="1722" dirty="0"/>
                    </a:p>
                  </a:txBody>
                  <a:tcPr marL="73152" marR="73152" marT="32004" marB="32004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9525" cap="flat" cmpd="sng" algn="ctr">
                      <a:solidFill>
                        <a:srgbClr val="1D3A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1D3A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722" dirty="0">
                          <a:solidFill>
                            <a:schemeClr val="tx1"/>
                          </a:solidFill>
                        </a:rPr>
                        <a:t>Corresponde à realidade?</a:t>
                      </a:r>
                      <a:endParaRPr lang="en-US" sz="1722" dirty="0"/>
                    </a:p>
                  </a:txBody>
                  <a:tcPr marL="73152" marR="73152" marT="32004" marB="32004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9525" cap="flat" cmpd="sng" algn="ctr">
                      <a:solidFill>
                        <a:srgbClr val="1D3A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1D3A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722" dirty="0">
                          <a:solidFill>
                            <a:schemeClr val="tx1"/>
                          </a:solidFill>
                        </a:rPr>
                        <a:t>Amostra de DNA trocada</a:t>
                      </a:r>
                      <a:endParaRPr lang="en-US" sz="1722" dirty="0"/>
                    </a:p>
                  </a:txBody>
                  <a:tcPr marL="73152" marR="73152" marT="32004" marB="32004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9525" cap="flat" cmpd="sng" algn="ctr">
                      <a:solidFill>
                        <a:srgbClr val="1D3A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1D3A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722" dirty="0">
                          <a:solidFill>
                            <a:schemeClr val="tx1"/>
                          </a:solidFill>
                        </a:rPr>
                        <a:t>Marcadores × pedigree</a:t>
                      </a:r>
                      <a:endParaRPr lang="en-US" sz="1722" dirty="0"/>
                    </a:p>
                  </a:txBody>
                  <a:tcPr marL="73152" marR="73152" marT="32004" marB="32004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9525" cap="flat" cmpd="sng" algn="ctr">
                      <a:solidFill>
                        <a:srgbClr val="1D3A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1D3A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6"/>
                  </a:ext>
                </a:extLst>
              </a:tr>
              <a:tr h="358400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722" dirty="0">
                          <a:solidFill>
                            <a:schemeClr val="tx1"/>
                          </a:solidFill>
                        </a:rPr>
                        <a:t>Atualidade</a:t>
                      </a:r>
                      <a:endParaRPr lang="en-US" sz="1722" dirty="0"/>
                    </a:p>
                  </a:txBody>
                  <a:tcPr marL="73152" marR="73152" marT="32004" marB="32004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9525" cap="flat" cmpd="sng" algn="ctr">
                      <a:solidFill>
                        <a:srgbClr val="1D3A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0" cap="flat" cmpd="sng" algn="ctr"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722" dirty="0">
                          <a:solidFill>
                            <a:schemeClr val="tx1"/>
                          </a:solidFill>
                        </a:rPr>
                        <a:t>Está na versão certa?</a:t>
                      </a:r>
                      <a:endParaRPr lang="en-US" sz="1722" dirty="0"/>
                    </a:p>
                  </a:txBody>
                  <a:tcPr marL="73152" marR="73152" marT="32004" marB="32004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9525" cap="flat" cmpd="sng" algn="ctr">
                      <a:solidFill>
                        <a:srgbClr val="1D3A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0" cap="flat" cmpd="sng" algn="ctr"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722" dirty="0">
                          <a:solidFill>
                            <a:schemeClr val="tx1"/>
                          </a:solidFill>
                        </a:rPr>
                        <a:t>Análise com extração antiga</a:t>
                      </a:r>
                      <a:endParaRPr lang="en-US" sz="1722" dirty="0"/>
                    </a:p>
                  </a:txBody>
                  <a:tcPr marL="73152" marR="73152" marT="32004" marB="32004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9525" cap="flat" cmpd="sng" algn="ctr">
                      <a:solidFill>
                        <a:srgbClr val="1D3A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0" cap="flat" cmpd="sng" algn="ctr"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722" dirty="0">
                          <a:solidFill>
                            <a:schemeClr val="tx1"/>
                          </a:solidFill>
                        </a:rPr>
                        <a:t>Data e versão da extração</a:t>
                      </a:r>
                      <a:endParaRPr lang="en-US" sz="1722" dirty="0"/>
                    </a:p>
                  </a:txBody>
                  <a:tcPr marL="73152" marR="73152" marT="32004" marB="32004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9525" cap="flat" cmpd="sng" algn="ctr">
                      <a:solidFill>
                        <a:srgbClr val="1D3A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0" cap="flat" cmpd="sng" algn="ctr">
                      <a:noFill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7"/>
                  </a:ext>
                </a:extLst>
              </a:tr>
            </a:tbl>
          </a:graphicData>
        </a:graphic>
      </p:graphicFrame>
      <p:sp>
        <p:nvSpPr>
          <p:cNvPr id="4" name="rodape"/>
          <p:cNvSpPr txBox="1"/>
          <p:nvPr/>
        </p:nvSpPr>
        <p:spPr>
          <a:xfrm>
            <a:off x="566928" y="640080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50" kern="0" spc="100" dirty="0">
                <a:solidFill>
                  <a:schemeClr val="tx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SEÇÃO 1 · BLOCO 3</a:t>
            </a:r>
            <a:endParaRPr lang="en-US" sz="95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527487" y="6400800"/>
            <a:ext cx="109728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xmlns="" val="0"/>
            </a:ext>
          </a:extLst>
        </p:spPr>
        <p:txBody>
          <a:bodyPr lIns="0" tIns="0" rIns="0" bIns="0"/>
          <a:lstStyle>
            <a:lvl1pPr>
              <a:defRPr sz="1000">
                <a:solidFill>
                  <a:srgbClr val="8FA9A3"/>
                </a:solidFill>
                <a:latin typeface="Courier New"/>
                <a:ea typeface="Courier New"/>
                <a:cs typeface="Courier New"/>
              </a:defRPr>
            </a:lvl1pPr>
          </a:lstStyle>
          <a:p>
            <a:pPr algn="r"/>
            <a:fld id="{F7021451-1387-4CA6-816F-3879F97B5CBC}" type="slidenum">
              <a:rPr lang="en-US" b="0"/>
              <a:t>25</a:t>
            </a:fld>
            <a:endParaRPr lang="en-US"/>
          </a:p>
        </p:txBody>
      </p:sp>
    </p:spTree>
  </p:cSld>
  <p:clrMapOvr>
    <a:masterClrMapping/>
  </p:clrMapOvr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>
            <a:spLocks noGrp="1"/>
          </p:cNvSpPr>
          <p:nvPr>
            <p:ph type="title" idx="100" hasCustomPrompt="1"/>
          </p:nvPr>
        </p:nvSpPr>
        <p:spPr>
          <a:xfrm>
            <a:off x="566928" y="384048"/>
            <a:ext cx="11057839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buNone/>
            </a:pPr>
            <a:r>
              <a:rPr lang="en-US" sz="1900" b="1" dirty="0">
                <a:solidFill>
                  <a:schemeClr val="accent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3.3   </a:t>
            </a:r>
            <a:r>
              <a:rPr lang="en-US" sz="2800" b="1" dirty="0">
                <a:solidFill>
                  <a:schemeClr val="tx1"/>
                </a:solidFill>
              </a:rPr>
              <a:t>QA na origem: prevenir é mais barato</a:t>
            </a:r>
            <a:endParaRPr lang="en-US" sz="2800" dirty="0"/>
          </a:p>
        </p:txBody>
      </p:sp>
      <p:sp>
        <p:nvSpPr>
          <p:cNvPr id="3" name="texto-0"/>
          <p:cNvSpPr txBox="1"/>
          <p:nvPr/>
        </p:nvSpPr>
        <p:spPr>
          <a:xfrm>
            <a:off x="566928" y="1085240"/>
            <a:ext cx="11057839" cy="386339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279400" indent="-279400" algn="l">
              <a:lnSpc>
                <a:spcPct val="105000"/>
              </a:lnSpc>
              <a:spcAft>
                <a:spcPts val="672"/>
              </a:spcAft>
              <a:buSzPct val="100000"/>
              <a:buChar char="•"/>
            </a:pPr>
            <a:r>
              <a:rPr lang="en-US" sz="2100" b="1" dirty="0">
                <a:solidFill>
                  <a:schemeClr val="tx1"/>
                </a:solidFill>
              </a:rPr>
              <a:t>Identificadores gerados pelo sistema</a:t>
            </a:r>
            <a:r>
              <a:rPr lang="en-US" sz="2100" dirty="0">
                <a:solidFill>
                  <a:schemeClr val="tx1"/>
                </a:solidFill>
              </a:rPr>
              <a:t>, nunca digitados à mão; impressos em etiquetas com código de barras.</a:t>
            </a:r>
            <a:endParaRPr lang="en-US" sz="2100" dirty="0"/>
          </a:p>
          <a:p>
            <a:pPr marL="279400" indent="-279400" algn="l">
              <a:lnSpc>
                <a:spcPct val="105000"/>
              </a:lnSpc>
              <a:spcAft>
                <a:spcPts val="672"/>
              </a:spcAft>
              <a:buSzPct val="100000"/>
              <a:buChar char="•"/>
            </a:pPr>
            <a:r>
              <a:rPr lang="en-US" sz="2100" b="1" dirty="0">
                <a:solidFill>
                  <a:schemeClr val="tx1"/>
                </a:solidFill>
              </a:rPr>
              <a:t>Coletores digitais</a:t>
            </a:r>
            <a:r>
              <a:rPr lang="en-US" sz="2100" dirty="0">
                <a:solidFill>
                  <a:schemeClr val="tx1"/>
                </a:solidFill>
              </a:rPr>
              <a:t> de campo (por exemplo, o Field Book, de código aberto) com lista de parcelas importada e intervalos válidos por variável.</a:t>
            </a:r>
            <a:endParaRPr lang="en-US" sz="2100" dirty="0"/>
          </a:p>
          <a:p>
            <a:pPr marL="279400" indent="-279400" algn="l">
              <a:lnSpc>
                <a:spcPct val="105000"/>
              </a:lnSpc>
              <a:spcAft>
                <a:spcPts val="672"/>
              </a:spcAft>
              <a:buSzPct val="100000"/>
              <a:buChar char="•"/>
            </a:pPr>
            <a:r>
              <a:rPr lang="en-US" sz="2100" b="1" dirty="0">
                <a:solidFill>
                  <a:schemeClr val="tx1"/>
                </a:solidFill>
              </a:rPr>
              <a:t>Dicionário de variáveis</a:t>
            </a:r>
            <a:r>
              <a:rPr lang="en-US" sz="2100" dirty="0">
                <a:solidFill>
                  <a:schemeClr val="tx1"/>
                </a:solidFill>
              </a:rPr>
              <a:t> definido antes da coleta: unidade, método, escala, momento, intervalo, código de ausente.</a:t>
            </a:r>
            <a:endParaRPr lang="en-US" sz="2100" dirty="0"/>
          </a:p>
          <a:p>
            <a:pPr marL="279400" indent="-279400" algn="l">
              <a:lnSpc>
                <a:spcPct val="105000"/>
              </a:lnSpc>
              <a:spcAft>
                <a:spcPts val="672"/>
              </a:spcAft>
              <a:buSzPct val="100000"/>
              <a:buChar char="•"/>
            </a:pPr>
            <a:r>
              <a:rPr lang="en-US" sz="2100" b="1" dirty="0">
                <a:solidFill>
                  <a:schemeClr val="tx1"/>
                </a:solidFill>
              </a:rPr>
              <a:t>Calibração</a:t>
            </a:r>
            <a:r>
              <a:rPr lang="en-US" sz="2100" dirty="0">
                <a:solidFill>
                  <a:schemeClr val="tx1"/>
                </a:solidFill>
              </a:rPr>
              <a:t> de balanças e medidores de umidade, com registro.</a:t>
            </a:r>
            <a:endParaRPr lang="en-US" sz="2100" dirty="0"/>
          </a:p>
          <a:p>
            <a:pPr marL="279400" indent="-279400" algn="l">
              <a:lnSpc>
                <a:spcPct val="105000"/>
              </a:lnSpc>
              <a:spcAft>
                <a:spcPts val="672"/>
              </a:spcAft>
              <a:buSzPct val="100000"/>
              <a:buChar char="•"/>
            </a:pPr>
            <a:r>
              <a:rPr lang="en-US" sz="2100" b="1" dirty="0">
                <a:solidFill>
                  <a:schemeClr val="tx1"/>
                </a:solidFill>
              </a:rPr>
              <a:t>Croqui</a:t>
            </a:r>
            <a:r>
              <a:rPr lang="en-US" sz="2100" dirty="0">
                <a:solidFill>
                  <a:schemeClr val="tx1"/>
                </a:solidFill>
              </a:rPr>
              <a:t> e plano de ensaio exportados do sistema, não redesenhados à mão.</a:t>
            </a:r>
            <a:endParaRPr lang="en-US" sz="2100" dirty="0"/>
          </a:p>
          <a:p>
            <a:pPr marL="279400" indent="-279400" algn="l">
              <a:lnSpc>
                <a:spcPct val="105000"/>
              </a:lnSpc>
              <a:buSzPct val="100000"/>
              <a:buChar char="•"/>
            </a:pPr>
            <a:r>
              <a:rPr lang="en-US" sz="2100" b="1" dirty="0">
                <a:solidFill>
                  <a:schemeClr val="tx1"/>
                </a:solidFill>
              </a:rPr>
              <a:t>Dupla checagem</a:t>
            </a:r>
            <a:r>
              <a:rPr lang="en-US" sz="2100" dirty="0">
                <a:solidFill>
                  <a:schemeClr val="tx1"/>
                </a:solidFill>
              </a:rPr>
              <a:t> de lotes críticos (cadastro de cruzamentos, envio de amostras ao laboratório).</a:t>
            </a:r>
            <a:endParaRPr lang="en-US" sz="2100" dirty="0"/>
          </a:p>
        </p:txBody>
      </p:sp>
      <p:sp>
        <p:nvSpPr>
          <p:cNvPr id="4" name="texto-1"/>
          <p:cNvSpPr txBox="1"/>
          <p:nvPr/>
        </p:nvSpPr>
        <p:spPr>
          <a:xfrm>
            <a:off x="566928" y="6093726"/>
            <a:ext cx="11057839" cy="19734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ct val="105000"/>
              </a:lnSpc>
              <a:buNone/>
            </a:pPr>
            <a:r>
              <a:rPr lang="en-US" sz="1100" dirty="0">
                <a:solidFill>
                  <a:schemeClr val="tx2"/>
                </a:solidFill>
              </a:rPr>
              <a:t>Rife e Poland (2014), Crop Science 54(4) — Field Book; doi:10.2135/cropsci2013.08.0579.</a:t>
            </a:r>
            <a:endParaRPr lang="en-US" sz="1100" dirty="0"/>
          </a:p>
        </p:txBody>
      </p:sp>
      <p:sp>
        <p:nvSpPr>
          <p:cNvPr id="5" name="rodape"/>
          <p:cNvSpPr txBox="1"/>
          <p:nvPr/>
        </p:nvSpPr>
        <p:spPr>
          <a:xfrm>
            <a:off x="566928" y="640080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50" kern="0" spc="100" dirty="0">
                <a:solidFill>
                  <a:schemeClr val="tx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SEÇÃO 1 · BLOCO 3</a:t>
            </a:r>
            <a:endParaRPr lang="en-US" sz="95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527487" y="6400800"/>
            <a:ext cx="109728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xmlns="" val="0"/>
            </a:ext>
          </a:extLst>
        </p:spPr>
        <p:txBody>
          <a:bodyPr lIns="0" tIns="0" rIns="0" bIns="0"/>
          <a:lstStyle>
            <a:lvl1pPr>
              <a:defRPr sz="1000">
                <a:solidFill>
                  <a:srgbClr val="8FA9A3"/>
                </a:solidFill>
                <a:latin typeface="Courier New"/>
                <a:ea typeface="Courier New"/>
                <a:cs typeface="Courier New"/>
              </a:defRPr>
            </a:lvl1pPr>
          </a:lstStyle>
          <a:p>
            <a:pPr algn="r"/>
            <a:fld id="{F7021451-1387-4CA6-816F-3879F97B5CBC}" type="slidenum">
              <a:rPr lang="en-US" b="0"/>
              <a:t>26</a:t>
            </a:fld>
            <a:endParaRPr lang="en-US"/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>
            <a:spLocks noGrp="1"/>
          </p:cNvSpPr>
          <p:nvPr>
            <p:ph type="title" idx="100" hasCustomPrompt="1"/>
          </p:nvPr>
        </p:nvSpPr>
        <p:spPr>
          <a:xfrm>
            <a:off x="566928" y="384048"/>
            <a:ext cx="11057839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buNone/>
            </a:pPr>
            <a:r>
              <a:rPr lang="en-US" sz="1900" b="1" dirty="0">
                <a:solidFill>
                  <a:schemeClr val="accent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3.4   </a:t>
            </a:r>
            <a:r>
              <a:rPr lang="en-US" sz="2800" b="1" dirty="0">
                <a:solidFill>
                  <a:schemeClr val="tx1"/>
                </a:solidFill>
              </a:rPr>
              <a:t>QC estrutural com SQL: resultados no banco do curso</a:t>
            </a:r>
            <a:endParaRPr lang="en-US" sz="2800" dirty="0"/>
          </a:p>
        </p:txBody>
      </p:sp>
      <p:graphicFrame>
        <p:nvGraphicFramePr>
          <p:cNvPr id="28" name="tabela-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66928" y="1085240"/>
          <a:ext cx="11057839" cy="3042720"/>
        </p:xfrm>
        <a:graphic>
          <a:graphicData uri="http://schemas.openxmlformats.org/drawingml/2006/table">
            <a:tbl>
              <a:tblPr/>
              <a:tblGrid>
                <a:gridCol w="3862286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601056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1184993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</a:tblGrid>
              <a:tr h="358400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722" b="1" dirty="0">
                          <a:solidFill>
                            <a:schemeClr val="tx1"/>
                          </a:solidFill>
                        </a:rPr>
                        <a:t>Verificação</a:t>
                      </a:r>
                      <a:endParaRPr lang="en-US" sz="1722" dirty="0"/>
                    </a:p>
                  </a:txBody>
                  <a:tcPr marL="73152" marR="73152" marT="32004" marB="32004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9050" cap="flat" cmpd="sng" algn="ctr">
                      <a:solidFill>
                        <a:srgbClr val="A6E35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722" b="1" dirty="0">
                          <a:solidFill>
                            <a:schemeClr val="tx1"/>
                          </a:solidFill>
                        </a:rPr>
                        <a:t>Consulta</a:t>
                      </a:r>
                      <a:endParaRPr lang="en-US" sz="1722" dirty="0"/>
                    </a:p>
                  </a:txBody>
                  <a:tcPr marL="73152" marR="73152" marT="32004" marB="32004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9050" cap="flat" cmpd="sng" algn="ctr">
                      <a:solidFill>
                        <a:srgbClr val="A6E35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722" b="1" dirty="0">
                          <a:solidFill>
                            <a:schemeClr val="tx1"/>
                          </a:solidFill>
                        </a:rPr>
                        <a:t>Casos</a:t>
                      </a:r>
                      <a:endParaRPr lang="en-US" sz="1722" dirty="0"/>
                    </a:p>
                  </a:txBody>
                  <a:tcPr marL="73152" marR="73152" marT="32004" marB="32004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9050" cap="flat" cmpd="sng" algn="ctr">
                      <a:solidFill>
                        <a:srgbClr val="A6E35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625360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722" dirty="0">
                          <a:solidFill>
                            <a:schemeClr val="tx1"/>
                          </a:solidFill>
                        </a:rPr>
                        <a:t>Parcela duplicada (mesma posição)</a:t>
                      </a:r>
                      <a:endParaRPr lang="en-US" sz="1722" dirty="0"/>
                    </a:p>
                  </a:txBody>
                  <a:tcPr marL="73152" marR="73152" marT="32004" marB="32004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19050" cap="flat" cmpd="sng" algn="ctr">
                      <a:solidFill>
                        <a:srgbClr val="A6E35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1D3A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584" dirty="0">
                          <a:solidFill>
                            <a:schemeClr val="accent2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GROUP BY ensaio, linha, coluna HAVING COUNT(*) &gt; 1</a:t>
                      </a:r>
                      <a:endParaRPr lang="en-US" sz="1722" dirty="0"/>
                    </a:p>
                  </a:txBody>
                  <a:tcPr marL="73152" marR="73152" marT="32004" marB="32004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19050" cap="flat" cmpd="sng" algn="ctr">
                      <a:solidFill>
                        <a:srgbClr val="A6E35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1D3A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722" dirty="0">
                          <a:solidFill>
                            <a:schemeClr val="tx1"/>
                          </a:solidFill>
                        </a:rPr>
                        <a:t>5</a:t>
                      </a:r>
                      <a:endParaRPr lang="en-US" sz="1722" dirty="0"/>
                    </a:p>
                  </a:txBody>
                  <a:tcPr marL="73152" marR="73152" marT="32004" marB="32004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19050" cap="flat" cmpd="sng" algn="ctr">
                      <a:solidFill>
                        <a:srgbClr val="A6E35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1D3A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358400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722" dirty="0">
                          <a:solidFill>
                            <a:schemeClr val="tx1"/>
                          </a:solidFill>
                        </a:rPr>
                        <a:t>Valor fora do intervalo (×10 e t/ha)</a:t>
                      </a:r>
                      <a:endParaRPr lang="en-US" sz="1722" dirty="0"/>
                    </a:p>
                  </a:txBody>
                  <a:tcPr marL="73152" marR="73152" marT="32004" marB="32004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9525" cap="flat" cmpd="sng" algn="ctr">
                      <a:solidFill>
                        <a:srgbClr val="1D3A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1D3A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584" dirty="0">
                          <a:solidFill>
                            <a:schemeClr val="accent2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WHERE PROD &lt; minimo OR PROD &gt; maximo</a:t>
                      </a:r>
                      <a:endParaRPr lang="en-US" sz="1722" dirty="0"/>
                    </a:p>
                  </a:txBody>
                  <a:tcPr marL="73152" marR="73152" marT="32004" marB="32004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9525" cap="flat" cmpd="sng" algn="ctr">
                      <a:solidFill>
                        <a:srgbClr val="1D3A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1D3A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722" dirty="0">
                          <a:solidFill>
                            <a:schemeClr val="tx1"/>
                          </a:solidFill>
                        </a:rPr>
                        <a:t>10</a:t>
                      </a:r>
                      <a:endParaRPr lang="en-US" sz="1722" dirty="0"/>
                    </a:p>
                  </a:txBody>
                  <a:tcPr marL="73152" marR="73152" marT="32004" marB="32004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9525" cap="flat" cmpd="sng" algn="ctr">
                      <a:solidFill>
                        <a:srgbClr val="1D3A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1D3A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625360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722" dirty="0">
                          <a:solidFill>
                            <a:schemeClr val="tx1"/>
                          </a:solidFill>
                        </a:rPr>
                        <a:t>ID fora do padrão </a:t>
                      </a:r>
                      <a:r>
                        <a:rPr lang="en-US" sz="1584" dirty="0">
                          <a:solidFill>
                            <a:schemeClr val="accent2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DH&lt;ano&gt;_&lt;número&gt;</a:t>
                      </a:r>
                      <a:endParaRPr lang="en-US" sz="1722" dirty="0"/>
                    </a:p>
                  </a:txBody>
                  <a:tcPr marL="73152" marR="73152" marT="32004" marB="32004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9525" cap="flat" cmpd="sng" algn="ctr">
                      <a:solidFill>
                        <a:srgbClr val="1D3A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1D3A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584" dirty="0">
                          <a:solidFill>
                            <a:schemeClr val="accent2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NOT regexp_matches(nome, '^DH[0-9]{2}_[0-9]{4}$')</a:t>
                      </a:r>
                      <a:endParaRPr lang="en-US" sz="1722" dirty="0"/>
                    </a:p>
                  </a:txBody>
                  <a:tcPr marL="73152" marR="73152" marT="32004" marB="32004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9525" cap="flat" cmpd="sng" algn="ctr">
                      <a:solidFill>
                        <a:srgbClr val="1D3A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1D3A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722" dirty="0">
                          <a:solidFill>
                            <a:schemeClr val="tx1"/>
                          </a:solidFill>
                        </a:rPr>
                        <a:t>8</a:t>
                      </a:r>
                      <a:endParaRPr lang="en-US" sz="1722" dirty="0"/>
                    </a:p>
                  </a:txBody>
                  <a:tcPr marL="73152" marR="73152" marT="32004" marB="32004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9525" cap="flat" cmpd="sng" algn="ctr">
                      <a:solidFill>
                        <a:srgbClr val="1D3A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1D3A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358400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722" dirty="0">
                          <a:solidFill>
                            <a:schemeClr val="tx1"/>
                          </a:solidFill>
                        </a:rPr>
                        <a:t>Nome sem cadastro</a:t>
                      </a:r>
                      <a:endParaRPr lang="en-US" sz="1722" dirty="0"/>
                    </a:p>
                  </a:txBody>
                  <a:tcPr marL="73152" marR="73152" marT="32004" marB="32004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9525" cap="flat" cmpd="sng" algn="ctr">
                      <a:solidFill>
                        <a:srgbClr val="1D3A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1D3A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584" dirty="0">
                          <a:solidFill>
                            <a:schemeClr val="accent2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LEFT JOIN cadastro … IS NULL</a:t>
                      </a:r>
                      <a:endParaRPr lang="en-US" sz="1722" dirty="0"/>
                    </a:p>
                  </a:txBody>
                  <a:tcPr marL="73152" marR="73152" marT="32004" marB="32004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9525" cap="flat" cmpd="sng" algn="ctr">
                      <a:solidFill>
                        <a:srgbClr val="1D3A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1D3A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722" dirty="0">
                          <a:solidFill>
                            <a:schemeClr val="tx1"/>
                          </a:solidFill>
                        </a:rPr>
                        <a:t>8</a:t>
                      </a:r>
                      <a:endParaRPr lang="en-US" sz="1722" dirty="0"/>
                    </a:p>
                  </a:txBody>
                  <a:tcPr marL="73152" marR="73152" marT="32004" marB="32004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9525" cap="flat" cmpd="sng" algn="ctr">
                      <a:solidFill>
                        <a:srgbClr val="1D3A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1D3A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358400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722" dirty="0">
                          <a:solidFill>
                            <a:schemeClr val="tx1"/>
                          </a:solidFill>
                        </a:rPr>
                        <a:t>Genitor inexistente</a:t>
                      </a:r>
                      <a:endParaRPr lang="en-US" sz="1722" dirty="0"/>
                    </a:p>
                  </a:txBody>
                  <a:tcPr marL="73152" marR="73152" marT="32004" marB="32004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9525" cap="flat" cmpd="sng" algn="ctr">
                      <a:solidFill>
                        <a:srgbClr val="1D3A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1D3A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584" dirty="0">
                          <a:solidFill>
                            <a:schemeClr val="accent2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mae_id NOT IN (SELECT …)</a:t>
                      </a:r>
                      <a:endParaRPr lang="en-US" sz="1722" dirty="0"/>
                    </a:p>
                  </a:txBody>
                  <a:tcPr marL="73152" marR="73152" marT="32004" marB="32004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9525" cap="flat" cmpd="sng" algn="ctr">
                      <a:solidFill>
                        <a:srgbClr val="1D3A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1D3A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722" dirty="0">
                          <a:solidFill>
                            <a:schemeClr val="tx1"/>
                          </a:solidFill>
                        </a:rPr>
                        <a:t>3</a:t>
                      </a:r>
                      <a:endParaRPr lang="en-US" sz="1722" dirty="0"/>
                    </a:p>
                  </a:txBody>
                  <a:tcPr marL="73152" marR="73152" marT="32004" marB="32004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9525" cap="flat" cmpd="sng" algn="ctr">
                      <a:solidFill>
                        <a:srgbClr val="1D3A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1D3A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  <a:tr h="358400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722" dirty="0">
                          <a:solidFill>
                            <a:schemeClr val="tx1"/>
                          </a:solidFill>
                        </a:rPr>
                        <a:t>Linhagem em um só ambiente</a:t>
                      </a:r>
                      <a:endParaRPr lang="en-US" sz="1722" dirty="0"/>
                    </a:p>
                  </a:txBody>
                  <a:tcPr marL="73152" marR="73152" marT="32004" marB="32004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9525" cap="flat" cmpd="sng" algn="ctr">
                      <a:solidFill>
                        <a:srgbClr val="1D3A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0" cap="flat" cmpd="sng" algn="ctr"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584" dirty="0">
                          <a:solidFill>
                            <a:schemeClr val="accent2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HAVING COUNT(DISTINCT ambiente) = 1</a:t>
                      </a:r>
                      <a:endParaRPr lang="en-US" sz="1722" dirty="0"/>
                    </a:p>
                  </a:txBody>
                  <a:tcPr marL="73152" marR="73152" marT="32004" marB="32004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9525" cap="flat" cmpd="sng" algn="ctr">
                      <a:solidFill>
                        <a:srgbClr val="1D3A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0" cap="flat" cmpd="sng" algn="ctr"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722" dirty="0">
                          <a:solidFill>
                            <a:schemeClr val="tx1"/>
                          </a:solidFill>
                        </a:rPr>
                        <a:t>14 (6 reais)</a:t>
                      </a:r>
                      <a:endParaRPr lang="en-US" sz="1722" dirty="0"/>
                    </a:p>
                  </a:txBody>
                  <a:tcPr marL="73152" marR="73152" marT="32004" marB="32004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9525" cap="flat" cmpd="sng" algn="ctr">
                      <a:solidFill>
                        <a:srgbClr val="1D3A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0" cap="flat" cmpd="sng" algn="ctr">
                      <a:noFill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6"/>
                  </a:ext>
                </a:extLst>
              </a:tr>
            </a:tbl>
          </a:graphicData>
        </a:graphic>
      </p:graphicFrame>
      <p:sp>
        <p:nvSpPr>
          <p:cNvPr id="4" name="texto-1"/>
          <p:cNvSpPr txBox="1"/>
          <p:nvPr/>
        </p:nvSpPr>
        <p:spPr>
          <a:xfrm>
            <a:off x="566928" y="4287978"/>
            <a:ext cx="11057839" cy="11291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279400" indent="-279400" algn="l">
              <a:lnSpc>
                <a:spcPct val="105000"/>
              </a:lnSpc>
              <a:spcAft>
                <a:spcPts val="672"/>
              </a:spcAft>
              <a:buSzPct val="100000"/>
              <a:buChar char="•"/>
            </a:pPr>
            <a:r>
              <a:rPr lang="en-US" sz="2100" dirty="0">
                <a:solidFill>
                  <a:schemeClr val="tx1"/>
                </a:solidFill>
              </a:rPr>
              <a:t>Os 32 erros injetados no banco do curso foram todos encontrados (sensibilidade de 100%).</a:t>
            </a:r>
            <a:endParaRPr lang="en-US" sz="2100" dirty="0"/>
          </a:p>
          <a:p>
            <a:pPr marL="279400" indent="-279400" algn="l">
              <a:lnSpc>
                <a:spcPct val="105000"/>
              </a:lnSpc>
              <a:buSzPct val="100000"/>
              <a:buChar char="•"/>
            </a:pPr>
            <a:r>
              <a:rPr lang="en-US" sz="2100" dirty="0">
                <a:solidFill>
                  <a:schemeClr val="tx1"/>
                </a:solidFill>
              </a:rPr>
              <a:t>Um dos IDs fora do padrão tem um </a:t>
            </a:r>
            <a:r>
              <a:rPr lang="en-US" sz="2100" b="1" dirty="0">
                <a:solidFill>
                  <a:schemeClr val="tx1"/>
                </a:solidFill>
              </a:rPr>
              <a:t>espaço invisível no início</a:t>
            </a:r>
            <a:r>
              <a:rPr lang="en-US" sz="2100" dirty="0">
                <a:solidFill>
                  <a:schemeClr val="tx1"/>
                </a:solidFill>
              </a:rPr>
              <a:t>: só a regra o encontra; o olho, não.</a:t>
            </a:r>
            <a:endParaRPr lang="en-US" sz="2100" dirty="0"/>
          </a:p>
        </p:txBody>
      </p:sp>
      <p:sp>
        <p:nvSpPr>
          <p:cNvPr id="5" name="rodape"/>
          <p:cNvSpPr txBox="1"/>
          <p:nvPr/>
        </p:nvSpPr>
        <p:spPr>
          <a:xfrm>
            <a:off x="566928" y="640080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50" kern="0" spc="100" dirty="0">
                <a:solidFill>
                  <a:schemeClr val="tx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SEÇÃO 1 · BLOCO 3</a:t>
            </a:r>
            <a:endParaRPr lang="en-US" sz="95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527487" y="6400800"/>
            <a:ext cx="109728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xmlns="" val="0"/>
            </a:ext>
          </a:extLst>
        </p:spPr>
        <p:txBody>
          <a:bodyPr lIns="0" tIns="0" rIns="0" bIns="0"/>
          <a:lstStyle>
            <a:lvl1pPr>
              <a:defRPr sz="1000">
                <a:solidFill>
                  <a:srgbClr val="8FA9A3"/>
                </a:solidFill>
                <a:latin typeface="Courier New"/>
                <a:ea typeface="Courier New"/>
                <a:cs typeface="Courier New"/>
              </a:defRPr>
            </a:lvl1pPr>
          </a:lstStyle>
          <a:p>
            <a:pPr algn="r"/>
            <a:fld id="{F7021451-1387-4CA6-816F-3879F97B5CBC}" type="slidenum">
              <a:rPr lang="en-US" b="0"/>
              <a:t>27</a:t>
            </a:fld>
            <a:endParaRPr lang="en-US"/>
          </a:p>
        </p:txBody>
      </p:sp>
    </p:spTree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8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>
            <a:spLocks noGrp="1"/>
          </p:cNvSpPr>
          <p:nvPr>
            <p:ph type="title" idx="100" hasCustomPrompt="1"/>
          </p:nvPr>
        </p:nvSpPr>
        <p:spPr>
          <a:xfrm>
            <a:off x="566928" y="384048"/>
            <a:ext cx="11057839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buNone/>
            </a:pPr>
            <a:r>
              <a:rPr lang="en-US" sz="1900" b="1" dirty="0">
                <a:solidFill>
                  <a:schemeClr val="accent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3.5   </a:t>
            </a:r>
            <a:r>
              <a:rPr lang="en-US" sz="2800" b="1" dirty="0">
                <a:solidFill>
                  <a:schemeClr val="tx1"/>
                </a:solidFill>
              </a:rPr>
              <a:t>A ordem do QC importa</a:t>
            </a:r>
            <a:endParaRPr lang="en-US" sz="2800" dirty="0"/>
          </a:p>
        </p:txBody>
      </p:sp>
      <p:sp>
        <p:nvSpPr>
          <p:cNvPr id="3" name="texto-0"/>
          <p:cNvSpPr txBox="1"/>
          <p:nvPr/>
        </p:nvSpPr>
        <p:spPr>
          <a:xfrm>
            <a:off x="566928" y="1085240"/>
            <a:ext cx="5346040" cy="2496503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279400" indent="-279400" algn="l">
              <a:lnSpc>
                <a:spcPct val="105000"/>
              </a:lnSpc>
              <a:spcAft>
                <a:spcPts val="672"/>
              </a:spcAft>
              <a:buSzPct val="100000"/>
              <a:buChar char="•"/>
            </a:pPr>
            <a:r>
              <a:rPr lang="en-US" sz="2100" dirty="0">
                <a:solidFill>
                  <a:schemeClr val="tx1"/>
                </a:solidFill>
              </a:rPr>
              <a:t>A consulta de conectividade encontrou </a:t>
            </a:r>
            <a:r>
              <a:rPr lang="en-US" sz="2100" b="1" dirty="0">
                <a:solidFill>
                  <a:schemeClr val="tx1"/>
                </a:solidFill>
              </a:rPr>
              <a:t>14</a:t>
            </a:r>
            <a:r>
              <a:rPr lang="en-US" sz="2100" dirty="0">
                <a:solidFill>
                  <a:schemeClr val="tx1"/>
                </a:solidFill>
              </a:rPr>
              <a:t> linhagens avaliadas em um único ambiente.</a:t>
            </a:r>
            <a:endParaRPr lang="en-US" sz="2100" dirty="0"/>
          </a:p>
          <a:p>
            <a:pPr marL="279400" indent="-279400" algn="l">
              <a:lnSpc>
                <a:spcPct val="105000"/>
              </a:lnSpc>
              <a:buSzPct val="100000"/>
              <a:buChar char="•"/>
            </a:pPr>
            <a:r>
              <a:rPr lang="en-US" sz="2100" dirty="0">
                <a:solidFill>
                  <a:schemeClr val="tx1"/>
                </a:solidFill>
              </a:rPr>
              <a:t>Apenas </a:t>
            </a:r>
            <a:r>
              <a:rPr lang="en-US" sz="2100" b="1" dirty="0">
                <a:solidFill>
                  <a:schemeClr val="tx1"/>
                </a:solidFill>
              </a:rPr>
              <a:t>6</a:t>
            </a:r>
            <a:r>
              <a:rPr lang="en-US" sz="2100" dirty="0">
                <a:solidFill>
                  <a:schemeClr val="tx1"/>
                </a:solidFill>
              </a:rPr>
              <a:t> eram reais. As outras 8 eram grafias divergentes (</a:t>
            </a:r>
            <a:r>
              <a:rPr lang="en-US" sz="1932" dirty="0">
                <a:solidFill>
                  <a:schemeClr val="accent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dh25_0266</a:t>
            </a:r>
            <a:r>
              <a:rPr lang="en-US" sz="2100" dirty="0">
                <a:solidFill>
                  <a:schemeClr val="tx1"/>
                </a:solidFill>
              </a:rPr>
              <a:t>, </a:t>
            </a:r>
            <a:r>
              <a:rPr lang="en-US" sz="1932" dirty="0">
                <a:solidFill>
                  <a:schemeClr val="accent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DH25-0287</a:t>
            </a:r>
            <a:r>
              <a:rPr lang="en-US" sz="2100" dirty="0">
                <a:solidFill>
                  <a:schemeClr val="tx1"/>
                </a:solidFill>
              </a:rPr>
              <a:t>, </a:t>
            </a:r>
            <a:r>
              <a:rPr lang="en-US" sz="1932" dirty="0">
                <a:solidFill>
                  <a:schemeClr val="accent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DH24_0259</a:t>
            </a:r>
            <a:r>
              <a:rPr lang="en-US" sz="2100" dirty="0">
                <a:solidFill>
                  <a:schemeClr val="tx1"/>
                </a:solidFill>
              </a:rPr>
              <a:t>): cada grafia aparece como uma "linhagem" com uma só parcela.</a:t>
            </a:r>
            <a:endParaRPr lang="en-US" sz="2100" dirty="0"/>
          </a:p>
        </p:txBody>
      </p:sp>
      <p:sp>
        <p:nvSpPr>
          <p:cNvPr id="4" name="texto-1"/>
          <p:cNvSpPr txBox="1"/>
          <p:nvPr/>
        </p:nvSpPr>
        <p:spPr>
          <a:xfrm>
            <a:off x="6278728" y="1085240"/>
            <a:ext cx="5346040" cy="360127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ct val="105000"/>
              </a:lnSpc>
              <a:buNone/>
            </a:pPr>
            <a:r>
              <a:rPr lang="en-US" sz="2100" b="1" dirty="0">
                <a:solidFill>
                  <a:schemeClr val="accent2"/>
                </a:solidFill>
              </a:rPr>
              <a:t>Ordem recomendada</a:t>
            </a:r>
            <a:endParaRPr lang="en-US" sz="2100" dirty="0"/>
          </a:p>
        </p:txBody>
      </p:sp>
      <p:sp>
        <p:nvSpPr>
          <p:cNvPr id="5" name="texto-2"/>
          <p:cNvSpPr txBox="1"/>
          <p:nvPr/>
        </p:nvSpPr>
        <p:spPr>
          <a:xfrm>
            <a:off x="6278728" y="1481086"/>
            <a:ext cx="5346040" cy="2837879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81000" indent="-381000" algn="l">
              <a:lnSpc>
                <a:spcPct val="105000"/>
              </a:lnSpc>
              <a:spcAft>
                <a:spcPts val="672"/>
              </a:spcAft>
              <a:buSzPct val="100000"/>
              <a:buFont typeface="+mj-lt"/>
              <a:buAutoNum type="arabicPeriod"/>
            </a:pPr>
            <a:r>
              <a:rPr lang="en-US" sz="2100" dirty="0">
                <a:solidFill>
                  <a:schemeClr val="tx1"/>
                </a:solidFill>
              </a:rPr>
              <a:t>Normalizar identificadores</a:t>
            </a:r>
            <a:endParaRPr lang="en-US" sz="2100" dirty="0"/>
          </a:p>
          <a:p>
            <a:pPr marL="381000" indent="-381000" algn="l">
              <a:lnSpc>
                <a:spcPct val="105000"/>
              </a:lnSpc>
              <a:spcAft>
                <a:spcPts val="672"/>
              </a:spcAft>
              <a:buSzPct val="100000"/>
              <a:buFont typeface="+mj-lt"/>
              <a:buAutoNum type="arabicPeriod"/>
            </a:pPr>
            <a:r>
              <a:rPr lang="en-US" sz="2100" dirty="0">
                <a:solidFill>
                  <a:schemeClr val="tx1"/>
                </a:solidFill>
              </a:rPr>
              <a:t>Remover duplicatas físicas</a:t>
            </a:r>
            <a:endParaRPr lang="en-US" sz="2100" dirty="0"/>
          </a:p>
          <a:p>
            <a:pPr marL="381000" indent="-381000" algn="l">
              <a:lnSpc>
                <a:spcPct val="105000"/>
              </a:lnSpc>
              <a:spcAft>
                <a:spcPts val="672"/>
              </a:spcAft>
              <a:buSzPct val="100000"/>
              <a:buFont typeface="+mj-lt"/>
              <a:buAutoNum type="arabicPeriod"/>
            </a:pPr>
            <a:r>
              <a:rPr lang="en-US" sz="2100" dirty="0">
                <a:solidFill>
                  <a:schemeClr val="tx1"/>
                </a:solidFill>
              </a:rPr>
              <a:t>Verificar chaves (cadastro, pedigree, vínculo genótipo)</a:t>
            </a:r>
            <a:endParaRPr lang="en-US" sz="2100" dirty="0"/>
          </a:p>
          <a:p>
            <a:pPr marL="381000" indent="-381000" algn="l">
              <a:lnSpc>
                <a:spcPct val="105000"/>
              </a:lnSpc>
              <a:spcAft>
                <a:spcPts val="672"/>
              </a:spcAft>
              <a:buSzPct val="100000"/>
              <a:buFont typeface="+mj-lt"/>
              <a:buAutoNum type="arabicPeriod"/>
            </a:pPr>
            <a:r>
              <a:rPr lang="en-US" sz="2100" dirty="0">
                <a:solidFill>
                  <a:schemeClr val="tx1"/>
                </a:solidFill>
              </a:rPr>
              <a:t>Verificar intervalos e unidades</a:t>
            </a:r>
            <a:endParaRPr lang="en-US" sz="2100" dirty="0"/>
          </a:p>
          <a:p>
            <a:pPr marL="381000" indent="-381000" algn="l">
              <a:lnSpc>
                <a:spcPct val="105000"/>
              </a:lnSpc>
              <a:spcAft>
                <a:spcPts val="672"/>
              </a:spcAft>
              <a:buSzPct val="100000"/>
              <a:buFont typeface="+mj-lt"/>
              <a:buAutoNum type="arabicPeriod"/>
            </a:pPr>
            <a:r>
              <a:rPr lang="en-US" sz="2100" dirty="0">
                <a:solidFill>
                  <a:schemeClr val="tx1"/>
                </a:solidFill>
              </a:rPr>
              <a:t>Avaliar conectividade e balanceamento</a:t>
            </a:r>
            <a:endParaRPr lang="en-US" sz="2100" dirty="0"/>
          </a:p>
          <a:p>
            <a:pPr marL="381000" indent="-381000" algn="l">
              <a:lnSpc>
                <a:spcPct val="105000"/>
              </a:lnSpc>
              <a:buSzPct val="100000"/>
              <a:buFont typeface="+mj-lt"/>
              <a:buAutoNum type="arabicPeriod"/>
            </a:pPr>
            <a:r>
              <a:rPr lang="en-US" sz="2100" dirty="0">
                <a:solidFill>
                  <a:schemeClr val="tx1"/>
                </a:solidFill>
              </a:rPr>
              <a:t>QC estatístico (resíduos, CV, h²)</a:t>
            </a:r>
            <a:endParaRPr lang="en-US" sz="2100" dirty="0"/>
          </a:p>
        </p:txBody>
      </p:sp>
      <p:sp>
        <p:nvSpPr>
          <p:cNvPr id="6" name="rodape"/>
          <p:cNvSpPr txBox="1"/>
          <p:nvPr/>
        </p:nvSpPr>
        <p:spPr>
          <a:xfrm>
            <a:off x="566928" y="640080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50" kern="0" spc="100" dirty="0">
                <a:solidFill>
                  <a:schemeClr val="tx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SEÇÃO 1 · BLOCO 3</a:t>
            </a:r>
            <a:endParaRPr lang="en-US" sz="95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527487" y="6400800"/>
            <a:ext cx="109728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xmlns="" val="0"/>
            </a:ext>
          </a:extLst>
        </p:spPr>
        <p:txBody>
          <a:bodyPr lIns="0" tIns="0" rIns="0" bIns="0"/>
          <a:lstStyle>
            <a:lvl1pPr>
              <a:defRPr sz="1000">
                <a:solidFill>
                  <a:srgbClr val="8FA9A3"/>
                </a:solidFill>
                <a:latin typeface="Courier New"/>
                <a:ea typeface="Courier New"/>
                <a:cs typeface="Courier New"/>
              </a:defRPr>
            </a:lvl1pPr>
          </a:lstStyle>
          <a:p>
            <a:pPr algn="r"/>
            <a:fld id="{F7021451-1387-4CA6-816F-3879F97B5CBC}" type="slidenum">
              <a:rPr lang="en-US" b="0"/>
              <a:t>28</a:t>
            </a:fld>
            <a:endParaRPr lang="en-US"/>
          </a:p>
        </p:txBody>
      </p:sp>
    </p:spTree>
  </p:cSld>
  <p:clrMapOvr>
    <a:masterClrMapping/>
  </p:clrMapOvr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9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>
            <a:spLocks noGrp="1"/>
          </p:cNvSpPr>
          <p:nvPr>
            <p:ph type="title" idx="100" hasCustomPrompt="1"/>
          </p:nvPr>
        </p:nvSpPr>
        <p:spPr>
          <a:xfrm>
            <a:off x="566928" y="384048"/>
            <a:ext cx="11057839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buNone/>
            </a:pPr>
            <a:r>
              <a:rPr lang="en-US" sz="1900" b="1" dirty="0">
                <a:solidFill>
                  <a:schemeClr val="accent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3.6   </a:t>
            </a:r>
            <a:r>
              <a:rPr lang="en-US" sz="2800" b="1" dirty="0">
                <a:solidFill>
                  <a:schemeClr val="tx1"/>
                </a:solidFill>
              </a:rPr>
              <a:t>QC estatístico: a qualidade de cada ensaio</a:t>
            </a:r>
            <a:endParaRPr lang="en-US" sz="2800" dirty="0"/>
          </a:p>
        </p:txBody>
      </p:sp>
      <p:graphicFrame>
        <p:nvGraphicFramePr>
          <p:cNvPr id="30" name="tabela-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66928" y="1085240"/>
          <a:ext cx="11057838" cy="2508800"/>
        </p:xfrm>
        <a:graphic>
          <a:graphicData uri="http://schemas.openxmlformats.org/drawingml/2006/table">
            <a:tbl>
              <a:tblPr/>
              <a:tblGrid>
                <a:gridCol w="2107738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1813576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2952167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1495724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  <a:gridCol w="2688633">
                  <a:extLst>
                    <a:ext uri="{9D8B030D-6E8A-4147-A177-3AD203B41FA5}">
                      <a16:colId xmlns:a16="http://schemas.microsoft.com/office/drawing/2014/main" val="20004"/>
                    </a:ext>
                  </a:extLst>
                </a:gridCol>
              </a:tblGrid>
              <a:tr h="358400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722" b="1" dirty="0">
                          <a:solidFill>
                            <a:schemeClr val="tx1"/>
                          </a:solidFill>
                        </a:rPr>
                        <a:t>Ensaio</a:t>
                      </a:r>
                      <a:endParaRPr lang="en-US" sz="1722" dirty="0"/>
                    </a:p>
                  </a:txBody>
                  <a:tcPr marL="73152" marR="73152" marT="32004" marB="32004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9050" cap="flat" cmpd="sng" algn="ctr">
                      <a:solidFill>
                        <a:srgbClr val="A6E35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722" b="1" dirty="0">
                          <a:solidFill>
                            <a:schemeClr val="tx1"/>
                          </a:solidFill>
                        </a:rPr>
                        <a:t>Parcelas</a:t>
                      </a:r>
                      <a:endParaRPr lang="en-US" sz="1722" dirty="0"/>
                    </a:p>
                  </a:txBody>
                  <a:tcPr marL="73152" marR="73152" marT="32004" marB="32004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9050" cap="flat" cmpd="sng" algn="ctr">
                      <a:solidFill>
                        <a:srgbClr val="A6E35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722" b="1" dirty="0">
                          <a:solidFill>
                            <a:schemeClr val="tx1"/>
                          </a:solidFill>
                        </a:rPr>
                        <a:t>Média (kg/ha)</a:t>
                      </a:r>
                      <a:endParaRPr lang="en-US" sz="1722" dirty="0"/>
                    </a:p>
                  </a:txBody>
                  <a:tcPr marL="73152" marR="73152" marT="32004" marB="32004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9050" cap="flat" cmpd="sng" algn="ctr">
                      <a:solidFill>
                        <a:srgbClr val="A6E35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722" b="1" dirty="0">
                          <a:solidFill>
                            <a:schemeClr val="tx1"/>
                          </a:solidFill>
                        </a:rPr>
                        <a:t>CV (%)</a:t>
                      </a:r>
                      <a:endParaRPr lang="en-US" sz="1722" dirty="0"/>
                    </a:p>
                  </a:txBody>
                  <a:tcPr marL="73152" marR="73152" marT="32004" marB="32004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9050" cap="flat" cmpd="sng" algn="ctr">
                      <a:solidFill>
                        <a:srgbClr val="A6E35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722" b="1" dirty="0">
                          <a:solidFill>
                            <a:schemeClr val="tx1"/>
                          </a:solidFill>
                        </a:rPr>
                        <a:t>h² de médias</a:t>
                      </a:r>
                      <a:endParaRPr lang="en-US" sz="1722" dirty="0"/>
                    </a:p>
                  </a:txBody>
                  <a:tcPr marL="73152" marR="73152" marT="32004" marB="32004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9050" cap="flat" cmpd="sng" algn="ctr">
                      <a:solidFill>
                        <a:srgbClr val="A6E35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358400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722" dirty="0">
                          <a:solidFill>
                            <a:schemeClr val="tx1"/>
                          </a:solidFill>
                        </a:rPr>
                        <a:t>PGO 2024</a:t>
                      </a:r>
                      <a:endParaRPr lang="en-US" sz="1722" dirty="0"/>
                    </a:p>
                  </a:txBody>
                  <a:tcPr marL="73152" marR="73152" marT="32004" marB="32004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19050" cap="flat" cmpd="sng" algn="ctr">
                      <a:solidFill>
                        <a:srgbClr val="A6E35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1D3A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722" dirty="0">
                          <a:solidFill>
                            <a:schemeClr val="tx1"/>
                          </a:solidFill>
                        </a:rPr>
                        <a:t>791</a:t>
                      </a:r>
                      <a:endParaRPr lang="en-US" sz="1722" dirty="0"/>
                    </a:p>
                  </a:txBody>
                  <a:tcPr marL="73152" marR="73152" marT="32004" marB="32004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19050" cap="flat" cmpd="sng" algn="ctr">
                      <a:solidFill>
                        <a:srgbClr val="A6E35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1D3A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722" dirty="0">
                          <a:solidFill>
                            <a:schemeClr val="tx1"/>
                          </a:solidFill>
                        </a:rPr>
                        <a:t>10.194</a:t>
                      </a:r>
                      <a:endParaRPr lang="en-US" sz="1722" dirty="0"/>
                    </a:p>
                  </a:txBody>
                  <a:tcPr marL="73152" marR="73152" marT="32004" marB="32004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19050" cap="flat" cmpd="sng" algn="ctr">
                      <a:solidFill>
                        <a:srgbClr val="A6E35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1D3A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722" dirty="0">
                          <a:solidFill>
                            <a:schemeClr val="tx1"/>
                          </a:solidFill>
                        </a:rPr>
                        <a:t>5,9</a:t>
                      </a:r>
                      <a:endParaRPr lang="en-US" sz="1722" dirty="0"/>
                    </a:p>
                  </a:txBody>
                  <a:tcPr marL="73152" marR="73152" marT="32004" marB="32004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19050" cap="flat" cmpd="sng" algn="ctr">
                      <a:solidFill>
                        <a:srgbClr val="A6E35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1D3A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722" dirty="0">
                          <a:solidFill>
                            <a:schemeClr val="tx1"/>
                          </a:solidFill>
                        </a:rPr>
                        <a:t>0,40</a:t>
                      </a:r>
                      <a:endParaRPr lang="en-US" sz="1722" dirty="0"/>
                    </a:p>
                  </a:txBody>
                  <a:tcPr marL="73152" marR="73152" marT="32004" marB="32004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19050" cap="flat" cmpd="sng" algn="ctr">
                      <a:solidFill>
                        <a:srgbClr val="A6E35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1D3A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358400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722" dirty="0">
                          <a:solidFill>
                            <a:schemeClr val="tx1"/>
                          </a:solidFill>
                        </a:rPr>
                        <a:t>PGO 2025</a:t>
                      </a:r>
                      <a:endParaRPr lang="en-US" sz="1722" dirty="0"/>
                    </a:p>
                  </a:txBody>
                  <a:tcPr marL="73152" marR="73152" marT="32004" marB="32004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9525" cap="flat" cmpd="sng" algn="ctr">
                      <a:solidFill>
                        <a:srgbClr val="1D3A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1D3A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722" dirty="0">
                          <a:solidFill>
                            <a:schemeClr val="tx1"/>
                          </a:solidFill>
                        </a:rPr>
                        <a:t>807</a:t>
                      </a:r>
                      <a:endParaRPr lang="en-US" sz="1722" dirty="0"/>
                    </a:p>
                  </a:txBody>
                  <a:tcPr marL="73152" marR="73152" marT="32004" marB="32004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9525" cap="flat" cmpd="sng" algn="ctr">
                      <a:solidFill>
                        <a:srgbClr val="1D3A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1D3A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722" dirty="0">
                          <a:solidFill>
                            <a:schemeClr val="tx1"/>
                          </a:solidFill>
                        </a:rPr>
                        <a:t>10.381</a:t>
                      </a:r>
                      <a:endParaRPr lang="en-US" sz="1722" dirty="0"/>
                    </a:p>
                  </a:txBody>
                  <a:tcPr marL="73152" marR="73152" marT="32004" marB="32004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9525" cap="flat" cmpd="sng" algn="ctr">
                      <a:solidFill>
                        <a:srgbClr val="1D3A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1D3A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722" dirty="0">
                          <a:solidFill>
                            <a:schemeClr val="tx1"/>
                          </a:solidFill>
                        </a:rPr>
                        <a:t>4,9</a:t>
                      </a:r>
                      <a:endParaRPr lang="en-US" sz="1722" dirty="0"/>
                    </a:p>
                  </a:txBody>
                  <a:tcPr marL="73152" marR="73152" marT="32004" marB="32004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9525" cap="flat" cmpd="sng" algn="ctr">
                      <a:solidFill>
                        <a:srgbClr val="1D3A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1D3A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722" dirty="0">
                          <a:solidFill>
                            <a:schemeClr val="tx1"/>
                          </a:solidFill>
                        </a:rPr>
                        <a:t>0,46</a:t>
                      </a:r>
                      <a:endParaRPr lang="en-US" sz="1722" dirty="0"/>
                    </a:p>
                  </a:txBody>
                  <a:tcPr marL="73152" marR="73152" marT="32004" marB="32004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9525" cap="flat" cmpd="sng" algn="ctr">
                      <a:solidFill>
                        <a:srgbClr val="1D3A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1D3A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358400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722" dirty="0">
                          <a:solidFill>
                            <a:schemeClr val="tx1"/>
                          </a:solidFill>
                        </a:rPr>
                        <a:t>SLG 2024</a:t>
                      </a:r>
                      <a:endParaRPr lang="en-US" sz="1722" dirty="0"/>
                    </a:p>
                  </a:txBody>
                  <a:tcPr marL="73152" marR="73152" marT="32004" marB="32004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9525" cap="flat" cmpd="sng" algn="ctr">
                      <a:solidFill>
                        <a:srgbClr val="1D3A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1D3A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722" dirty="0">
                          <a:solidFill>
                            <a:schemeClr val="tx1"/>
                          </a:solidFill>
                        </a:rPr>
                        <a:t>792</a:t>
                      </a:r>
                      <a:endParaRPr lang="en-US" sz="1722" dirty="0"/>
                    </a:p>
                  </a:txBody>
                  <a:tcPr marL="73152" marR="73152" marT="32004" marB="32004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9525" cap="flat" cmpd="sng" algn="ctr">
                      <a:solidFill>
                        <a:srgbClr val="1D3A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1D3A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722" dirty="0">
                          <a:solidFill>
                            <a:schemeClr val="tx1"/>
                          </a:solidFill>
                        </a:rPr>
                        <a:t>8.398</a:t>
                      </a:r>
                      <a:endParaRPr lang="en-US" sz="1722" dirty="0"/>
                    </a:p>
                  </a:txBody>
                  <a:tcPr marL="73152" marR="73152" marT="32004" marB="32004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9525" cap="flat" cmpd="sng" algn="ctr">
                      <a:solidFill>
                        <a:srgbClr val="1D3A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1D3A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722" dirty="0">
                          <a:solidFill>
                            <a:schemeClr val="tx1"/>
                          </a:solidFill>
                        </a:rPr>
                        <a:t>7,0</a:t>
                      </a:r>
                      <a:endParaRPr lang="en-US" sz="1722" dirty="0"/>
                    </a:p>
                  </a:txBody>
                  <a:tcPr marL="73152" marR="73152" marT="32004" marB="32004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9525" cap="flat" cmpd="sng" algn="ctr">
                      <a:solidFill>
                        <a:srgbClr val="1D3A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1D3A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722" dirty="0">
                          <a:solidFill>
                            <a:schemeClr val="tx1"/>
                          </a:solidFill>
                        </a:rPr>
                        <a:t>0,46</a:t>
                      </a:r>
                      <a:endParaRPr lang="en-US" sz="1722" dirty="0"/>
                    </a:p>
                  </a:txBody>
                  <a:tcPr marL="73152" marR="73152" marT="32004" marB="32004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9525" cap="flat" cmpd="sng" algn="ctr">
                      <a:solidFill>
                        <a:srgbClr val="1D3A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1D3A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358400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722" dirty="0">
                          <a:solidFill>
                            <a:schemeClr val="tx1"/>
                          </a:solidFill>
                        </a:rPr>
                        <a:t>SLG 2025</a:t>
                      </a:r>
                      <a:endParaRPr lang="en-US" sz="1722" dirty="0"/>
                    </a:p>
                  </a:txBody>
                  <a:tcPr marL="73152" marR="73152" marT="32004" marB="32004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9525" cap="flat" cmpd="sng" algn="ctr">
                      <a:solidFill>
                        <a:srgbClr val="1D3A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1D3A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722" dirty="0">
                          <a:solidFill>
                            <a:schemeClr val="tx1"/>
                          </a:solidFill>
                        </a:rPr>
                        <a:t>802</a:t>
                      </a:r>
                      <a:endParaRPr lang="en-US" sz="1722" dirty="0"/>
                    </a:p>
                  </a:txBody>
                  <a:tcPr marL="73152" marR="73152" marT="32004" marB="32004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9525" cap="flat" cmpd="sng" algn="ctr">
                      <a:solidFill>
                        <a:srgbClr val="1D3A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1D3A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722" dirty="0">
                          <a:solidFill>
                            <a:schemeClr val="tx1"/>
                          </a:solidFill>
                        </a:rPr>
                        <a:t>9.205</a:t>
                      </a:r>
                      <a:endParaRPr lang="en-US" sz="1722" dirty="0"/>
                    </a:p>
                  </a:txBody>
                  <a:tcPr marL="73152" marR="73152" marT="32004" marB="32004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9525" cap="flat" cmpd="sng" algn="ctr">
                      <a:solidFill>
                        <a:srgbClr val="1D3A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1D3A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722" dirty="0">
                          <a:solidFill>
                            <a:schemeClr val="tx1"/>
                          </a:solidFill>
                        </a:rPr>
                        <a:t>5,4</a:t>
                      </a:r>
                      <a:endParaRPr lang="en-US" sz="1722" dirty="0"/>
                    </a:p>
                  </a:txBody>
                  <a:tcPr marL="73152" marR="73152" marT="32004" marB="32004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9525" cap="flat" cmpd="sng" algn="ctr">
                      <a:solidFill>
                        <a:srgbClr val="1D3A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1D3A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722" dirty="0">
                          <a:solidFill>
                            <a:schemeClr val="tx1"/>
                          </a:solidFill>
                        </a:rPr>
                        <a:t>0,51</a:t>
                      </a:r>
                      <a:endParaRPr lang="en-US" sz="1722" dirty="0"/>
                    </a:p>
                  </a:txBody>
                  <a:tcPr marL="73152" marR="73152" marT="32004" marB="32004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9525" cap="flat" cmpd="sng" algn="ctr">
                      <a:solidFill>
                        <a:srgbClr val="1D3A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1D3A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358400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722" dirty="0">
                          <a:solidFill>
                            <a:schemeClr val="tx1"/>
                          </a:solidFill>
                        </a:rPr>
                        <a:t>UDI 2024</a:t>
                      </a:r>
                      <a:endParaRPr lang="en-US" sz="1722" dirty="0"/>
                    </a:p>
                  </a:txBody>
                  <a:tcPr marL="73152" marR="73152" marT="32004" marB="32004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9525" cap="flat" cmpd="sng" algn="ctr">
                      <a:solidFill>
                        <a:srgbClr val="1D3A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1D3A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722" dirty="0">
                          <a:solidFill>
                            <a:schemeClr val="tx1"/>
                          </a:solidFill>
                        </a:rPr>
                        <a:t>790</a:t>
                      </a:r>
                      <a:endParaRPr lang="en-US" sz="1722" dirty="0"/>
                    </a:p>
                  </a:txBody>
                  <a:tcPr marL="73152" marR="73152" marT="32004" marB="32004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9525" cap="flat" cmpd="sng" algn="ctr">
                      <a:solidFill>
                        <a:srgbClr val="1D3A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1D3A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722" dirty="0">
                          <a:solidFill>
                            <a:schemeClr val="tx1"/>
                          </a:solidFill>
                        </a:rPr>
                        <a:t>11.123</a:t>
                      </a:r>
                      <a:endParaRPr lang="en-US" sz="1722" dirty="0"/>
                    </a:p>
                  </a:txBody>
                  <a:tcPr marL="73152" marR="73152" marT="32004" marB="32004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9525" cap="flat" cmpd="sng" algn="ctr">
                      <a:solidFill>
                        <a:srgbClr val="1D3A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1D3A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722" dirty="0">
                          <a:solidFill>
                            <a:schemeClr val="tx1"/>
                          </a:solidFill>
                        </a:rPr>
                        <a:t>8,1</a:t>
                      </a:r>
                      <a:endParaRPr lang="en-US" sz="1722" dirty="0"/>
                    </a:p>
                  </a:txBody>
                  <a:tcPr marL="73152" marR="73152" marT="32004" marB="32004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9525" cap="flat" cmpd="sng" algn="ctr">
                      <a:solidFill>
                        <a:srgbClr val="1D3A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1D3A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722" dirty="0">
                          <a:solidFill>
                            <a:schemeClr val="tx1"/>
                          </a:solidFill>
                        </a:rPr>
                        <a:t>0,29</a:t>
                      </a:r>
                      <a:endParaRPr lang="en-US" sz="1722" dirty="0"/>
                    </a:p>
                  </a:txBody>
                  <a:tcPr marL="73152" marR="73152" marT="32004" marB="32004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9525" cap="flat" cmpd="sng" algn="ctr">
                      <a:solidFill>
                        <a:srgbClr val="1D3A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1D3A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  <a:tr h="358400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722" dirty="0">
                          <a:solidFill>
                            <a:schemeClr val="tx1"/>
                          </a:solidFill>
                        </a:rPr>
                        <a:t>UDI 2025</a:t>
                      </a:r>
                      <a:endParaRPr lang="en-US" sz="1722" dirty="0"/>
                    </a:p>
                  </a:txBody>
                  <a:tcPr marL="73152" marR="73152" marT="32004" marB="32004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9525" cap="flat" cmpd="sng" algn="ctr">
                      <a:solidFill>
                        <a:srgbClr val="1D3A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0" cap="flat" cmpd="sng" algn="ctr"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722" dirty="0">
                          <a:solidFill>
                            <a:schemeClr val="tx1"/>
                          </a:solidFill>
                        </a:rPr>
                        <a:t>808</a:t>
                      </a:r>
                      <a:endParaRPr lang="en-US" sz="1722" dirty="0"/>
                    </a:p>
                  </a:txBody>
                  <a:tcPr marL="73152" marR="73152" marT="32004" marB="32004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9525" cap="flat" cmpd="sng" algn="ctr">
                      <a:solidFill>
                        <a:srgbClr val="1D3A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0" cap="flat" cmpd="sng" algn="ctr"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722" dirty="0">
                          <a:solidFill>
                            <a:schemeClr val="tx1"/>
                          </a:solidFill>
                        </a:rPr>
                        <a:t>12.152</a:t>
                      </a:r>
                      <a:endParaRPr lang="en-US" sz="1722" dirty="0"/>
                    </a:p>
                  </a:txBody>
                  <a:tcPr marL="73152" marR="73152" marT="32004" marB="32004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9525" cap="flat" cmpd="sng" algn="ctr">
                      <a:solidFill>
                        <a:srgbClr val="1D3A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0" cap="flat" cmpd="sng" algn="ctr"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722" dirty="0">
                          <a:solidFill>
                            <a:schemeClr val="tx1"/>
                          </a:solidFill>
                        </a:rPr>
                        <a:t>5,2</a:t>
                      </a:r>
                      <a:endParaRPr lang="en-US" sz="1722" dirty="0"/>
                    </a:p>
                  </a:txBody>
                  <a:tcPr marL="73152" marR="73152" marT="32004" marB="32004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9525" cap="flat" cmpd="sng" algn="ctr">
                      <a:solidFill>
                        <a:srgbClr val="1D3A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0" cap="flat" cmpd="sng" algn="ctr"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722" dirty="0">
                          <a:solidFill>
                            <a:schemeClr val="tx1"/>
                          </a:solidFill>
                        </a:rPr>
                        <a:t>0,42</a:t>
                      </a:r>
                      <a:endParaRPr lang="en-US" sz="1722" dirty="0"/>
                    </a:p>
                  </a:txBody>
                  <a:tcPr marL="73152" marR="73152" marT="32004" marB="32004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9525" cap="flat" cmpd="sng" algn="ctr">
                      <a:solidFill>
                        <a:srgbClr val="1D3A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0" cap="flat" cmpd="sng" algn="ctr">
                      <a:noFill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6"/>
                  </a:ext>
                </a:extLst>
              </a:tr>
            </a:tbl>
          </a:graphicData>
        </a:graphic>
      </p:graphicFrame>
      <p:sp>
        <p:nvSpPr>
          <p:cNvPr id="4" name="texto-1"/>
          <p:cNvSpPr txBox="1"/>
          <p:nvPr/>
        </p:nvSpPr>
        <p:spPr>
          <a:xfrm>
            <a:off x="566928" y="3754059"/>
            <a:ext cx="11057839" cy="1470987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279400" indent="-279400" algn="l">
              <a:lnSpc>
                <a:spcPct val="105000"/>
              </a:lnSpc>
              <a:spcAft>
                <a:spcPts val="672"/>
              </a:spcAft>
              <a:buSzPct val="100000"/>
              <a:buChar char="•"/>
            </a:pPr>
            <a:r>
              <a:rPr lang="en-US" sz="2100" dirty="0">
                <a:solidFill>
                  <a:schemeClr val="tx1"/>
                </a:solidFill>
              </a:rPr>
              <a:t>Ensaios com CV alto ou h² baixa merecem investigação </a:t>
            </a:r>
            <a:r>
              <a:rPr lang="en-US" sz="2100" b="1" dirty="0">
                <a:solidFill>
                  <a:schemeClr val="tx1"/>
                </a:solidFill>
              </a:rPr>
              <a:t>antes</a:t>
            </a:r>
            <a:r>
              <a:rPr lang="en-US" sz="2100" dirty="0">
                <a:solidFill>
                  <a:schemeClr val="tx1"/>
                </a:solidFill>
              </a:rPr>
              <a:t> da análise conjunta (falha de estande, heterogeneidade espacial, erro de colheita).</a:t>
            </a:r>
            <a:endParaRPr lang="en-US" sz="2100" dirty="0"/>
          </a:p>
          <a:p>
            <a:pPr marL="279400" indent="-279400" algn="l">
              <a:lnSpc>
                <a:spcPct val="105000"/>
              </a:lnSpc>
              <a:buSzPct val="100000"/>
              <a:buChar char="•"/>
            </a:pPr>
            <a:r>
              <a:rPr lang="en-US" sz="2100" dirty="0">
                <a:solidFill>
                  <a:schemeClr val="tx1"/>
                </a:solidFill>
              </a:rPr>
              <a:t>Complementos: mapa de campo (linha × coluna) dos resíduos, consistência entre caracteres (produtividade × umidade × estande).</a:t>
            </a:r>
            <a:endParaRPr lang="en-US" sz="2100" dirty="0"/>
          </a:p>
        </p:txBody>
      </p:sp>
      <p:sp>
        <p:nvSpPr>
          <p:cNvPr id="5" name="rodape"/>
          <p:cNvSpPr txBox="1"/>
          <p:nvPr/>
        </p:nvSpPr>
        <p:spPr>
          <a:xfrm>
            <a:off x="566928" y="640080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50" kern="0" spc="100" dirty="0">
                <a:solidFill>
                  <a:schemeClr val="tx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SEÇÃO 1 · BLOCO 3</a:t>
            </a:r>
            <a:endParaRPr lang="en-US" sz="95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527487" y="6400800"/>
            <a:ext cx="109728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xmlns="" val="0"/>
            </a:ext>
          </a:extLst>
        </p:spPr>
        <p:txBody>
          <a:bodyPr lIns="0" tIns="0" rIns="0" bIns="0"/>
          <a:lstStyle>
            <a:lvl1pPr>
              <a:defRPr sz="1000">
                <a:solidFill>
                  <a:srgbClr val="8FA9A3"/>
                </a:solidFill>
                <a:latin typeface="Courier New"/>
                <a:ea typeface="Courier New"/>
                <a:cs typeface="Courier New"/>
              </a:defRPr>
            </a:lvl1pPr>
          </a:lstStyle>
          <a:p>
            <a:pPr algn="r"/>
            <a:fld id="{F7021451-1387-4CA6-816F-3879F97B5CBC}" type="slidenum">
              <a:rPr lang="en-US" b="0"/>
              <a:t>29</a:t>
            </a:fld>
            <a:endParaRPr lang="en-US"/>
          </a:p>
        </p:txBody>
      </p:sp>
    </p:spTree>
  </p:cSld>
  <p:clrMapOvr>
    <a:masterClrMapping/>
  </p:clrMapOvr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0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>
            <a:spLocks noGrp="1"/>
          </p:cNvSpPr>
          <p:nvPr>
            <p:ph type="title" idx="100" hasCustomPrompt="1"/>
          </p:nvPr>
        </p:nvSpPr>
        <p:spPr>
          <a:xfrm>
            <a:off x="566928" y="384048"/>
            <a:ext cx="11057839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buNone/>
            </a:pPr>
            <a:r>
              <a:rPr lang="en-US" sz="1900" b="1" dirty="0">
                <a:solidFill>
                  <a:schemeClr val="accent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3.7   </a:t>
            </a:r>
            <a:r>
              <a:rPr lang="en-US" sz="2800" b="1" dirty="0">
                <a:solidFill>
                  <a:schemeClr val="tx1"/>
                </a:solidFill>
              </a:rPr>
              <a:t>Outlier estatístico não é sinônimo de erro</a:t>
            </a:r>
            <a:endParaRPr lang="en-US" sz="2800" dirty="0"/>
          </a:p>
        </p:txBody>
      </p:sp>
      <p:sp>
        <p:nvSpPr>
          <p:cNvPr id="3" name="texto-0"/>
          <p:cNvSpPr txBox="1"/>
          <p:nvPr/>
        </p:nvSpPr>
        <p:spPr>
          <a:xfrm>
            <a:off x="566928" y="1085240"/>
            <a:ext cx="5346040" cy="22400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279400" indent="-279400" algn="l">
              <a:lnSpc>
                <a:spcPct val="105000"/>
              </a:lnSpc>
              <a:spcAft>
                <a:spcPts val="672"/>
              </a:spcAft>
              <a:buSzPct val="100000"/>
              <a:buChar char="•"/>
            </a:pPr>
            <a:r>
              <a:rPr lang="en-US" sz="2100" dirty="0">
                <a:solidFill>
                  <a:schemeClr val="tx1"/>
                </a:solidFill>
              </a:rPr>
              <a:t>Resíduo studentizado por ensaio (bloco + genótipo): </a:t>
            </a:r>
            <a:r>
              <a:rPr lang="en-US" sz="2100" b="1" dirty="0">
                <a:solidFill>
                  <a:schemeClr val="tx1"/>
                </a:solidFill>
              </a:rPr>
              <a:t>16</a:t>
            </a:r>
            <a:r>
              <a:rPr lang="en-US" sz="2100" dirty="0">
                <a:solidFill>
                  <a:schemeClr val="tx1"/>
                </a:solidFill>
              </a:rPr>
              <a:t> parcelas com |r| &gt; 3.</a:t>
            </a:r>
            <a:endParaRPr lang="en-US" sz="2100" dirty="0"/>
          </a:p>
          <a:p>
            <a:pPr marL="279400" indent="-279400" algn="l">
              <a:lnSpc>
                <a:spcPct val="105000"/>
              </a:lnSpc>
              <a:spcAft>
                <a:spcPts val="672"/>
              </a:spcAft>
              <a:buSzPct val="100000"/>
              <a:buChar char="•"/>
            </a:pPr>
            <a:r>
              <a:rPr lang="en-US" sz="2100" dirty="0">
                <a:solidFill>
                  <a:schemeClr val="tx1"/>
                </a:solidFill>
              </a:rPr>
              <a:t>Esperado só por acaso, com 4.783 parcelas e erros normais: </a:t>
            </a:r>
            <a:r>
              <a:rPr lang="en-US" sz="2100" b="1" dirty="0">
                <a:solidFill>
                  <a:schemeClr val="tx1"/>
                </a:solidFill>
              </a:rPr>
              <a:t>~13</a:t>
            </a:r>
            <a:r>
              <a:rPr lang="en-US" sz="2100" dirty="0">
                <a:solidFill>
                  <a:schemeClr val="tx1"/>
                </a:solidFill>
              </a:rPr>
              <a:t>.</a:t>
            </a:r>
            <a:endParaRPr lang="en-US" sz="2100" dirty="0"/>
          </a:p>
          <a:p>
            <a:pPr marL="279400" indent="-279400" algn="l">
              <a:lnSpc>
                <a:spcPct val="105000"/>
              </a:lnSpc>
              <a:buSzPct val="100000"/>
              <a:buChar char="•"/>
            </a:pPr>
            <a:r>
              <a:rPr lang="en-US" sz="2100" dirty="0">
                <a:solidFill>
                  <a:schemeClr val="tx1"/>
                </a:solidFill>
              </a:rPr>
              <a:t>Regra |z| &gt; 3 em SQL, por ambiente: 18 parcelas.</a:t>
            </a:r>
            <a:endParaRPr lang="en-US" sz="2100" dirty="0"/>
          </a:p>
        </p:txBody>
      </p:sp>
      <p:sp>
        <p:nvSpPr>
          <p:cNvPr id="4" name="texto-1"/>
          <p:cNvSpPr txBox="1"/>
          <p:nvPr/>
        </p:nvSpPr>
        <p:spPr>
          <a:xfrm>
            <a:off x="6278728" y="1085240"/>
            <a:ext cx="5346040" cy="360127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ct val="105000"/>
              </a:lnSpc>
              <a:buNone/>
            </a:pPr>
            <a:r>
              <a:rPr lang="en-US" sz="2100" b="1" dirty="0">
                <a:solidFill>
                  <a:schemeClr val="accent2"/>
                </a:solidFill>
              </a:rPr>
              <a:t>Conduta</a:t>
            </a:r>
            <a:endParaRPr lang="en-US" sz="2100" dirty="0"/>
          </a:p>
        </p:txBody>
      </p:sp>
      <p:sp>
        <p:nvSpPr>
          <p:cNvPr id="5" name="texto-2"/>
          <p:cNvSpPr txBox="1"/>
          <p:nvPr/>
        </p:nvSpPr>
        <p:spPr>
          <a:xfrm>
            <a:off x="6278728" y="1481086"/>
            <a:ext cx="5346040" cy="300903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279400" indent="-279400" algn="l">
              <a:lnSpc>
                <a:spcPct val="105000"/>
              </a:lnSpc>
              <a:spcAft>
                <a:spcPts val="672"/>
              </a:spcAft>
              <a:buSzPct val="100000"/>
              <a:buChar char="•"/>
            </a:pPr>
            <a:r>
              <a:rPr lang="en-US" sz="2100" dirty="0">
                <a:solidFill>
                  <a:schemeClr val="tx1"/>
                </a:solidFill>
              </a:rPr>
              <a:t>Sinalizar no relatório, nunca excluir automaticamente</a:t>
            </a:r>
            <a:endParaRPr lang="en-US" sz="2100" dirty="0"/>
          </a:p>
          <a:p>
            <a:pPr marL="279400" indent="-279400" algn="l">
              <a:lnSpc>
                <a:spcPct val="105000"/>
              </a:lnSpc>
              <a:spcAft>
                <a:spcPts val="672"/>
              </a:spcAft>
              <a:buSzPct val="100000"/>
              <a:buChar char="•"/>
            </a:pPr>
            <a:r>
              <a:rPr lang="en-US" sz="2100" dirty="0">
                <a:solidFill>
                  <a:schemeClr val="tx1"/>
                </a:solidFill>
              </a:rPr>
              <a:t>Investigar: caderno de campo, foto, croqui, observações</a:t>
            </a:r>
            <a:endParaRPr lang="en-US" sz="2100" dirty="0"/>
          </a:p>
          <a:p>
            <a:pPr marL="279400" indent="-279400" algn="l">
              <a:lnSpc>
                <a:spcPct val="105000"/>
              </a:lnSpc>
              <a:spcAft>
                <a:spcPts val="672"/>
              </a:spcAft>
              <a:buSzPct val="100000"/>
              <a:buChar char="•"/>
            </a:pPr>
            <a:r>
              <a:rPr lang="en-US" sz="2100" dirty="0">
                <a:solidFill>
                  <a:schemeClr val="tx1"/>
                </a:solidFill>
              </a:rPr>
              <a:t>Excluir só com motivo registrado</a:t>
            </a:r>
            <a:endParaRPr lang="en-US" sz="2100" dirty="0"/>
          </a:p>
          <a:p>
            <a:pPr marL="279400" indent="-279400" algn="l">
              <a:lnSpc>
                <a:spcPct val="105000"/>
              </a:lnSpc>
              <a:buSzPct val="100000"/>
              <a:buChar char="•"/>
            </a:pPr>
            <a:r>
              <a:rPr lang="en-US" sz="2100" dirty="0">
                <a:solidFill>
                  <a:schemeClr val="tx1"/>
                </a:solidFill>
              </a:rPr>
              <a:t>Erros </a:t>
            </a:r>
            <a:r>
              <a:rPr lang="en-US" sz="2100" b="1" dirty="0">
                <a:solidFill>
                  <a:schemeClr val="tx1"/>
                </a:solidFill>
              </a:rPr>
              <a:t>estruturais</a:t>
            </a:r>
            <a:r>
              <a:rPr lang="en-US" sz="2100" dirty="0">
                <a:solidFill>
                  <a:schemeClr val="tx1"/>
                </a:solidFill>
              </a:rPr>
              <a:t> (×10, t/ha, duplicata) são corrigidos; </a:t>
            </a:r>
            <a:r>
              <a:rPr lang="en-US" sz="2100" b="1" dirty="0">
                <a:solidFill>
                  <a:schemeClr val="tx1"/>
                </a:solidFill>
              </a:rPr>
              <a:t>valores extremos plausíveis</a:t>
            </a:r>
            <a:r>
              <a:rPr lang="en-US" sz="2100" dirty="0">
                <a:solidFill>
                  <a:schemeClr val="tx1"/>
                </a:solidFill>
              </a:rPr>
              <a:t> ficam</a:t>
            </a:r>
            <a:endParaRPr lang="en-US" sz="2100" dirty="0"/>
          </a:p>
        </p:txBody>
      </p:sp>
      <p:sp>
        <p:nvSpPr>
          <p:cNvPr id="6" name="ret-3"/>
          <p:cNvSpPr/>
          <p:nvPr/>
        </p:nvSpPr>
        <p:spPr>
          <a:xfrm>
            <a:off x="6278728" y="4591843"/>
            <a:ext cx="5346040" cy="903133"/>
          </a:xfrm>
          <a:prstGeom prst="roundRect">
            <a:avLst>
              <a:gd name="adj" fmla="val 8100"/>
            </a:avLst>
          </a:prstGeom>
          <a:solidFill>
            <a:schemeClr val="accent6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7" name="texto-4"/>
          <p:cNvSpPr txBox="1"/>
          <p:nvPr/>
        </p:nvSpPr>
        <p:spPr>
          <a:xfrm>
            <a:off x="6461608" y="4701571"/>
            <a:ext cx="4980280" cy="70196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ct val="105000"/>
              </a:lnSpc>
              <a:buNone/>
            </a:pPr>
            <a:r>
              <a:rPr lang="en-US" sz="2100" dirty="0">
                <a:solidFill>
                  <a:schemeClr val="tx1"/>
                </a:solidFill>
              </a:rPr>
              <a:t>Excluir todo |r| &gt; 3 remove variação real e infla a herdabilidade.</a:t>
            </a:r>
            <a:endParaRPr lang="en-US" sz="2100" dirty="0"/>
          </a:p>
        </p:txBody>
      </p:sp>
      <p:sp>
        <p:nvSpPr>
          <p:cNvPr id="8" name="rodape"/>
          <p:cNvSpPr txBox="1"/>
          <p:nvPr/>
        </p:nvSpPr>
        <p:spPr>
          <a:xfrm>
            <a:off x="566928" y="640080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50" kern="0" spc="100" dirty="0">
                <a:solidFill>
                  <a:schemeClr val="tx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SEÇÃO 1 · BLOCO 3</a:t>
            </a:r>
            <a:endParaRPr lang="en-US" sz="95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527487" y="6400800"/>
            <a:ext cx="109728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xmlns="" val="0"/>
            </a:ext>
          </a:extLst>
        </p:spPr>
        <p:txBody>
          <a:bodyPr lIns="0" tIns="0" rIns="0" bIns="0"/>
          <a:lstStyle>
            <a:lvl1pPr>
              <a:defRPr sz="1000">
                <a:solidFill>
                  <a:srgbClr val="8FA9A3"/>
                </a:solidFill>
                <a:latin typeface="Courier New"/>
                <a:ea typeface="Courier New"/>
                <a:cs typeface="Courier New"/>
              </a:defRPr>
            </a:lvl1pPr>
          </a:lstStyle>
          <a:p>
            <a:pPr algn="r"/>
            <a:fld id="{F7021451-1387-4CA6-816F-3879F97B5CBC}" type="slidenum">
              <a:rPr lang="en-US" b="0"/>
              <a:t>30</a:t>
            </a:fld>
            <a:endParaRPr lang="en-US"/>
          </a:p>
        </p:txBody>
      </p:sp>
    </p:spTree>
  </p:cSld>
  <p:clrMapOvr>
    <a:masterClrMapping/>
  </p:clrMapOvr>
</p:sld>
</file>

<file path=ppt/slides/slide3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>
            <a:spLocks noGrp="1"/>
          </p:cNvSpPr>
          <p:nvPr>
            <p:ph type="title" idx="100" hasCustomPrompt="1"/>
          </p:nvPr>
        </p:nvSpPr>
        <p:spPr>
          <a:xfrm>
            <a:off x="566928" y="384048"/>
            <a:ext cx="11057839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buNone/>
            </a:pPr>
            <a:r>
              <a:rPr lang="en-US" sz="1900" b="1" dirty="0">
                <a:solidFill>
                  <a:schemeClr val="accent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3.8   </a:t>
            </a:r>
            <a:r>
              <a:rPr lang="en-US" sz="2800" b="1" dirty="0">
                <a:solidFill>
                  <a:schemeClr val="tx1"/>
                </a:solidFill>
              </a:rPr>
              <a:t>QC de genótipos</a:t>
            </a:r>
            <a:endParaRPr lang="en-US" sz="2800" dirty="0"/>
          </a:p>
        </p:txBody>
      </p:sp>
      <p:graphicFrame>
        <p:nvGraphicFramePr>
          <p:cNvPr id="32" name="tabela-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66928" y="1085240"/>
          <a:ext cx="11057839" cy="3218240"/>
        </p:xfrm>
        <a:graphic>
          <a:graphicData uri="http://schemas.openxmlformats.org/drawingml/2006/table">
            <a:tbl>
              <a:tblPr/>
              <a:tblGrid>
                <a:gridCol w="3595267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3731286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3731286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</a:tblGrid>
              <a:tr h="358400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722" b="1" dirty="0">
                          <a:solidFill>
                            <a:schemeClr val="tx1"/>
                          </a:solidFill>
                        </a:rPr>
                        <a:t>Verificação</a:t>
                      </a:r>
                      <a:endParaRPr lang="en-US" sz="1722" dirty="0"/>
                    </a:p>
                  </a:txBody>
                  <a:tcPr marL="73152" marR="73152" marT="32004" marB="32004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9050" cap="flat" cmpd="sng" algn="ctr">
                      <a:solidFill>
                        <a:srgbClr val="A6E35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722" b="1" dirty="0">
                          <a:solidFill>
                            <a:schemeClr val="tx1"/>
                          </a:solidFill>
                        </a:rPr>
                        <a:t>Problema que revela</a:t>
                      </a:r>
                      <a:endParaRPr lang="en-US" sz="1722" dirty="0"/>
                    </a:p>
                  </a:txBody>
                  <a:tcPr marL="73152" marR="73152" marT="32004" marB="32004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9050" cap="flat" cmpd="sng" algn="ctr">
                      <a:solidFill>
                        <a:srgbClr val="A6E35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722" b="1" dirty="0">
                          <a:solidFill>
                            <a:schemeClr val="tx1"/>
                          </a:solidFill>
                        </a:rPr>
                        <a:t>No curso</a:t>
                      </a:r>
                      <a:endParaRPr lang="en-US" sz="1722" dirty="0"/>
                    </a:p>
                  </a:txBody>
                  <a:tcPr marL="73152" marR="73152" marT="32004" marB="32004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9050" cap="flat" cmpd="sng" algn="ctr">
                      <a:solidFill>
                        <a:srgbClr val="A6E35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625360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722" dirty="0">
                          <a:solidFill>
                            <a:schemeClr val="tx1"/>
                          </a:solidFill>
                        </a:rPr>
                        <a:t>Call rate por marcador e por amostra</a:t>
                      </a:r>
                      <a:endParaRPr lang="en-US" sz="1722" dirty="0"/>
                    </a:p>
                  </a:txBody>
                  <a:tcPr marL="73152" marR="73152" marT="32004" marB="32004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19050" cap="flat" cmpd="sng" algn="ctr">
                      <a:solidFill>
                        <a:srgbClr val="A6E35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1D3A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722" dirty="0">
                          <a:solidFill>
                            <a:schemeClr val="tx1"/>
                          </a:solidFill>
                        </a:rPr>
                        <a:t>Marcador ou amostra de baixa qualidade</a:t>
                      </a:r>
                      <a:endParaRPr lang="en-US" sz="1722" dirty="0"/>
                    </a:p>
                  </a:txBody>
                  <a:tcPr marL="73152" marR="73152" marT="32004" marB="32004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19050" cap="flat" cmpd="sng" algn="ctr">
                      <a:solidFill>
                        <a:srgbClr val="A6E35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1D3A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722" dirty="0">
                          <a:solidFill>
                            <a:schemeClr val="tx1"/>
                          </a:solidFill>
                        </a:rPr>
                        <a:t>100% (dado simulado)</a:t>
                      </a:r>
                      <a:endParaRPr lang="en-US" sz="1722" dirty="0"/>
                    </a:p>
                  </a:txBody>
                  <a:tcPr marL="73152" marR="73152" marT="32004" marB="32004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19050" cap="flat" cmpd="sng" algn="ctr">
                      <a:solidFill>
                        <a:srgbClr val="A6E35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1D3A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625360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722" dirty="0">
                          <a:solidFill>
                            <a:schemeClr val="tx1"/>
                          </a:solidFill>
                        </a:rPr>
                        <a:t>Monomórficos e MAF baixa</a:t>
                      </a:r>
                      <a:endParaRPr lang="en-US" sz="1722" dirty="0"/>
                    </a:p>
                  </a:txBody>
                  <a:tcPr marL="73152" marR="73152" marT="32004" marB="32004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9525" cap="flat" cmpd="sng" algn="ctr">
                      <a:solidFill>
                        <a:srgbClr val="1D3A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1D3A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722" dirty="0">
                          <a:solidFill>
                            <a:schemeClr val="tx1"/>
                          </a:solidFill>
                        </a:rPr>
                        <a:t>Marcadores sem informação na população</a:t>
                      </a:r>
                      <a:endParaRPr lang="en-US" sz="1722" dirty="0"/>
                    </a:p>
                  </a:txBody>
                  <a:tcPr marL="73152" marR="73152" marT="32004" marB="32004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9525" cap="flat" cmpd="sng" algn="ctr">
                      <a:solidFill>
                        <a:srgbClr val="1D3A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1D3A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722" dirty="0">
                          <a:solidFill>
                            <a:schemeClr val="tx1"/>
                          </a:solidFill>
                        </a:rPr>
                        <a:t>384 monomórficos; 219 com MAF &lt; 0,05</a:t>
                      </a:r>
                      <a:endParaRPr lang="en-US" sz="1722" dirty="0"/>
                    </a:p>
                  </a:txBody>
                  <a:tcPr marL="73152" marR="73152" marT="32004" marB="32004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9525" cap="flat" cmpd="sng" algn="ctr">
                      <a:solidFill>
                        <a:srgbClr val="1D3A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1D3A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625360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722" dirty="0">
                          <a:solidFill>
                            <a:schemeClr val="tx1"/>
                          </a:solidFill>
                        </a:rPr>
                        <a:t>Heterozigosidade em linhagens DH</a:t>
                      </a:r>
                      <a:endParaRPr lang="en-US" sz="1722" dirty="0"/>
                    </a:p>
                  </a:txBody>
                  <a:tcPr marL="73152" marR="73152" marT="32004" marB="32004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9525" cap="flat" cmpd="sng" algn="ctr">
                      <a:solidFill>
                        <a:srgbClr val="1D3A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1D3A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722" dirty="0">
                          <a:solidFill>
                            <a:schemeClr val="tx1"/>
                          </a:solidFill>
                        </a:rPr>
                        <a:t>Contaminação, mistura de amostras, falha de duplicação</a:t>
                      </a:r>
                      <a:endParaRPr lang="en-US" sz="1722" dirty="0"/>
                    </a:p>
                  </a:txBody>
                  <a:tcPr marL="73152" marR="73152" marT="32004" marB="32004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9525" cap="flat" cmpd="sng" algn="ctr">
                      <a:solidFill>
                        <a:srgbClr val="1D3A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1D3A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722" dirty="0">
                          <a:solidFill>
                            <a:schemeClr val="tx1"/>
                          </a:solidFill>
                        </a:rPr>
                        <a:t>0 (máximo observado)</a:t>
                      </a:r>
                      <a:endParaRPr lang="en-US" sz="1722" dirty="0"/>
                    </a:p>
                  </a:txBody>
                  <a:tcPr marL="73152" marR="73152" marT="32004" marB="32004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9525" cap="flat" cmpd="sng" algn="ctr">
                      <a:solidFill>
                        <a:srgbClr val="1D3A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1D3A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625360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722" dirty="0">
                          <a:solidFill>
                            <a:schemeClr val="tx1"/>
                          </a:solidFill>
                        </a:rPr>
                        <a:t>Identidade entre indivíduos distintos</a:t>
                      </a:r>
                      <a:endParaRPr lang="en-US" sz="1722" dirty="0"/>
                    </a:p>
                  </a:txBody>
                  <a:tcPr marL="73152" marR="73152" marT="32004" marB="32004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9525" cap="flat" cmpd="sng" algn="ctr">
                      <a:solidFill>
                        <a:srgbClr val="1D3A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1D3A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722" dirty="0">
                          <a:solidFill>
                            <a:schemeClr val="tx1"/>
                          </a:solidFill>
                        </a:rPr>
                        <a:t>Duplicata ou troca de amostra</a:t>
                      </a:r>
                      <a:endParaRPr lang="en-US" sz="1722" dirty="0"/>
                    </a:p>
                  </a:txBody>
                  <a:tcPr marL="73152" marR="73152" marT="32004" marB="32004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9525" cap="flat" cmpd="sng" algn="ctr">
                      <a:solidFill>
                        <a:srgbClr val="1D3A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1D3A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722" dirty="0">
                          <a:solidFill>
                            <a:schemeClr val="tx1"/>
                          </a:solidFill>
                        </a:rPr>
                        <a:t>Máximo 0,95 (irmãos DH); nenhum par &gt; 0,99</a:t>
                      </a:r>
                      <a:endParaRPr lang="en-US" sz="1722" dirty="0"/>
                    </a:p>
                  </a:txBody>
                  <a:tcPr marL="73152" marR="73152" marT="32004" marB="32004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9525" cap="flat" cmpd="sng" algn="ctr">
                      <a:solidFill>
                        <a:srgbClr val="1D3A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1D3A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358400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722" dirty="0">
                          <a:solidFill>
                            <a:schemeClr val="tx1"/>
                          </a:solidFill>
                        </a:rPr>
                        <a:t>Pedigree × marcadores</a:t>
                      </a:r>
                      <a:endParaRPr lang="en-US" sz="1722" dirty="0"/>
                    </a:p>
                  </a:txBody>
                  <a:tcPr marL="73152" marR="73152" marT="32004" marB="32004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9525" cap="flat" cmpd="sng" algn="ctr">
                      <a:solidFill>
                        <a:srgbClr val="1D3A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0" cap="flat" cmpd="sng" algn="ctr"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722" dirty="0">
                          <a:solidFill>
                            <a:schemeClr val="tx1"/>
                          </a:solidFill>
                        </a:rPr>
                        <a:t>Genitor errado no cadastro</a:t>
                      </a:r>
                      <a:endParaRPr lang="en-US" sz="1722" dirty="0"/>
                    </a:p>
                  </a:txBody>
                  <a:tcPr marL="73152" marR="73152" marT="32004" marB="32004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9525" cap="flat" cmpd="sng" algn="ctr">
                      <a:solidFill>
                        <a:srgbClr val="1D3A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0" cap="flat" cmpd="sng" algn="ctr"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722" dirty="0">
                          <a:solidFill>
                            <a:schemeClr val="tx1"/>
                          </a:solidFill>
                        </a:rPr>
                        <a:t>DH só pode ter alelos da mãe ou do pai</a:t>
                      </a:r>
                      <a:endParaRPr lang="en-US" sz="1722" dirty="0"/>
                    </a:p>
                  </a:txBody>
                  <a:tcPr marL="73152" marR="73152" marT="32004" marB="32004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9525" cap="flat" cmpd="sng" algn="ctr">
                      <a:solidFill>
                        <a:srgbClr val="1D3A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0" cap="flat" cmpd="sng" algn="ctr">
                      <a:noFill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</a:tbl>
          </a:graphicData>
        </a:graphic>
      </p:graphicFrame>
      <p:sp>
        <p:nvSpPr>
          <p:cNvPr id="4" name="texto-1"/>
          <p:cNvSpPr txBox="1"/>
          <p:nvPr/>
        </p:nvSpPr>
        <p:spPr>
          <a:xfrm>
            <a:off x="566928" y="4463498"/>
            <a:ext cx="11057839" cy="360127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279400" indent="-279400" algn="l">
              <a:lnSpc>
                <a:spcPct val="105000"/>
              </a:lnSpc>
              <a:buSzPct val="100000"/>
              <a:buChar char="•"/>
            </a:pPr>
            <a:r>
              <a:rPr lang="en-US" sz="2100" dirty="0">
                <a:solidFill>
                  <a:schemeClr val="tx1"/>
                </a:solidFill>
              </a:rPr>
              <a:t>Em dados reais, essa é a etapa que mais encontra trocas de amostras e erros de pedigree.</a:t>
            </a:r>
            <a:endParaRPr lang="en-US" sz="2100" dirty="0"/>
          </a:p>
        </p:txBody>
      </p:sp>
      <p:sp>
        <p:nvSpPr>
          <p:cNvPr id="5" name="rodape"/>
          <p:cNvSpPr txBox="1"/>
          <p:nvPr/>
        </p:nvSpPr>
        <p:spPr>
          <a:xfrm>
            <a:off x="566928" y="640080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50" kern="0" spc="100" dirty="0">
                <a:solidFill>
                  <a:schemeClr val="tx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SEÇÃO 1 · BLOCO 3</a:t>
            </a:r>
            <a:endParaRPr lang="en-US" sz="95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527487" y="6400800"/>
            <a:ext cx="109728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xmlns="" val="0"/>
            </a:ext>
          </a:extLst>
        </p:spPr>
        <p:txBody>
          <a:bodyPr lIns="0" tIns="0" rIns="0" bIns="0"/>
          <a:lstStyle>
            <a:lvl1pPr>
              <a:defRPr sz="1000">
                <a:solidFill>
                  <a:srgbClr val="8FA9A3"/>
                </a:solidFill>
                <a:latin typeface="Courier New"/>
                <a:ea typeface="Courier New"/>
                <a:cs typeface="Courier New"/>
              </a:defRPr>
            </a:lvl1pPr>
          </a:lstStyle>
          <a:p>
            <a:pPr algn="r"/>
            <a:fld id="{F7021451-1387-4CA6-816F-3879F97B5CBC}" type="slidenum">
              <a:rPr lang="en-US" b="0"/>
              <a:t>31</a:t>
            </a:fld>
            <a:endParaRPr lang="en-US"/>
          </a:p>
        </p:txBody>
      </p:sp>
    </p:spTree>
  </p:cSld>
  <p:clrMapOvr>
    <a:masterClrMapping/>
  </p:clrMapOvr>
</p:sld>
</file>

<file path=ppt/slides/slide3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>
            <a:spLocks noGrp="1"/>
          </p:cNvSpPr>
          <p:nvPr>
            <p:ph type="title" idx="100" hasCustomPrompt="1"/>
          </p:nvPr>
        </p:nvSpPr>
        <p:spPr>
          <a:xfrm>
            <a:off x="566928" y="384048"/>
            <a:ext cx="11057839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buNone/>
            </a:pPr>
            <a:r>
              <a:rPr lang="en-US" sz="1900" b="1" dirty="0">
                <a:solidFill>
                  <a:schemeClr val="accent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3.9   </a:t>
            </a:r>
            <a:r>
              <a:rPr lang="en-US" sz="2800" b="1" dirty="0">
                <a:solidFill>
                  <a:schemeClr val="tx1"/>
                </a:solidFill>
              </a:rPr>
              <a:t>O que fazer com cada problema</a:t>
            </a:r>
            <a:endParaRPr lang="en-US" sz="2800" dirty="0"/>
          </a:p>
        </p:txBody>
      </p:sp>
      <p:graphicFrame>
        <p:nvGraphicFramePr>
          <p:cNvPr id="33" name="tabela-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66928" y="1085240"/>
          <a:ext cx="11057839" cy="2775760"/>
        </p:xfrm>
        <a:graphic>
          <a:graphicData uri="http://schemas.openxmlformats.org/drawingml/2006/table">
            <a:tbl>
              <a:tblPr/>
              <a:tblGrid>
                <a:gridCol w="5574018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322489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2258931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</a:tblGrid>
              <a:tr h="358400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722" b="1" dirty="0">
                          <a:solidFill>
                            <a:schemeClr val="tx1"/>
                          </a:solidFill>
                        </a:rPr>
                        <a:t>Situação</a:t>
                      </a:r>
                      <a:endParaRPr lang="en-US" sz="1722" dirty="0"/>
                    </a:p>
                  </a:txBody>
                  <a:tcPr marL="73152" marR="73152" marT="32004" marB="32004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9050" cap="flat" cmpd="sng" algn="ctr">
                      <a:solidFill>
                        <a:srgbClr val="A6E35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722" b="1" dirty="0">
                          <a:solidFill>
                            <a:schemeClr val="tx1"/>
                          </a:solidFill>
                        </a:rPr>
                        <a:t>Ação</a:t>
                      </a:r>
                      <a:endParaRPr lang="en-US" sz="1722" dirty="0"/>
                    </a:p>
                  </a:txBody>
                  <a:tcPr marL="73152" marR="73152" marT="32004" marB="32004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9050" cap="flat" cmpd="sng" algn="ctr">
                      <a:solidFill>
                        <a:srgbClr val="A6E35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722" b="1" dirty="0">
                          <a:solidFill>
                            <a:schemeClr val="tx1"/>
                          </a:solidFill>
                        </a:rPr>
                        <a:t>Registro</a:t>
                      </a:r>
                      <a:endParaRPr lang="en-US" sz="1722" dirty="0"/>
                    </a:p>
                  </a:txBody>
                  <a:tcPr marL="73152" marR="73152" marT="32004" marB="32004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9050" cap="flat" cmpd="sng" algn="ctr">
                      <a:solidFill>
                        <a:srgbClr val="A6E35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625360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722" dirty="0">
                          <a:solidFill>
                            <a:schemeClr val="tx1"/>
                          </a:solidFill>
                        </a:rPr>
                        <a:t>Erro estrutural com correção conhecida (grafia de ID, unidade)</a:t>
                      </a:r>
                      <a:endParaRPr lang="en-US" sz="1722" dirty="0"/>
                    </a:p>
                  </a:txBody>
                  <a:tcPr marL="73152" marR="73152" marT="32004" marB="32004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19050" cap="flat" cmpd="sng" algn="ctr">
                      <a:solidFill>
                        <a:srgbClr val="A6E35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1D3A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722" dirty="0">
                          <a:solidFill>
                            <a:schemeClr val="tx1"/>
                          </a:solidFill>
                        </a:rPr>
                        <a:t>Corrigir</a:t>
                      </a:r>
                      <a:endParaRPr lang="en-US" sz="1722" dirty="0"/>
                    </a:p>
                  </a:txBody>
                  <a:tcPr marL="73152" marR="73152" marT="32004" marB="32004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19050" cap="flat" cmpd="sng" algn="ctr">
                      <a:solidFill>
                        <a:srgbClr val="A6E35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1D3A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722" dirty="0">
                          <a:solidFill>
                            <a:schemeClr val="tx1"/>
                          </a:solidFill>
                        </a:rPr>
                        <a:t>Registro de correções</a:t>
                      </a:r>
                      <a:endParaRPr lang="en-US" sz="1722" dirty="0"/>
                    </a:p>
                  </a:txBody>
                  <a:tcPr marL="73152" marR="73152" marT="32004" marB="32004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19050" cap="flat" cmpd="sng" algn="ctr">
                      <a:solidFill>
                        <a:srgbClr val="A6E35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1D3A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358400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722" dirty="0">
                          <a:solidFill>
                            <a:schemeClr val="tx1"/>
                          </a:solidFill>
                        </a:rPr>
                        <a:t>Duplicata idêntica</a:t>
                      </a:r>
                      <a:endParaRPr lang="en-US" sz="1722" dirty="0"/>
                    </a:p>
                  </a:txBody>
                  <a:tcPr marL="73152" marR="73152" marT="32004" marB="32004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9525" cap="flat" cmpd="sng" algn="ctr">
                      <a:solidFill>
                        <a:srgbClr val="1D3A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1D3A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722" dirty="0">
                          <a:solidFill>
                            <a:schemeClr val="tx1"/>
                          </a:solidFill>
                        </a:rPr>
                        <a:t>Manter uma ocorrência</a:t>
                      </a:r>
                      <a:endParaRPr lang="en-US" sz="1722" dirty="0"/>
                    </a:p>
                  </a:txBody>
                  <a:tcPr marL="73152" marR="73152" marT="32004" marB="32004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9525" cap="flat" cmpd="sng" algn="ctr">
                      <a:solidFill>
                        <a:srgbClr val="1D3A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1D3A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722" dirty="0">
                          <a:solidFill>
                            <a:schemeClr val="tx1"/>
                          </a:solidFill>
                        </a:rPr>
                        <a:t>Relatório de QC</a:t>
                      </a:r>
                      <a:endParaRPr lang="en-US" sz="1722" dirty="0"/>
                    </a:p>
                  </a:txBody>
                  <a:tcPr marL="73152" marR="73152" marT="32004" marB="32004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9525" cap="flat" cmpd="sng" algn="ctr">
                      <a:solidFill>
                        <a:srgbClr val="1D3A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1D3A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358400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722" dirty="0">
                          <a:solidFill>
                            <a:schemeClr val="tx1"/>
                          </a:solidFill>
                        </a:rPr>
                        <a:t>Duplicata com valores diferentes</a:t>
                      </a:r>
                      <a:endParaRPr lang="en-US" sz="1722" dirty="0"/>
                    </a:p>
                  </a:txBody>
                  <a:tcPr marL="73152" marR="73152" marT="32004" marB="32004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9525" cap="flat" cmpd="sng" algn="ctr">
                      <a:solidFill>
                        <a:srgbClr val="1D3A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1D3A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722" dirty="0">
                          <a:solidFill>
                            <a:schemeClr val="tx1"/>
                          </a:solidFill>
                        </a:rPr>
                        <a:t>Valor vira ausente até verificação</a:t>
                      </a:r>
                      <a:endParaRPr lang="en-US" sz="1722" dirty="0"/>
                    </a:p>
                  </a:txBody>
                  <a:tcPr marL="73152" marR="73152" marT="32004" marB="32004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9525" cap="flat" cmpd="sng" algn="ctr">
                      <a:solidFill>
                        <a:srgbClr val="1D3A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1D3A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722" dirty="0">
                          <a:solidFill>
                            <a:schemeClr val="tx1"/>
                          </a:solidFill>
                        </a:rPr>
                        <a:t>Relatório + pendência</a:t>
                      </a:r>
                      <a:endParaRPr lang="en-US" sz="1722" dirty="0"/>
                    </a:p>
                  </a:txBody>
                  <a:tcPr marL="73152" marR="73152" marT="32004" marB="32004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9525" cap="flat" cmpd="sng" algn="ctr">
                      <a:solidFill>
                        <a:srgbClr val="1D3A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1D3A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358400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722" dirty="0">
                          <a:solidFill>
                            <a:schemeClr val="tx1"/>
                          </a:solidFill>
                        </a:rPr>
                        <a:t>Valor impossível sem correção conhecida</a:t>
                      </a:r>
                      <a:endParaRPr lang="en-US" sz="1722" dirty="0"/>
                    </a:p>
                  </a:txBody>
                  <a:tcPr marL="73152" marR="73152" marT="32004" marB="32004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9525" cap="flat" cmpd="sng" algn="ctr">
                      <a:solidFill>
                        <a:srgbClr val="1D3A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1D3A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722" dirty="0">
                          <a:solidFill>
                            <a:schemeClr val="tx1"/>
                          </a:solidFill>
                        </a:rPr>
                        <a:t>Ausente (NA)</a:t>
                      </a:r>
                      <a:endParaRPr lang="en-US" sz="1722" dirty="0"/>
                    </a:p>
                  </a:txBody>
                  <a:tcPr marL="73152" marR="73152" marT="32004" marB="32004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9525" cap="flat" cmpd="sng" algn="ctr">
                      <a:solidFill>
                        <a:srgbClr val="1D3A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1D3A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722" dirty="0">
                          <a:solidFill>
                            <a:schemeClr val="tx1"/>
                          </a:solidFill>
                        </a:rPr>
                        <a:t>Registro com motivo</a:t>
                      </a:r>
                      <a:endParaRPr lang="en-US" sz="1722" dirty="0"/>
                    </a:p>
                  </a:txBody>
                  <a:tcPr marL="73152" marR="73152" marT="32004" marB="32004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9525" cap="flat" cmpd="sng" algn="ctr">
                      <a:solidFill>
                        <a:srgbClr val="1D3A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1D3A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358400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722" dirty="0">
                          <a:solidFill>
                            <a:schemeClr val="tx1"/>
                          </a:solidFill>
                        </a:rPr>
                        <a:t>Valor extremo plausível</a:t>
                      </a:r>
                      <a:endParaRPr lang="en-US" sz="1722" dirty="0"/>
                    </a:p>
                  </a:txBody>
                  <a:tcPr marL="73152" marR="73152" marT="32004" marB="32004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9525" cap="flat" cmpd="sng" algn="ctr">
                      <a:solidFill>
                        <a:srgbClr val="1D3A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1D3A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722" dirty="0">
                          <a:solidFill>
                            <a:schemeClr val="tx1"/>
                          </a:solidFill>
                        </a:rPr>
                        <a:t>Manter e sinalizar</a:t>
                      </a:r>
                      <a:endParaRPr lang="en-US" sz="1722" dirty="0"/>
                    </a:p>
                  </a:txBody>
                  <a:tcPr marL="73152" marR="73152" marT="32004" marB="32004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9525" cap="flat" cmpd="sng" algn="ctr">
                      <a:solidFill>
                        <a:srgbClr val="1D3A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1D3A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722" dirty="0">
                          <a:solidFill>
                            <a:schemeClr val="tx1"/>
                          </a:solidFill>
                        </a:rPr>
                        <a:t>Relatório de QC</a:t>
                      </a:r>
                      <a:endParaRPr lang="en-US" sz="1722" dirty="0"/>
                    </a:p>
                  </a:txBody>
                  <a:tcPr marL="73152" marR="73152" marT="32004" marB="32004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9525" cap="flat" cmpd="sng" algn="ctr">
                      <a:solidFill>
                        <a:srgbClr val="1D3A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1D3A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  <a:tr h="358400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722" dirty="0">
                          <a:solidFill>
                            <a:schemeClr val="tx1"/>
                          </a:solidFill>
                        </a:rPr>
                        <a:t>Genitor inexistente</a:t>
                      </a:r>
                      <a:endParaRPr lang="en-US" sz="1722" dirty="0"/>
                    </a:p>
                  </a:txBody>
                  <a:tcPr marL="73152" marR="73152" marT="32004" marB="32004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9525" cap="flat" cmpd="sng" algn="ctr">
                      <a:solidFill>
                        <a:srgbClr val="1D3A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0" cap="flat" cmpd="sng" algn="ctr"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722" dirty="0">
                          <a:solidFill>
                            <a:schemeClr val="tx1"/>
                          </a:solidFill>
                        </a:rPr>
                        <a:t>Pedigree com NA; investigar</a:t>
                      </a:r>
                      <a:endParaRPr lang="en-US" sz="1722" dirty="0"/>
                    </a:p>
                  </a:txBody>
                  <a:tcPr marL="73152" marR="73152" marT="32004" marB="32004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9525" cap="flat" cmpd="sng" algn="ctr">
                      <a:solidFill>
                        <a:srgbClr val="1D3A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0" cap="flat" cmpd="sng" algn="ctr"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722" dirty="0">
                          <a:solidFill>
                            <a:schemeClr val="tx1"/>
                          </a:solidFill>
                        </a:rPr>
                        <a:t>Pendência no cadastro</a:t>
                      </a:r>
                      <a:endParaRPr lang="en-US" sz="1722" dirty="0"/>
                    </a:p>
                  </a:txBody>
                  <a:tcPr marL="73152" marR="73152" marT="32004" marB="32004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9525" cap="flat" cmpd="sng" algn="ctr">
                      <a:solidFill>
                        <a:srgbClr val="1D3A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0" cap="flat" cmpd="sng" algn="ctr">
                      <a:noFill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6"/>
                  </a:ext>
                </a:extLst>
              </a:tr>
            </a:tbl>
          </a:graphicData>
        </a:graphic>
      </p:graphicFrame>
      <p:sp>
        <p:nvSpPr>
          <p:cNvPr id="4" name="ret-1"/>
          <p:cNvSpPr/>
          <p:nvPr/>
        </p:nvSpPr>
        <p:spPr>
          <a:xfrm>
            <a:off x="566928" y="4021019"/>
            <a:ext cx="11057839" cy="561295"/>
          </a:xfrm>
          <a:prstGeom prst="roundRect">
            <a:avLst>
              <a:gd name="adj" fmla="val 13033"/>
            </a:avLst>
          </a:prstGeom>
          <a:solidFill>
            <a:schemeClr val="accent6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5" name="texto-2"/>
          <p:cNvSpPr txBox="1"/>
          <p:nvPr/>
        </p:nvSpPr>
        <p:spPr>
          <a:xfrm>
            <a:off x="749808" y="4130747"/>
            <a:ext cx="10692079" cy="360127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ct val="105000"/>
              </a:lnSpc>
              <a:buNone/>
            </a:pPr>
            <a:r>
              <a:rPr lang="en-US" sz="2100" dirty="0">
                <a:solidFill>
                  <a:schemeClr val="tx1"/>
                </a:solidFill>
              </a:rPr>
              <a:t>Nunca apague em silêncio. Cada decisão tem data, motivo e responsável.</a:t>
            </a:r>
            <a:endParaRPr lang="en-US" sz="2100" dirty="0"/>
          </a:p>
        </p:txBody>
      </p:sp>
      <p:sp>
        <p:nvSpPr>
          <p:cNvPr id="6" name="rodape"/>
          <p:cNvSpPr txBox="1"/>
          <p:nvPr/>
        </p:nvSpPr>
        <p:spPr>
          <a:xfrm>
            <a:off x="566928" y="640080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50" kern="0" spc="100" dirty="0">
                <a:solidFill>
                  <a:schemeClr val="tx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SEÇÃO 1 · BLOCO 3</a:t>
            </a:r>
            <a:endParaRPr lang="en-US" sz="95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527487" y="6400800"/>
            <a:ext cx="109728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xmlns="" val="0"/>
            </a:ext>
          </a:extLst>
        </p:spPr>
        <p:txBody>
          <a:bodyPr lIns="0" tIns="0" rIns="0" bIns="0"/>
          <a:lstStyle>
            <a:lvl1pPr>
              <a:defRPr sz="1000">
                <a:solidFill>
                  <a:srgbClr val="8FA9A3"/>
                </a:solidFill>
                <a:latin typeface="Courier New"/>
                <a:ea typeface="Courier New"/>
                <a:cs typeface="Courier New"/>
              </a:defRPr>
            </a:lvl1pPr>
          </a:lstStyle>
          <a:p>
            <a:pPr algn="r"/>
            <a:fld id="{F7021451-1387-4CA6-816F-3879F97B5CBC}" type="slidenum">
              <a:rPr lang="en-US" b="0"/>
              <a:t>32</a:t>
            </a:fld>
            <a:endParaRPr lang="en-US"/>
          </a:p>
        </p:txBody>
      </p:sp>
    </p:spTree>
  </p:cSld>
  <p:clrMapOvr>
    <a:masterClrMapping/>
  </p:clrMapOvr>
</p:sld>
</file>

<file path=ppt/slides/slide3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>
            <a:spLocks noGrp="1"/>
          </p:cNvSpPr>
          <p:nvPr>
            <p:ph type="title" idx="100" hasCustomPrompt="1"/>
          </p:nvPr>
        </p:nvSpPr>
        <p:spPr>
          <a:xfrm>
            <a:off x="566928" y="384048"/>
            <a:ext cx="11057839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buNone/>
            </a:pPr>
            <a:r>
              <a:rPr lang="en-US" sz="1900" b="1" dirty="0">
                <a:solidFill>
                  <a:schemeClr val="accent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3.10   </a:t>
            </a:r>
            <a:r>
              <a:rPr lang="en-US" sz="2800" b="1" dirty="0">
                <a:solidFill>
                  <a:schemeClr val="tx1"/>
                </a:solidFill>
              </a:rPr>
              <a:t>Teste o seu QC</a:t>
            </a:r>
            <a:endParaRPr lang="en-US" sz="2800" dirty="0"/>
          </a:p>
        </p:txBody>
      </p:sp>
      <p:sp>
        <p:nvSpPr>
          <p:cNvPr id="3" name="texto-0"/>
          <p:cNvSpPr txBox="1"/>
          <p:nvPr/>
        </p:nvSpPr>
        <p:spPr>
          <a:xfrm>
            <a:off x="566928" y="1085240"/>
            <a:ext cx="11057839" cy="1470987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279400" indent="-279400" algn="l">
              <a:lnSpc>
                <a:spcPct val="105000"/>
              </a:lnSpc>
              <a:spcAft>
                <a:spcPts val="672"/>
              </a:spcAft>
              <a:buSzPct val="100000"/>
              <a:buChar char="•"/>
            </a:pPr>
            <a:r>
              <a:rPr lang="en-US" sz="2100" dirty="0">
                <a:solidFill>
                  <a:schemeClr val="tx1"/>
                </a:solidFill>
              </a:rPr>
              <a:t>Como saber se as regras de QC funcionam? </a:t>
            </a:r>
            <a:r>
              <a:rPr lang="en-US" sz="2100" b="1" dirty="0">
                <a:solidFill>
                  <a:schemeClr val="tx1"/>
                </a:solidFill>
              </a:rPr>
              <a:t>Injetando erros conhecidos</a:t>
            </a:r>
            <a:r>
              <a:rPr lang="en-US" sz="2100" dirty="0">
                <a:solidFill>
                  <a:schemeClr val="tx1"/>
                </a:solidFill>
              </a:rPr>
              <a:t> e medindo quantos foram encontrados.</a:t>
            </a:r>
            <a:endParaRPr lang="en-US" sz="2100" dirty="0"/>
          </a:p>
          <a:p>
            <a:pPr marL="279400" indent="-279400" algn="l">
              <a:lnSpc>
                <a:spcPct val="105000"/>
              </a:lnSpc>
              <a:buSzPct val="100000"/>
              <a:buChar char="•"/>
            </a:pPr>
            <a:r>
              <a:rPr lang="en-US" sz="2100" dirty="0">
                <a:solidFill>
                  <a:schemeClr val="tx1"/>
                </a:solidFill>
              </a:rPr>
              <a:t>O projeto do curso injeta 32 erros de 5 tipos na camada bruta e compara o relatório de QC com a lista injetada.</a:t>
            </a:r>
            <a:endParaRPr lang="en-US" sz="2100" dirty="0"/>
          </a:p>
        </p:txBody>
      </p:sp>
      <p:graphicFrame>
        <p:nvGraphicFramePr>
          <p:cNvPr id="34" name="tabela-1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66928" y="2697959"/>
          <a:ext cx="11057839" cy="2150400"/>
        </p:xfrm>
        <a:graphic>
          <a:graphicData uri="http://schemas.openxmlformats.org/drawingml/2006/table">
            <a:tbl>
              <a:tblPr/>
              <a:tblGrid>
                <a:gridCol w="5896049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2256743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2905047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</a:tblGrid>
              <a:tr h="358400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722" b="1" dirty="0">
                          <a:solidFill>
                            <a:schemeClr val="tx1"/>
                          </a:solidFill>
                        </a:rPr>
                        <a:t>Tipo</a:t>
                      </a:r>
                      <a:endParaRPr lang="en-US" sz="1722" dirty="0"/>
                    </a:p>
                  </a:txBody>
                  <a:tcPr marL="73152" marR="73152" marT="32004" marB="32004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9050" cap="flat" cmpd="sng" algn="ctr">
                      <a:solidFill>
                        <a:srgbClr val="A6E35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722" b="1" dirty="0">
                          <a:solidFill>
                            <a:schemeClr val="tx1"/>
                          </a:solidFill>
                        </a:rPr>
                        <a:t>Injetados</a:t>
                      </a:r>
                      <a:endParaRPr lang="en-US" sz="1722" dirty="0"/>
                    </a:p>
                  </a:txBody>
                  <a:tcPr marL="73152" marR="73152" marT="32004" marB="32004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9050" cap="flat" cmpd="sng" algn="ctr">
                      <a:solidFill>
                        <a:srgbClr val="A6E35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722" b="1" dirty="0">
                          <a:solidFill>
                            <a:schemeClr val="tx1"/>
                          </a:solidFill>
                        </a:rPr>
                        <a:t>Encontrados</a:t>
                      </a:r>
                      <a:endParaRPr lang="en-US" sz="1722" dirty="0"/>
                    </a:p>
                  </a:txBody>
                  <a:tcPr marL="73152" marR="73152" marT="32004" marB="32004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9050" cap="flat" cmpd="sng" algn="ctr">
                      <a:solidFill>
                        <a:srgbClr val="A6E35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358400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722" dirty="0">
                          <a:solidFill>
                            <a:schemeClr val="tx1"/>
                          </a:solidFill>
                        </a:rPr>
                        <a:t>Grafia divergente</a:t>
                      </a:r>
                      <a:endParaRPr lang="en-US" sz="1722" dirty="0"/>
                    </a:p>
                  </a:txBody>
                  <a:tcPr marL="73152" marR="73152" marT="32004" marB="32004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19050" cap="flat" cmpd="sng" algn="ctr">
                      <a:solidFill>
                        <a:srgbClr val="A6E35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1D3A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722" dirty="0">
                          <a:solidFill>
                            <a:schemeClr val="tx1"/>
                          </a:solidFill>
                        </a:rPr>
                        <a:t>8</a:t>
                      </a:r>
                      <a:endParaRPr lang="en-US" sz="1722" dirty="0"/>
                    </a:p>
                  </a:txBody>
                  <a:tcPr marL="73152" marR="73152" marT="32004" marB="32004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19050" cap="flat" cmpd="sng" algn="ctr">
                      <a:solidFill>
                        <a:srgbClr val="A6E35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1D3A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722" dirty="0">
                          <a:solidFill>
                            <a:schemeClr val="tx1"/>
                          </a:solidFill>
                        </a:rPr>
                        <a:t>8</a:t>
                      </a:r>
                      <a:endParaRPr lang="en-US" sz="1722" dirty="0"/>
                    </a:p>
                  </a:txBody>
                  <a:tcPr marL="73152" marR="73152" marT="32004" marB="32004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19050" cap="flat" cmpd="sng" algn="ctr">
                      <a:solidFill>
                        <a:srgbClr val="A6E35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1D3A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358400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722" dirty="0">
                          <a:solidFill>
                            <a:schemeClr val="tx1"/>
                          </a:solidFill>
                        </a:rPr>
                        <a:t>Parcela duplicada</a:t>
                      </a:r>
                      <a:endParaRPr lang="en-US" sz="1722" dirty="0"/>
                    </a:p>
                  </a:txBody>
                  <a:tcPr marL="73152" marR="73152" marT="32004" marB="32004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9525" cap="flat" cmpd="sng" algn="ctr">
                      <a:solidFill>
                        <a:srgbClr val="1D3A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1D3A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722" dirty="0">
                          <a:solidFill>
                            <a:schemeClr val="tx1"/>
                          </a:solidFill>
                        </a:rPr>
                        <a:t>5</a:t>
                      </a:r>
                      <a:endParaRPr lang="en-US" sz="1722" dirty="0"/>
                    </a:p>
                  </a:txBody>
                  <a:tcPr marL="73152" marR="73152" marT="32004" marB="32004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9525" cap="flat" cmpd="sng" algn="ctr">
                      <a:solidFill>
                        <a:srgbClr val="1D3A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1D3A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722" dirty="0">
                          <a:solidFill>
                            <a:schemeClr val="tx1"/>
                          </a:solidFill>
                        </a:rPr>
                        <a:t>5</a:t>
                      </a:r>
                      <a:endParaRPr lang="en-US" sz="1722" dirty="0"/>
                    </a:p>
                  </a:txBody>
                  <a:tcPr marL="73152" marR="73152" marT="32004" marB="32004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9525" cap="flat" cmpd="sng" algn="ctr">
                      <a:solidFill>
                        <a:srgbClr val="1D3A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1D3A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358400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722" dirty="0">
                          <a:solidFill>
                            <a:schemeClr val="tx1"/>
                          </a:solidFill>
                        </a:rPr>
                        <a:t>Fora do intervalo</a:t>
                      </a:r>
                      <a:endParaRPr lang="en-US" sz="1722" dirty="0"/>
                    </a:p>
                  </a:txBody>
                  <a:tcPr marL="73152" marR="73152" marT="32004" marB="32004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9525" cap="flat" cmpd="sng" algn="ctr">
                      <a:solidFill>
                        <a:srgbClr val="1D3A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1D3A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722" dirty="0">
                          <a:solidFill>
                            <a:schemeClr val="tx1"/>
                          </a:solidFill>
                        </a:rPr>
                        <a:t>10</a:t>
                      </a:r>
                      <a:endParaRPr lang="en-US" sz="1722" dirty="0"/>
                    </a:p>
                  </a:txBody>
                  <a:tcPr marL="73152" marR="73152" marT="32004" marB="32004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9525" cap="flat" cmpd="sng" algn="ctr">
                      <a:solidFill>
                        <a:srgbClr val="1D3A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1D3A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722" dirty="0">
                          <a:solidFill>
                            <a:schemeClr val="tx1"/>
                          </a:solidFill>
                        </a:rPr>
                        <a:t>10</a:t>
                      </a:r>
                      <a:endParaRPr lang="en-US" sz="1722" dirty="0"/>
                    </a:p>
                  </a:txBody>
                  <a:tcPr marL="73152" marR="73152" marT="32004" marB="32004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9525" cap="flat" cmpd="sng" algn="ctr">
                      <a:solidFill>
                        <a:srgbClr val="1D3A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1D3A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358400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722" dirty="0">
                          <a:solidFill>
                            <a:schemeClr val="tx1"/>
                          </a:solidFill>
                        </a:rPr>
                        <a:t>Genitor inexistente</a:t>
                      </a:r>
                      <a:endParaRPr lang="en-US" sz="1722" dirty="0"/>
                    </a:p>
                  </a:txBody>
                  <a:tcPr marL="73152" marR="73152" marT="32004" marB="32004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9525" cap="flat" cmpd="sng" algn="ctr">
                      <a:solidFill>
                        <a:srgbClr val="1D3A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1D3A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722" dirty="0">
                          <a:solidFill>
                            <a:schemeClr val="tx1"/>
                          </a:solidFill>
                        </a:rPr>
                        <a:t>3</a:t>
                      </a:r>
                      <a:endParaRPr lang="en-US" sz="1722" dirty="0"/>
                    </a:p>
                  </a:txBody>
                  <a:tcPr marL="73152" marR="73152" marT="32004" marB="32004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9525" cap="flat" cmpd="sng" algn="ctr">
                      <a:solidFill>
                        <a:srgbClr val="1D3A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1D3A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722" dirty="0">
                          <a:solidFill>
                            <a:schemeClr val="tx1"/>
                          </a:solidFill>
                        </a:rPr>
                        <a:t>3</a:t>
                      </a:r>
                      <a:endParaRPr lang="en-US" sz="1722" dirty="0"/>
                    </a:p>
                  </a:txBody>
                  <a:tcPr marL="73152" marR="73152" marT="32004" marB="32004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9525" cap="flat" cmpd="sng" algn="ctr">
                      <a:solidFill>
                        <a:srgbClr val="1D3A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1D3A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358400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722" dirty="0">
                          <a:solidFill>
                            <a:schemeClr val="tx1"/>
                          </a:solidFill>
                        </a:rPr>
                        <a:t>Linhagem em um ambiente</a:t>
                      </a:r>
                      <a:endParaRPr lang="en-US" sz="1722" dirty="0"/>
                    </a:p>
                  </a:txBody>
                  <a:tcPr marL="73152" marR="73152" marT="32004" marB="32004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9525" cap="flat" cmpd="sng" algn="ctr">
                      <a:solidFill>
                        <a:srgbClr val="1D3A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0" cap="flat" cmpd="sng" algn="ctr"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722" dirty="0">
                          <a:solidFill>
                            <a:schemeClr val="tx1"/>
                          </a:solidFill>
                        </a:rPr>
                        <a:t>6</a:t>
                      </a:r>
                      <a:endParaRPr lang="en-US" sz="1722" dirty="0"/>
                    </a:p>
                  </a:txBody>
                  <a:tcPr marL="73152" marR="73152" marT="32004" marB="32004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9525" cap="flat" cmpd="sng" algn="ctr">
                      <a:solidFill>
                        <a:srgbClr val="1D3A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0" cap="flat" cmpd="sng" algn="ctr"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722" dirty="0">
                          <a:solidFill>
                            <a:schemeClr val="tx1"/>
                          </a:solidFill>
                        </a:rPr>
                        <a:t>6</a:t>
                      </a:r>
                      <a:endParaRPr lang="en-US" sz="1722" dirty="0"/>
                    </a:p>
                  </a:txBody>
                  <a:tcPr marL="73152" marR="73152" marT="32004" marB="32004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9525" cap="flat" cmpd="sng" algn="ctr">
                      <a:solidFill>
                        <a:srgbClr val="1D3A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0" cap="flat" cmpd="sng" algn="ctr">
                      <a:noFill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</a:tbl>
          </a:graphicData>
        </a:graphic>
      </p:graphicFrame>
      <p:sp>
        <p:nvSpPr>
          <p:cNvPr id="5" name="texto-2"/>
          <p:cNvSpPr txBox="1"/>
          <p:nvPr/>
        </p:nvSpPr>
        <p:spPr>
          <a:xfrm>
            <a:off x="566928" y="5008378"/>
            <a:ext cx="11057839" cy="360127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279400" indent="-279400" algn="l">
              <a:lnSpc>
                <a:spcPct val="105000"/>
              </a:lnSpc>
              <a:buSzPct val="100000"/>
              <a:buChar char="•"/>
            </a:pPr>
            <a:r>
              <a:rPr lang="en-US" sz="2100" dirty="0">
                <a:solidFill>
                  <a:schemeClr val="tx1"/>
                </a:solidFill>
              </a:rPr>
              <a:t>O mesmo vale para QC escrito por IA: peça o script </a:t>
            </a:r>
            <a:r>
              <a:rPr lang="en-US" sz="2100" b="1" dirty="0">
                <a:solidFill>
                  <a:schemeClr val="tx1"/>
                </a:solidFill>
              </a:rPr>
              <a:t>e</a:t>
            </a:r>
            <a:r>
              <a:rPr lang="en-US" sz="2100" dirty="0">
                <a:solidFill>
                  <a:schemeClr val="tx1"/>
                </a:solidFill>
              </a:rPr>
              <a:t> o teste com erros injetados.</a:t>
            </a:r>
            <a:endParaRPr lang="en-US" sz="2100" dirty="0"/>
          </a:p>
        </p:txBody>
      </p:sp>
      <p:sp>
        <p:nvSpPr>
          <p:cNvPr id="6" name="rodape"/>
          <p:cNvSpPr txBox="1"/>
          <p:nvPr/>
        </p:nvSpPr>
        <p:spPr>
          <a:xfrm>
            <a:off x="566928" y="640080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50" kern="0" spc="100" dirty="0">
                <a:solidFill>
                  <a:schemeClr val="tx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SEÇÃO 1 · BLOCO 3</a:t>
            </a:r>
            <a:endParaRPr lang="en-US" sz="95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527487" y="6400800"/>
            <a:ext cx="109728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xmlns="" val="0"/>
            </a:ext>
          </a:extLst>
        </p:spPr>
        <p:txBody>
          <a:bodyPr lIns="0" tIns="0" rIns="0" bIns="0"/>
          <a:lstStyle>
            <a:lvl1pPr>
              <a:defRPr sz="1000">
                <a:solidFill>
                  <a:srgbClr val="8FA9A3"/>
                </a:solidFill>
                <a:latin typeface="Courier New"/>
                <a:ea typeface="Courier New"/>
                <a:cs typeface="Courier New"/>
              </a:defRPr>
            </a:lvl1pPr>
          </a:lstStyle>
          <a:p>
            <a:pPr algn="r"/>
            <a:fld id="{F7021451-1387-4CA6-816F-3879F97B5CBC}" type="slidenum">
              <a:rPr lang="en-US" b="0"/>
              <a:t>33</a:t>
            </a:fld>
            <a:endParaRPr lang="en-US"/>
          </a:p>
        </p:txBody>
      </p:sp>
    </p:spTree>
  </p:cSld>
  <p:clrMapOvr>
    <a:masterClrMapping/>
  </p:clrMapOvr>
</p:sld>
</file>

<file path=ppt/slides/slide3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>
            <a:spLocks noGrp="1"/>
          </p:cNvSpPr>
          <p:nvPr>
            <p:ph type="title" idx="100" hasCustomPrompt="1"/>
          </p:nvPr>
        </p:nvSpPr>
        <p:spPr>
          <a:xfrm>
            <a:off x="914400" y="2560320"/>
            <a:ext cx="9875520" cy="1828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buNone/>
            </a:pPr>
            <a:r>
              <a:rPr lang="en-US" sz="4600" b="1" dirty="0">
                <a:solidFill>
                  <a:schemeClr val="tx1"/>
                </a:solidFill>
              </a:rPr>
              <a:t>Consistência e curadoria</a:t>
            </a:r>
            <a:endParaRPr lang="en-US" sz="4600" dirty="0"/>
          </a:p>
        </p:txBody>
      </p:sp>
      <p:sp>
        <p:nvSpPr>
          <p:cNvPr id="3" name="texto-0"/>
          <p:cNvSpPr txBox="1"/>
          <p:nvPr/>
        </p:nvSpPr>
        <p:spPr>
          <a:xfrm>
            <a:off x="914400" y="4572000"/>
            <a:ext cx="5486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ct val="100000"/>
              </a:lnSpc>
              <a:buNone/>
            </a:pPr>
            <a:r>
              <a:rPr lang="en-US" sz="1800" dirty="0">
                <a:solidFill>
                  <a:srgbClr val="B9CFC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15 min</a:t>
            </a:r>
            <a:endParaRPr lang="en-US" sz="1800" dirty="0"/>
          </a:p>
        </p:txBody>
      </p:sp>
      <p:sp>
        <p:nvSpPr>
          <p:cNvPr id="4" name="texto-1"/>
          <p:cNvSpPr txBox="1"/>
          <p:nvPr/>
        </p:nvSpPr>
        <p:spPr>
          <a:xfrm>
            <a:off x="914400" y="2148840"/>
            <a:ext cx="73152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ct val="100000"/>
              </a:lnSpc>
              <a:buNone/>
            </a:pPr>
            <a:r>
              <a:rPr lang="en-US" sz="1800" kern="0" spc="300" dirty="0">
                <a:solidFill>
                  <a:schemeClr val="accent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BLOCO 4</a:t>
            </a:r>
            <a:endParaRPr lang="en-US" sz="1800" dirty="0"/>
          </a:p>
        </p:txBody>
      </p:sp>
      <p:sp>
        <p:nvSpPr>
          <p:cNvPr id="5" name="rodape"/>
          <p:cNvSpPr txBox="1"/>
          <p:nvPr/>
        </p:nvSpPr>
        <p:spPr>
          <a:xfrm>
            <a:off x="566928" y="640080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50" kern="0" spc="100" dirty="0">
                <a:solidFill>
                  <a:srgbClr val="B9CFC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SEÇÃO 1 · BLOCO 4</a:t>
            </a:r>
            <a:endParaRPr lang="en-US" sz="95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527487" y="6400800"/>
            <a:ext cx="109728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xmlns="" val="0"/>
            </a:ext>
          </a:extLst>
        </p:spPr>
        <p:txBody>
          <a:bodyPr lIns="0" tIns="0" rIns="0" bIns="0"/>
          <a:lstStyle>
            <a:lvl1pPr>
              <a:defRPr sz="1000">
                <a:solidFill>
                  <a:srgbClr val="B9CFC6"/>
                </a:solidFill>
                <a:latin typeface="Courier New"/>
                <a:ea typeface="Courier New"/>
                <a:cs typeface="Courier New"/>
              </a:defRPr>
            </a:lvl1pPr>
          </a:lstStyle>
          <a:p>
            <a:pPr algn="r"/>
            <a:fld id="{F7021451-1387-4CA6-816F-3879F97B5CBC}" type="slidenum">
              <a:rPr lang="en-US" b="0"/>
              <a:t>34</a:t>
            </a:fld>
            <a:endParaRPr lang="en-US"/>
          </a:p>
        </p:txBody>
      </p:sp>
    </p:spTree>
  </p:cSld>
  <p:clrMapOvr>
    <a:masterClrMapping/>
  </p:clrMapOvr>
</p:sld>
</file>

<file path=ppt/slides/slide3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>
            <a:spLocks noGrp="1"/>
          </p:cNvSpPr>
          <p:nvPr>
            <p:ph type="title" idx="100" hasCustomPrompt="1"/>
          </p:nvPr>
        </p:nvSpPr>
        <p:spPr>
          <a:xfrm>
            <a:off x="566928" y="384048"/>
            <a:ext cx="11057839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buNone/>
            </a:pPr>
            <a:r>
              <a:rPr lang="en-US" sz="1900" b="1" dirty="0">
                <a:solidFill>
                  <a:schemeClr val="accent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4.1   </a:t>
            </a:r>
            <a:r>
              <a:rPr lang="en-US" sz="2800" b="1" dirty="0">
                <a:solidFill>
                  <a:schemeClr val="tx1"/>
                </a:solidFill>
              </a:rPr>
              <a:t>Consistência: o mesmo dado com o mesmo significado</a:t>
            </a:r>
            <a:endParaRPr lang="en-US" sz="2800" dirty="0"/>
          </a:p>
        </p:txBody>
      </p:sp>
      <p:graphicFrame>
        <p:nvGraphicFramePr>
          <p:cNvPr id="36" name="tabela-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66928" y="1493825"/>
          <a:ext cx="11057839" cy="2508800"/>
        </p:xfrm>
        <a:graphic>
          <a:graphicData uri="http://schemas.openxmlformats.org/drawingml/2006/table">
            <a:tbl>
              <a:tblPr/>
              <a:tblGrid>
                <a:gridCol w="1610184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4803788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4643867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</a:tblGrid>
              <a:tr h="358400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722" b="1" dirty="0">
                          <a:solidFill>
                            <a:schemeClr val="tx1"/>
                          </a:solidFill>
                        </a:rPr>
                        <a:t>Elemento</a:t>
                      </a:r>
                      <a:endParaRPr lang="en-US" sz="1722" dirty="0"/>
                    </a:p>
                  </a:txBody>
                  <a:tcPr marL="73152" marR="73152" marT="32004" marB="32004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9050" cap="flat" cmpd="sng" algn="ctr">
                      <a:solidFill>
                        <a:srgbClr val="A6E35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722" b="1" dirty="0">
                          <a:solidFill>
                            <a:schemeClr val="tx1"/>
                          </a:solidFill>
                        </a:rPr>
                        <a:t>Inconsistente</a:t>
                      </a:r>
                      <a:endParaRPr lang="en-US" sz="1722" dirty="0"/>
                    </a:p>
                  </a:txBody>
                  <a:tcPr marL="73152" marR="73152" marT="32004" marB="32004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9050" cap="flat" cmpd="sng" algn="ctr">
                      <a:solidFill>
                        <a:srgbClr val="A6E35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722" b="1" dirty="0">
                          <a:solidFill>
                            <a:schemeClr val="tx1"/>
                          </a:solidFill>
                        </a:rPr>
                        <a:t>Consistente</a:t>
                      </a:r>
                      <a:endParaRPr lang="en-US" sz="1722" dirty="0"/>
                    </a:p>
                  </a:txBody>
                  <a:tcPr marL="73152" marR="73152" marT="32004" marB="32004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9050" cap="flat" cmpd="sng" algn="ctr">
                      <a:solidFill>
                        <a:srgbClr val="A6E35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358400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722" dirty="0">
                          <a:solidFill>
                            <a:schemeClr val="tx1"/>
                          </a:solidFill>
                        </a:rPr>
                        <a:t>Identificador</a:t>
                      </a:r>
                      <a:endParaRPr lang="en-US" sz="1722" dirty="0"/>
                    </a:p>
                  </a:txBody>
                  <a:tcPr marL="73152" marR="73152" marT="32004" marB="32004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19050" cap="flat" cmpd="sng" algn="ctr">
                      <a:solidFill>
                        <a:srgbClr val="A6E35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1D3A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584" dirty="0">
                          <a:solidFill>
                            <a:schemeClr val="accent2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DH24-12</a:t>
                      </a:r>
                      <a:r>
                        <a:rPr lang="en-US" sz="1722" dirty="0">
                          <a:solidFill>
                            <a:schemeClr val="tx1"/>
                          </a:solidFill>
                        </a:rPr>
                        <a:t>, </a:t>
                      </a:r>
                      <a:r>
                        <a:rPr lang="en-US" sz="1584" dirty="0">
                          <a:solidFill>
                            <a:schemeClr val="accent2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dh24_0012</a:t>
                      </a:r>
                      <a:r>
                        <a:rPr lang="en-US" sz="1722" dirty="0">
                          <a:solidFill>
                            <a:schemeClr val="tx1"/>
                          </a:solidFill>
                        </a:rPr>
                        <a:t>, </a:t>
                      </a:r>
                      <a:r>
                        <a:rPr lang="en-US" sz="1584" dirty="0">
                          <a:solidFill>
                            <a:schemeClr val="accent2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DH24_0012</a:t>
                      </a:r>
                      <a:endParaRPr lang="en-US" sz="1722" dirty="0"/>
                    </a:p>
                  </a:txBody>
                  <a:tcPr marL="73152" marR="73152" marT="32004" marB="32004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19050" cap="flat" cmpd="sng" algn="ctr">
                      <a:solidFill>
                        <a:srgbClr val="A6E35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1D3A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584" dirty="0">
                          <a:solidFill>
                            <a:schemeClr val="accent2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DH24_0012</a:t>
                      </a:r>
                      <a:r>
                        <a:rPr lang="en-US" sz="1722" dirty="0">
                          <a:solidFill>
                            <a:schemeClr val="tx1"/>
                          </a:solidFill>
                        </a:rPr>
                        <a:t> (padrão validável)</a:t>
                      </a:r>
                      <a:endParaRPr lang="en-US" sz="1722" dirty="0"/>
                    </a:p>
                  </a:txBody>
                  <a:tcPr marL="73152" marR="73152" marT="32004" marB="32004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19050" cap="flat" cmpd="sng" algn="ctr">
                      <a:solidFill>
                        <a:srgbClr val="A6E35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1D3A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358400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722" dirty="0">
                          <a:solidFill>
                            <a:schemeClr val="tx1"/>
                          </a:solidFill>
                        </a:rPr>
                        <a:t>Unidade</a:t>
                      </a:r>
                      <a:endParaRPr lang="en-US" sz="1722" dirty="0"/>
                    </a:p>
                  </a:txBody>
                  <a:tcPr marL="73152" marR="73152" marT="32004" marB="32004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9525" cap="flat" cmpd="sng" algn="ctr">
                      <a:solidFill>
                        <a:srgbClr val="1D3A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1D3A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722" dirty="0">
                          <a:solidFill>
                            <a:schemeClr val="tx1"/>
                          </a:solidFill>
                        </a:rPr>
                        <a:t>kg/parcela, kg/ha, t/ha na mesma coluna</a:t>
                      </a:r>
                      <a:endParaRPr lang="en-US" sz="1722" dirty="0"/>
                    </a:p>
                  </a:txBody>
                  <a:tcPr marL="73152" marR="73152" marT="32004" marB="32004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9525" cap="flat" cmpd="sng" algn="ctr">
                      <a:solidFill>
                        <a:srgbClr val="1D3A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1D3A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722" dirty="0">
                          <a:solidFill>
                            <a:schemeClr val="tx1"/>
                          </a:solidFill>
                        </a:rPr>
                        <a:t>uma unidade por variável, no dicionário</a:t>
                      </a:r>
                      <a:endParaRPr lang="en-US" sz="1722" dirty="0"/>
                    </a:p>
                  </a:txBody>
                  <a:tcPr marL="73152" marR="73152" marT="32004" marB="32004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9525" cap="flat" cmpd="sng" algn="ctr">
                      <a:solidFill>
                        <a:srgbClr val="1D3A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1D3A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358400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722" dirty="0">
                          <a:solidFill>
                            <a:schemeClr val="tx1"/>
                          </a:solidFill>
                        </a:rPr>
                        <a:t>Ausente</a:t>
                      </a:r>
                      <a:endParaRPr lang="en-US" sz="1722" dirty="0"/>
                    </a:p>
                  </a:txBody>
                  <a:tcPr marL="73152" marR="73152" marT="32004" marB="32004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9525" cap="flat" cmpd="sng" algn="ctr">
                      <a:solidFill>
                        <a:srgbClr val="1D3A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1D3A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584" dirty="0">
                          <a:solidFill>
                            <a:schemeClr val="accent2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0</a:t>
                      </a:r>
                      <a:r>
                        <a:rPr lang="en-US" sz="1722" dirty="0">
                          <a:solidFill>
                            <a:schemeClr val="tx1"/>
                          </a:solidFill>
                        </a:rPr>
                        <a:t>, </a:t>
                      </a:r>
                      <a:r>
                        <a:rPr lang="en-US" sz="1584" dirty="0">
                          <a:solidFill>
                            <a:schemeClr val="accent2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-</a:t>
                      </a:r>
                      <a:r>
                        <a:rPr lang="en-US" sz="1722" dirty="0">
                          <a:solidFill>
                            <a:schemeClr val="tx1"/>
                          </a:solidFill>
                        </a:rPr>
                        <a:t>, </a:t>
                      </a:r>
                      <a:r>
                        <a:rPr lang="en-US" sz="1584" dirty="0">
                          <a:solidFill>
                            <a:schemeClr val="accent2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.</a:t>
                      </a:r>
                      <a:r>
                        <a:rPr lang="en-US" sz="1722" dirty="0">
                          <a:solidFill>
                            <a:schemeClr val="tx1"/>
                          </a:solidFill>
                        </a:rPr>
                        <a:t>, vazio, </a:t>
                      </a:r>
                      <a:r>
                        <a:rPr lang="en-US" sz="1584" dirty="0">
                          <a:solidFill>
                            <a:schemeClr val="accent2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NA</a:t>
                      </a:r>
                      <a:endParaRPr lang="en-US" sz="1722" dirty="0"/>
                    </a:p>
                  </a:txBody>
                  <a:tcPr marL="73152" marR="73152" marT="32004" marB="32004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9525" cap="flat" cmpd="sng" algn="ctr">
                      <a:solidFill>
                        <a:srgbClr val="1D3A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1D3A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584" dirty="0">
                          <a:solidFill>
                            <a:schemeClr val="accent2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NA</a:t>
                      </a:r>
                      <a:r>
                        <a:rPr lang="en-US" sz="1722" dirty="0">
                          <a:solidFill>
                            <a:schemeClr val="tx1"/>
                          </a:solidFill>
                        </a:rPr>
                        <a:t> + coluna de motivo</a:t>
                      </a:r>
                      <a:endParaRPr lang="en-US" sz="1722" dirty="0"/>
                    </a:p>
                  </a:txBody>
                  <a:tcPr marL="73152" marR="73152" marT="32004" marB="32004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9525" cap="flat" cmpd="sng" algn="ctr">
                      <a:solidFill>
                        <a:srgbClr val="1D3A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1D3A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358400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722" dirty="0">
                          <a:solidFill>
                            <a:schemeClr val="tx1"/>
                          </a:solidFill>
                        </a:rPr>
                        <a:t>Data</a:t>
                      </a:r>
                      <a:endParaRPr lang="en-US" sz="1722" dirty="0"/>
                    </a:p>
                  </a:txBody>
                  <a:tcPr marL="73152" marR="73152" marT="32004" marB="32004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9525" cap="flat" cmpd="sng" algn="ctr">
                      <a:solidFill>
                        <a:srgbClr val="1D3A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1D3A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722" dirty="0">
                          <a:solidFill>
                            <a:schemeClr val="tx1"/>
                          </a:solidFill>
                        </a:rPr>
                        <a:t>03/11/26, 11-3-2026, "nov/26"</a:t>
                      </a:r>
                      <a:endParaRPr lang="en-US" sz="1722" dirty="0"/>
                    </a:p>
                  </a:txBody>
                  <a:tcPr marL="73152" marR="73152" marT="32004" marB="32004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9525" cap="flat" cmpd="sng" algn="ctr">
                      <a:solidFill>
                        <a:srgbClr val="1D3A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1D3A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584" dirty="0">
                          <a:solidFill>
                            <a:schemeClr val="accent2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2026-11-03</a:t>
                      </a:r>
                      <a:r>
                        <a:rPr lang="en-US" sz="1722" dirty="0">
                          <a:solidFill>
                            <a:schemeClr val="tx1"/>
                          </a:solidFill>
                        </a:rPr>
                        <a:t> (ISO 8601)</a:t>
                      </a:r>
                      <a:endParaRPr lang="en-US" sz="1722" dirty="0"/>
                    </a:p>
                  </a:txBody>
                  <a:tcPr marL="73152" marR="73152" marT="32004" marB="32004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9525" cap="flat" cmpd="sng" algn="ctr">
                      <a:solidFill>
                        <a:srgbClr val="1D3A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1D3A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358400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722" dirty="0">
                          <a:solidFill>
                            <a:schemeClr val="tx1"/>
                          </a:solidFill>
                        </a:rPr>
                        <a:t>Variável</a:t>
                      </a:r>
                      <a:endParaRPr lang="en-US" sz="1722" dirty="0"/>
                    </a:p>
                  </a:txBody>
                  <a:tcPr marL="73152" marR="73152" marT="32004" marB="32004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9525" cap="flat" cmpd="sng" algn="ctr">
                      <a:solidFill>
                        <a:srgbClr val="1D3A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1D3A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722" dirty="0">
                          <a:solidFill>
                            <a:schemeClr val="tx1"/>
                          </a:solidFill>
                        </a:rPr>
                        <a:t>"Prod", "produtividade", "rend"</a:t>
                      </a:r>
                      <a:endParaRPr lang="en-US" sz="1722" dirty="0"/>
                    </a:p>
                  </a:txBody>
                  <a:tcPr marL="73152" marR="73152" marT="32004" marB="32004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9525" cap="flat" cmpd="sng" algn="ctr">
                      <a:solidFill>
                        <a:srgbClr val="1D3A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1D3A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722" dirty="0">
                          <a:solidFill>
                            <a:schemeClr val="tx1"/>
                          </a:solidFill>
                        </a:rPr>
                        <a:t>um código: </a:t>
                      </a:r>
                      <a:r>
                        <a:rPr lang="en-US" sz="1584" dirty="0">
                          <a:solidFill>
                            <a:schemeClr val="accent2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PROD</a:t>
                      </a:r>
                      <a:r>
                        <a:rPr lang="en-US" sz="1722" dirty="0">
                          <a:solidFill>
                            <a:schemeClr val="tx1"/>
                          </a:solidFill>
                        </a:rPr>
                        <a:t>, com método e escala</a:t>
                      </a:r>
                      <a:endParaRPr lang="en-US" sz="1722" dirty="0"/>
                    </a:p>
                  </a:txBody>
                  <a:tcPr marL="73152" marR="73152" marT="32004" marB="32004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9525" cap="flat" cmpd="sng" algn="ctr">
                      <a:solidFill>
                        <a:srgbClr val="1D3A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1D3A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  <a:tr h="358400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722" dirty="0">
                          <a:solidFill>
                            <a:schemeClr val="tx1"/>
                          </a:solidFill>
                        </a:rPr>
                        <a:t>Local</a:t>
                      </a:r>
                      <a:endParaRPr lang="en-US" sz="1722" dirty="0"/>
                    </a:p>
                  </a:txBody>
                  <a:tcPr marL="73152" marR="73152" marT="32004" marB="32004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9525" cap="flat" cmpd="sng" algn="ctr">
                      <a:solidFill>
                        <a:srgbClr val="1D3A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0" cap="flat" cmpd="sng" algn="ctr"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722" dirty="0">
                          <a:solidFill>
                            <a:schemeClr val="tx1"/>
                          </a:solidFill>
                        </a:rPr>
                        <a:t>"Uberlandia", "Uberlândia", "UDI"</a:t>
                      </a:r>
                      <a:endParaRPr lang="en-US" sz="1722" dirty="0"/>
                    </a:p>
                  </a:txBody>
                  <a:tcPr marL="73152" marR="73152" marT="32004" marB="32004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9525" cap="flat" cmpd="sng" algn="ctr">
                      <a:solidFill>
                        <a:srgbClr val="1D3A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0" cap="flat" cmpd="sng" algn="ctr"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722" dirty="0">
                          <a:solidFill>
                            <a:schemeClr val="tx1"/>
                          </a:solidFill>
                        </a:rPr>
                        <a:t>tabela de ambientes com código único</a:t>
                      </a:r>
                      <a:endParaRPr lang="en-US" sz="1722" dirty="0"/>
                    </a:p>
                  </a:txBody>
                  <a:tcPr marL="73152" marR="73152" marT="32004" marB="32004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9525" cap="flat" cmpd="sng" algn="ctr">
                      <a:solidFill>
                        <a:srgbClr val="1D3A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0" cap="flat" cmpd="sng" algn="ctr">
                      <a:noFill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6"/>
                  </a:ext>
                </a:extLst>
              </a:tr>
            </a:tbl>
          </a:graphicData>
        </a:graphic>
      </p:graphicFrame>
      <p:sp>
        <p:nvSpPr>
          <p:cNvPr id="4" name="rodape"/>
          <p:cNvSpPr txBox="1"/>
          <p:nvPr/>
        </p:nvSpPr>
        <p:spPr>
          <a:xfrm>
            <a:off x="566928" y="640080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50" kern="0" spc="100" dirty="0">
                <a:solidFill>
                  <a:schemeClr val="tx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SEÇÃO 1 · BLOCO 4</a:t>
            </a:r>
            <a:endParaRPr lang="en-US" sz="95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527487" y="6400800"/>
            <a:ext cx="109728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xmlns="" val="0"/>
            </a:ext>
          </a:extLst>
        </p:spPr>
        <p:txBody>
          <a:bodyPr lIns="0" tIns="0" rIns="0" bIns="0"/>
          <a:lstStyle>
            <a:lvl1pPr>
              <a:defRPr sz="1000">
                <a:solidFill>
                  <a:srgbClr val="8FA9A3"/>
                </a:solidFill>
                <a:latin typeface="Courier New"/>
                <a:ea typeface="Courier New"/>
                <a:cs typeface="Courier New"/>
              </a:defRPr>
            </a:lvl1pPr>
          </a:lstStyle>
          <a:p>
            <a:pPr algn="r"/>
            <a:fld id="{F7021451-1387-4CA6-816F-3879F97B5CBC}" type="slidenum">
              <a:rPr lang="en-US" b="0"/>
              <a:t>35</a:t>
            </a:fld>
            <a:endParaRPr lang="en-US"/>
          </a:p>
        </p:txBody>
      </p:sp>
    </p:spTree>
  </p:cSld>
  <p:clrMapOvr>
    <a:masterClrMapping/>
  </p:clrMapOvr>
</p:sld>
</file>

<file path=ppt/slides/slide3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>
            <a:spLocks noGrp="1"/>
          </p:cNvSpPr>
          <p:nvPr>
            <p:ph type="title" idx="100" hasCustomPrompt="1"/>
          </p:nvPr>
        </p:nvSpPr>
        <p:spPr>
          <a:xfrm>
            <a:off x="566928" y="384048"/>
            <a:ext cx="11057839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buNone/>
            </a:pPr>
            <a:r>
              <a:rPr lang="en-US" sz="1900" b="1" dirty="0">
                <a:solidFill>
                  <a:schemeClr val="accent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4.2   </a:t>
            </a:r>
            <a:r>
              <a:rPr lang="en-US" sz="2800" b="1" dirty="0">
                <a:solidFill>
                  <a:schemeClr val="tx1"/>
                </a:solidFill>
              </a:rPr>
              <a:t>Identificadores bem projetados</a:t>
            </a:r>
            <a:endParaRPr lang="en-US" sz="2800" dirty="0"/>
          </a:p>
        </p:txBody>
      </p:sp>
      <p:sp>
        <p:nvSpPr>
          <p:cNvPr id="3" name="texto-0"/>
          <p:cNvSpPr txBox="1"/>
          <p:nvPr/>
        </p:nvSpPr>
        <p:spPr>
          <a:xfrm>
            <a:off x="566928" y="1085240"/>
            <a:ext cx="11057839" cy="275253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279400" indent="-279400" algn="l">
              <a:lnSpc>
                <a:spcPct val="105000"/>
              </a:lnSpc>
              <a:spcAft>
                <a:spcPts val="672"/>
              </a:spcAft>
              <a:buSzPct val="100000"/>
              <a:buChar char="•"/>
            </a:pPr>
            <a:r>
              <a:rPr lang="en-US" sz="2100" b="1" dirty="0">
                <a:solidFill>
                  <a:schemeClr val="tx1"/>
                </a:solidFill>
              </a:rPr>
              <a:t>Gerados</a:t>
            </a:r>
            <a:r>
              <a:rPr lang="en-US" sz="2100" dirty="0">
                <a:solidFill>
                  <a:schemeClr val="tx1"/>
                </a:solidFill>
              </a:rPr>
              <a:t> pelo sistema, nunca digitados.</a:t>
            </a:r>
            <a:endParaRPr lang="en-US" sz="2100" dirty="0"/>
          </a:p>
          <a:p>
            <a:pPr marL="279400" indent="-279400" algn="l">
              <a:lnSpc>
                <a:spcPct val="105000"/>
              </a:lnSpc>
              <a:spcAft>
                <a:spcPts val="672"/>
              </a:spcAft>
              <a:buSzPct val="100000"/>
              <a:buChar char="•"/>
            </a:pPr>
            <a:r>
              <a:rPr lang="en-US" sz="2100" b="1" dirty="0">
                <a:solidFill>
                  <a:schemeClr val="tx1"/>
                </a:solidFill>
              </a:rPr>
              <a:t>Únicos e permanentes</a:t>
            </a:r>
            <a:r>
              <a:rPr lang="en-US" sz="2100" dirty="0">
                <a:solidFill>
                  <a:schemeClr val="tx1"/>
                </a:solidFill>
              </a:rPr>
              <a:t>: nunca reutilizados, nunca renomeados.</a:t>
            </a:r>
            <a:endParaRPr lang="en-US" sz="2100" dirty="0"/>
          </a:p>
          <a:p>
            <a:pPr marL="279400" indent="-279400" algn="l">
              <a:lnSpc>
                <a:spcPct val="105000"/>
              </a:lnSpc>
              <a:spcAft>
                <a:spcPts val="672"/>
              </a:spcAft>
              <a:buSzPct val="100000"/>
              <a:buChar char="•"/>
            </a:pPr>
            <a:r>
              <a:rPr lang="en-US" sz="2100" b="1" dirty="0">
                <a:solidFill>
                  <a:schemeClr val="tx1"/>
                </a:solidFill>
              </a:rPr>
              <a:t>Sem significado que possa mudar</a:t>
            </a:r>
            <a:r>
              <a:rPr lang="en-US" sz="2100" dirty="0">
                <a:solidFill>
                  <a:schemeClr val="tx1"/>
                </a:solidFill>
              </a:rPr>
              <a:t>: o local ou o status não entram no ID; ficam em colunas.</a:t>
            </a:r>
            <a:endParaRPr lang="en-US" sz="2100" dirty="0"/>
          </a:p>
          <a:p>
            <a:pPr marL="279400" indent="-279400" algn="l">
              <a:lnSpc>
                <a:spcPct val="105000"/>
              </a:lnSpc>
              <a:spcAft>
                <a:spcPts val="672"/>
              </a:spcAft>
              <a:buSzPct val="100000"/>
              <a:buChar char="•"/>
            </a:pPr>
            <a:r>
              <a:rPr lang="en-US" sz="2100" b="1" dirty="0">
                <a:solidFill>
                  <a:schemeClr val="tx1"/>
                </a:solidFill>
              </a:rPr>
              <a:t>Validáveis por regra</a:t>
            </a:r>
            <a:r>
              <a:rPr lang="en-US" sz="2100" dirty="0">
                <a:solidFill>
                  <a:schemeClr val="tx1"/>
                </a:solidFill>
              </a:rPr>
              <a:t>: </a:t>
            </a:r>
            <a:r>
              <a:rPr lang="en-US" sz="1932" dirty="0">
                <a:solidFill>
                  <a:schemeClr val="accent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^DH[0-9]{2}_[0-9]{4}$</a:t>
            </a:r>
            <a:r>
              <a:rPr lang="en-US" sz="2100" dirty="0">
                <a:solidFill>
                  <a:schemeClr val="tx1"/>
                </a:solidFill>
              </a:rPr>
              <a:t> detecta qualquer desvio, inclusive espaços invisíveis.</a:t>
            </a:r>
            <a:endParaRPr lang="en-US" sz="2100" dirty="0"/>
          </a:p>
          <a:p>
            <a:pPr marL="279400" indent="-279400" algn="l">
              <a:lnSpc>
                <a:spcPct val="105000"/>
              </a:lnSpc>
              <a:buSzPct val="100000"/>
              <a:buChar char="•"/>
            </a:pPr>
            <a:r>
              <a:rPr lang="en-US" sz="2100" b="1" dirty="0">
                <a:solidFill>
                  <a:schemeClr val="tx1"/>
                </a:solidFill>
              </a:rPr>
              <a:t>Um ID por entidade</a:t>
            </a:r>
            <a:r>
              <a:rPr lang="en-US" sz="2100" dirty="0">
                <a:solidFill>
                  <a:schemeClr val="tx1"/>
                </a:solidFill>
              </a:rPr>
              <a:t>: germoplasma, parcela, amostra de DNA e ensaio têm identificadores distintos, ligados por tabelas.</a:t>
            </a:r>
            <a:endParaRPr lang="en-US" sz="2100" dirty="0"/>
          </a:p>
        </p:txBody>
      </p:sp>
      <p:sp>
        <p:nvSpPr>
          <p:cNvPr id="4" name="rodape"/>
          <p:cNvSpPr txBox="1"/>
          <p:nvPr/>
        </p:nvSpPr>
        <p:spPr>
          <a:xfrm>
            <a:off x="566928" y="640080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50" kern="0" spc="100" dirty="0">
                <a:solidFill>
                  <a:schemeClr val="tx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SEÇÃO 1 · BLOCO 4</a:t>
            </a:r>
            <a:endParaRPr lang="en-US" sz="95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527487" y="6400800"/>
            <a:ext cx="109728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xmlns="" val="0"/>
            </a:ext>
          </a:extLst>
        </p:spPr>
        <p:txBody>
          <a:bodyPr lIns="0" tIns="0" rIns="0" bIns="0"/>
          <a:lstStyle>
            <a:lvl1pPr>
              <a:defRPr sz="1000">
                <a:solidFill>
                  <a:srgbClr val="8FA9A3"/>
                </a:solidFill>
                <a:latin typeface="Courier New"/>
                <a:ea typeface="Courier New"/>
                <a:cs typeface="Courier New"/>
              </a:defRPr>
            </a:lvl1pPr>
          </a:lstStyle>
          <a:p>
            <a:pPr algn="r"/>
            <a:fld id="{F7021451-1387-4CA6-816F-3879F97B5CBC}" type="slidenum">
              <a:rPr lang="en-US" b="0"/>
              <a:t>36</a:t>
            </a:fld>
            <a:endParaRPr lang="en-US"/>
          </a:p>
        </p:txBody>
      </p:sp>
    </p:spTree>
  </p:cSld>
  <p:clrMapOvr>
    <a:masterClrMapping/>
  </p:clrMapOvr>
</p:sld>
</file>

<file path=ppt/slides/slide3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>
            <a:spLocks noGrp="1"/>
          </p:cNvSpPr>
          <p:nvPr>
            <p:ph type="title" idx="100" hasCustomPrompt="1"/>
          </p:nvPr>
        </p:nvSpPr>
        <p:spPr>
          <a:xfrm>
            <a:off x="566928" y="384048"/>
            <a:ext cx="11057839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buNone/>
            </a:pPr>
            <a:r>
              <a:rPr lang="en-US" sz="1900" b="1" dirty="0">
                <a:solidFill>
                  <a:schemeClr val="accent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4.3   </a:t>
            </a:r>
            <a:r>
              <a:rPr lang="en-US" sz="2800" b="1" dirty="0">
                <a:solidFill>
                  <a:schemeClr val="tx1"/>
                </a:solidFill>
              </a:rPr>
              <a:t>Dicionário de variáveis e ontologias</a:t>
            </a:r>
            <a:endParaRPr lang="en-US" sz="2800" dirty="0"/>
          </a:p>
        </p:txBody>
      </p:sp>
      <p:graphicFrame>
        <p:nvGraphicFramePr>
          <p:cNvPr id="38" name="tabela-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66928" y="1085240"/>
          <a:ext cx="11057839" cy="2867200"/>
        </p:xfrm>
        <a:graphic>
          <a:graphicData uri="http://schemas.openxmlformats.org/drawingml/2006/table">
            <a:tbl>
              <a:tblPr/>
              <a:tblGrid>
                <a:gridCol w="2407368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8650471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</a:tblGrid>
              <a:tr h="358400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722" b="1" dirty="0">
                          <a:solidFill>
                            <a:schemeClr val="tx1"/>
                          </a:solidFill>
                        </a:rPr>
                        <a:t>Campo</a:t>
                      </a:r>
                      <a:endParaRPr lang="en-US" sz="1722" dirty="0"/>
                    </a:p>
                  </a:txBody>
                  <a:tcPr marL="73152" marR="73152" marT="32004" marB="32004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9050" cap="flat" cmpd="sng" algn="ctr">
                      <a:solidFill>
                        <a:srgbClr val="A6E35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722" b="1" dirty="0">
                          <a:solidFill>
                            <a:schemeClr val="tx1"/>
                          </a:solidFill>
                        </a:rPr>
                        <a:t>Exemplo (PROD)</a:t>
                      </a:r>
                      <a:endParaRPr lang="en-US" sz="1722" dirty="0"/>
                    </a:p>
                  </a:txBody>
                  <a:tcPr marL="73152" marR="73152" marT="32004" marB="32004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9050" cap="flat" cmpd="sng" algn="ctr">
                      <a:solidFill>
                        <a:srgbClr val="A6E35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358400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722" dirty="0">
                          <a:solidFill>
                            <a:schemeClr val="tx1"/>
                          </a:solidFill>
                        </a:rPr>
                        <a:t>Código</a:t>
                      </a:r>
                      <a:endParaRPr lang="en-US" sz="1722" dirty="0"/>
                    </a:p>
                  </a:txBody>
                  <a:tcPr marL="73152" marR="73152" marT="32004" marB="32004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19050" cap="flat" cmpd="sng" algn="ctr">
                      <a:solidFill>
                        <a:srgbClr val="A6E35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1D3A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722" dirty="0">
                          <a:solidFill>
                            <a:schemeClr val="tx1"/>
                          </a:solidFill>
                        </a:rPr>
                        <a:t>PROD</a:t>
                      </a:r>
                      <a:endParaRPr lang="en-US" sz="1722" dirty="0"/>
                    </a:p>
                  </a:txBody>
                  <a:tcPr marL="73152" marR="73152" marT="32004" marB="32004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19050" cap="flat" cmpd="sng" algn="ctr">
                      <a:solidFill>
                        <a:srgbClr val="A6E35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1D3A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358400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722" dirty="0">
                          <a:solidFill>
                            <a:schemeClr val="tx1"/>
                          </a:solidFill>
                        </a:rPr>
                        <a:t>Descrição</a:t>
                      </a:r>
                      <a:endParaRPr lang="en-US" sz="1722" dirty="0"/>
                    </a:p>
                  </a:txBody>
                  <a:tcPr marL="73152" marR="73152" marT="32004" marB="32004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9525" cap="flat" cmpd="sng" algn="ctr">
                      <a:solidFill>
                        <a:srgbClr val="1D3A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1D3A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722" dirty="0">
                          <a:solidFill>
                            <a:schemeClr val="tx1"/>
                          </a:solidFill>
                        </a:rPr>
                        <a:t>Produtividade de grãos corrigida a 13% de umidade</a:t>
                      </a:r>
                      <a:endParaRPr lang="en-US" sz="1722" dirty="0"/>
                    </a:p>
                  </a:txBody>
                  <a:tcPr marL="73152" marR="73152" marT="32004" marB="32004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9525" cap="flat" cmpd="sng" algn="ctr">
                      <a:solidFill>
                        <a:srgbClr val="1D3A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1D3A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358400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722" dirty="0">
                          <a:solidFill>
                            <a:schemeClr val="tx1"/>
                          </a:solidFill>
                        </a:rPr>
                        <a:t>Unidade</a:t>
                      </a:r>
                      <a:endParaRPr lang="en-US" sz="1722" dirty="0"/>
                    </a:p>
                  </a:txBody>
                  <a:tcPr marL="73152" marR="73152" marT="32004" marB="32004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9525" cap="flat" cmpd="sng" algn="ctr">
                      <a:solidFill>
                        <a:srgbClr val="1D3A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1D3A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722" dirty="0">
                          <a:solidFill>
                            <a:schemeClr val="tx1"/>
                          </a:solidFill>
                        </a:rPr>
                        <a:t>kg/ha</a:t>
                      </a:r>
                      <a:endParaRPr lang="en-US" sz="1722" dirty="0"/>
                    </a:p>
                  </a:txBody>
                  <a:tcPr marL="73152" marR="73152" marT="32004" marB="32004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9525" cap="flat" cmpd="sng" algn="ctr">
                      <a:solidFill>
                        <a:srgbClr val="1D3A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1D3A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358400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722" dirty="0">
                          <a:solidFill>
                            <a:schemeClr val="tx1"/>
                          </a:solidFill>
                        </a:rPr>
                        <a:t>Método</a:t>
                      </a:r>
                      <a:endParaRPr lang="en-US" sz="1722" dirty="0"/>
                    </a:p>
                  </a:txBody>
                  <a:tcPr marL="73152" marR="73152" marT="32004" marB="32004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9525" cap="flat" cmpd="sng" algn="ctr">
                      <a:solidFill>
                        <a:srgbClr val="1D3A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1D3A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722" dirty="0">
                          <a:solidFill>
                            <a:schemeClr val="tx1"/>
                          </a:solidFill>
                        </a:rPr>
                        <a:t>Pesagem da parcela inteira; correção pela umidade medida na colheita</a:t>
                      </a:r>
                      <a:endParaRPr lang="en-US" sz="1722" dirty="0"/>
                    </a:p>
                  </a:txBody>
                  <a:tcPr marL="73152" marR="73152" marT="32004" marB="32004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9525" cap="flat" cmpd="sng" algn="ctr">
                      <a:solidFill>
                        <a:srgbClr val="1D3A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1D3A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358400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722" dirty="0">
                          <a:solidFill>
                            <a:schemeClr val="tx1"/>
                          </a:solidFill>
                        </a:rPr>
                        <a:t>Escala e intervalo</a:t>
                      </a:r>
                      <a:endParaRPr lang="en-US" sz="1722" dirty="0"/>
                    </a:p>
                  </a:txBody>
                  <a:tcPr marL="73152" marR="73152" marT="32004" marB="32004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9525" cap="flat" cmpd="sng" algn="ctr">
                      <a:solidFill>
                        <a:srgbClr val="1D3A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1D3A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722" dirty="0">
                          <a:solidFill>
                            <a:schemeClr val="tx1"/>
                          </a:solidFill>
                        </a:rPr>
                        <a:t>Contínua; 2.000 a 20.000</a:t>
                      </a:r>
                      <a:endParaRPr lang="en-US" sz="1722" dirty="0"/>
                    </a:p>
                  </a:txBody>
                  <a:tcPr marL="73152" marR="73152" marT="32004" marB="32004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9525" cap="flat" cmpd="sng" algn="ctr">
                      <a:solidFill>
                        <a:srgbClr val="1D3A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1D3A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  <a:tr h="358400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722" dirty="0">
                          <a:solidFill>
                            <a:schemeClr val="tx1"/>
                          </a:solidFill>
                        </a:rPr>
                        <a:t>Momento</a:t>
                      </a:r>
                      <a:endParaRPr lang="en-US" sz="1722" dirty="0"/>
                    </a:p>
                  </a:txBody>
                  <a:tcPr marL="73152" marR="73152" marT="32004" marB="32004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9525" cap="flat" cmpd="sng" algn="ctr">
                      <a:solidFill>
                        <a:srgbClr val="1D3A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1D3A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722" dirty="0">
                          <a:solidFill>
                            <a:schemeClr val="tx1"/>
                          </a:solidFill>
                        </a:rPr>
                        <a:t>Colheita</a:t>
                      </a:r>
                      <a:endParaRPr lang="en-US" sz="1722" dirty="0"/>
                    </a:p>
                  </a:txBody>
                  <a:tcPr marL="73152" marR="73152" marT="32004" marB="32004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9525" cap="flat" cmpd="sng" algn="ctr">
                      <a:solidFill>
                        <a:srgbClr val="1D3A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1D3A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6"/>
                  </a:ext>
                </a:extLst>
              </a:tr>
              <a:tr h="358400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722" dirty="0">
                          <a:solidFill>
                            <a:schemeClr val="tx1"/>
                          </a:solidFill>
                        </a:rPr>
                        <a:t>Código de ausente</a:t>
                      </a:r>
                      <a:endParaRPr lang="en-US" sz="1722" dirty="0"/>
                    </a:p>
                  </a:txBody>
                  <a:tcPr marL="73152" marR="73152" marT="32004" marB="32004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9525" cap="flat" cmpd="sng" algn="ctr">
                      <a:solidFill>
                        <a:srgbClr val="1D3A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0" cap="flat" cmpd="sng" algn="ctr"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722" dirty="0">
                          <a:solidFill>
                            <a:schemeClr val="tx1"/>
                          </a:solidFill>
                        </a:rPr>
                        <a:t>NA, com motivo</a:t>
                      </a:r>
                      <a:endParaRPr lang="en-US" sz="1722" dirty="0"/>
                    </a:p>
                  </a:txBody>
                  <a:tcPr marL="73152" marR="73152" marT="32004" marB="32004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9525" cap="flat" cmpd="sng" algn="ctr">
                      <a:solidFill>
                        <a:srgbClr val="1D3A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0" cap="flat" cmpd="sng" algn="ctr">
                      <a:noFill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7"/>
                  </a:ext>
                </a:extLst>
              </a:tr>
            </a:tbl>
          </a:graphicData>
        </a:graphic>
      </p:graphicFrame>
      <p:sp>
        <p:nvSpPr>
          <p:cNvPr id="4" name="texto-1"/>
          <p:cNvSpPr txBox="1"/>
          <p:nvPr/>
        </p:nvSpPr>
        <p:spPr>
          <a:xfrm>
            <a:off x="566928" y="4112459"/>
            <a:ext cx="11057839" cy="11291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279400" indent="-279400" algn="l">
              <a:lnSpc>
                <a:spcPct val="105000"/>
              </a:lnSpc>
              <a:spcAft>
                <a:spcPts val="672"/>
              </a:spcAft>
              <a:buSzPct val="100000"/>
              <a:buChar char="•"/>
            </a:pPr>
            <a:r>
              <a:rPr lang="en-US" sz="2100" dirty="0">
                <a:solidFill>
                  <a:schemeClr val="tx1"/>
                </a:solidFill>
              </a:rPr>
              <a:t>A </a:t>
            </a:r>
            <a:r>
              <a:rPr lang="en-US" sz="2100" b="1" dirty="0">
                <a:solidFill>
                  <a:schemeClr val="tx1"/>
                </a:solidFill>
              </a:rPr>
              <a:t>Crop Ontology</a:t>
            </a:r>
            <a:r>
              <a:rPr lang="en-US" sz="2100" dirty="0">
                <a:solidFill>
                  <a:schemeClr val="tx1"/>
                </a:solidFill>
              </a:rPr>
              <a:t> padroniza variáveis como </a:t>
            </a:r>
            <a:r>
              <a:rPr lang="en-US" sz="2100" b="1" dirty="0">
                <a:solidFill>
                  <a:schemeClr val="tx1"/>
                </a:solidFill>
              </a:rPr>
              <a:t>caráter + método + escala</a:t>
            </a:r>
            <a:r>
              <a:rPr lang="en-US" sz="2100" dirty="0">
                <a:solidFill>
                  <a:schemeClr val="tx1"/>
                </a:solidFill>
              </a:rPr>
              <a:t>: duas instituições medindo "produtividade" de formas diferentes têm variáveis diferentes.</a:t>
            </a:r>
            <a:endParaRPr lang="en-US" sz="2100" dirty="0"/>
          </a:p>
          <a:p>
            <a:pPr marL="279400" indent="-279400" algn="l">
              <a:lnSpc>
                <a:spcPct val="105000"/>
              </a:lnSpc>
              <a:buSzPct val="100000"/>
              <a:buChar char="•"/>
            </a:pPr>
            <a:r>
              <a:rPr lang="en-US" sz="2100" dirty="0">
                <a:solidFill>
                  <a:schemeClr val="tx1"/>
                </a:solidFill>
              </a:rPr>
              <a:t>O dicionário é lido pelas pessoas, pelos scripts de QC e pelo agente de IA.</a:t>
            </a:r>
            <a:endParaRPr lang="en-US" sz="2100" dirty="0"/>
          </a:p>
        </p:txBody>
      </p:sp>
      <p:sp>
        <p:nvSpPr>
          <p:cNvPr id="5" name="rodape"/>
          <p:cNvSpPr txBox="1"/>
          <p:nvPr/>
        </p:nvSpPr>
        <p:spPr>
          <a:xfrm>
            <a:off x="566928" y="640080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50" kern="0" spc="100" dirty="0">
                <a:solidFill>
                  <a:schemeClr val="tx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SEÇÃO 1 · BLOCO 4</a:t>
            </a:r>
            <a:endParaRPr lang="en-US" sz="95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527487" y="6400800"/>
            <a:ext cx="109728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xmlns="" val="0"/>
            </a:ext>
          </a:extLst>
        </p:spPr>
        <p:txBody>
          <a:bodyPr lIns="0" tIns="0" rIns="0" bIns="0"/>
          <a:lstStyle>
            <a:lvl1pPr>
              <a:defRPr sz="1000">
                <a:solidFill>
                  <a:srgbClr val="8FA9A3"/>
                </a:solidFill>
                <a:latin typeface="Courier New"/>
                <a:ea typeface="Courier New"/>
                <a:cs typeface="Courier New"/>
              </a:defRPr>
            </a:lvl1pPr>
          </a:lstStyle>
          <a:p>
            <a:pPr algn="r"/>
            <a:fld id="{F7021451-1387-4CA6-816F-3879F97B5CBC}" type="slidenum">
              <a:rPr lang="en-US" b="0"/>
              <a:t>37</a:t>
            </a:fld>
            <a:endParaRPr lang="en-US"/>
          </a:p>
        </p:txBody>
      </p:sp>
    </p:spTree>
  </p:cSld>
  <p:clrMapOvr>
    <a:masterClrMapping/>
  </p:clrMapOvr>
</p:sld>
</file>

<file path=ppt/slides/slide3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8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>
            <a:spLocks noGrp="1"/>
          </p:cNvSpPr>
          <p:nvPr>
            <p:ph type="title" idx="100" hasCustomPrompt="1"/>
          </p:nvPr>
        </p:nvSpPr>
        <p:spPr>
          <a:xfrm>
            <a:off x="566928" y="384048"/>
            <a:ext cx="11057839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buNone/>
            </a:pPr>
            <a:r>
              <a:rPr lang="en-US" sz="1900" b="1" dirty="0">
                <a:solidFill>
                  <a:schemeClr val="accent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4.4   </a:t>
            </a:r>
            <a:r>
              <a:rPr lang="en-US" sz="2800" b="1" dirty="0">
                <a:solidFill>
                  <a:schemeClr val="tx1"/>
                </a:solidFill>
              </a:rPr>
              <a:t>Curadoria: um processo contínuo, com registro</a:t>
            </a:r>
            <a:endParaRPr lang="en-US" sz="2800" dirty="0"/>
          </a:p>
        </p:txBody>
      </p:sp>
      <p:sp>
        <p:nvSpPr>
          <p:cNvPr id="3" name="texto-0"/>
          <p:cNvSpPr txBox="1"/>
          <p:nvPr/>
        </p:nvSpPr>
        <p:spPr>
          <a:xfrm>
            <a:off x="566928" y="1085240"/>
            <a:ext cx="11057839" cy="70196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279400" indent="-279400" algn="l">
              <a:lnSpc>
                <a:spcPct val="105000"/>
              </a:lnSpc>
              <a:buSzPct val="100000"/>
              <a:buChar char="•"/>
            </a:pPr>
            <a:r>
              <a:rPr lang="en-US" sz="2100" dirty="0">
                <a:solidFill>
                  <a:schemeClr val="tx1"/>
                </a:solidFill>
              </a:rPr>
              <a:t>O dado bruto </a:t>
            </a:r>
            <a:r>
              <a:rPr lang="en-US" sz="2100" b="1" dirty="0">
                <a:solidFill>
                  <a:schemeClr val="tx1"/>
                </a:solidFill>
              </a:rPr>
              <a:t>nunca</a:t>
            </a:r>
            <a:r>
              <a:rPr lang="en-US" sz="2100" dirty="0">
                <a:solidFill>
                  <a:schemeClr val="tx1"/>
                </a:solidFill>
              </a:rPr>
              <a:t> é editado. Correções são </a:t>
            </a:r>
            <a:r>
              <a:rPr lang="en-US" sz="2100" b="1" dirty="0">
                <a:solidFill>
                  <a:schemeClr val="tx1"/>
                </a:solidFill>
              </a:rPr>
              <a:t>dados sobre dados</a:t>
            </a:r>
            <a:r>
              <a:rPr lang="en-US" sz="2100" dirty="0">
                <a:solidFill>
                  <a:schemeClr val="tx1"/>
                </a:solidFill>
              </a:rPr>
              <a:t>, guardados em uma tabela própria:</a:t>
            </a:r>
            <a:endParaRPr lang="en-US" sz="2100" dirty="0"/>
          </a:p>
        </p:txBody>
      </p:sp>
      <p:sp>
        <p:nvSpPr>
          <p:cNvPr id="4" name="ret-1"/>
          <p:cNvSpPr/>
          <p:nvPr/>
        </p:nvSpPr>
        <p:spPr>
          <a:xfrm>
            <a:off x="566928" y="1928938"/>
            <a:ext cx="11057839" cy="664706"/>
          </a:xfrm>
          <a:prstGeom prst="roundRect">
            <a:avLst>
              <a:gd name="adj" fmla="val 8254"/>
            </a:avLst>
          </a:prstGeom>
          <a:solidFill>
            <a:schemeClr val="accent5"/>
          </a:solidFill>
          <a:ln w="9525">
            <a:solidFill>
              <a:schemeClr val="accent4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5" name="texto-2"/>
          <p:cNvSpPr txBox="1"/>
          <p:nvPr/>
        </p:nvSpPr>
        <p:spPr>
          <a:xfrm>
            <a:off x="713232" y="2020378"/>
            <a:ext cx="10765231" cy="50011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ct val="100000"/>
              </a:lnSpc>
              <a:buNone/>
            </a:pPr>
            <a:r>
              <a:rPr lang="en-US" sz="1054" dirty="0">
                <a:solidFill>
                  <a:schemeClr val="tx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data,tabela,chave,campo,valor_antigo,valor_novo,motivo,responsavel</a:t>
            </a:r>
            <a:endParaRPr lang="en-US" sz="1054" dirty="0"/>
          </a:p>
          <a:p>
            <a:pPr marL="0" indent="0" algn="l">
              <a:lnSpc>
                <a:spcPct val="100000"/>
              </a:lnSpc>
              <a:buNone/>
            </a:pPr>
            <a:r>
              <a:rPr lang="en-US" sz="1054" dirty="0">
                <a:solidFill>
                  <a:schemeClr val="tx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2026-03-20,bruto_parcelas,P_PGO_2025_V_0113,PROD,104613,10461.3,dígito extra na digitação (conferido no caderno de campo),A. Souza</a:t>
            </a:r>
            <a:endParaRPr lang="en-US" sz="1054" dirty="0"/>
          </a:p>
          <a:p>
            <a:pPr marL="0" indent="0" algn="l">
              <a:lnSpc>
                <a:spcPct val="100000"/>
              </a:lnSpc>
              <a:buNone/>
            </a:pPr>
            <a:r>
              <a:rPr lang="en-US" sz="1054" dirty="0">
                <a:solidFill>
                  <a:schemeClr val="tx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2026-03-20,bruto_parcelas,P_PGO_2025_V_0436,germoplasma_nome,dh25_0266,DH25_0266,padronização de ID,A. Souza</a:t>
            </a:r>
            <a:endParaRPr lang="en-US" sz="1054" dirty="0"/>
          </a:p>
        </p:txBody>
      </p:sp>
      <p:sp>
        <p:nvSpPr>
          <p:cNvPr id="6" name="texto-3"/>
          <p:cNvSpPr txBox="1"/>
          <p:nvPr/>
        </p:nvSpPr>
        <p:spPr>
          <a:xfrm>
            <a:off x="566928" y="2753663"/>
            <a:ext cx="11057839" cy="1470987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279400" indent="-279400" algn="l">
              <a:lnSpc>
                <a:spcPct val="105000"/>
              </a:lnSpc>
              <a:spcAft>
                <a:spcPts val="672"/>
              </a:spcAft>
              <a:buSzPct val="100000"/>
              <a:buChar char="•"/>
            </a:pPr>
            <a:r>
              <a:rPr lang="en-US" sz="2100" dirty="0">
                <a:solidFill>
                  <a:schemeClr val="tx1"/>
                </a:solidFill>
              </a:rPr>
              <a:t>Um script aplica o registro e reconstrói a camada curada: qualquer pessoa refaz o caminho do bruto ao curado.</a:t>
            </a:r>
            <a:endParaRPr lang="en-US" sz="2100" dirty="0"/>
          </a:p>
          <a:p>
            <a:pPr marL="279400" indent="-279400" algn="l">
              <a:lnSpc>
                <a:spcPct val="105000"/>
              </a:lnSpc>
              <a:buSzPct val="100000"/>
              <a:buChar char="•"/>
            </a:pPr>
            <a:r>
              <a:rPr lang="en-US" sz="2100" dirty="0">
                <a:solidFill>
                  <a:schemeClr val="tx1"/>
                </a:solidFill>
              </a:rPr>
              <a:t>Papel do </a:t>
            </a:r>
            <a:r>
              <a:rPr lang="en-US" sz="2100" b="1" dirty="0">
                <a:solidFill>
                  <a:schemeClr val="tx1"/>
                </a:solidFill>
              </a:rPr>
              <a:t>curador de dados</a:t>
            </a:r>
            <a:r>
              <a:rPr lang="en-US" sz="2100" dirty="0">
                <a:solidFill>
                  <a:schemeClr val="tx1"/>
                </a:solidFill>
              </a:rPr>
              <a:t>: dono das regras, das correções e do dicionário; ponto de contato entre campo, laboratório e análise.</a:t>
            </a:r>
            <a:endParaRPr lang="en-US" sz="2100" dirty="0"/>
          </a:p>
        </p:txBody>
      </p:sp>
      <p:sp>
        <p:nvSpPr>
          <p:cNvPr id="7" name="rodape"/>
          <p:cNvSpPr txBox="1"/>
          <p:nvPr/>
        </p:nvSpPr>
        <p:spPr>
          <a:xfrm>
            <a:off x="566928" y="640080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50" kern="0" spc="100" dirty="0">
                <a:solidFill>
                  <a:schemeClr val="tx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SEÇÃO 1 · BLOCO 4</a:t>
            </a:r>
            <a:endParaRPr lang="en-US" sz="95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527487" y="6400800"/>
            <a:ext cx="109728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xmlns="" val="0"/>
            </a:ext>
          </a:extLst>
        </p:spPr>
        <p:txBody>
          <a:bodyPr lIns="0" tIns="0" rIns="0" bIns="0"/>
          <a:lstStyle>
            <a:lvl1pPr>
              <a:defRPr sz="1000">
                <a:solidFill>
                  <a:srgbClr val="8FA9A3"/>
                </a:solidFill>
                <a:latin typeface="Courier New"/>
                <a:ea typeface="Courier New"/>
                <a:cs typeface="Courier New"/>
              </a:defRPr>
            </a:lvl1pPr>
          </a:lstStyle>
          <a:p>
            <a:pPr algn="r"/>
            <a:fld id="{F7021451-1387-4CA6-816F-3879F97B5CBC}" type="slidenum">
              <a:rPr lang="en-US" b="0"/>
              <a:t>38</a:t>
            </a:fld>
            <a:endParaRPr lang="en-US"/>
          </a:p>
        </p:txBody>
      </p:sp>
    </p:spTree>
  </p:cSld>
  <p:clrMapOvr>
    <a:masterClrMapping/>
  </p:clrMapOvr>
</p:sld>
</file>

<file path=ppt/slides/slide3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9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>
            <a:spLocks noGrp="1"/>
          </p:cNvSpPr>
          <p:nvPr>
            <p:ph type="title" idx="100" hasCustomPrompt="1"/>
          </p:nvPr>
        </p:nvSpPr>
        <p:spPr>
          <a:xfrm>
            <a:off x="566928" y="384048"/>
            <a:ext cx="11057839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buNone/>
            </a:pPr>
            <a:r>
              <a:rPr lang="en-US" sz="1900" b="1" dirty="0">
                <a:solidFill>
                  <a:schemeClr val="accent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4.5   </a:t>
            </a:r>
            <a:r>
              <a:rPr lang="en-US" sz="2800" b="1" dirty="0">
                <a:solidFill>
                  <a:schemeClr val="tx1"/>
                </a:solidFill>
              </a:rPr>
              <a:t>Proveniência, versão e FAIR</a:t>
            </a:r>
            <a:endParaRPr lang="en-US" sz="2800" dirty="0"/>
          </a:p>
        </p:txBody>
      </p:sp>
      <p:sp>
        <p:nvSpPr>
          <p:cNvPr id="3" name="texto-0"/>
          <p:cNvSpPr txBox="1"/>
          <p:nvPr/>
        </p:nvSpPr>
        <p:spPr>
          <a:xfrm>
            <a:off x="566928" y="1085240"/>
            <a:ext cx="11057839" cy="11291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279400" indent="-279400" algn="l">
              <a:lnSpc>
                <a:spcPct val="105000"/>
              </a:lnSpc>
              <a:spcAft>
                <a:spcPts val="672"/>
              </a:spcAft>
              <a:buSzPct val="100000"/>
              <a:buChar char="•"/>
            </a:pPr>
            <a:r>
              <a:rPr lang="en-US" sz="2100" dirty="0">
                <a:solidFill>
                  <a:schemeClr val="tx1"/>
                </a:solidFill>
              </a:rPr>
              <a:t>Toda análise registra </a:t>
            </a:r>
            <a:r>
              <a:rPr lang="en-US" sz="2100" b="1" dirty="0">
                <a:solidFill>
                  <a:schemeClr val="tx1"/>
                </a:solidFill>
              </a:rPr>
              <a:t>de onde</a:t>
            </a:r>
            <a:r>
              <a:rPr lang="en-US" sz="2100" dirty="0">
                <a:solidFill>
                  <a:schemeClr val="tx1"/>
                </a:solidFill>
              </a:rPr>
              <a:t> vieram os dados: data da extração, versão do banco ou hash do arquivo, consulta usada.</a:t>
            </a:r>
            <a:endParaRPr lang="en-US" sz="2100" dirty="0"/>
          </a:p>
          <a:p>
            <a:pPr marL="279400" indent="-279400" algn="l">
              <a:lnSpc>
                <a:spcPct val="105000"/>
              </a:lnSpc>
              <a:buSzPct val="100000"/>
              <a:buChar char="•"/>
            </a:pPr>
            <a:r>
              <a:rPr lang="en-US" sz="2100" dirty="0">
                <a:solidFill>
                  <a:schemeClr val="tx1"/>
                </a:solidFill>
              </a:rPr>
              <a:t>Princípios </a:t>
            </a:r>
            <a:r>
              <a:rPr lang="en-US" sz="2100" b="1" dirty="0">
                <a:solidFill>
                  <a:schemeClr val="tx1"/>
                </a:solidFill>
              </a:rPr>
              <a:t>FAIR</a:t>
            </a:r>
            <a:r>
              <a:rPr lang="en-US" sz="2100" dirty="0">
                <a:solidFill>
                  <a:schemeClr val="tx1"/>
                </a:solidFill>
              </a:rPr>
              <a:t>:</a:t>
            </a:r>
            <a:endParaRPr lang="en-US" sz="2100" dirty="0"/>
          </a:p>
        </p:txBody>
      </p:sp>
      <p:graphicFrame>
        <p:nvGraphicFramePr>
          <p:cNvPr id="40" name="tabela-1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66928" y="2356121"/>
          <a:ext cx="11057839" cy="1792000"/>
        </p:xfrm>
        <a:graphic>
          <a:graphicData uri="http://schemas.openxmlformats.org/drawingml/2006/table">
            <a:tbl>
              <a:tblPr/>
              <a:tblGrid>
                <a:gridCol w="2100203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2066153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6891483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</a:tblGrid>
              <a:tr h="358400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endParaRPr lang="en-US" sz="1722" dirty="0"/>
                    </a:p>
                  </a:txBody>
                  <a:tcPr marL="73152" marR="73152" marT="32004" marB="32004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9050" cap="flat" cmpd="sng" algn="ctr">
                      <a:solidFill>
                        <a:srgbClr val="A6E35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722" b="1" dirty="0">
                          <a:solidFill>
                            <a:schemeClr val="tx1"/>
                          </a:solidFill>
                        </a:rPr>
                        <a:t>Significado</a:t>
                      </a:r>
                      <a:endParaRPr lang="en-US" sz="1722" dirty="0"/>
                    </a:p>
                  </a:txBody>
                  <a:tcPr marL="73152" marR="73152" marT="32004" marB="32004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9050" cap="flat" cmpd="sng" algn="ctr">
                      <a:solidFill>
                        <a:srgbClr val="A6E35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722" b="1" dirty="0">
                          <a:solidFill>
                            <a:schemeClr val="tx1"/>
                          </a:solidFill>
                        </a:rPr>
                        <a:t>No programa</a:t>
                      </a:r>
                      <a:endParaRPr lang="en-US" sz="1722" dirty="0"/>
                    </a:p>
                  </a:txBody>
                  <a:tcPr marL="73152" marR="73152" marT="32004" marB="32004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9050" cap="flat" cmpd="sng" algn="ctr">
                      <a:solidFill>
                        <a:srgbClr val="A6E35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358400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722" dirty="0">
                          <a:solidFill>
                            <a:schemeClr val="tx1"/>
                          </a:solidFill>
                        </a:rPr>
                        <a:t>Findable</a:t>
                      </a:r>
                      <a:endParaRPr lang="en-US" sz="1722" dirty="0"/>
                    </a:p>
                  </a:txBody>
                  <a:tcPr marL="73152" marR="73152" marT="32004" marB="32004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19050" cap="flat" cmpd="sng" algn="ctr">
                      <a:solidFill>
                        <a:srgbClr val="A6E35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1D3A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722" dirty="0">
                          <a:solidFill>
                            <a:schemeClr val="tx1"/>
                          </a:solidFill>
                        </a:rPr>
                        <a:t>Encontrável</a:t>
                      </a:r>
                      <a:endParaRPr lang="en-US" sz="1722" dirty="0"/>
                    </a:p>
                  </a:txBody>
                  <a:tcPr marL="73152" marR="73152" marT="32004" marB="32004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19050" cap="flat" cmpd="sng" algn="ctr">
                      <a:solidFill>
                        <a:srgbClr val="A6E35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1D3A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722" dirty="0">
                          <a:solidFill>
                            <a:schemeClr val="tx1"/>
                          </a:solidFill>
                        </a:rPr>
                        <a:t>IDs persistentes; metadados de cada ensaio</a:t>
                      </a:r>
                      <a:endParaRPr lang="en-US" sz="1722" dirty="0"/>
                    </a:p>
                  </a:txBody>
                  <a:tcPr marL="73152" marR="73152" marT="32004" marB="32004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19050" cap="flat" cmpd="sng" algn="ctr">
                      <a:solidFill>
                        <a:srgbClr val="A6E35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1D3A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358400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722" dirty="0">
                          <a:solidFill>
                            <a:schemeClr val="tx1"/>
                          </a:solidFill>
                        </a:rPr>
                        <a:t>Accessible</a:t>
                      </a:r>
                      <a:endParaRPr lang="en-US" sz="1722" dirty="0"/>
                    </a:p>
                  </a:txBody>
                  <a:tcPr marL="73152" marR="73152" marT="32004" marB="32004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9525" cap="flat" cmpd="sng" algn="ctr">
                      <a:solidFill>
                        <a:srgbClr val="1D3A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1D3A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722" dirty="0">
                          <a:solidFill>
                            <a:schemeClr val="tx1"/>
                          </a:solidFill>
                        </a:rPr>
                        <a:t>Acessível</a:t>
                      </a:r>
                      <a:endParaRPr lang="en-US" sz="1722" dirty="0"/>
                    </a:p>
                  </a:txBody>
                  <a:tcPr marL="73152" marR="73152" marT="32004" marB="32004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9525" cap="flat" cmpd="sng" algn="ctr">
                      <a:solidFill>
                        <a:srgbClr val="1D3A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1D3A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722" dirty="0">
                          <a:solidFill>
                            <a:schemeClr val="tx1"/>
                          </a:solidFill>
                        </a:rPr>
                        <a:t>Repositório institucional com controle de acesso</a:t>
                      </a:r>
                      <a:endParaRPr lang="en-US" sz="1722" dirty="0"/>
                    </a:p>
                  </a:txBody>
                  <a:tcPr marL="73152" marR="73152" marT="32004" marB="32004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9525" cap="flat" cmpd="sng" algn="ctr">
                      <a:solidFill>
                        <a:srgbClr val="1D3A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1D3A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358400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722" dirty="0">
                          <a:solidFill>
                            <a:schemeClr val="tx1"/>
                          </a:solidFill>
                        </a:rPr>
                        <a:t>Interoperable</a:t>
                      </a:r>
                      <a:endParaRPr lang="en-US" sz="1722" dirty="0"/>
                    </a:p>
                  </a:txBody>
                  <a:tcPr marL="73152" marR="73152" marT="32004" marB="32004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9525" cap="flat" cmpd="sng" algn="ctr">
                      <a:solidFill>
                        <a:srgbClr val="1D3A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1D3A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722" dirty="0">
                          <a:solidFill>
                            <a:schemeClr val="tx1"/>
                          </a:solidFill>
                        </a:rPr>
                        <a:t>Interoperável</a:t>
                      </a:r>
                      <a:endParaRPr lang="en-US" sz="1722" dirty="0"/>
                    </a:p>
                  </a:txBody>
                  <a:tcPr marL="73152" marR="73152" marT="32004" marB="32004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9525" cap="flat" cmpd="sng" algn="ctr">
                      <a:solidFill>
                        <a:srgbClr val="1D3A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1D3A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722" dirty="0">
                          <a:solidFill>
                            <a:schemeClr val="tx1"/>
                          </a:solidFill>
                        </a:rPr>
                        <a:t>Crop Ontology, BrAPI, formatos abertos</a:t>
                      </a:r>
                      <a:endParaRPr lang="en-US" sz="1722" dirty="0"/>
                    </a:p>
                  </a:txBody>
                  <a:tcPr marL="73152" marR="73152" marT="32004" marB="32004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9525" cap="flat" cmpd="sng" algn="ctr">
                      <a:solidFill>
                        <a:srgbClr val="1D3A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1D3A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358400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722" dirty="0">
                          <a:solidFill>
                            <a:schemeClr val="tx1"/>
                          </a:solidFill>
                        </a:rPr>
                        <a:t>Reusable</a:t>
                      </a:r>
                      <a:endParaRPr lang="en-US" sz="1722" dirty="0"/>
                    </a:p>
                  </a:txBody>
                  <a:tcPr marL="73152" marR="73152" marT="32004" marB="32004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9525" cap="flat" cmpd="sng" algn="ctr">
                      <a:solidFill>
                        <a:srgbClr val="1D3A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0" cap="flat" cmpd="sng" algn="ctr"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722" dirty="0">
                          <a:solidFill>
                            <a:schemeClr val="tx1"/>
                          </a:solidFill>
                        </a:rPr>
                        <a:t>Reutilizável</a:t>
                      </a:r>
                      <a:endParaRPr lang="en-US" sz="1722" dirty="0"/>
                    </a:p>
                  </a:txBody>
                  <a:tcPr marL="73152" marR="73152" marT="32004" marB="32004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9525" cap="flat" cmpd="sng" algn="ctr">
                      <a:solidFill>
                        <a:srgbClr val="1D3A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0" cap="flat" cmpd="sng" algn="ctr"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722" dirty="0">
                          <a:solidFill>
                            <a:schemeClr val="tx1"/>
                          </a:solidFill>
                        </a:rPr>
                        <a:t>Dicionário, licença, proveniência</a:t>
                      </a:r>
                      <a:endParaRPr lang="en-US" sz="1722" dirty="0"/>
                    </a:p>
                  </a:txBody>
                  <a:tcPr marL="73152" marR="73152" marT="32004" marB="32004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9525" cap="flat" cmpd="sng" algn="ctr">
                      <a:solidFill>
                        <a:srgbClr val="1D3A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0" cap="flat" cmpd="sng" algn="ctr">
                      <a:noFill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</a:tbl>
          </a:graphicData>
        </a:graphic>
      </p:graphicFrame>
      <p:sp>
        <p:nvSpPr>
          <p:cNvPr id="5" name="texto-2"/>
          <p:cNvSpPr txBox="1"/>
          <p:nvPr/>
        </p:nvSpPr>
        <p:spPr>
          <a:xfrm>
            <a:off x="566928" y="6093726"/>
            <a:ext cx="11057839" cy="19734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ct val="105000"/>
              </a:lnSpc>
              <a:buNone/>
            </a:pPr>
            <a:r>
              <a:rPr lang="en-US" sz="1100" dirty="0">
                <a:solidFill>
                  <a:schemeClr val="tx2"/>
                </a:solidFill>
              </a:rPr>
              <a:t>Wilkinson et al. (2016), Scientific Data 3: 160018.</a:t>
            </a:r>
            <a:endParaRPr lang="en-US" sz="1100" dirty="0"/>
          </a:p>
        </p:txBody>
      </p:sp>
      <p:sp>
        <p:nvSpPr>
          <p:cNvPr id="6" name="rodape"/>
          <p:cNvSpPr txBox="1"/>
          <p:nvPr/>
        </p:nvSpPr>
        <p:spPr>
          <a:xfrm>
            <a:off x="566928" y="640080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50" kern="0" spc="100" dirty="0">
                <a:solidFill>
                  <a:schemeClr val="tx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SEÇÃO 1 · BLOCO 4</a:t>
            </a:r>
            <a:endParaRPr lang="en-US" sz="95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527487" y="6400800"/>
            <a:ext cx="109728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xmlns="" val="0"/>
            </a:ext>
          </a:extLst>
        </p:spPr>
        <p:txBody>
          <a:bodyPr lIns="0" tIns="0" rIns="0" bIns="0"/>
          <a:lstStyle>
            <a:lvl1pPr>
              <a:defRPr sz="1000">
                <a:solidFill>
                  <a:srgbClr val="8FA9A3"/>
                </a:solidFill>
                <a:latin typeface="Courier New"/>
                <a:ea typeface="Courier New"/>
                <a:cs typeface="Courier New"/>
              </a:defRPr>
            </a:lvl1pPr>
          </a:lstStyle>
          <a:p>
            <a:pPr algn="r"/>
            <a:fld id="{F7021451-1387-4CA6-816F-3879F97B5CBC}" type="slidenum">
              <a:rPr lang="en-US" b="0"/>
              <a:t>39</a:t>
            </a:fld>
            <a:endParaRPr lang="en-US"/>
          </a:p>
        </p:txBody>
      </p:sp>
    </p:spTree>
  </p:cSld>
  <p:clrMapOvr>
    <a:masterClrMapping/>
  </p:clrMapOvr>
</p:sld>
</file>

<file path=ppt/slides/slide4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0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>
            <a:spLocks noGrp="1"/>
          </p:cNvSpPr>
          <p:nvPr>
            <p:ph type="title" idx="100" hasCustomPrompt="1"/>
          </p:nvPr>
        </p:nvSpPr>
        <p:spPr>
          <a:xfrm>
            <a:off x="566928" y="384048"/>
            <a:ext cx="11057839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buNone/>
            </a:pPr>
            <a:r>
              <a:rPr lang="en-US" sz="1900" b="1" dirty="0">
                <a:solidFill>
                  <a:schemeClr val="accent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4.6   </a:t>
            </a:r>
            <a:r>
              <a:rPr lang="en-US" sz="2800" b="1" dirty="0">
                <a:solidFill>
                  <a:schemeClr val="tx1"/>
                </a:solidFill>
              </a:rPr>
              <a:t>Doze regras para planilhas (Broman e Woo, 2018)</a:t>
            </a:r>
            <a:endParaRPr lang="en-US" sz="2800" dirty="0"/>
          </a:p>
        </p:txBody>
      </p:sp>
      <p:sp>
        <p:nvSpPr>
          <p:cNvPr id="3" name="texto-0"/>
          <p:cNvSpPr txBox="1"/>
          <p:nvPr/>
        </p:nvSpPr>
        <p:spPr>
          <a:xfrm>
            <a:off x="566928" y="1085240"/>
            <a:ext cx="5346040" cy="2496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81000" indent="-381000" algn="l">
              <a:lnSpc>
                <a:spcPct val="105000"/>
              </a:lnSpc>
              <a:spcAft>
                <a:spcPts val="672"/>
              </a:spcAft>
              <a:buSzPct val="100000"/>
              <a:buFont typeface="+mj-lt"/>
              <a:buAutoNum type="arabicPeriod"/>
            </a:pPr>
            <a:r>
              <a:rPr lang="en-US" sz="2100" dirty="0">
                <a:solidFill>
                  <a:schemeClr val="tx1"/>
                </a:solidFill>
              </a:rPr>
              <a:t>Seja consistente</a:t>
            </a:r>
            <a:endParaRPr lang="en-US" sz="2100" dirty="0"/>
          </a:p>
          <a:p>
            <a:pPr marL="381000" indent="-381000" algn="l">
              <a:lnSpc>
                <a:spcPct val="105000"/>
              </a:lnSpc>
              <a:spcAft>
                <a:spcPts val="672"/>
              </a:spcAft>
              <a:buSzPct val="100000"/>
              <a:buFont typeface="+mj-lt"/>
              <a:buAutoNum type="arabicPeriod"/>
            </a:pPr>
            <a:r>
              <a:rPr lang="en-US" sz="2100" dirty="0">
                <a:solidFill>
                  <a:schemeClr val="tx1"/>
                </a:solidFill>
              </a:rPr>
              <a:t>Escolha bons nomes</a:t>
            </a:r>
            <a:endParaRPr lang="en-US" sz="2100" dirty="0"/>
          </a:p>
          <a:p>
            <a:pPr marL="381000" indent="-381000" algn="l">
              <a:lnSpc>
                <a:spcPct val="105000"/>
              </a:lnSpc>
              <a:spcAft>
                <a:spcPts val="672"/>
              </a:spcAft>
              <a:buSzPct val="100000"/>
              <a:buFont typeface="+mj-lt"/>
              <a:buAutoNum type="arabicPeriod"/>
            </a:pPr>
            <a:r>
              <a:rPr lang="en-US" sz="2100" dirty="0">
                <a:solidFill>
                  <a:schemeClr val="tx1"/>
                </a:solidFill>
              </a:rPr>
              <a:t>Datas no formato AAAA-MM-DD</a:t>
            </a:r>
            <a:endParaRPr lang="en-US" sz="2100" dirty="0"/>
          </a:p>
          <a:p>
            <a:pPr marL="381000" indent="-381000" algn="l">
              <a:lnSpc>
                <a:spcPct val="105000"/>
              </a:lnSpc>
              <a:spcAft>
                <a:spcPts val="672"/>
              </a:spcAft>
              <a:buSzPct val="100000"/>
              <a:buFont typeface="+mj-lt"/>
              <a:buAutoNum type="arabicPeriod"/>
            </a:pPr>
            <a:r>
              <a:rPr lang="en-US" sz="2100" dirty="0">
                <a:solidFill>
                  <a:schemeClr val="tx1"/>
                </a:solidFill>
              </a:rPr>
              <a:t>Nenhuma célula vazia</a:t>
            </a:r>
            <a:endParaRPr lang="en-US" sz="2100" dirty="0"/>
          </a:p>
          <a:p>
            <a:pPr marL="381000" indent="-381000" algn="l">
              <a:lnSpc>
                <a:spcPct val="105000"/>
              </a:lnSpc>
              <a:spcAft>
                <a:spcPts val="672"/>
              </a:spcAft>
              <a:buSzPct val="100000"/>
              <a:buFont typeface="+mj-lt"/>
              <a:buAutoNum type="arabicPeriod"/>
            </a:pPr>
            <a:r>
              <a:rPr lang="en-US" sz="2100" dirty="0">
                <a:solidFill>
                  <a:schemeClr val="tx1"/>
                </a:solidFill>
              </a:rPr>
              <a:t>Uma informação por célula</a:t>
            </a:r>
            <a:endParaRPr lang="en-US" sz="2100" dirty="0"/>
          </a:p>
          <a:p>
            <a:pPr marL="381000" indent="-381000" algn="l">
              <a:lnSpc>
                <a:spcPct val="105000"/>
              </a:lnSpc>
              <a:buSzPct val="100000"/>
              <a:buFont typeface="+mj-lt"/>
              <a:buAutoNum type="arabicPeriod"/>
            </a:pPr>
            <a:r>
              <a:rPr lang="en-US" sz="2100" dirty="0">
                <a:solidFill>
                  <a:schemeClr val="tx1"/>
                </a:solidFill>
              </a:rPr>
              <a:t>Dados em retângulo</a:t>
            </a:r>
            <a:endParaRPr lang="en-US" sz="2100" dirty="0"/>
          </a:p>
        </p:txBody>
      </p:sp>
      <p:sp>
        <p:nvSpPr>
          <p:cNvPr id="4" name="texto-1"/>
          <p:cNvSpPr txBox="1"/>
          <p:nvPr/>
        </p:nvSpPr>
        <p:spPr>
          <a:xfrm>
            <a:off x="6278728" y="1085240"/>
            <a:ext cx="5346040" cy="2496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81000" indent="-381000" algn="l">
              <a:lnSpc>
                <a:spcPct val="105000"/>
              </a:lnSpc>
              <a:spcAft>
                <a:spcPts val="672"/>
              </a:spcAft>
              <a:buSzPct val="100000"/>
              <a:buFont typeface="+mj-lt"/>
              <a:buAutoNum type="arabicPeriod" startAt="7"/>
            </a:pPr>
            <a:r>
              <a:rPr lang="en-US" sz="2100" dirty="0">
                <a:solidFill>
                  <a:schemeClr val="tx1"/>
                </a:solidFill>
              </a:rPr>
              <a:t>Crie um dicionário de dados</a:t>
            </a:r>
            <a:endParaRPr lang="en-US" sz="2100" dirty="0"/>
          </a:p>
          <a:p>
            <a:pPr marL="381000" indent="-381000" algn="l">
              <a:lnSpc>
                <a:spcPct val="105000"/>
              </a:lnSpc>
              <a:spcAft>
                <a:spcPts val="672"/>
              </a:spcAft>
              <a:buSzPct val="100000"/>
              <a:buFont typeface="+mj-lt"/>
              <a:buAutoNum type="arabicPeriod" startAt="7"/>
            </a:pPr>
            <a:r>
              <a:rPr lang="en-US" sz="2100" dirty="0">
                <a:solidFill>
                  <a:schemeClr val="tx1"/>
                </a:solidFill>
              </a:rPr>
              <a:t>Nenhum cálculo nos dados brutos</a:t>
            </a:r>
            <a:endParaRPr lang="en-US" sz="2100" dirty="0"/>
          </a:p>
          <a:p>
            <a:pPr marL="381000" indent="-381000" algn="l">
              <a:lnSpc>
                <a:spcPct val="105000"/>
              </a:lnSpc>
              <a:spcAft>
                <a:spcPts val="672"/>
              </a:spcAft>
              <a:buSzPct val="100000"/>
              <a:buFont typeface="+mj-lt"/>
              <a:buAutoNum type="arabicPeriod" startAt="7"/>
            </a:pPr>
            <a:r>
              <a:rPr lang="en-US" sz="2100" dirty="0">
                <a:solidFill>
                  <a:schemeClr val="tx1"/>
                </a:solidFill>
              </a:rPr>
              <a:t>Cor e destaque não são dados</a:t>
            </a:r>
            <a:endParaRPr lang="en-US" sz="2100" dirty="0"/>
          </a:p>
          <a:p>
            <a:pPr marL="381000" indent="-381000" algn="l">
              <a:lnSpc>
                <a:spcPct val="105000"/>
              </a:lnSpc>
              <a:spcAft>
                <a:spcPts val="672"/>
              </a:spcAft>
              <a:buSzPct val="100000"/>
              <a:buFont typeface="+mj-lt"/>
              <a:buAutoNum type="arabicPeriod" startAt="7"/>
            </a:pPr>
            <a:r>
              <a:rPr lang="en-US" sz="2100" dirty="0">
                <a:solidFill>
                  <a:schemeClr val="tx1"/>
                </a:solidFill>
              </a:rPr>
              <a:t>Faça cópias de segurança</a:t>
            </a:r>
            <a:endParaRPr lang="en-US" sz="2100" dirty="0"/>
          </a:p>
          <a:p>
            <a:pPr marL="381000" indent="-381000" algn="l">
              <a:lnSpc>
                <a:spcPct val="105000"/>
              </a:lnSpc>
              <a:spcAft>
                <a:spcPts val="672"/>
              </a:spcAft>
              <a:buSzPct val="100000"/>
              <a:buFont typeface="+mj-lt"/>
              <a:buAutoNum type="arabicPeriod" startAt="7"/>
            </a:pPr>
            <a:r>
              <a:rPr lang="en-US" sz="2100" dirty="0">
                <a:solidFill>
                  <a:schemeClr val="tx1"/>
                </a:solidFill>
              </a:rPr>
              <a:t>Use validação de dados na entrada</a:t>
            </a:r>
            <a:endParaRPr lang="en-US" sz="2100" dirty="0"/>
          </a:p>
          <a:p>
            <a:pPr marL="381000" indent="-381000" algn="l">
              <a:lnSpc>
                <a:spcPct val="105000"/>
              </a:lnSpc>
              <a:buSzPct val="100000"/>
              <a:buFont typeface="+mj-lt"/>
              <a:buAutoNum type="arabicPeriod" startAt="7"/>
            </a:pPr>
            <a:r>
              <a:rPr lang="en-US" sz="2100" dirty="0">
                <a:solidFill>
                  <a:schemeClr val="tx1"/>
                </a:solidFill>
              </a:rPr>
              <a:t>Salve os dados em texto (CSV)</a:t>
            </a:r>
            <a:endParaRPr lang="en-US" sz="2100" dirty="0"/>
          </a:p>
        </p:txBody>
      </p:sp>
      <p:sp>
        <p:nvSpPr>
          <p:cNvPr id="5" name="texto-2"/>
          <p:cNvSpPr txBox="1"/>
          <p:nvPr/>
        </p:nvSpPr>
        <p:spPr>
          <a:xfrm>
            <a:off x="566928" y="6093726"/>
            <a:ext cx="11057839" cy="19734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ct val="105000"/>
              </a:lnSpc>
              <a:buNone/>
            </a:pPr>
            <a:r>
              <a:rPr lang="en-US" sz="1100" dirty="0">
                <a:solidFill>
                  <a:schemeClr val="tx2"/>
                </a:solidFill>
              </a:rPr>
              <a:t>Broman e Woo (2018), The American Statistician 72: 2–10.</a:t>
            </a:r>
            <a:endParaRPr lang="en-US" sz="1100" dirty="0"/>
          </a:p>
        </p:txBody>
      </p:sp>
      <p:sp>
        <p:nvSpPr>
          <p:cNvPr id="6" name="rodape"/>
          <p:cNvSpPr txBox="1"/>
          <p:nvPr/>
        </p:nvSpPr>
        <p:spPr>
          <a:xfrm>
            <a:off x="566928" y="640080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50" kern="0" spc="100" dirty="0">
                <a:solidFill>
                  <a:schemeClr val="tx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SEÇÃO 1 · BLOCO 4</a:t>
            </a:r>
            <a:endParaRPr lang="en-US" sz="95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527487" y="6400800"/>
            <a:ext cx="109728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xmlns="" val="0"/>
            </a:ext>
          </a:extLst>
        </p:spPr>
        <p:txBody>
          <a:bodyPr lIns="0" tIns="0" rIns="0" bIns="0"/>
          <a:lstStyle>
            <a:lvl1pPr>
              <a:defRPr sz="1000">
                <a:solidFill>
                  <a:srgbClr val="8FA9A3"/>
                </a:solidFill>
                <a:latin typeface="Courier New"/>
                <a:ea typeface="Courier New"/>
                <a:cs typeface="Courier New"/>
              </a:defRPr>
            </a:lvl1pPr>
          </a:lstStyle>
          <a:p>
            <a:pPr algn="r"/>
            <a:fld id="{F7021451-1387-4CA6-816F-3879F97B5CBC}" type="slidenum">
              <a:rPr lang="en-US" b="0"/>
              <a:t>40</a:t>
            </a:fld>
            <a:endParaRPr lang="en-US"/>
          </a:p>
        </p:txBody>
      </p:sp>
    </p:spTree>
  </p:cSld>
  <p:clrMapOvr>
    <a:masterClrMapping/>
  </p:clrMapOvr>
</p:sld>
</file>

<file path=ppt/slides/slide4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>
            <a:spLocks noGrp="1"/>
          </p:cNvSpPr>
          <p:nvPr>
            <p:ph type="title" idx="100" hasCustomPrompt="1"/>
          </p:nvPr>
        </p:nvSpPr>
        <p:spPr>
          <a:xfrm>
            <a:off x="914400" y="2560320"/>
            <a:ext cx="9875520" cy="1828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buNone/>
            </a:pPr>
            <a:r>
              <a:rPr lang="en-US" sz="4600" b="1" dirty="0">
                <a:solidFill>
                  <a:schemeClr val="tx1"/>
                </a:solidFill>
              </a:rPr>
              <a:t>A pasta de análise como projeto do Claude Code</a:t>
            </a:r>
            <a:endParaRPr lang="en-US" sz="4600" dirty="0"/>
          </a:p>
        </p:txBody>
      </p:sp>
      <p:sp>
        <p:nvSpPr>
          <p:cNvPr id="3" name="texto-0"/>
          <p:cNvSpPr txBox="1"/>
          <p:nvPr/>
        </p:nvSpPr>
        <p:spPr>
          <a:xfrm>
            <a:off x="914400" y="4572000"/>
            <a:ext cx="5486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ct val="100000"/>
              </a:lnSpc>
              <a:buNone/>
            </a:pPr>
            <a:r>
              <a:rPr lang="en-US" sz="1800" dirty="0">
                <a:solidFill>
                  <a:srgbClr val="B9CFC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20 min</a:t>
            </a:r>
            <a:endParaRPr lang="en-US" sz="1800" dirty="0"/>
          </a:p>
        </p:txBody>
      </p:sp>
      <p:sp>
        <p:nvSpPr>
          <p:cNvPr id="4" name="texto-1"/>
          <p:cNvSpPr txBox="1"/>
          <p:nvPr/>
        </p:nvSpPr>
        <p:spPr>
          <a:xfrm>
            <a:off x="914400" y="2148840"/>
            <a:ext cx="73152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ct val="100000"/>
              </a:lnSpc>
              <a:buNone/>
            </a:pPr>
            <a:r>
              <a:rPr lang="en-US" sz="1800" kern="0" spc="300" dirty="0">
                <a:solidFill>
                  <a:schemeClr val="accent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BLOCO 5</a:t>
            </a:r>
            <a:endParaRPr lang="en-US" sz="1800" dirty="0"/>
          </a:p>
        </p:txBody>
      </p:sp>
      <p:sp>
        <p:nvSpPr>
          <p:cNvPr id="5" name="rodape"/>
          <p:cNvSpPr txBox="1"/>
          <p:nvPr/>
        </p:nvSpPr>
        <p:spPr>
          <a:xfrm>
            <a:off x="566928" y="640080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50" kern="0" spc="100" dirty="0">
                <a:solidFill>
                  <a:srgbClr val="B9CFC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SEÇÃO 1 · BLOCO 5</a:t>
            </a:r>
            <a:endParaRPr lang="en-US" sz="95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527487" y="6400800"/>
            <a:ext cx="109728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xmlns="" val="0"/>
            </a:ext>
          </a:extLst>
        </p:spPr>
        <p:txBody>
          <a:bodyPr lIns="0" tIns="0" rIns="0" bIns="0"/>
          <a:lstStyle>
            <a:lvl1pPr>
              <a:defRPr sz="1000">
                <a:solidFill>
                  <a:srgbClr val="B9CFC6"/>
                </a:solidFill>
                <a:latin typeface="Courier New"/>
                <a:ea typeface="Courier New"/>
                <a:cs typeface="Courier New"/>
              </a:defRPr>
            </a:lvl1pPr>
          </a:lstStyle>
          <a:p>
            <a:pPr algn="r"/>
            <a:fld id="{F7021451-1387-4CA6-816F-3879F97B5CBC}" type="slidenum">
              <a:rPr lang="en-US" b="0"/>
              <a:t>41</a:t>
            </a:fld>
            <a:endParaRPr lang="en-US"/>
          </a:p>
        </p:txBody>
      </p:sp>
    </p:spTree>
  </p:cSld>
  <p:clrMapOvr>
    <a:masterClrMapping/>
  </p:clrMapOvr>
</p:sld>
</file>

<file path=ppt/slides/slide4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>
            <a:spLocks noGrp="1"/>
          </p:cNvSpPr>
          <p:nvPr>
            <p:ph type="title" idx="100" hasCustomPrompt="1"/>
          </p:nvPr>
        </p:nvSpPr>
        <p:spPr>
          <a:xfrm>
            <a:off x="566928" y="384048"/>
            <a:ext cx="11057839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buNone/>
            </a:pPr>
            <a:r>
              <a:rPr lang="en-US" sz="1900" b="1" dirty="0">
                <a:solidFill>
                  <a:schemeClr val="accent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5.1   </a:t>
            </a:r>
            <a:r>
              <a:rPr lang="en-US" sz="2800" b="1" dirty="0">
                <a:solidFill>
                  <a:schemeClr val="tx1"/>
                </a:solidFill>
              </a:rPr>
              <a:t>O problema</a:t>
            </a:r>
            <a:endParaRPr lang="en-US" sz="2800" dirty="0"/>
          </a:p>
        </p:txBody>
      </p:sp>
      <p:sp>
        <p:nvSpPr>
          <p:cNvPr id="3" name="ret-0"/>
          <p:cNvSpPr/>
          <p:nvPr/>
        </p:nvSpPr>
        <p:spPr>
          <a:xfrm>
            <a:off x="566928" y="1085240"/>
            <a:ext cx="11057839" cy="1661465"/>
          </a:xfrm>
          <a:prstGeom prst="roundRect">
            <a:avLst>
              <a:gd name="adj" fmla="val 3302"/>
            </a:avLst>
          </a:prstGeom>
          <a:solidFill>
            <a:schemeClr val="accent5"/>
          </a:solidFill>
          <a:ln w="9525">
            <a:solidFill>
              <a:schemeClr val="accent4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4" name="texto-1"/>
          <p:cNvSpPr txBox="1"/>
          <p:nvPr/>
        </p:nvSpPr>
        <p:spPr>
          <a:xfrm>
            <a:off x="713232" y="1176680"/>
            <a:ext cx="10765231" cy="1496873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ct val="100000"/>
              </a:lnSpc>
              <a:buNone/>
            </a:pPr>
            <a:r>
              <a:rPr lang="en-US" sz="1386" dirty="0">
                <a:solidFill>
                  <a:schemeClr val="tx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Área de Trabalho/</a:t>
            </a:r>
            <a:endParaRPr lang="en-US" sz="1386" dirty="0"/>
          </a:p>
          <a:p>
            <a:pPr marL="0" indent="0" algn="l">
              <a:lnSpc>
                <a:spcPct val="100000"/>
              </a:lnSpc>
              <a:buNone/>
            </a:pPr>
            <a:r>
              <a:rPr lang="en-US" sz="1386" dirty="0">
                <a:solidFill>
                  <a:schemeClr val="tx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├── analise_final.R</a:t>
            </a:r>
            <a:endParaRPr lang="en-US" sz="1386" dirty="0"/>
          </a:p>
          <a:p>
            <a:pPr marL="0" indent="0" algn="l">
              <a:lnSpc>
                <a:spcPct val="100000"/>
              </a:lnSpc>
              <a:buNone/>
            </a:pPr>
            <a:r>
              <a:rPr lang="en-US" sz="1386" dirty="0">
                <a:solidFill>
                  <a:schemeClr val="tx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├── analise_final_v2_ESSA.R</a:t>
            </a:r>
            <a:endParaRPr lang="en-US" sz="1386" dirty="0"/>
          </a:p>
          <a:p>
            <a:pPr marL="0" indent="0" algn="l">
              <a:lnSpc>
                <a:spcPct val="100000"/>
              </a:lnSpc>
              <a:buNone/>
            </a:pPr>
            <a:r>
              <a:rPr lang="en-US" sz="1386" dirty="0">
                <a:solidFill>
                  <a:schemeClr val="tx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├── dados ensaio milho (1).xlsx</a:t>
            </a:r>
            <a:endParaRPr lang="en-US" sz="1386" dirty="0"/>
          </a:p>
          <a:p>
            <a:pPr marL="0" indent="0" algn="l">
              <a:lnSpc>
                <a:spcPct val="100000"/>
              </a:lnSpc>
              <a:buNone/>
            </a:pPr>
            <a:r>
              <a:rPr lang="en-US" sz="1386" dirty="0">
                <a:solidFill>
                  <a:schemeClr val="tx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├── dados ensaio milho corrigido.xlsx</a:t>
            </a:r>
            <a:endParaRPr lang="en-US" sz="1386" dirty="0"/>
          </a:p>
          <a:p>
            <a:pPr marL="0" indent="0" algn="l">
              <a:lnSpc>
                <a:spcPct val="100000"/>
              </a:lnSpc>
              <a:buNone/>
            </a:pPr>
            <a:r>
              <a:rPr lang="en-US" sz="1386" dirty="0">
                <a:solidFill>
                  <a:schemeClr val="tx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├── Rplot01.png … Rplot37.png</a:t>
            </a:r>
            <a:endParaRPr lang="en-US" sz="1386" dirty="0"/>
          </a:p>
          <a:p>
            <a:pPr marL="0" indent="0" algn="l">
              <a:lnSpc>
                <a:spcPct val="100000"/>
              </a:lnSpc>
              <a:buNone/>
            </a:pPr>
            <a:r>
              <a:rPr lang="en-US" sz="1386" dirty="0">
                <a:solidFill>
                  <a:schemeClr val="tx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└── Downloads/resultado_blup???.csv</a:t>
            </a:r>
            <a:endParaRPr lang="en-US" sz="1386" dirty="0"/>
          </a:p>
        </p:txBody>
      </p:sp>
      <p:sp>
        <p:nvSpPr>
          <p:cNvPr id="5" name="texto-2"/>
          <p:cNvSpPr txBox="1"/>
          <p:nvPr/>
        </p:nvSpPr>
        <p:spPr>
          <a:xfrm>
            <a:off x="566928" y="2906725"/>
            <a:ext cx="11057839" cy="11291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279400" indent="-279400" algn="l">
              <a:lnSpc>
                <a:spcPct val="105000"/>
              </a:lnSpc>
              <a:spcAft>
                <a:spcPts val="672"/>
              </a:spcAft>
              <a:buSzPct val="100000"/>
              <a:buChar char="•"/>
            </a:pPr>
            <a:r>
              <a:rPr lang="en-US" sz="2100" dirty="0">
                <a:solidFill>
                  <a:schemeClr val="tx1"/>
                </a:solidFill>
              </a:rPr>
              <a:t>Ninguém, nem o próprio autor depois de seis meses, sabe qual arquivo gerou qual resultado.</a:t>
            </a:r>
            <a:endParaRPr lang="en-US" sz="2100" dirty="0"/>
          </a:p>
          <a:p>
            <a:pPr marL="279400" indent="-279400" algn="l">
              <a:lnSpc>
                <a:spcPct val="105000"/>
              </a:lnSpc>
              <a:buSzPct val="100000"/>
              <a:buChar char="•"/>
            </a:pPr>
            <a:r>
              <a:rPr lang="en-US" sz="2100" dirty="0">
                <a:solidFill>
                  <a:schemeClr val="tx1"/>
                </a:solidFill>
              </a:rPr>
              <a:t>Um agente de IA aberto nesta pasta lê tudo isso como contexto: e escolhe sozinho em qual versão acreditar.</a:t>
            </a:r>
            <a:endParaRPr lang="en-US" sz="2100" dirty="0"/>
          </a:p>
        </p:txBody>
      </p:sp>
      <p:sp>
        <p:nvSpPr>
          <p:cNvPr id="6" name="rodape"/>
          <p:cNvSpPr txBox="1"/>
          <p:nvPr/>
        </p:nvSpPr>
        <p:spPr>
          <a:xfrm>
            <a:off x="566928" y="640080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50" kern="0" spc="100" dirty="0">
                <a:solidFill>
                  <a:schemeClr val="tx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SEÇÃO 1 · BLOCO 5</a:t>
            </a:r>
            <a:endParaRPr lang="en-US" sz="95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527487" y="6400800"/>
            <a:ext cx="109728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xmlns="" val="0"/>
            </a:ext>
          </a:extLst>
        </p:spPr>
        <p:txBody>
          <a:bodyPr lIns="0" tIns="0" rIns="0" bIns="0"/>
          <a:lstStyle>
            <a:lvl1pPr>
              <a:defRPr sz="1000">
                <a:solidFill>
                  <a:srgbClr val="8FA9A3"/>
                </a:solidFill>
                <a:latin typeface="Courier New"/>
                <a:ea typeface="Courier New"/>
                <a:cs typeface="Courier New"/>
              </a:defRPr>
            </a:lvl1pPr>
          </a:lstStyle>
          <a:p>
            <a:pPr algn="r"/>
            <a:fld id="{F7021451-1387-4CA6-816F-3879F97B5CBC}" type="slidenum">
              <a:rPr lang="en-US" b="0"/>
              <a:t>42</a:t>
            </a:fld>
            <a:endParaRPr lang="en-US"/>
          </a:p>
        </p:txBody>
      </p:sp>
    </p:spTree>
  </p:cSld>
  <p:clrMapOvr>
    <a:masterClrMapping/>
  </p:clrMapOvr>
</p:sld>
</file>

<file path=ppt/slides/slide4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>
            <a:spLocks noGrp="1"/>
          </p:cNvSpPr>
          <p:nvPr>
            <p:ph type="title" idx="100" hasCustomPrompt="1"/>
          </p:nvPr>
        </p:nvSpPr>
        <p:spPr>
          <a:xfrm>
            <a:off x="566928" y="384048"/>
            <a:ext cx="11057839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buNone/>
            </a:pPr>
            <a:r>
              <a:rPr lang="en-US" sz="1900" b="1" dirty="0">
                <a:solidFill>
                  <a:schemeClr val="accent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5.2   </a:t>
            </a:r>
            <a:r>
              <a:rPr lang="en-US" sz="2800" b="1" dirty="0">
                <a:solidFill>
                  <a:schemeClr val="tx1"/>
                </a:solidFill>
              </a:rPr>
              <a:t>Princípios de uma boa pasta de projeto</a:t>
            </a:r>
            <a:endParaRPr lang="en-US" sz="2800" dirty="0"/>
          </a:p>
        </p:txBody>
      </p:sp>
      <p:sp>
        <p:nvSpPr>
          <p:cNvPr id="3" name="texto-0"/>
          <p:cNvSpPr txBox="1"/>
          <p:nvPr/>
        </p:nvSpPr>
        <p:spPr>
          <a:xfrm>
            <a:off x="566928" y="1085240"/>
            <a:ext cx="11057839" cy="2496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279400" indent="-279400" algn="l">
              <a:lnSpc>
                <a:spcPct val="105000"/>
              </a:lnSpc>
              <a:spcAft>
                <a:spcPts val="672"/>
              </a:spcAft>
              <a:buSzPct val="100000"/>
              <a:buChar char="•"/>
            </a:pPr>
            <a:r>
              <a:rPr lang="en-US" sz="2100" b="1" dirty="0">
                <a:solidFill>
                  <a:schemeClr val="tx1"/>
                </a:solidFill>
              </a:rPr>
              <a:t>Uma pasta por análise</a:t>
            </a:r>
            <a:r>
              <a:rPr lang="en-US" sz="2100" dirty="0">
                <a:solidFill>
                  <a:schemeClr val="tx1"/>
                </a:solidFill>
              </a:rPr>
              <a:t>, com tudo o que ela precisa.</a:t>
            </a:r>
            <a:endParaRPr lang="en-US" sz="2100" dirty="0"/>
          </a:p>
          <a:p>
            <a:pPr marL="279400" indent="-279400" algn="l">
              <a:lnSpc>
                <a:spcPct val="105000"/>
              </a:lnSpc>
              <a:spcAft>
                <a:spcPts val="672"/>
              </a:spcAft>
              <a:buSzPct val="100000"/>
              <a:buChar char="•"/>
            </a:pPr>
            <a:r>
              <a:rPr lang="en-US" sz="2100" b="1" dirty="0">
                <a:solidFill>
                  <a:schemeClr val="tx1"/>
                </a:solidFill>
              </a:rPr>
              <a:t>Dado bruto somente leitura</a:t>
            </a:r>
            <a:r>
              <a:rPr lang="en-US" sz="2100" dirty="0">
                <a:solidFill>
                  <a:schemeClr val="tx1"/>
                </a:solidFill>
              </a:rPr>
              <a:t>, guardado exatamente como recebido.</a:t>
            </a:r>
            <a:endParaRPr lang="en-US" sz="2100" dirty="0"/>
          </a:p>
          <a:p>
            <a:pPr marL="279400" indent="-279400" algn="l">
              <a:lnSpc>
                <a:spcPct val="105000"/>
              </a:lnSpc>
              <a:spcAft>
                <a:spcPts val="672"/>
              </a:spcAft>
              <a:buSzPct val="100000"/>
              <a:buChar char="•"/>
            </a:pPr>
            <a:r>
              <a:rPr lang="en-US" sz="2100" b="1" dirty="0">
                <a:solidFill>
                  <a:schemeClr val="tx1"/>
                </a:solidFill>
              </a:rPr>
              <a:t>Código separado de dados e de resultados.</a:t>
            </a:r>
            <a:endParaRPr lang="en-US" sz="2100" dirty="0"/>
          </a:p>
          <a:p>
            <a:pPr marL="279400" indent="-279400" algn="l">
              <a:lnSpc>
                <a:spcPct val="105000"/>
              </a:lnSpc>
              <a:spcAft>
                <a:spcPts val="672"/>
              </a:spcAft>
              <a:buSzPct val="100000"/>
              <a:buChar char="•"/>
            </a:pPr>
            <a:r>
              <a:rPr lang="en-US" sz="2100" b="1" dirty="0">
                <a:solidFill>
                  <a:schemeClr val="tx1"/>
                </a:solidFill>
              </a:rPr>
              <a:t>Resultados regeneráveis</a:t>
            </a:r>
            <a:r>
              <a:rPr lang="en-US" sz="2100" dirty="0">
                <a:solidFill>
                  <a:schemeClr val="tx1"/>
                </a:solidFill>
              </a:rPr>
              <a:t>: apagar </a:t>
            </a:r>
            <a:r>
              <a:rPr lang="en-US" sz="1932" dirty="0">
                <a:solidFill>
                  <a:schemeClr val="accent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output/</a:t>
            </a:r>
            <a:r>
              <a:rPr lang="en-US" sz="2100" dirty="0">
                <a:solidFill>
                  <a:schemeClr val="tx1"/>
                </a:solidFill>
              </a:rPr>
              <a:t> e rodar os scripts recria tudo.</a:t>
            </a:r>
            <a:endParaRPr lang="en-US" sz="2100" dirty="0"/>
          </a:p>
          <a:p>
            <a:pPr marL="279400" indent="-279400" algn="l">
              <a:lnSpc>
                <a:spcPct val="105000"/>
              </a:lnSpc>
              <a:spcAft>
                <a:spcPts val="672"/>
              </a:spcAft>
              <a:buSzPct val="100000"/>
              <a:buChar char="•"/>
            </a:pPr>
            <a:r>
              <a:rPr lang="en-US" sz="2100" b="1" dirty="0">
                <a:solidFill>
                  <a:schemeClr val="tx1"/>
                </a:solidFill>
              </a:rPr>
              <a:t>Documentação na própria pasta</a:t>
            </a:r>
            <a:r>
              <a:rPr lang="en-US" sz="2100" dirty="0">
                <a:solidFill>
                  <a:schemeClr val="tx1"/>
                </a:solidFill>
              </a:rPr>
              <a:t>: README, dicionário, decisões.</a:t>
            </a:r>
            <a:endParaRPr lang="en-US" sz="2100" dirty="0"/>
          </a:p>
          <a:p>
            <a:pPr marL="279400" indent="-279400" algn="l">
              <a:lnSpc>
                <a:spcPct val="105000"/>
              </a:lnSpc>
              <a:buSzPct val="100000"/>
              <a:buChar char="•"/>
            </a:pPr>
            <a:r>
              <a:rPr lang="en-US" sz="2100" b="1" dirty="0">
                <a:solidFill>
                  <a:schemeClr val="tx1"/>
                </a:solidFill>
              </a:rPr>
              <a:t>Nomes de arquivos</a:t>
            </a:r>
            <a:r>
              <a:rPr lang="en-US" sz="2100" dirty="0">
                <a:solidFill>
                  <a:schemeClr val="tx1"/>
                </a:solidFill>
              </a:rPr>
              <a:t> que pessoas e máquinas entendem e que ordenam bem.</a:t>
            </a:r>
            <a:endParaRPr lang="en-US" sz="2100" dirty="0"/>
          </a:p>
        </p:txBody>
      </p:sp>
      <p:sp>
        <p:nvSpPr>
          <p:cNvPr id="4" name="texto-1"/>
          <p:cNvSpPr txBox="1"/>
          <p:nvPr/>
        </p:nvSpPr>
        <p:spPr>
          <a:xfrm>
            <a:off x="566928" y="6093726"/>
            <a:ext cx="11057839" cy="19734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ct val="105000"/>
              </a:lnSpc>
              <a:buNone/>
            </a:pPr>
            <a:r>
              <a:rPr lang="en-US" sz="1100" dirty="0">
                <a:solidFill>
                  <a:schemeClr val="tx2"/>
                </a:solidFill>
              </a:rPr>
              <a:t>Wilson et al. (2017), PLOS Computational Biology 13: e1005510 — Good enough practices in scientific computing.</a:t>
            </a:r>
            <a:endParaRPr lang="en-US" sz="1100" dirty="0"/>
          </a:p>
        </p:txBody>
      </p:sp>
      <p:sp>
        <p:nvSpPr>
          <p:cNvPr id="5" name="rodape"/>
          <p:cNvSpPr txBox="1"/>
          <p:nvPr/>
        </p:nvSpPr>
        <p:spPr>
          <a:xfrm>
            <a:off x="566928" y="640080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50" kern="0" spc="100" dirty="0">
                <a:solidFill>
                  <a:schemeClr val="tx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SEÇÃO 1 · BLOCO 5</a:t>
            </a:r>
            <a:endParaRPr lang="en-US" sz="95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527487" y="6400800"/>
            <a:ext cx="109728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xmlns="" val="0"/>
            </a:ext>
          </a:extLst>
        </p:spPr>
        <p:txBody>
          <a:bodyPr lIns="0" tIns="0" rIns="0" bIns="0"/>
          <a:lstStyle>
            <a:lvl1pPr>
              <a:defRPr sz="1000">
                <a:solidFill>
                  <a:srgbClr val="8FA9A3"/>
                </a:solidFill>
                <a:latin typeface="Courier New"/>
                <a:ea typeface="Courier New"/>
                <a:cs typeface="Courier New"/>
              </a:defRPr>
            </a:lvl1pPr>
          </a:lstStyle>
          <a:p>
            <a:pPr algn="r"/>
            <a:fld id="{F7021451-1387-4CA6-816F-3879F97B5CBC}" type="slidenum">
              <a:rPr lang="en-US" b="0"/>
              <a:t>43</a:t>
            </a:fld>
            <a:endParaRPr lang="en-US"/>
          </a:p>
        </p:txBody>
      </p:sp>
    </p:spTree>
  </p:cSld>
  <p:clrMapOvr>
    <a:masterClrMapping/>
  </p:clrMapOvr>
</p:sld>
</file>

<file path=ppt/slides/slide4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>
            <a:spLocks noGrp="1"/>
          </p:cNvSpPr>
          <p:nvPr>
            <p:ph type="title" idx="100" hasCustomPrompt="1"/>
          </p:nvPr>
        </p:nvSpPr>
        <p:spPr>
          <a:xfrm>
            <a:off x="566928" y="384048"/>
            <a:ext cx="11057839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buNone/>
            </a:pPr>
            <a:r>
              <a:rPr lang="en-US" sz="1900" b="1" dirty="0">
                <a:solidFill>
                  <a:schemeClr val="accent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5.3   </a:t>
            </a:r>
            <a:r>
              <a:rPr lang="en-US" sz="2800" b="1" dirty="0">
                <a:solidFill>
                  <a:schemeClr val="tx1"/>
                </a:solidFill>
              </a:rPr>
              <a:t>Estrutura recomendada</a:t>
            </a:r>
            <a:endParaRPr lang="en-US" sz="2800" dirty="0"/>
          </a:p>
        </p:txBody>
      </p:sp>
      <p:sp>
        <p:nvSpPr>
          <p:cNvPr id="3" name="ret-0"/>
          <p:cNvSpPr/>
          <p:nvPr/>
        </p:nvSpPr>
        <p:spPr>
          <a:xfrm>
            <a:off x="566928" y="1085240"/>
            <a:ext cx="11057839" cy="3773729"/>
          </a:xfrm>
          <a:prstGeom prst="roundRect">
            <a:avLst>
              <a:gd name="adj" fmla="val 1454"/>
            </a:avLst>
          </a:prstGeom>
          <a:solidFill>
            <a:schemeClr val="accent5"/>
          </a:solidFill>
          <a:ln w="9525">
            <a:solidFill>
              <a:schemeClr val="accent4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4" name="texto-1"/>
          <p:cNvSpPr txBox="1"/>
          <p:nvPr/>
        </p:nvSpPr>
        <p:spPr>
          <a:xfrm>
            <a:off x="713232" y="1176680"/>
            <a:ext cx="10765231" cy="3609137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ct val="100000"/>
              </a:lnSpc>
              <a:buNone/>
            </a:pPr>
            <a:r>
              <a:rPr lang="en-US" sz="1386" dirty="0">
                <a:solidFill>
                  <a:schemeClr val="tx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2026-11_vcu-milho-safra-2025/</a:t>
            </a:r>
            <a:endParaRPr lang="en-US" sz="1386" dirty="0"/>
          </a:p>
          <a:p>
            <a:pPr marL="0" indent="0" algn="l">
              <a:lnSpc>
                <a:spcPct val="100000"/>
              </a:lnSpc>
              <a:buNone/>
            </a:pPr>
            <a:r>
              <a:rPr lang="en-US" sz="1386" dirty="0">
                <a:solidFill>
                  <a:schemeClr val="tx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├── README.md               pergunta, como reproduzir, origem dos dados</a:t>
            </a:r>
            <a:endParaRPr lang="en-US" sz="1386" dirty="0"/>
          </a:p>
          <a:p>
            <a:pPr marL="0" indent="0" algn="l">
              <a:lnSpc>
                <a:spcPct val="100000"/>
              </a:lnSpc>
              <a:buNone/>
            </a:pPr>
            <a:r>
              <a:rPr lang="en-US" sz="1386" dirty="0">
                <a:solidFill>
                  <a:schemeClr val="tx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├── CLAUDE.md               contexto e regras para o agente</a:t>
            </a:r>
            <a:endParaRPr lang="en-US" sz="1386" dirty="0"/>
          </a:p>
          <a:p>
            <a:pPr marL="0" indent="0" algn="l">
              <a:lnSpc>
                <a:spcPct val="100000"/>
              </a:lnSpc>
              <a:buNone/>
            </a:pPr>
            <a:r>
              <a:rPr lang="en-US" sz="1386" dirty="0">
                <a:solidFill>
                  <a:schemeClr val="tx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├── config/parametros.yaml  parâmetros da análise (nada fixo no código)</a:t>
            </a:r>
            <a:endParaRPr lang="en-US" sz="1386" dirty="0"/>
          </a:p>
          <a:p>
            <a:pPr marL="0" indent="0" algn="l">
              <a:lnSpc>
                <a:spcPct val="100000"/>
              </a:lnSpc>
              <a:buNone/>
            </a:pPr>
            <a:r>
              <a:rPr lang="en-US" sz="1386" dirty="0">
                <a:solidFill>
                  <a:schemeClr val="tx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├── data/</a:t>
            </a:r>
            <a:endParaRPr lang="en-US" sz="1386" dirty="0"/>
          </a:p>
          <a:p>
            <a:pPr marL="0" indent="0" algn="l">
              <a:lnSpc>
                <a:spcPct val="100000"/>
              </a:lnSpc>
              <a:buNone/>
            </a:pPr>
            <a:r>
              <a:rPr lang="en-US" sz="1386" dirty="0">
                <a:solidFill>
                  <a:schemeClr val="tx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│   ├── bruto/              somente leitura + LEIA-ME.md com origem e data</a:t>
            </a:r>
            <a:endParaRPr lang="en-US" sz="1386" dirty="0"/>
          </a:p>
          <a:p>
            <a:pPr marL="0" indent="0" algn="l">
              <a:lnSpc>
                <a:spcPct val="100000"/>
              </a:lnSpc>
              <a:buNone/>
            </a:pPr>
            <a:r>
              <a:rPr lang="en-US" sz="1386" dirty="0">
                <a:solidFill>
                  <a:schemeClr val="tx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│   ├── intermediario/      gerado por 01_importar.R</a:t>
            </a:r>
            <a:endParaRPr lang="en-US" sz="1386" dirty="0"/>
          </a:p>
          <a:p>
            <a:pPr marL="0" indent="0" algn="l">
              <a:lnSpc>
                <a:spcPct val="100000"/>
              </a:lnSpc>
              <a:buNone/>
            </a:pPr>
            <a:r>
              <a:rPr lang="en-US" sz="1386" dirty="0">
                <a:solidFill>
                  <a:schemeClr val="tx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│   └── processado/         gerado por 03_curar.R</a:t>
            </a:r>
            <a:endParaRPr lang="en-US" sz="1386" dirty="0"/>
          </a:p>
          <a:p>
            <a:pPr marL="0" indent="0" algn="l">
              <a:lnSpc>
                <a:spcPct val="100000"/>
              </a:lnSpc>
              <a:buNone/>
            </a:pPr>
            <a:r>
              <a:rPr lang="en-US" sz="1386" dirty="0">
                <a:solidFill>
                  <a:schemeClr val="tx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├── docs/</a:t>
            </a:r>
            <a:endParaRPr lang="en-US" sz="1386" dirty="0"/>
          </a:p>
          <a:p>
            <a:pPr marL="0" indent="0" algn="l">
              <a:lnSpc>
                <a:spcPct val="100000"/>
              </a:lnSpc>
              <a:buNone/>
            </a:pPr>
            <a:r>
              <a:rPr lang="en-US" sz="1386" dirty="0">
                <a:solidFill>
                  <a:schemeClr val="tx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│   ├── dicionario_de_dados.csv</a:t>
            </a:r>
            <a:endParaRPr lang="en-US" sz="1386" dirty="0"/>
          </a:p>
          <a:p>
            <a:pPr marL="0" indent="0" algn="l">
              <a:lnSpc>
                <a:spcPct val="100000"/>
              </a:lnSpc>
              <a:buNone/>
            </a:pPr>
            <a:r>
              <a:rPr lang="en-US" sz="1386" dirty="0">
                <a:solidFill>
                  <a:schemeClr val="tx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│   ├── registro_de_correcoes.csv</a:t>
            </a:r>
            <a:endParaRPr lang="en-US" sz="1386" dirty="0"/>
          </a:p>
          <a:p>
            <a:pPr marL="0" indent="0" algn="l">
              <a:lnSpc>
                <a:spcPct val="100000"/>
              </a:lnSpc>
              <a:buNone/>
            </a:pPr>
            <a:r>
              <a:rPr lang="en-US" sz="1386" dirty="0">
                <a:solidFill>
                  <a:schemeClr val="tx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│   └── decisoes.md</a:t>
            </a:r>
            <a:endParaRPr lang="en-US" sz="1386" dirty="0"/>
          </a:p>
          <a:p>
            <a:pPr marL="0" indent="0" algn="l">
              <a:lnSpc>
                <a:spcPct val="100000"/>
              </a:lnSpc>
              <a:buNone/>
            </a:pPr>
            <a:r>
              <a:rPr lang="en-US" sz="1386" dirty="0">
                <a:solidFill>
                  <a:schemeClr val="tx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├── R/</a:t>
            </a:r>
            <a:endParaRPr lang="en-US" sz="1386" dirty="0"/>
          </a:p>
          <a:p>
            <a:pPr marL="0" indent="0" algn="l">
              <a:lnSpc>
                <a:spcPct val="100000"/>
              </a:lnSpc>
              <a:buNone/>
            </a:pPr>
            <a:r>
              <a:rPr lang="en-US" sz="1386" dirty="0">
                <a:solidFill>
                  <a:schemeClr val="tx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│   ├── 01_importar.R  02_qc.R  03_curar.R  04_analisar.R  05_figuras_tabelas.R</a:t>
            </a:r>
            <a:endParaRPr lang="en-US" sz="1386" dirty="0"/>
          </a:p>
          <a:p>
            <a:pPr marL="0" indent="0" algn="l">
              <a:lnSpc>
                <a:spcPct val="100000"/>
              </a:lnSpc>
              <a:buNone/>
            </a:pPr>
            <a:r>
              <a:rPr lang="en-US" sz="1386" dirty="0">
                <a:solidFill>
                  <a:schemeClr val="tx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├── output/{figuras,tabelas,relatorios}/   tudo gerado por scripts</a:t>
            </a:r>
            <a:endParaRPr lang="en-US" sz="1386" dirty="0"/>
          </a:p>
          <a:p>
            <a:pPr marL="0" indent="0" algn="l">
              <a:lnSpc>
                <a:spcPct val="100000"/>
              </a:lnSpc>
              <a:buNone/>
            </a:pPr>
            <a:r>
              <a:rPr lang="en-US" sz="1386" dirty="0">
                <a:solidFill>
                  <a:schemeClr val="tx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├── tests/</a:t>
            </a:r>
            <a:endParaRPr lang="en-US" sz="1386" dirty="0"/>
          </a:p>
          <a:p>
            <a:pPr marL="0" indent="0" algn="l">
              <a:lnSpc>
                <a:spcPct val="100000"/>
              </a:lnSpc>
              <a:buNone/>
            </a:pPr>
            <a:r>
              <a:rPr lang="en-US" sz="1386" dirty="0">
                <a:solidFill>
                  <a:schemeClr val="tx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└── .claude/settings.json   permissões do agente</a:t>
            </a:r>
            <a:endParaRPr lang="en-US" sz="1386" dirty="0"/>
          </a:p>
        </p:txBody>
      </p:sp>
      <p:sp>
        <p:nvSpPr>
          <p:cNvPr id="5" name="texto-2"/>
          <p:cNvSpPr txBox="1"/>
          <p:nvPr/>
        </p:nvSpPr>
        <p:spPr>
          <a:xfrm>
            <a:off x="566928" y="5018989"/>
            <a:ext cx="11057839" cy="360127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ct val="105000"/>
              </a:lnSpc>
              <a:buNone/>
            </a:pPr>
            <a:r>
              <a:rPr lang="en-US" sz="2100" dirty="0">
                <a:solidFill>
                  <a:schemeClr val="tx1"/>
                </a:solidFill>
              </a:rPr>
              <a:t>Modelo pronto no repositório do curso: </a:t>
            </a:r>
            <a:r>
              <a:rPr lang="en-US" sz="1932" dirty="0">
                <a:solidFill>
                  <a:schemeClr val="accent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modelos/projeto-analise/</a:t>
            </a:r>
            <a:r>
              <a:rPr lang="en-US" sz="2100" dirty="0">
                <a:solidFill>
                  <a:schemeClr val="tx1"/>
                </a:solidFill>
              </a:rPr>
              <a:t>.</a:t>
            </a:r>
            <a:endParaRPr lang="en-US" sz="2100" dirty="0"/>
          </a:p>
        </p:txBody>
      </p:sp>
      <p:sp>
        <p:nvSpPr>
          <p:cNvPr id="6" name="rodape"/>
          <p:cNvSpPr txBox="1"/>
          <p:nvPr/>
        </p:nvSpPr>
        <p:spPr>
          <a:xfrm>
            <a:off x="566928" y="640080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50" kern="0" spc="100" dirty="0">
                <a:solidFill>
                  <a:schemeClr val="tx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SEÇÃO 1 · BLOCO 5</a:t>
            </a:r>
            <a:endParaRPr lang="en-US" sz="95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527487" y="6400800"/>
            <a:ext cx="109728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xmlns="" val="0"/>
            </a:ext>
          </a:extLst>
        </p:spPr>
        <p:txBody>
          <a:bodyPr lIns="0" tIns="0" rIns="0" bIns="0"/>
          <a:lstStyle>
            <a:lvl1pPr>
              <a:defRPr sz="1000">
                <a:solidFill>
                  <a:srgbClr val="8FA9A3"/>
                </a:solidFill>
                <a:latin typeface="Courier New"/>
                <a:ea typeface="Courier New"/>
                <a:cs typeface="Courier New"/>
              </a:defRPr>
            </a:lvl1pPr>
          </a:lstStyle>
          <a:p>
            <a:pPr algn="r"/>
            <a:fld id="{F7021451-1387-4CA6-816F-3879F97B5CBC}" type="slidenum">
              <a:rPr lang="en-US" b="0"/>
              <a:t>44</a:t>
            </a:fld>
            <a:endParaRPr lang="en-US"/>
          </a:p>
        </p:txBody>
      </p:sp>
    </p:spTree>
  </p:cSld>
  <p:clrMapOvr>
    <a:masterClrMapping/>
  </p:clrMapOvr>
</p:sld>
</file>

<file path=ppt/slides/slide4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>
            <a:spLocks noGrp="1"/>
          </p:cNvSpPr>
          <p:nvPr>
            <p:ph type="title" idx="100" hasCustomPrompt="1"/>
          </p:nvPr>
        </p:nvSpPr>
        <p:spPr>
          <a:xfrm>
            <a:off x="566928" y="384048"/>
            <a:ext cx="11057839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buNone/>
            </a:pPr>
            <a:r>
              <a:rPr lang="en-US" sz="1900" b="1" dirty="0">
                <a:solidFill>
                  <a:schemeClr val="accent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5.4   </a:t>
            </a:r>
            <a:r>
              <a:rPr lang="en-US" sz="2800" b="1" dirty="0">
                <a:solidFill>
                  <a:schemeClr val="tx1"/>
                </a:solidFill>
              </a:rPr>
              <a:t>Nomes de arquivos</a:t>
            </a:r>
            <a:endParaRPr lang="en-US" sz="2800" dirty="0"/>
          </a:p>
        </p:txBody>
      </p:sp>
      <p:graphicFrame>
        <p:nvGraphicFramePr>
          <p:cNvPr id="46" name="tabela-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66928" y="1085240"/>
          <a:ext cx="11057839" cy="1792000"/>
        </p:xfrm>
        <a:graphic>
          <a:graphicData uri="http://schemas.openxmlformats.org/drawingml/2006/table">
            <a:tbl>
              <a:tblPr/>
              <a:tblGrid>
                <a:gridCol w="2558175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4813186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3686478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</a:tblGrid>
              <a:tr h="358400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722" b="1" dirty="0">
                          <a:solidFill>
                            <a:schemeClr val="tx1"/>
                          </a:solidFill>
                        </a:rPr>
                        <a:t>Ruim</a:t>
                      </a:r>
                      <a:endParaRPr lang="en-US" sz="1722" dirty="0"/>
                    </a:p>
                  </a:txBody>
                  <a:tcPr marL="73152" marR="73152" marT="32004" marB="32004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9050" cap="flat" cmpd="sng" algn="ctr">
                      <a:solidFill>
                        <a:srgbClr val="A6E35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722" b="1" dirty="0">
                          <a:solidFill>
                            <a:schemeClr val="tx1"/>
                          </a:solidFill>
                        </a:rPr>
                        <a:t>Bom</a:t>
                      </a:r>
                      <a:endParaRPr lang="en-US" sz="1722" dirty="0"/>
                    </a:p>
                  </a:txBody>
                  <a:tcPr marL="73152" marR="73152" marT="32004" marB="32004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9050" cap="flat" cmpd="sng" algn="ctr">
                      <a:solidFill>
                        <a:srgbClr val="A6E35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722" b="1" dirty="0">
                          <a:solidFill>
                            <a:schemeClr val="tx1"/>
                          </a:solidFill>
                        </a:rPr>
                        <a:t>Por quê</a:t>
                      </a:r>
                      <a:endParaRPr lang="en-US" sz="1722" dirty="0"/>
                    </a:p>
                  </a:txBody>
                  <a:tcPr marL="73152" marR="73152" marT="32004" marB="32004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9050" cap="flat" cmpd="sng" algn="ctr">
                      <a:solidFill>
                        <a:srgbClr val="A6E35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358400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584" dirty="0">
                          <a:solidFill>
                            <a:schemeClr val="accent2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analise final.R</a:t>
                      </a:r>
                      <a:endParaRPr lang="en-US" sz="1722" dirty="0"/>
                    </a:p>
                  </a:txBody>
                  <a:tcPr marL="73152" marR="73152" marT="32004" marB="32004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19050" cap="flat" cmpd="sng" algn="ctr">
                      <a:solidFill>
                        <a:srgbClr val="A6E35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1D3A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584" dirty="0">
                          <a:solidFill>
                            <a:schemeClr val="accent2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04_analisar.R</a:t>
                      </a:r>
                      <a:endParaRPr lang="en-US" sz="1722" dirty="0"/>
                    </a:p>
                  </a:txBody>
                  <a:tcPr marL="73152" marR="73152" marT="32004" marB="32004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19050" cap="flat" cmpd="sng" algn="ctr">
                      <a:solidFill>
                        <a:srgbClr val="A6E35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1D3A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722" dirty="0">
                          <a:solidFill>
                            <a:schemeClr val="tx1"/>
                          </a:solidFill>
                        </a:rPr>
                        <a:t>Número dá a ordem; sem espaços</a:t>
                      </a:r>
                      <a:endParaRPr lang="en-US" sz="1722" dirty="0"/>
                    </a:p>
                  </a:txBody>
                  <a:tcPr marL="73152" marR="73152" marT="32004" marB="32004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19050" cap="flat" cmpd="sng" algn="ctr">
                      <a:solidFill>
                        <a:srgbClr val="A6E35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1D3A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358400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584" dirty="0">
                          <a:solidFill>
                            <a:schemeClr val="accent2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dados nov.xlsx</a:t>
                      </a:r>
                      <a:endParaRPr lang="en-US" sz="1722" dirty="0"/>
                    </a:p>
                  </a:txBody>
                  <a:tcPr marL="73152" marR="73152" marT="32004" marB="32004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9525" cap="flat" cmpd="sng" algn="ctr">
                      <a:solidFill>
                        <a:srgbClr val="1D3A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1D3A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584" dirty="0">
                          <a:solidFill>
                            <a:schemeClr val="accent2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2026-11-03_vcu-milho_parcelas.csv</a:t>
                      </a:r>
                      <a:endParaRPr lang="en-US" sz="1722" dirty="0"/>
                    </a:p>
                  </a:txBody>
                  <a:tcPr marL="73152" marR="73152" marT="32004" marB="32004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9525" cap="flat" cmpd="sng" algn="ctr">
                      <a:solidFill>
                        <a:srgbClr val="1D3A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1D3A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722" dirty="0">
                          <a:solidFill>
                            <a:schemeClr val="tx1"/>
                          </a:solidFill>
                        </a:rPr>
                        <a:t>Data ISO ordena; texto aberto</a:t>
                      </a:r>
                      <a:endParaRPr lang="en-US" sz="1722" dirty="0"/>
                    </a:p>
                  </a:txBody>
                  <a:tcPr marL="73152" marR="73152" marT="32004" marB="32004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9525" cap="flat" cmpd="sng" algn="ctr">
                      <a:solidFill>
                        <a:srgbClr val="1D3A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1D3A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358400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584" dirty="0">
                          <a:solidFill>
                            <a:schemeClr val="accent2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grafico.png</a:t>
                      </a:r>
                      <a:endParaRPr lang="en-US" sz="1722" dirty="0"/>
                    </a:p>
                  </a:txBody>
                  <a:tcPr marL="73152" marR="73152" marT="32004" marB="32004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9525" cap="flat" cmpd="sng" algn="ctr">
                      <a:solidFill>
                        <a:srgbClr val="1D3A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1D3A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584" dirty="0">
                          <a:solidFill>
                            <a:schemeClr val="accent2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fig02_blup-por-ambiente.png</a:t>
                      </a:r>
                      <a:endParaRPr lang="en-US" sz="1722" dirty="0"/>
                    </a:p>
                  </a:txBody>
                  <a:tcPr marL="73152" marR="73152" marT="32004" marB="32004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9525" cap="flat" cmpd="sng" algn="ctr">
                      <a:solidFill>
                        <a:srgbClr val="1D3A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1D3A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722" dirty="0">
                          <a:solidFill>
                            <a:schemeClr val="tx1"/>
                          </a:solidFill>
                        </a:rPr>
                        <a:t>Diz o que é e onde entra</a:t>
                      </a:r>
                      <a:endParaRPr lang="en-US" sz="1722" dirty="0"/>
                    </a:p>
                  </a:txBody>
                  <a:tcPr marL="73152" marR="73152" marT="32004" marB="32004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9525" cap="flat" cmpd="sng" algn="ctr">
                      <a:solidFill>
                        <a:srgbClr val="1D3A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1D3A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358400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584" dirty="0">
                          <a:solidFill>
                            <a:schemeClr val="accent2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resultado (1).csv</a:t>
                      </a:r>
                      <a:endParaRPr lang="en-US" sz="1722" dirty="0"/>
                    </a:p>
                  </a:txBody>
                  <a:tcPr marL="73152" marR="73152" marT="32004" marB="32004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9525" cap="flat" cmpd="sng" algn="ctr">
                      <a:solidFill>
                        <a:srgbClr val="1D3A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0" cap="flat" cmpd="sng" algn="ctr"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584" dirty="0">
                          <a:solidFill>
                            <a:schemeClr val="accent2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tab03_componentes-variancia.csv</a:t>
                      </a:r>
                      <a:endParaRPr lang="en-US" sz="1722" dirty="0"/>
                    </a:p>
                  </a:txBody>
                  <a:tcPr marL="73152" marR="73152" marT="32004" marB="32004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9525" cap="flat" cmpd="sng" algn="ctr">
                      <a:solidFill>
                        <a:srgbClr val="1D3A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0" cap="flat" cmpd="sng" algn="ctr"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722" dirty="0">
                          <a:solidFill>
                            <a:schemeClr val="tx1"/>
                          </a:solidFill>
                        </a:rPr>
                        <a:t>Ligado à tabela do relatório</a:t>
                      </a:r>
                      <a:endParaRPr lang="en-US" sz="1722" dirty="0"/>
                    </a:p>
                  </a:txBody>
                  <a:tcPr marL="73152" marR="73152" marT="32004" marB="32004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9525" cap="flat" cmpd="sng" algn="ctr">
                      <a:solidFill>
                        <a:srgbClr val="1D3A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0" cap="flat" cmpd="sng" algn="ctr">
                      <a:noFill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</a:tbl>
          </a:graphicData>
        </a:graphic>
      </p:graphicFrame>
      <p:sp>
        <p:nvSpPr>
          <p:cNvPr id="4" name="texto-1"/>
          <p:cNvSpPr txBox="1"/>
          <p:nvPr/>
        </p:nvSpPr>
        <p:spPr>
          <a:xfrm>
            <a:off x="566928" y="3037259"/>
            <a:ext cx="11057839" cy="70196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279400" indent="-279400" algn="l">
              <a:lnSpc>
                <a:spcPct val="105000"/>
              </a:lnSpc>
              <a:buSzPct val="100000"/>
              <a:buChar char="•"/>
            </a:pPr>
            <a:r>
              <a:rPr lang="en-US" sz="2100" dirty="0">
                <a:solidFill>
                  <a:schemeClr val="tx1"/>
                </a:solidFill>
              </a:rPr>
              <a:t>Legível por máquina (sem espaços nem acentos), legível por pessoas (diz o conteúdo), ordenável (números com zeros à esquerda, datas AAAA-MM-DD).</a:t>
            </a:r>
            <a:endParaRPr lang="en-US" sz="2100" dirty="0"/>
          </a:p>
        </p:txBody>
      </p:sp>
      <p:sp>
        <p:nvSpPr>
          <p:cNvPr id="5" name="rodape"/>
          <p:cNvSpPr txBox="1"/>
          <p:nvPr/>
        </p:nvSpPr>
        <p:spPr>
          <a:xfrm>
            <a:off x="566928" y="640080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50" kern="0" spc="100" dirty="0">
                <a:solidFill>
                  <a:schemeClr val="tx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SEÇÃO 1 · BLOCO 5</a:t>
            </a:r>
            <a:endParaRPr lang="en-US" sz="95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527487" y="6400800"/>
            <a:ext cx="109728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xmlns="" val="0"/>
            </a:ext>
          </a:extLst>
        </p:spPr>
        <p:txBody>
          <a:bodyPr lIns="0" tIns="0" rIns="0" bIns="0"/>
          <a:lstStyle>
            <a:lvl1pPr>
              <a:defRPr sz="1000">
                <a:solidFill>
                  <a:srgbClr val="8FA9A3"/>
                </a:solidFill>
                <a:latin typeface="Courier New"/>
                <a:ea typeface="Courier New"/>
                <a:cs typeface="Courier New"/>
              </a:defRPr>
            </a:lvl1pPr>
          </a:lstStyle>
          <a:p>
            <a:pPr algn="r"/>
            <a:fld id="{F7021451-1387-4CA6-816F-3879F97B5CBC}" type="slidenum">
              <a:rPr lang="en-US" b="0"/>
              <a:t>45</a:t>
            </a:fld>
            <a:endParaRPr lang="en-US"/>
          </a:p>
        </p:txBody>
      </p:sp>
    </p:spTree>
  </p:cSld>
  <p:clrMapOvr>
    <a:masterClrMapping/>
  </p:clrMapOvr>
</p:sld>
</file>

<file path=ppt/slides/slide4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>
            <a:spLocks noGrp="1"/>
          </p:cNvSpPr>
          <p:nvPr>
            <p:ph type="title" idx="100" hasCustomPrompt="1"/>
          </p:nvPr>
        </p:nvSpPr>
        <p:spPr>
          <a:xfrm>
            <a:off x="566928" y="384048"/>
            <a:ext cx="11057839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buNone/>
            </a:pPr>
            <a:r>
              <a:rPr lang="en-US" sz="1900" b="1" dirty="0">
                <a:solidFill>
                  <a:schemeClr val="accent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5.5   </a:t>
            </a:r>
            <a:r>
              <a:rPr lang="en-US" sz="2800" b="1" dirty="0">
                <a:solidFill>
                  <a:schemeClr val="tx1"/>
                </a:solidFill>
              </a:rPr>
              <a:t>Do bruto ao resultado: uma cadeia de scripts</a:t>
            </a:r>
            <a:endParaRPr lang="en-US" sz="2800" dirty="0"/>
          </a:p>
        </p:txBody>
      </p:sp>
      <p:sp>
        <p:nvSpPr>
          <p:cNvPr id="3" name="ret-0"/>
          <p:cNvSpPr/>
          <p:nvPr/>
        </p:nvSpPr>
        <p:spPr>
          <a:xfrm>
            <a:off x="566928" y="1085240"/>
            <a:ext cx="1992112" cy="858801"/>
          </a:xfrm>
          <a:prstGeom prst="roundRect">
            <a:avLst>
              <a:gd name="adj" fmla="val 7453"/>
            </a:avLst>
          </a:prstGeom>
          <a:solidFill>
            <a:schemeClr val="accent3"/>
          </a:solidFill>
          <a:ln w="9525">
            <a:solidFill>
              <a:schemeClr val="accent4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4" name="texto-1"/>
          <p:cNvSpPr txBox="1"/>
          <p:nvPr/>
        </p:nvSpPr>
        <p:spPr>
          <a:xfrm>
            <a:off x="658368" y="1176680"/>
            <a:ext cx="1809232" cy="5154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ct val="105000"/>
              </a:lnSpc>
              <a:spcAft>
                <a:spcPts val="200"/>
              </a:spcAft>
              <a:buNone/>
            </a:pPr>
            <a:r>
              <a:rPr lang="en-US" sz="1554" b="1" dirty="0">
                <a:solidFill>
                  <a:schemeClr val="accent1"/>
                </a:solidFill>
              </a:rPr>
              <a:t>01_importar</a:t>
            </a:r>
            <a:endParaRPr lang="en-US" sz="1554" dirty="0"/>
          </a:p>
          <a:p>
            <a:pPr marL="0" indent="0" algn="l">
              <a:lnSpc>
                <a:spcPct val="105000"/>
              </a:lnSpc>
              <a:buNone/>
            </a:pPr>
            <a:r>
              <a:rPr lang="en-US" sz="1344" dirty="0">
                <a:solidFill>
                  <a:schemeClr val="tx2"/>
                </a:solidFill>
              </a:rPr>
              <a:t>bruto → intermediário</a:t>
            </a:r>
            <a:endParaRPr lang="en-US" sz="1554" dirty="0"/>
          </a:p>
        </p:txBody>
      </p:sp>
      <p:sp>
        <p:nvSpPr>
          <p:cNvPr id="5" name="seta-2"/>
          <p:cNvSpPr/>
          <p:nvPr/>
        </p:nvSpPr>
        <p:spPr>
          <a:xfrm>
            <a:off x="2604760" y="1514641"/>
            <a:ext cx="182880" cy="0"/>
          </a:xfrm>
          <a:prstGeom prst="line">
            <a:avLst/>
          </a:prstGeom>
          <a:noFill/>
          <a:ln w="22225">
            <a:solidFill>
              <a:schemeClr val="accent1"/>
            </a:solidFill>
            <a:prstDash val="solid"/>
            <a:tailEnd type="triangle"/>
          </a:ln>
        </p:spPr>
        <p:txBody>
          <a:bodyPr/>
          <a:lstStyle/>
          <a:p>
            <a:endParaRPr lang="en-US"/>
          </a:p>
        </p:txBody>
      </p:sp>
      <p:sp>
        <p:nvSpPr>
          <p:cNvPr id="6" name="ret-3"/>
          <p:cNvSpPr/>
          <p:nvPr/>
        </p:nvSpPr>
        <p:spPr>
          <a:xfrm>
            <a:off x="2833360" y="1085240"/>
            <a:ext cx="1992112" cy="858801"/>
          </a:xfrm>
          <a:prstGeom prst="roundRect">
            <a:avLst>
              <a:gd name="adj" fmla="val 7453"/>
            </a:avLst>
          </a:prstGeom>
          <a:solidFill>
            <a:schemeClr val="accent3"/>
          </a:solidFill>
          <a:ln w="9525">
            <a:solidFill>
              <a:schemeClr val="accent4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7" name="texto-4"/>
          <p:cNvSpPr txBox="1"/>
          <p:nvPr/>
        </p:nvSpPr>
        <p:spPr>
          <a:xfrm>
            <a:off x="2924800" y="1176680"/>
            <a:ext cx="1809232" cy="5154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ct val="105000"/>
              </a:lnSpc>
              <a:spcAft>
                <a:spcPts val="200"/>
              </a:spcAft>
              <a:buNone/>
            </a:pPr>
            <a:r>
              <a:rPr lang="en-US" sz="1554" b="1" dirty="0">
                <a:solidFill>
                  <a:schemeClr val="accent1"/>
                </a:solidFill>
              </a:rPr>
              <a:t>02_qc</a:t>
            </a:r>
            <a:endParaRPr lang="en-US" sz="1554" dirty="0"/>
          </a:p>
          <a:p>
            <a:pPr marL="0" indent="0" algn="l">
              <a:lnSpc>
                <a:spcPct val="105000"/>
              </a:lnSpc>
              <a:buNone/>
            </a:pPr>
            <a:r>
              <a:rPr lang="en-US" sz="1344" dirty="0">
                <a:solidFill>
                  <a:schemeClr val="tx2"/>
                </a:solidFill>
              </a:rPr>
              <a:t>relatório de QC</a:t>
            </a:r>
            <a:endParaRPr lang="en-US" sz="1554" dirty="0"/>
          </a:p>
        </p:txBody>
      </p:sp>
      <p:sp>
        <p:nvSpPr>
          <p:cNvPr id="8" name="seta-5"/>
          <p:cNvSpPr/>
          <p:nvPr/>
        </p:nvSpPr>
        <p:spPr>
          <a:xfrm>
            <a:off x="4871192" y="1514641"/>
            <a:ext cx="182880" cy="0"/>
          </a:xfrm>
          <a:prstGeom prst="line">
            <a:avLst/>
          </a:prstGeom>
          <a:noFill/>
          <a:ln w="22225">
            <a:solidFill>
              <a:schemeClr val="accent1"/>
            </a:solidFill>
            <a:prstDash val="solid"/>
            <a:tailEnd type="triangle"/>
          </a:ln>
        </p:spPr>
        <p:txBody>
          <a:bodyPr/>
          <a:lstStyle/>
          <a:p>
            <a:endParaRPr lang="en-US"/>
          </a:p>
        </p:txBody>
      </p:sp>
      <p:sp>
        <p:nvSpPr>
          <p:cNvPr id="9" name="ret-6"/>
          <p:cNvSpPr/>
          <p:nvPr/>
        </p:nvSpPr>
        <p:spPr>
          <a:xfrm>
            <a:off x="5099792" y="1085240"/>
            <a:ext cx="1992112" cy="858801"/>
          </a:xfrm>
          <a:prstGeom prst="roundRect">
            <a:avLst>
              <a:gd name="adj" fmla="val 7453"/>
            </a:avLst>
          </a:prstGeom>
          <a:solidFill>
            <a:schemeClr val="accent3"/>
          </a:solidFill>
          <a:ln w="9525">
            <a:solidFill>
              <a:schemeClr val="accent4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0" name="texto-7"/>
          <p:cNvSpPr txBox="1"/>
          <p:nvPr/>
        </p:nvSpPr>
        <p:spPr>
          <a:xfrm>
            <a:off x="5191232" y="1176680"/>
            <a:ext cx="1809232" cy="73420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ct val="105000"/>
              </a:lnSpc>
              <a:spcAft>
                <a:spcPts val="200"/>
              </a:spcAft>
              <a:buNone/>
            </a:pPr>
            <a:r>
              <a:rPr lang="en-US" sz="1554" b="1" dirty="0">
                <a:solidFill>
                  <a:schemeClr val="accent1"/>
                </a:solidFill>
              </a:rPr>
              <a:t>03_curar</a:t>
            </a:r>
            <a:endParaRPr lang="en-US" sz="1554" dirty="0"/>
          </a:p>
          <a:p>
            <a:pPr marL="0" indent="0" algn="l">
              <a:lnSpc>
                <a:spcPct val="105000"/>
              </a:lnSpc>
              <a:buNone/>
            </a:pPr>
            <a:r>
              <a:rPr lang="en-US" sz="1344" dirty="0">
                <a:solidFill>
                  <a:schemeClr val="tx2"/>
                </a:solidFill>
              </a:rPr>
              <a:t>aplica correções registradas</a:t>
            </a:r>
            <a:endParaRPr lang="en-US" sz="1554" dirty="0"/>
          </a:p>
        </p:txBody>
      </p:sp>
      <p:sp>
        <p:nvSpPr>
          <p:cNvPr id="11" name="seta-8"/>
          <p:cNvSpPr/>
          <p:nvPr/>
        </p:nvSpPr>
        <p:spPr>
          <a:xfrm>
            <a:off x="7137624" y="1514641"/>
            <a:ext cx="182880" cy="0"/>
          </a:xfrm>
          <a:prstGeom prst="line">
            <a:avLst/>
          </a:prstGeom>
          <a:noFill/>
          <a:ln w="22225">
            <a:solidFill>
              <a:schemeClr val="accent1"/>
            </a:solidFill>
            <a:prstDash val="solid"/>
            <a:tailEnd type="triangle"/>
          </a:ln>
        </p:spPr>
        <p:txBody>
          <a:bodyPr/>
          <a:lstStyle/>
          <a:p>
            <a:endParaRPr lang="en-US"/>
          </a:p>
        </p:txBody>
      </p:sp>
      <p:sp>
        <p:nvSpPr>
          <p:cNvPr id="12" name="ret-9"/>
          <p:cNvSpPr/>
          <p:nvPr/>
        </p:nvSpPr>
        <p:spPr>
          <a:xfrm>
            <a:off x="7366224" y="1085240"/>
            <a:ext cx="1992112" cy="858801"/>
          </a:xfrm>
          <a:prstGeom prst="roundRect">
            <a:avLst>
              <a:gd name="adj" fmla="val 7453"/>
            </a:avLst>
          </a:prstGeom>
          <a:solidFill>
            <a:schemeClr val="accent3"/>
          </a:solidFill>
          <a:ln w="9525">
            <a:solidFill>
              <a:schemeClr val="accent4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3" name="texto-10"/>
          <p:cNvSpPr txBox="1"/>
          <p:nvPr/>
        </p:nvSpPr>
        <p:spPr>
          <a:xfrm>
            <a:off x="7457664" y="1176680"/>
            <a:ext cx="1809232" cy="5154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ct val="105000"/>
              </a:lnSpc>
              <a:spcAft>
                <a:spcPts val="200"/>
              </a:spcAft>
              <a:buNone/>
            </a:pPr>
            <a:r>
              <a:rPr lang="en-US" sz="1554" b="1" dirty="0">
                <a:solidFill>
                  <a:schemeClr val="accent1"/>
                </a:solidFill>
              </a:rPr>
              <a:t>04_analisar</a:t>
            </a:r>
            <a:endParaRPr lang="en-US" sz="1554" dirty="0"/>
          </a:p>
          <a:p>
            <a:pPr marL="0" indent="0" algn="l">
              <a:lnSpc>
                <a:spcPct val="105000"/>
              </a:lnSpc>
              <a:buNone/>
            </a:pPr>
            <a:r>
              <a:rPr lang="en-US" sz="1344" dirty="0">
                <a:solidFill>
                  <a:schemeClr val="tx2"/>
                </a:solidFill>
              </a:rPr>
              <a:t>modelos</a:t>
            </a:r>
            <a:endParaRPr lang="en-US" sz="1554" dirty="0"/>
          </a:p>
        </p:txBody>
      </p:sp>
      <p:sp>
        <p:nvSpPr>
          <p:cNvPr id="14" name="seta-11"/>
          <p:cNvSpPr/>
          <p:nvPr/>
        </p:nvSpPr>
        <p:spPr>
          <a:xfrm>
            <a:off x="9404055" y="1514641"/>
            <a:ext cx="182880" cy="0"/>
          </a:xfrm>
          <a:prstGeom prst="line">
            <a:avLst/>
          </a:prstGeom>
          <a:noFill/>
          <a:ln w="22225">
            <a:solidFill>
              <a:schemeClr val="accent1"/>
            </a:solidFill>
            <a:prstDash val="solid"/>
            <a:tailEnd type="triangle"/>
          </a:ln>
        </p:spPr>
        <p:txBody>
          <a:bodyPr/>
          <a:lstStyle/>
          <a:p>
            <a:endParaRPr lang="en-US"/>
          </a:p>
        </p:txBody>
      </p:sp>
      <p:sp>
        <p:nvSpPr>
          <p:cNvPr id="15" name="ret-12"/>
          <p:cNvSpPr/>
          <p:nvPr/>
        </p:nvSpPr>
        <p:spPr>
          <a:xfrm>
            <a:off x="9632655" y="1085240"/>
            <a:ext cx="1992112" cy="858801"/>
          </a:xfrm>
          <a:prstGeom prst="roundRect">
            <a:avLst>
              <a:gd name="adj" fmla="val 7453"/>
            </a:avLst>
          </a:prstGeom>
          <a:solidFill>
            <a:schemeClr val="accent3"/>
          </a:solidFill>
          <a:ln w="9525">
            <a:solidFill>
              <a:schemeClr val="accent4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6" name="texto-13"/>
          <p:cNvSpPr txBox="1"/>
          <p:nvPr/>
        </p:nvSpPr>
        <p:spPr>
          <a:xfrm>
            <a:off x="9724095" y="1176680"/>
            <a:ext cx="1809232" cy="5154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ct val="105000"/>
              </a:lnSpc>
              <a:spcAft>
                <a:spcPts val="200"/>
              </a:spcAft>
              <a:buNone/>
            </a:pPr>
            <a:r>
              <a:rPr lang="en-US" sz="1554" b="1" dirty="0">
                <a:solidFill>
                  <a:schemeClr val="accent1"/>
                </a:solidFill>
              </a:rPr>
              <a:t>05_figuras</a:t>
            </a:r>
            <a:endParaRPr lang="en-US" sz="1554" dirty="0"/>
          </a:p>
          <a:p>
            <a:pPr marL="0" indent="0" algn="l">
              <a:lnSpc>
                <a:spcPct val="105000"/>
              </a:lnSpc>
              <a:buNone/>
            </a:pPr>
            <a:r>
              <a:rPr lang="en-US" sz="1344" dirty="0">
                <a:solidFill>
                  <a:schemeClr val="tx2"/>
                </a:solidFill>
              </a:rPr>
              <a:t>figuras e tabelas</a:t>
            </a:r>
            <a:endParaRPr lang="en-US" sz="1554" dirty="0"/>
          </a:p>
        </p:txBody>
      </p:sp>
      <p:sp>
        <p:nvSpPr>
          <p:cNvPr id="17" name="texto-14"/>
          <p:cNvSpPr txBox="1"/>
          <p:nvPr/>
        </p:nvSpPr>
        <p:spPr>
          <a:xfrm>
            <a:off x="566928" y="2104061"/>
            <a:ext cx="11057839" cy="206885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279400" indent="-279400" algn="l">
              <a:lnSpc>
                <a:spcPct val="105000"/>
              </a:lnSpc>
              <a:spcAft>
                <a:spcPts val="672"/>
              </a:spcAft>
              <a:buSzPct val="100000"/>
              <a:buChar char="•"/>
            </a:pPr>
            <a:r>
              <a:rPr lang="en-US" sz="2100" dirty="0">
                <a:solidFill>
                  <a:schemeClr val="tx1"/>
                </a:solidFill>
              </a:rPr>
              <a:t>Cada script tem um </a:t>
            </a:r>
            <a:r>
              <a:rPr lang="en-US" sz="2100" b="1" dirty="0">
                <a:solidFill>
                  <a:schemeClr val="tx1"/>
                </a:solidFill>
              </a:rPr>
              <a:t>contrato</a:t>
            </a:r>
            <a:r>
              <a:rPr lang="en-US" sz="2100" dirty="0">
                <a:solidFill>
                  <a:schemeClr val="tx1"/>
                </a:solidFill>
              </a:rPr>
              <a:t> no cabeçalho: entradas, saídas, premissas.</a:t>
            </a:r>
            <a:endParaRPr lang="en-US" sz="2100" dirty="0"/>
          </a:p>
          <a:p>
            <a:pPr marL="279400" indent="-279400" algn="l">
              <a:lnSpc>
                <a:spcPct val="105000"/>
              </a:lnSpc>
              <a:spcAft>
                <a:spcPts val="672"/>
              </a:spcAft>
              <a:buSzPct val="100000"/>
              <a:buChar char="•"/>
            </a:pPr>
            <a:r>
              <a:rPr lang="en-US" sz="2100" dirty="0">
                <a:solidFill>
                  <a:schemeClr val="tx1"/>
                </a:solidFill>
              </a:rPr>
              <a:t>Cada script lê só o que veio antes e grava só na sua pasta de saída.</a:t>
            </a:r>
            <a:endParaRPr lang="en-US" sz="2100" dirty="0"/>
          </a:p>
          <a:p>
            <a:pPr marL="279400" indent="-279400" algn="l">
              <a:lnSpc>
                <a:spcPct val="105000"/>
              </a:lnSpc>
              <a:spcAft>
                <a:spcPts val="672"/>
              </a:spcAft>
              <a:buSzPct val="100000"/>
              <a:buChar char="•"/>
            </a:pPr>
            <a:r>
              <a:rPr lang="en-US" sz="2100" dirty="0">
                <a:solidFill>
                  <a:schemeClr val="tx1"/>
                </a:solidFill>
              </a:rPr>
              <a:t>Caminhos relativos à raiz do projeto: nunca </a:t>
            </a:r>
            <a:r>
              <a:rPr lang="en-US" sz="1932" dirty="0">
                <a:solidFill>
                  <a:schemeClr val="accent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setwd("C:/Users/…")</a:t>
            </a:r>
            <a:r>
              <a:rPr lang="en-US" sz="2100" dirty="0">
                <a:solidFill>
                  <a:schemeClr val="tx1"/>
                </a:solidFill>
              </a:rPr>
              <a:t>.</a:t>
            </a:r>
            <a:endParaRPr lang="en-US" sz="2100" dirty="0"/>
          </a:p>
          <a:p>
            <a:pPr marL="279400" indent="-279400" algn="l">
              <a:lnSpc>
                <a:spcPct val="105000"/>
              </a:lnSpc>
              <a:spcAft>
                <a:spcPts val="672"/>
              </a:spcAft>
              <a:buSzPct val="100000"/>
              <a:buChar char="•"/>
            </a:pPr>
            <a:r>
              <a:rPr lang="en-US" sz="2100" dirty="0">
                <a:solidFill>
                  <a:schemeClr val="tx1"/>
                </a:solidFill>
              </a:rPr>
              <a:t>Ambiente reprodutível: </a:t>
            </a:r>
            <a:r>
              <a:rPr lang="en-US" sz="1932" dirty="0">
                <a:solidFill>
                  <a:schemeClr val="accent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renv</a:t>
            </a:r>
            <a:r>
              <a:rPr lang="en-US" sz="2100" dirty="0">
                <a:solidFill>
                  <a:schemeClr val="tx1"/>
                </a:solidFill>
              </a:rPr>
              <a:t> registra as versões dos pacotes.</a:t>
            </a:r>
            <a:endParaRPr lang="en-US" sz="2100" dirty="0"/>
          </a:p>
          <a:p>
            <a:pPr marL="279400" indent="-279400" algn="l">
              <a:lnSpc>
                <a:spcPct val="105000"/>
              </a:lnSpc>
              <a:buSzPct val="100000"/>
              <a:buChar char="•"/>
            </a:pPr>
            <a:r>
              <a:rPr lang="en-US" sz="2100" dirty="0">
                <a:solidFill>
                  <a:schemeClr val="tx1"/>
                </a:solidFill>
              </a:rPr>
              <a:t>Teste final: apagar as pastas geradas e rodar tudo do zero.</a:t>
            </a:r>
            <a:endParaRPr lang="en-US" sz="2100" dirty="0"/>
          </a:p>
        </p:txBody>
      </p:sp>
      <p:sp>
        <p:nvSpPr>
          <p:cNvPr id="18" name="rodape"/>
          <p:cNvSpPr txBox="1"/>
          <p:nvPr/>
        </p:nvSpPr>
        <p:spPr>
          <a:xfrm>
            <a:off x="566928" y="640080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50" kern="0" spc="100" dirty="0">
                <a:solidFill>
                  <a:schemeClr val="tx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SEÇÃO 1 · BLOCO 5</a:t>
            </a:r>
            <a:endParaRPr lang="en-US" sz="95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527487" y="6400800"/>
            <a:ext cx="109728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xmlns="" val="0"/>
            </a:ext>
          </a:extLst>
        </p:spPr>
        <p:txBody>
          <a:bodyPr lIns="0" tIns="0" rIns="0" bIns="0"/>
          <a:lstStyle>
            <a:lvl1pPr>
              <a:defRPr sz="1000">
                <a:solidFill>
                  <a:srgbClr val="8FA9A3"/>
                </a:solidFill>
                <a:latin typeface="Courier New"/>
                <a:ea typeface="Courier New"/>
                <a:cs typeface="Courier New"/>
              </a:defRPr>
            </a:lvl1pPr>
          </a:lstStyle>
          <a:p>
            <a:pPr algn="r"/>
            <a:fld id="{F7021451-1387-4CA6-816F-3879F97B5CBC}" type="slidenum">
              <a:rPr lang="en-US" b="0"/>
              <a:t>46</a:t>
            </a:fld>
            <a:endParaRPr lang="en-US"/>
          </a:p>
        </p:txBody>
      </p:sp>
    </p:spTree>
  </p:cSld>
  <p:clrMapOvr>
    <a:masterClrMapping/>
  </p:clrMapOvr>
</p:sld>
</file>

<file path=ppt/slides/slide4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>
            <a:spLocks noGrp="1"/>
          </p:cNvSpPr>
          <p:nvPr>
            <p:ph type="title" idx="100" hasCustomPrompt="1"/>
          </p:nvPr>
        </p:nvSpPr>
        <p:spPr>
          <a:xfrm>
            <a:off x="566928" y="384048"/>
            <a:ext cx="11057839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buNone/>
            </a:pPr>
            <a:r>
              <a:rPr lang="en-US" sz="1900" b="1" dirty="0">
                <a:solidFill>
                  <a:schemeClr val="accent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5.6   </a:t>
            </a:r>
            <a:r>
              <a:rPr lang="en-US" sz="2800" b="1" dirty="0">
                <a:solidFill>
                  <a:schemeClr val="tx1"/>
                </a:solidFill>
              </a:rPr>
              <a:t>A pasta é o contexto do agente</a:t>
            </a:r>
            <a:endParaRPr lang="en-US" sz="2800" dirty="0"/>
          </a:p>
        </p:txBody>
      </p:sp>
      <p:graphicFrame>
        <p:nvGraphicFramePr>
          <p:cNvPr id="48" name="tabela-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66928" y="1085240"/>
          <a:ext cx="11057839" cy="2867200"/>
        </p:xfrm>
        <a:graphic>
          <a:graphicData uri="http://schemas.openxmlformats.org/drawingml/2006/table">
            <a:tbl>
              <a:tblPr/>
              <a:tblGrid>
                <a:gridCol w="4489113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6568726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</a:tblGrid>
              <a:tr h="358400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722" b="1" dirty="0">
                          <a:solidFill>
                            <a:schemeClr val="tx1"/>
                          </a:solidFill>
                        </a:rPr>
                        <a:t>Arquivo</a:t>
                      </a:r>
                      <a:endParaRPr lang="en-US" sz="1722" dirty="0"/>
                    </a:p>
                  </a:txBody>
                  <a:tcPr marL="73152" marR="73152" marT="32004" marB="32004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9050" cap="flat" cmpd="sng" algn="ctr">
                      <a:solidFill>
                        <a:srgbClr val="A6E35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722" b="1" dirty="0">
                          <a:solidFill>
                            <a:schemeClr val="tx1"/>
                          </a:solidFill>
                        </a:rPr>
                        <a:t>O que o Claude Code aprende com ele</a:t>
                      </a:r>
                      <a:endParaRPr lang="en-US" sz="1722" dirty="0"/>
                    </a:p>
                  </a:txBody>
                  <a:tcPr marL="73152" marR="73152" marT="32004" marB="32004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9050" cap="flat" cmpd="sng" algn="ctr">
                      <a:solidFill>
                        <a:srgbClr val="A6E35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358400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584" dirty="0">
                          <a:solidFill>
                            <a:schemeClr val="accent2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CLAUDE.md</a:t>
                      </a:r>
                      <a:endParaRPr lang="en-US" sz="1722" dirty="0"/>
                    </a:p>
                  </a:txBody>
                  <a:tcPr marL="73152" marR="73152" marT="32004" marB="32004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19050" cap="flat" cmpd="sng" algn="ctr">
                      <a:solidFill>
                        <a:srgbClr val="A6E35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1D3A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722" dirty="0">
                          <a:solidFill>
                            <a:schemeClr val="tx1"/>
                          </a:solidFill>
                        </a:rPr>
                        <a:t>Pergunta, regras de dados, convenções, o que é proibido</a:t>
                      </a:r>
                      <a:endParaRPr lang="en-US" sz="1722" dirty="0"/>
                    </a:p>
                  </a:txBody>
                  <a:tcPr marL="73152" marR="73152" marT="32004" marB="32004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19050" cap="flat" cmpd="sng" algn="ctr">
                      <a:solidFill>
                        <a:srgbClr val="A6E35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1D3A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358400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584" dirty="0">
                          <a:solidFill>
                            <a:schemeClr val="accent2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README.md</a:t>
                      </a:r>
                      <a:endParaRPr lang="en-US" sz="1722" dirty="0"/>
                    </a:p>
                  </a:txBody>
                  <a:tcPr marL="73152" marR="73152" marT="32004" marB="32004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9525" cap="flat" cmpd="sng" algn="ctr">
                      <a:solidFill>
                        <a:srgbClr val="1D3A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1D3A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722" dirty="0">
                          <a:solidFill>
                            <a:schemeClr val="tx1"/>
                          </a:solidFill>
                        </a:rPr>
                        <a:t>Como o projeto roda, de onde vêm os dados</a:t>
                      </a:r>
                      <a:endParaRPr lang="en-US" sz="1722" dirty="0"/>
                    </a:p>
                  </a:txBody>
                  <a:tcPr marL="73152" marR="73152" marT="32004" marB="32004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9525" cap="flat" cmpd="sng" algn="ctr">
                      <a:solidFill>
                        <a:srgbClr val="1D3A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1D3A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358400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584" dirty="0">
                          <a:solidFill>
                            <a:schemeClr val="accent2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docs/dicionario_de_dados.csv</a:t>
                      </a:r>
                      <a:endParaRPr lang="en-US" sz="1722" dirty="0"/>
                    </a:p>
                  </a:txBody>
                  <a:tcPr marL="73152" marR="73152" marT="32004" marB="32004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9525" cap="flat" cmpd="sng" algn="ctr">
                      <a:solidFill>
                        <a:srgbClr val="1D3A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1D3A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722" dirty="0">
                          <a:solidFill>
                            <a:schemeClr val="tx1"/>
                          </a:solidFill>
                        </a:rPr>
                        <a:t>Unidades, intervalos, códigos de ausente, padrão de IDs</a:t>
                      </a:r>
                      <a:endParaRPr lang="en-US" sz="1722" dirty="0"/>
                    </a:p>
                  </a:txBody>
                  <a:tcPr marL="73152" marR="73152" marT="32004" marB="32004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9525" cap="flat" cmpd="sng" algn="ctr">
                      <a:solidFill>
                        <a:srgbClr val="1D3A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1D3A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358400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584" dirty="0">
                          <a:solidFill>
                            <a:schemeClr val="accent2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config/parametros.yaml</a:t>
                      </a:r>
                      <a:endParaRPr lang="en-US" sz="1722" dirty="0"/>
                    </a:p>
                  </a:txBody>
                  <a:tcPr marL="73152" marR="73152" marT="32004" marB="32004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9525" cap="flat" cmpd="sng" algn="ctr">
                      <a:solidFill>
                        <a:srgbClr val="1D3A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1D3A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722" dirty="0">
                          <a:solidFill>
                            <a:schemeClr val="tx1"/>
                          </a:solidFill>
                        </a:rPr>
                        <a:t>Onde estão os números da análise</a:t>
                      </a:r>
                      <a:endParaRPr lang="en-US" sz="1722" dirty="0"/>
                    </a:p>
                  </a:txBody>
                  <a:tcPr marL="73152" marR="73152" marT="32004" marB="32004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9525" cap="flat" cmpd="sng" algn="ctr">
                      <a:solidFill>
                        <a:srgbClr val="1D3A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1D3A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358400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722" dirty="0">
                          <a:solidFill>
                            <a:schemeClr val="tx1"/>
                          </a:solidFill>
                        </a:rPr>
                        <a:t>Cabeçalhos dos scripts</a:t>
                      </a:r>
                      <a:endParaRPr lang="en-US" sz="1722" dirty="0"/>
                    </a:p>
                  </a:txBody>
                  <a:tcPr marL="73152" marR="73152" marT="32004" marB="32004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9525" cap="flat" cmpd="sng" algn="ctr">
                      <a:solidFill>
                        <a:srgbClr val="1D3A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1D3A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722" dirty="0">
                          <a:solidFill>
                            <a:schemeClr val="tx1"/>
                          </a:solidFill>
                        </a:rPr>
                        <a:t>Entradas, saídas e premissas de cada etapa</a:t>
                      </a:r>
                      <a:endParaRPr lang="en-US" sz="1722" dirty="0"/>
                    </a:p>
                  </a:txBody>
                  <a:tcPr marL="73152" marR="73152" marT="32004" marB="32004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9525" cap="flat" cmpd="sng" algn="ctr">
                      <a:solidFill>
                        <a:srgbClr val="1D3A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1D3A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  <a:tr h="358400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584" dirty="0">
                          <a:solidFill>
                            <a:schemeClr val="accent2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docs/decisoes.md</a:t>
                      </a:r>
                      <a:endParaRPr lang="en-US" sz="1722" dirty="0"/>
                    </a:p>
                  </a:txBody>
                  <a:tcPr marL="73152" marR="73152" marT="32004" marB="32004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9525" cap="flat" cmpd="sng" algn="ctr">
                      <a:solidFill>
                        <a:srgbClr val="1D3A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1D3A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722" dirty="0">
                          <a:solidFill>
                            <a:schemeClr val="tx1"/>
                          </a:solidFill>
                        </a:rPr>
                        <a:t>O que já foi decidido, para não ser refeito</a:t>
                      </a:r>
                      <a:endParaRPr lang="en-US" sz="1722" dirty="0"/>
                    </a:p>
                  </a:txBody>
                  <a:tcPr marL="73152" marR="73152" marT="32004" marB="32004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9525" cap="flat" cmpd="sng" algn="ctr">
                      <a:solidFill>
                        <a:srgbClr val="1D3A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1D3A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6"/>
                  </a:ext>
                </a:extLst>
              </a:tr>
              <a:tr h="358400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722" dirty="0">
                          <a:solidFill>
                            <a:schemeClr val="tx1"/>
                          </a:solidFill>
                        </a:rPr>
                        <a:t>Estrutura de pastas</a:t>
                      </a:r>
                      <a:endParaRPr lang="en-US" sz="1722" dirty="0"/>
                    </a:p>
                  </a:txBody>
                  <a:tcPr marL="73152" marR="73152" marT="32004" marB="32004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9525" cap="flat" cmpd="sng" algn="ctr">
                      <a:solidFill>
                        <a:srgbClr val="1D3A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0" cap="flat" cmpd="sng" algn="ctr"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722" dirty="0">
                          <a:solidFill>
                            <a:schemeClr val="tx1"/>
                          </a:solidFill>
                        </a:rPr>
                        <a:t>Onde ler e onde gravar</a:t>
                      </a:r>
                      <a:endParaRPr lang="en-US" sz="1722" dirty="0"/>
                    </a:p>
                  </a:txBody>
                  <a:tcPr marL="73152" marR="73152" marT="32004" marB="32004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9525" cap="flat" cmpd="sng" algn="ctr">
                      <a:solidFill>
                        <a:srgbClr val="1D3A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0" cap="flat" cmpd="sng" algn="ctr">
                      <a:noFill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7"/>
                  </a:ext>
                </a:extLst>
              </a:tr>
            </a:tbl>
          </a:graphicData>
        </a:graphic>
      </p:graphicFrame>
      <p:sp>
        <p:nvSpPr>
          <p:cNvPr id="4" name="ret-1"/>
          <p:cNvSpPr/>
          <p:nvPr/>
        </p:nvSpPr>
        <p:spPr>
          <a:xfrm>
            <a:off x="566928" y="4112459"/>
            <a:ext cx="11057839" cy="561295"/>
          </a:xfrm>
          <a:prstGeom prst="roundRect">
            <a:avLst>
              <a:gd name="adj" fmla="val 13033"/>
            </a:avLst>
          </a:prstGeom>
          <a:solidFill>
            <a:schemeClr val="accent6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5" name="texto-2"/>
          <p:cNvSpPr txBox="1"/>
          <p:nvPr/>
        </p:nvSpPr>
        <p:spPr>
          <a:xfrm>
            <a:off x="749808" y="4222187"/>
            <a:ext cx="10692079" cy="360127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ct val="105000"/>
              </a:lnSpc>
              <a:buNone/>
            </a:pPr>
            <a:r>
              <a:rPr lang="en-US" sz="2100" dirty="0">
                <a:solidFill>
                  <a:schemeClr val="tx1"/>
                </a:solidFill>
              </a:rPr>
              <a:t>Uma pasta organizada é um prompt permanente: o agente acerta mais e pergunta menos.</a:t>
            </a:r>
            <a:endParaRPr lang="en-US" sz="2100" dirty="0"/>
          </a:p>
        </p:txBody>
      </p:sp>
      <p:sp>
        <p:nvSpPr>
          <p:cNvPr id="6" name="rodape"/>
          <p:cNvSpPr txBox="1"/>
          <p:nvPr/>
        </p:nvSpPr>
        <p:spPr>
          <a:xfrm>
            <a:off x="566928" y="640080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50" kern="0" spc="100" dirty="0">
                <a:solidFill>
                  <a:schemeClr val="tx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SEÇÃO 1 · BLOCO 5</a:t>
            </a:r>
            <a:endParaRPr lang="en-US" sz="95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527487" y="6400800"/>
            <a:ext cx="109728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xmlns="" val="0"/>
            </a:ext>
          </a:extLst>
        </p:spPr>
        <p:txBody>
          <a:bodyPr lIns="0" tIns="0" rIns="0" bIns="0"/>
          <a:lstStyle>
            <a:lvl1pPr>
              <a:defRPr sz="1000">
                <a:solidFill>
                  <a:srgbClr val="8FA9A3"/>
                </a:solidFill>
                <a:latin typeface="Courier New"/>
                <a:ea typeface="Courier New"/>
                <a:cs typeface="Courier New"/>
              </a:defRPr>
            </a:lvl1pPr>
          </a:lstStyle>
          <a:p>
            <a:pPr algn="r"/>
            <a:fld id="{F7021451-1387-4CA6-816F-3879F97B5CBC}" type="slidenum">
              <a:rPr lang="en-US" b="0"/>
              <a:t>47</a:t>
            </a:fld>
            <a:endParaRPr lang="en-US"/>
          </a:p>
        </p:txBody>
      </p:sp>
    </p:spTree>
  </p:cSld>
  <p:clrMapOvr>
    <a:masterClrMapping/>
  </p:clrMapOvr>
</p:sld>
</file>

<file path=ppt/slides/slide4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8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>
            <a:spLocks noGrp="1"/>
          </p:cNvSpPr>
          <p:nvPr>
            <p:ph type="title" idx="100" hasCustomPrompt="1"/>
          </p:nvPr>
        </p:nvSpPr>
        <p:spPr>
          <a:xfrm>
            <a:off x="566928" y="384048"/>
            <a:ext cx="11057839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buNone/>
            </a:pPr>
            <a:r>
              <a:rPr lang="en-US" sz="1900" b="1" dirty="0">
                <a:solidFill>
                  <a:schemeClr val="accent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5.7   </a:t>
            </a:r>
            <a:r>
              <a:rPr lang="en-US" sz="2800" b="1" dirty="0">
                <a:solidFill>
                  <a:schemeClr val="accent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CLAUDE.md</a:t>
            </a:r>
            <a:r>
              <a:rPr lang="en-US" sz="2800" b="1" dirty="0">
                <a:solidFill>
                  <a:schemeClr val="tx1"/>
                </a:solidFill>
              </a:rPr>
              <a:t> da pasta de análise</a:t>
            </a:r>
            <a:endParaRPr lang="en-US" sz="2800" dirty="0"/>
          </a:p>
        </p:txBody>
      </p:sp>
      <p:sp>
        <p:nvSpPr>
          <p:cNvPr id="3" name="ret-0"/>
          <p:cNvSpPr/>
          <p:nvPr/>
        </p:nvSpPr>
        <p:spPr>
          <a:xfrm>
            <a:off x="566928" y="1085240"/>
            <a:ext cx="11057839" cy="2717597"/>
          </a:xfrm>
          <a:prstGeom prst="roundRect">
            <a:avLst>
              <a:gd name="adj" fmla="val 2019"/>
            </a:avLst>
          </a:prstGeom>
          <a:solidFill>
            <a:schemeClr val="accent5"/>
          </a:solidFill>
          <a:ln w="9525">
            <a:solidFill>
              <a:schemeClr val="accent4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4" name="texto-1"/>
          <p:cNvSpPr txBox="1"/>
          <p:nvPr/>
        </p:nvSpPr>
        <p:spPr>
          <a:xfrm>
            <a:off x="713232" y="1176680"/>
            <a:ext cx="10765231" cy="255300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ct val="100000"/>
              </a:lnSpc>
              <a:buNone/>
            </a:pPr>
            <a:r>
              <a:rPr lang="en-US" sz="1386" dirty="0">
                <a:solidFill>
                  <a:schemeClr val="tx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## Dados</a:t>
            </a:r>
            <a:endParaRPr lang="en-US" sz="1386" dirty="0"/>
          </a:p>
          <a:p>
            <a:pPr marL="0" indent="0" algn="l">
              <a:lnSpc>
                <a:spcPct val="100000"/>
              </a:lnSpc>
              <a:buNone/>
            </a:pPr>
            <a:r>
              <a:rPr lang="en-US" sz="1386" dirty="0">
                <a:solidFill>
                  <a:schemeClr val="tx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- data/bruto/ é SOMENTE LEITURA: nunca altere, renomeie ou sobrescreva.</a:t>
            </a:r>
            <a:endParaRPr lang="en-US" sz="1386" dirty="0"/>
          </a:p>
          <a:p>
            <a:pPr marL="0" indent="0" algn="l">
              <a:lnSpc>
                <a:spcPct val="100000"/>
              </a:lnSpc>
              <a:buNone/>
            </a:pPr>
            <a:r>
              <a:rPr lang="en-US" sz="1386" dirty="0">
                <a:solidFill>
                  <a:schemeClr val="tx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- Dicionário em docs/dicionario_de_dados.csv: valide unidades e intervalos.</a:t>
            </a:r>
            <a:endParaRPr lang="en-US" sz="1386" dirty="0"/>
          </a:p>
          <a:p>
            <a:pPr marL="0" indent="0" algn="l">
              <a:lnSpc>
                <a:spcPct val="100000"/>
              </a:lnSpc>
              <a:buNone/>
            </a:pPr>
            <a:r>
              <a:rPr lang="en-US" sz="1386" dirty="0">
                <a:solidFill>
                  <a:schemeClr val="tx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- Correções só via docs/registro_de_correcoes.csv, aplicadas por R/03_curar.R.</a:t>
            </a:r>
            <a:endParaRPr lang="en-US" sz="1386" dirty="0"/>
          </a:p>
          <a:p>
            <a:pPr marL="0" indent="0" algn="l">
              <a:lnSpc>
                <a:spcPct val="100000"/>
              </a:lnSpc>
              <a:buNone/>
            </a:pPr>
            <a:r>
              <a:rPr lang="en-US" sz="1386" dirty="0">
                <a:solidFill>
                  <a:schemeClr val="tx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endParaRPr lang="en-US" sz="1386" dirty="0"/>
          </a:p>
          <a:p>
            <a:pPr marL="0" indent="0" algn="l">
              <a:lnSpc>
                <a:spcPct val="100000"/>
              </a:lnSpc>
              <a:buNone/>
            </a:pPr>
            <a:r>
              <a:rPr lang="en-US" sz="1386" dirty="0">
                <a:solidFill>
                  <a:schemeClr val="tx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## Convenções</a:t>
            </a:r>
            <a:endParaRPr lang="en-US" sz="1386" dirty="0"/>
          </a:p>
          <a:p>
            <a:pPr marL="0" indent="0" algn="l">
              <a:lnSpc>
                <a:spcPct val="100000"/>
              </a:lnSpc>
              <a:buNone/>
            </a:pPr>
            <a:r>
              <a:rPr lang="en-US" sz="1386" dirty="0">
                <a:solidFill>
                  <a:schemeClr val="tx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- Caminhos relativos; parâmetros em config/parametros.yaml.</a:t>
            </a:r>
            <a:endParaRPr lang="en-US" sz="1386" dirty="0"/>
          </a:p>
          <a:p>
            <a:pPr marL="0" indent="0" algn="l">
              <a:lnSpc>
                <a:spcPct val="100000"/>
              </a:lnSpc>
              <a:buNone/>
            </a:pPr>
            <a:r>
              <a:rPr lang="en-US" sz="1386" dirty="0">
                <a:solidFill>
                  <a:schemeClr val="tx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- Normalize identificadores antes de cruzar tabelas. Ausentes como NA, nunca 0.</a:t>
            </a:r>
            <a:endParaRPr lang="en-US" sz="1386" dirty="0"/>
          </a:p>
          <a:p>
            <a:pPr marL="0" indent="0" algn="l">
              <a:lnSpc>
                <a:spcPct val="100000"/>
              </a:lnSpc>
              <a:buNone/>
            </a:pPr>
            <a:r>
              <a:rPr lang="en-US" sz="1386" dirty="0">
                <a:solidFill>
                  <a:schemeClr val="tx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endParaRPr lang="en-US" sz="1386" dirty="0"/>
          </a:p>
          <a:p>
            <a:pPr marL="0" indent="0" algn="l">
              <a:lnSpc>
                <a:spcPct val="100000"/>
              </a:lnSpc>
              <a:buNone/>
            </a:pPr>
            <a:r>
              <a:rPr lang="en-US" sz="1386" dirty="0">
                <a:solidFill>
                  <a:schemeClr val="tx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## Regras de análise</a:t>
            </a:r>
            <a:endParaRPr lang="en-US" sz="1386" dirty="0"/>
          </a:p>
          <a:p>
            <a:pPr marL="0" indent="0" algn="l">
              <a:lnSpc>
                <a:spcPct val="100000"/>
              </a:lnSpc>
              <a:buNone/>
            </a:pPr>
            <a:r>
              <a:rPr lang="en-US" sz="1386" dirty="0">
                <a:solidFill>
                  <a:schemeClr val="tx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- Dados de parcela, não médias. Outlier estatístico não é erro: sinalize, não exclua.</a:t>
            </a:r>
            <a:endParaRPr lang="en-US" sz="1386" dirty="0"/>
          </a:p>
          <a:p>
            <a:pPr marL="0" indent="0" algn="l">
              <a:lnSpc>
                <a:spcPct val="100000"/>
              </a:lnSpc>
              <a:buNone/>
            </a:pPr>
            <a:r>
              <a:rPr lang="en-US" sz="1386" dirty="0">
                <a:solidFill>
                  <a:schemeClr val="tx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- Decisões em docs/decisoes.md. Plano antes de código; teste para cada script.</a:t>
            </a:r>
            <a:endParaRPr lang="en-US" sz="1386" dirty="0"/>
          </a:p>
        </p:txBody>
      </p:sp>
      <p:sp>
        <p:nvSpPr>
          <p:cNvPr id="5" name="rodape"/>
          <p:cNvSpPr txBox="1"/>
          <p:nvPr/>
        </p:nvSpPr>
        <p:spPr>
          <a:xfrm>
            <a:off x="566928" y="640080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50" kern="0" spc="100" dirty="0">
                <a:solidFill>
                  <a:schemeClr val="tx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SEÇÃO 1 · BLOCO 5</a:t>
            </a:r>
            <a:endParaRPr lang="en-US" sz="95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527487" y="6400800"/>
            <a:ext cx="109728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xmlns="" val="0"/>
            </a:ext>
          </a:extLst>
        </p:spPr>
        <p:txBody>
          <a:bodyPr lIns="0" tIns="0" rIns="0" bIns="0"/>
          <a:lstStyle>
            <a:lvl1pPr>
              <a:defRPr sz="1000">
                <a:solidFill>
                  <a:srgbClr val="8FA9A3"/>
                </a:solidFill>
                <a:latin typeface="Courier New"/>
                <a:ea typeface="Courier New"/>
                <a:cs typeface="Courier New"/>
              </a:defRPr>
            </a:lvl1pPr>
          </a:lstStyle>
          <a:p>
            <a:pPr algn="r"/>
            <a:fld id="{F7021451-1387-4CA6-816F-3879F97B5CBC}" type="slidenum">
              <a:rPr lang="en-US" b="0"/>
              <a:t>48</a:t>
            </a:fld>
            <a:endParaRPr lang="en-US"/>
          </a:p>
        </p:txBody>
      </p:sp>
    </p:spTree>
  </p:cSld>
  <p:clrMapOvr>
    <a:masterClrMapping/>
  </p:clrMapOvr>
</p:sld>
</file>

<file path=ppt/slides/slide4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9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>
            <a:spLocks noGrp="1"/>
          </p:cNvSpPr>
          <p:nvPr>
            <p:ph type="title" idx="100" hasCustomPrompt="1"/>
          </p:nvPr>
        </p:nvSpPr>
        <p:spPr>
          <a:xfrm>
            <a:off x="566928" y="384048"/>
            <a:ext cx="11057839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buNone/>
            </a:pPr>
            <a:r>
              <a:rPr lang="en-US" sz="1900" b="1" dirty="0">
                <a:solidFill>
                  <a:schemeClr val="accent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5.8   </a:t>
            </a:r>
            <a:r>
              <a:rPr lang="en-US" sz="2800" b="1" dirty="0">
                <a:solidFill>
                  <a:schemeClr val="tx1"/>
                </a:solidFill>
              </a:rPr>
              <a:t>Proteger o dado bruto ⚙️</a:t>
            </a:r>
            <a:endParaRPr lang="en-US" sz="2800" dirty="0"/>
          </a:p>
        </p:txBody>
      </p:sp>
      <p:sp>
        <p:nvSpPr>
          <p:cNvPr id="3" name="texto-0"/>
          <p:cNvSpPr txBox="1"/>
          <p:nvPr/>
        </p:nvSpPr>
        <p:spPr>
          <a:xfrm>
            <a:off x="566928" y="1085240"/>
            <a:ext cx="11057839" cy="360127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ct val="105000"/>
              </a:lnSpc>
              <a:buNone/>
            </a:pPr>
            <a:r>
              <a:rPr lang="en-US" sz="1932" dirty="0">
                <a:solidFill>
                  <a:schemeClr val="accent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.claude/settings.json</a:t>
            </a:r>
            <a:r>
              <a:rPr lang="en-US" sz="2100" dirty="0">
                <a:solidFill>
                  <a:schemeClr val="tx1"/>
                </a:solidFill>
              </a:rPr>
              <a:t>:</a:t>
            </a:r>
            <a:endParaRPr lang="en-US" sz="1932" dirty="0"/>
          </a:p>
        </p:txBody>
      </p:sp>
      <p:sp>
        <p:nvSpPr>
          <p:cNvPr id="4" name="ret-1"/>
          <p:cNvSpPr/>
          <p:nvPr/>
        </p:nvSpPr>
        <p:spPr>
          <a:xfrm>
            <a:off x="566928" y="1587099"/>
            <a:ext cx="11057839" cy="1450238"/>
          </a:xfrm>
          <a:prstGeom prst="roundRect">
            <a:avLst>
              <a:gd name="adj" fmla="val 3783"/>
            </a:avLst>
          </a:prstGeom>
          <a:solidFill>
            <a:schemeClr val="accent5"/>
          </a:solidFill>
          <a:ln w="9525">
            <a:solidFill>
              <a:schemeClr val="accent4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5" name="texto-2"/>
          <p:cNvSpPr txBox="1"/>
          <p:nvPr/>
        </p:nvSpPr>
        <p:spPr>
          <a:xfrm>
            <a:off x="713232" y="1678539"/>
            <a:ext cx="10765231" cy="128564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ct val="100000"/>
              </a:lnSpc>
              <a:buNone/>
            </a:pPr>
            <a:r>
              <a:rPr lang="en-US" sz="1386" dirty="0">
                <a:solidFill>
                  <a:schemeClr val="tx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{</a:t>
            </a:r>
            <a:endParaRPr lang="en-US" sz="1386" dirty="0"/>
          </a:p>
          <a:p>
            <a:pPr marL="0" indent="0" algn="l">
              <a:lnSpc>
                <a:spcPct val="100000"/>
              </a:lnSpc>
              <a:buNone/>
            </a:pPr>
            <a:r>
              <a:rPr lang="en-US" sz="1386" dirty="0">
                <a:solidFill>
                  <a:schemeClr val="tx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"permissions": {</a:t>
            </a:r>
            <a:endParaRPr lang="en-US" sz="1386" dirty="0"/>
          </a:p>
          <a:p>
            <a:pPr marL="0" indent="0" algn="l">
              <a:lnSpc>
                <a:spcPct val="100000"/>
              </a:lnSpc>
              <a:buNone/>
            </a:pPr>
            <a:r>
              <a:rPr lang="en-US" sz="1386" dirty="0">
                <a:solidFill>
                  <a:schemeClr val="tx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"allow": ["Bash(Rscript *)", "Bash(git status)", "Bash(git diff *)"],</a:t>
            </a:r>
            <a:endParaRPr lang="en-US" sz="1386" dirty="0"/>
          </a:p>
          <a:p>
            <a:pPr marL="0" indent="0" algn="l">
              <a:lnSpc>
                <a:spcPct val="100000"/>
              </a:lnSpc>
              <a:buNone/>
            </a:pPr>
            <a:r>
              <a:rPr lang="en-US" sz="1386" dirty="0">
                <a:solidFill>
                  <a:schemeClr val="tx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"deny":  ["Edit(/data/bruto/**)", "Bash(rm *)"]</a:t>
            </a:r>
            <a:endParaRPr lang="en-US" sz="1386" dirty="0"/>
          </a:p>
          <a:p>
            <a:pPr marL="0" indent="0" algn="l">
              <a:lnSpc>
                <a:spcPct val="100000"/>
              </a:lnSpc>
              <a:buNone/>
            </a:pPr>
            <a:r>
              <a:rPr lang="en-US" sz="1386" dirty="0">
                <a:solidFill>
                  <a:schemeClr val="tx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}</a:t>
            </a:r>
            <a:endParaRPr lang="en-US" sz="1386" dirty="0"/>
          </a:p>
          <a:p>
            <a:pPr marL="0" indent="0" algn="l">
              <a:lnSpc>
                <a:spcPct val="100000"/>
              </a:lnSpc>
              <a:buNone/>
            </a:pPr>
            <a:r>
              <a:rPr lang="en-US" sz="1386" dirty="0">
                <a:solidFill>
                  <a:schemeClr val="tx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}</a:t>
            </a:r>
            <a:endParaRPr lang="en-US" sz="1386" dirty="0"/>
          </a:p>
        </p:txBody>
      </p:sp>
      <p:sp>
        <p:nvSpPr>
          <p:cNvPr id="6" name="texto-3"/>
          <p:cNvSpPr txBox="1"/>
          <p:nvPr/>
        </p:nvSpPr>
        <p:spPr>
          <a:xfrm>
            <a:off x="566928" y="3197358"/>
            <a:ext cx="11057839" cy="232535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279400" indent="-279400" algn="l">
              <a:lnSpc>
                <a:spcPct val="105000"/>
              </a:lnSpc>
              <a:spcAft>
                <a:spcPts val="672"/>
              </a:spcAft>
              <a:buSzPct val="100000"/>
              <a:buChar char="•"/>
            </a:pPr>
            <a:r>
              <a:rPr lang="en-US" sz="2100" dirty="0">
                <a:solidFill>
                  <a:schemeClr val="tx1"/>
                </a:solidFill>
              </a:rPr>
              <a:t>O agente roda scripts, mas suas ferramentas de edição </a:t>
            </a:r>
            <a:r>
              <a:rPr lang="en-US" sz="2100" b="1" dirty="0">
                <a:solidFill>
                  <a:schemeClr val="tx1"/>
                </a:solidFill>
              </a:rPr>
              <a:t>não alteram</a:t>
            </a:r>
            <a:r>
              <a:rPr lang="en-US" sz="2100" dirty="0">
                <a:solidFill>
                  <a:schemeClr val="tx1"/>
                </a:solidFill>
              </a:rPr>
              <a:t> os dados brutos e ele não apaga arquivos.</a:t>
            </a:r>
            <a:endParaRPr lang="en-US" sz="2100" dirty="0"/>
          </a:p>
          <a:p>
            <a:pPr marL="279400" indent="-279400" algn="l">
              <a:lnSpc>
                <a:spcPct val="105000"/>
              </a:lnSpc>
              <a:spcAft>
                <a:spcPts val="672"/>
              </a:spcAft>
              <a:buSzPct val="100000"/>
              <a:buChar char="•"/>
            </a:pPr>
            <a:r>
              <a:rPr lang="en-US" sz="2100" dirty="0">
                <a:solidFill>
                  <a:schemeClr val="tx1"/>
                </a:solidFill>
              </a:rPr>
              <a:t>A regra não alcança um script que grave na pasta: proteja </a:t>
            </a:r>
            <a:r>
              <a:rPr lang="en-US" sz="1932" dirty="0">
                <a:solidFill>
                  <a:schemeClr val="accent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data/bruto/</a:t>
            </a:r>
            <a:r>
              <a:rPr lang="en-US" sz="2100" dirty="0">
                <a:solidFill>
                  <a:schemeClr val="tx1"/>
                </a:solidFill>
              </a:rPr>
              <a:t> também como somente leitura no sistema (Seção 2).</a:t>
            </a:r>
            <a:endParaRPr lang="en-US" sz="2100" dirty="0"/>
          </a:p>
          <a:p>
            <a:pPr marL="279400" indent="-279400" algn="l">
              <a:lnSpc>
                <a:spcPct val="105000"/>
              </a:lnSpc>
              <a:spcAft>
                <a:spcPts val="672"/>
              </a:spcAft>
              <a:buSzPct val="100000"/>
              <a:buChar char="•"/>
            </a:pPr>
            <a:r>
              <a:rPr lang="en-US" sz="2100" dirty="0">
                <a:solidFill>
                  <a:schemeClr val="tx1"/>
                </a:solidFill>
              </a:rPr>
              <a:t>O agente escreve </a:t>
            </a:r>
            <a:r>
              <a:rPr lang="en-US" sz="2100" b="1" dirty="0">
                <a:solidFill>
                  <a:schemeClr val="tx1"/>
                </a:solidFill>
              </a:rPr>
              <a:t>código que transforma dados</a:t>
            </a:r>
            <a:r>
              <a:rPr lang="en-US" sz="2100" dirty="0">
                <a:solidFill>
                  <a:schemeClr val="tx1"/>
                </a:solidFill>
              </a:rPr>
              <a:t>; não transforma dados "na mão".</a:t>
            </a:r>
            <a:endParaRPr lang="en-US" sz="2100" dirty="0"/>
          </a:p>
          <a:p>
            <a:pPr marL="279400" indent="-279400" algn="l">
              <a:lnSpc>
                <a:spcPct val="105000"/>
              </a:lnSpc>
              <a:buSzPct val="100000"/>
              <a:buChar char="•"/>
            </a:pPr>
            <a:r>
              <a:rPr lang="en-US" sz="2100" dirty="0">
                <a:solidFill>
                  <a:schemeClr val="tx1"/>
                </a:solidFill>
              </a:rPr>
              <a:t>Git registra cada mudança nos scripts: tudo o que o agente fez pode ser revisado e desfeito.</a:t>
            </a:r>
            <a:endParaRPr lang="en-US" sz="2100" dirty="0"/>
          </a:p>
        </p:txBody>
      </p:sp>
      <p:sp>
        <p:nvSpPr>
          <p:cNvPr id="7" name="rodape"/>
          <p:cNvSpPr txBox="1"/>
          <p:nvPr/>
        </p:nvSpPr>
        <p:spPr>
          <a:xfrm>
            <a:off x="566928" y="640080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50" kern="0" spc="100" dirty="0">
                <a:solidFill>
                  <a:schemeClr val="tx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SEÇÃO 1 · BLOCO 5</a:t>
            </a:r>
            <a:endParaRPr lang="en-US" sz="95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527487" y="6400800"/>
            <a:ext cx="109728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xmlns="" val="0"/>
            </a:ext>
          </a:extLst>
        </p:spPr>
        <p:txBody>
          <a:bodyPr lIns="0" tIns="0" rIns="0" bIns="0"/>
          <a:lstStyle>
            <a:lvl1pPr>
              <a:defRPr sz="1000">
                <a:solidFill>
                  <a:srgbClr val="8FA9A3"/>
                </a:solidFill>
                <a:latin typeface="Courier New"/>
                <a:ea typeface="Courier New"/>
                <a:cs typeface="Courier New"/>
              </a:defRPr>
            </a:lvl1pPr>
          </a:lstStyle>
          <a:p>
            <a:pPr algn="r"/>
            <a:fld id="{F7021451-1387-4CA6-816F-3879F97B5CBC}" type="slidenum">
              <a:rPr lang="en-US" b="0"/>
              <a:t>49</a:t>
            </a:fld>
            <a:endParaRPr lang="en-US"/>
          </a:p>
        </p:txBody>
      </p:sp>
    </p:spTree>
  </p:cSld>
  <p:clrMapOvr>
    <a:masterClrMapping/>
  </p:clrMapOvr>
</p:sld>
</file>

<file path=ppt/slides/slide5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0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>
            <a:spLocks noGrp="1"/>
          </p:cNvSpPr>
          <p:nvPr>
            <p:ph type="title" idx="100" hasCustomPrompt="1"/>
          </p:nvPr>
        </p:nvSpPr>
        <p:spPr>
          <a:xfrm>
            <a:off x="566928" y="384048"/>
            <a:ext cx="11057839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buNone/>
            </a:pPr>
            <a:r>
              <a:rPr lang="en-US" sz="1900" b="1" dirty="0">
                <a:solidFill>
                  <a:schemeClr val="accent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5.9   </a:t>
            </a:r>
            <a:r>
              <a:rPr lang="en-US" sz="2800" b="1" dirty="0">
                <a:solidFill>
                  <a:schemeClr val="tx1"/>
                </a:solidFill>
              </a:rPr>
              <a:t>O mesmo pedido, duas pastas</a:t>
            </a:r>
            <a:endParaRPr lang="en-US" sz="2800" dirty="0"/>
          </a:p>
        </p:txBody>
      </p:sp>
      <p:sp>
        <p:nvSpPr>
          <p:cNvPr id="3" name="texto-0"/>
          <p:cNvSpPr txBox="1"/>
          <p:nvPr/>
        </p:nvSpPr>
        <p:spPr>
          <a:xfrm>
            <a:off x="566928" y="1085240"/>
            <a:ext cx="5346040" cy="360127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ct val="105000"/>
              </a:lnSpc>
              <a:buNone/>
            </a:pPr>
            <a:r>
              <a:rPr lang="en-US" sz="2100" b="1" dirty="0">
                <a:solidFill>
                  <a:schemeClr val="accent2"/>
                </a:solidFill>
              </a:rPr>
              <a:t>Pasta desorganizada:</a:t>
            </a:r>
            <a:endParaRPr lang="en-US" sz="2100" dirty="0"/>
          </a:p>
        </p:txBody>
      </p:sp>
      <p:sp>
        <p:nvSpPr>
          <p:cNvPr id="4" name="ret-1"/>
          <p:cNvSpPr/>
          <p:nvPr/>
        </p:nvSpPr>
        <p:spPr>
          <a:xfrm>
            <a:off x="566928" y="1481086"/>
            <a:ext cx="5346040" cy="903133"/>
          </a:xfrm>
          <a:prstGeom prst="roundRect">
            <a:avLst>
              <a:gd name="adj" fmla="val 8100"/>
            </a:avLst>
          </a:prstGeom>
          <a:solidFill>
            <a:schemeClr val="accent6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5" name="texto-2"/>
          <p:cNvSpPr txBox="1"/>
          <p:nvPr/>
        </p:nvSpPr>
        <p:spPr>
          <a:xfrm>
            <a:off x="749808" y="1590814"/>
            <a:ext cx="4980280" cy="70196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ct val="105000"/>
              </a:lnSpc>
              <a:buNone/>
            </a:pPr>
            <a:r>
              <a:rPr lang="en-US" sz="2100" dirty="0">
                <a:solidFill>
                  <a:schemeClr val="tx1"/>
                </a:solidFill>
              </a:rPr>
              <a:t>"Faz a análise conjunta desses ensaios de milho."</a:t>
            </a:r>
            <a:endParaRPr lang="en-US" sz="2100" dirty="0"/>
          </a:p>
        </p:txBody>
      </p:sp>
      <p:sp>
        <p:nvSpPr>
          <p:cNvPr id="6" name="texto-3"/>
          <p:cNvSpPr txBox="1"/>
          <p:nvPr/>
        </p:nvSpPr>
        <p:spPr>
          <a:xfrm>
            <a:off x="566928" y="2504234"/>
            <a:ext cx="5346040" cy="104380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ct val="105000"/>
              </a:lnSpc>
              <a:buNone/>
            </a:pPr>
            <a:r>
              <a:rPr lang="en-US" sz="2100" dirty="0">
                <a:solidFill>
                  <a:schemeClr val="tx1"/>
                </a:solidFill>
              </a:rPr>
              <a:t>O agente precisa adivinhar: qual planilha, qual unidade, quais linhas excluir, qual modelo, onde salvar.</a:t>
            </a:r>
            <a:endParaRPr lang="en-US" sz="2100" dirty="0"/>
          </a:p>
        </p:txBody>
      </p:sp>
      <p:sp>
        <p:nvSpPr>
          <p:cNvPr id="7" name="texto-4"/>
          <p:cNvSpPr txBox="1"/>
          <p:nvPr/>
        </p:nvSpPr>
        <p:spPr>
          <a:xfrm>
            <a:off x="6278728" y="1085240"/>
            <a:ext cx="5346040" cy="360127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ct val="105000"/>
              </a:lnSpc>
              <a:buNone/>
            </a:pPr>
            <a:r>
              <a:rPr lang="en-US" sz="2100" b="1" dirty="0">
                <a:solidFill>
                  <a:schemeClr val="accent2"/>
                </a:solidFill>
              </a:rPr>
              <a:t>Pasta organizada:</a:t>
            </a:r>
            <a:endParaRPr lang="en-US" sz="2100" dirty="0"/>
          </a:p>
        </p:txBody>
      </p:sp>
      <p:sp>
        <p:nvSpPr>
          <p:cNvPr id="8" name="ret-5"/>
          <p:cNvSpPr/>
          <p:nvPr/>
        </p:nvSpPr>
        <p:spPr>
          <a:xfrm>
            <a:off x="6278728" y="1481086"/>
            <a:ext cx="5346040" cy="1928650"/>
          </a:xfrm>
          <a:prstGeom prst="roundRect">
            <a:avLst>
              <a:gd name="adj" fmla="val 3793"/>
            </a:avLst>
          </a:prstGeom>
          <a:solidFill>
            <a:schemeClr val="accent6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9" name="texto-6"/>
          <p:cNvSpPr txBox="1"/>
          <p:nvPr/>
        </p:nvSpPr>
        <p:spPr>
          <a:xfrm>
            <a:off x="6461608" y="1590814"/>
            <a:ext cx="4980280" cy="172748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ct val="105000"/>
              </a:lnSpc>
              <a:buNone/>
            </a:pPr>
            <a:r>
              <a:rPr lang="en-US" sz="2100" dirty="0">
                <a:solidFill>
                  <a:schemeClr val="tx1"/>
                </a:solidFill>
              </a:rPr>
              <a:t>"Etapa 02 do README. Escreva R/02_qc.R seguindo o contrato do cabeçalho e as regras do CLAUDE.md. Use o dicionário para os intervalos. Inclua um teste em tests/ com erros injetados. Plano primeiro."</a:t>
            </a:r>
            <a:endParaRPr lang="en-US" sz="2100" dirty="0"/>
          </a:p>
        </p:txBody>
      </p:sp>
      <p:sp>
        <p:nvSpPr>
          <p:cNvPr id="10" name="texto-7"/>
          <p:cNvSpPr txBox="1"/>
          <p:nvPr/>
        </p:nvSpPr>
        <p:spPr>
          <a:xfrm>
            <a:off x="6278728" y="3529750"/>
            <a:ext cx="5346040" cy="70196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ct val="105000"/>
              </a:lnSpc>
              <a:buNone/>
            </a:pPr>
            <a:r>
              <a:rPr lang="en-US" sz="2100" dirty="0">
                <a:solidFill>
                  <a:schemeClr val="tx1"/>
                </a:solidFill>
              </a:rPr>
              <a:t>Todas as decisões importantes já estão escritas na pasta.</a:t>
            </a:r>
            <a:endParaRPr lang="en-US" sz="2100" dirty="0"/>
          </a:p>
        </p:txBody>
      </p:sp>
      <p:sp>
        <p:nvSpPr>
          <p:cNvPr id="11" name="rodape"/>
          <p:cNvSpPr txBox="1"/>
          <p:nvPr/>
        </p:nvSpPr>
        <p:spPr>
          <a:xfrm>
            <a:off x="566928" y="640080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50" kern="0" spc="100" dirty="0">
                <a:solidFill>
                  <a:schemeClr val="tx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SEÇÃO 1 · BLOCO 5</a:t>
            </a:r>
            <a:endParaRPr lang="en-US" sz="95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527487" y="6400800"/>
            <a:ext cx="109728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xmlns="" val="0"/>
            </a:ext>
          </a:extLst>
        </p:spPr>
        <p:txBody>
          <a:bodyPr lIns="0" tIns="0" rIns="0" bIns="0"/>
          <a:lstStyle>
            <a:lvl1pPr>
              <a:defRPr sz="1000">
                <a:solidFill>
                  <a:srgbClr val="8FA9A3"/>
                </a:solidFill>
                <a:latin typeface="Courier New"/>
                <a:ea typeface="Courier New"/>
                <a:cs typeface="Courier New"/>
              </a:defRPr>
            </a:lvl1pPr>
          </a:lstStyle>
          <a:p>
            <a:pPr algn="r"/>
            <a:fld id="{F7021451-1387-4CA6-816F-3879F97B5CBC}" type="slidenum">
              <a:rPr lang="en-US" b="0"/>
              <a:t>50</a:t>
            </a:fld>
            <a:endParaRPr lang="en-US"/>
          </a:p>
        </p:txBody>
      </p:sp>
    </p:spTree>
  </p:cSld>
  <p:clrMapOvr>
    <a:masterClrMapping/>
  </p:clrMapOvr>
</p:sld>
</file>

<file path=ppt/slides/slide5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>
            <a:spLocks noGrp="1"/>
          </p:cNvSpPr>
          <p:nvPr>
            <p:ph type="title" idx="100" hasCustomPrompt="1"/>
          </p:nvPr>
        </p:nvSpPr>
        <p:spPr>
          <a:xfrm>
            <a:off x="914400" y="2560320"/>
            <a:ext cx="9875520" cy="1828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buNone/>
            </a:pPr>
            <a:r>
              <a:rPr lang="en-US" sz="4600" b="1" dirty="0">
                <a:solidFill>
                  <a:schemeClr val="tx1"/>
                </a:solidFill>
              </a:rPr>
              <a:t>Síntese e tarefa</a:t>
            </a:r>
            <a:endParaRPr lang="en-US" sz="4600" dirty="0"/>
          </a:p>
        </p:txBody>
      </p:sp>
      <p:sp>
        <p:nvSpPr>
          <p:cNvPr id="3" name="texto-0"/>
          <p:cNvSpPr txBox="1"/>
          <p:nvPr/>
        </p:nvSpPr>
        <p:spPr>
          <a:xfrm>
            <a:off x="914400" y="4572000"/>
            <a:ext cx="5486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ct val="100000"/>
              </a:lnSpc>
              <a:buNone/>
            </a:pPr>
            <a:r>
              <a:rPr lang="en-US" sz="1800" dirty="0">
                <a:solidFill>
                  <a:srgbClr val="B9CFC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5 min</a:t>
            </a:r>
            <a:endParaRPr lang="en-US" sz="1800" dirty="0"/>
          </a:p>
        </p:txBody>
      </p:sp>
      <p:sp>
        <p:nvSpPr>
          <p:cNvPr id="4" name="texto-1"/>
          <p:cNvSpPr txBox="1"/>
          <p:nvPr/>
        </p:nvSpPr>
        <p:spPr>
          <a:xfrm>
            <a:off x="914400" y="2148840"/>
            <a:ext cx="73152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ct val="100000"/>
              </a:lnSpc>
              <a:buNone/>
            </a:pPr>
            <a:r>
              <a:rPr lang="en-US" sz="1800" kern="0" spc="300" dirty="0">
                <a:solidFill>
                  <a:schemeClr val="accent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BLOCO 6</a:t>
            </a:r>
            <a:endParaRPr lang="en-US" sz="1800" dirty="0"/>
          </a:p>
        </p:txBody>
      </p:sp>
      <p:sp>
        <p:nvSpPr>
          <p:cNvPr id="5" name="rodape"/>
          <p:cNvSpPr txBox="1"/>
          <p:nvPr/>
        </p:nvSpPr>
        <p:spPr>
          <a:xfrm>
            <a:off x="566928" y="640080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50" kern="0" spc="100" dirty="0">
                <a:solidFill>
                  <a:srgbClr val="B9CFC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SEÇÃO 1 · BLOCO 6</a:t>
            </a:r>
            <a:endParaRPr lang="en-US" sz="95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527487" y="6400800"/>
            <a:ext cx="109728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xmlns="" val="0"/>
            </a:ext>
          </a:extLst>
        </p:spPr>
        <p:txBody>
          <a:bodyPr lIns="0" tIns="0" rIns="0" bIns="0"/>
          <a:lstStyle>
            <a:lvl1pPr>
              <a:defRPr sz="1000">
                <a:solidFill>
                  <a:srgbClr val="B9CFC6"/>
                </a:solidFill>
                <a:latin typeface="Courier New"/>
                <a:ea typeface="Courier New"/>
                <a:cs typeface="Courier New"/>
              </a:defRPr>
            </a:lvl1pPr>
          </a:lstStyle>
          <a:p>
            <a:pPr algn="r"/>
            <a:fld id="{F7021451-1387-4CA6-816F-3879F97B5CBC}" type="slidenum">
              <a:rPr lang="en-US" b="0"/>
              <a:t>51</a:t>
            </a:fld>
            <a:endParaRPr lang="en-US"/>
          </a:p>
        </p:txBody>
      </p:sp>
    </p:spTree>
  </p:cSld>
  <p:clrMapOvr>
    <a:masterClrMapping/>
  </p:clrMapOvr>
</p:sld>
</file>

<file path=ppt/slides/slide5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>
            <a:spLocks noGrp="1"/>
          </p:cNvSpPr>
          <p:nvPr>
            <p:ph type="title" idx="100" hasCustomPrompt="1"/>
          </p:nvPr>
        </p:nvSpPr>
        <p:spPr>
          <a:xfrm>
            <a:off x="566928" y="384048"/>
            <a:ext cx="11057839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buNone/>
            </a:pPr>
            <a:r>
              <a:rPr lang="en-US" sz="1900" b="1" dirty="0">
                <a:solidFill>
                  <a:schemeClr val="accent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6.1   </a:t>
            </a:r>
            <a:r>
              <a:rPr lang="en-US" sz="2800" b="1" dirty="0">
                <a:solidFill>
                  <a:schemeClr val="tx1"/>
                </a:solidFill>
              </a:rPr>
              <a:t>Checklist: os dados estão prontos para a IA?</a:t>
            </a:r>
            <a:endParaRPr lang="en-US" sz="2800" dirty="0"/>
          </a:p>
        </p:txBody>
      </p:sp>
      <p:sp>
        <p:nvSpPr>
          <p:cNvPr id="3" name="texto-0"/>
          <p:cNvSpPr txBox="1"/>
          <p:nvPr/>
        </p:nvSpPr>
        <p:spPr>
          <a:xfrm>
            <a:off x="566928" y="1085240"/>
            <a:ext cx="11057839" cy="335040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ct val="105000"/>
              </a:lnSpc>
              <a:spcAft>
                <a:spcPts val="672"/>
              </a:spcAft>
              <a:buNone/>
            </a:pPr>
            <a:r>
              <a:rPr lang="en-US" sz="2100" dirty="0">
                <a:solidFill>
                  <a:schemeClr val="tx1"/>
                </a:solidFill>
              </a:rPr>
              <a:t>☐ Os dados estão em um banco (ou em tabelas) com chaves e tipos definidos</a:t>
            </a:r>
            <a:endParaRPr lang="en-US" sz="2100" dirty="0"/>
          </a:p>
          <a:p>
            <a:pPr marL="0" indent="0" algn="l">
              <a:lnSpc>
                <a:spcPct val="105000"/>
              </a:lnSpc>
              <a:spcAft>
                <a:spcPts val="672"/>
              </a:spcAft>
              <a:buNone/>
            </a:pPr>
            <a:r>
              <a:rPr lang="en-US" sz="2100" dirty="0">
                <a:solidFill>
                  <a:schemeClr val="tx1"/>
                </a:solidFill>
              </a:rPr>
              <a:t>☐ Existe um dicionário com unidades, intervalos e códigos de ausente</a:t>
            </a:r>
            <a:endParaRPr lang="en-US" sz="2100" dirty="0"/>
          </a:p>
          <a:p>
            <a:pPr marL="0" indent="0" algn="l">
              <a:lnSpc>
                <a:spcPct val="105000"/>
              </a:lnSpc>
              <a:spcAft>
                <a:spcPts val="672"/>
              </a:spcAft>
              <a:buNone/>
            </a:pPr>
            <a:r>
              <a:rPr lang="en-US" sz="2100" dirty="0">
                <a:solidFill>
                  <a:schemeClr val="tx1"/>
                </a:solidFill>
              </a:rPr>
              <a:t>☐ Identificadores seguem um padrão validável e únicos por entidade</a:t>
            </a:r>
            <a:endParaRPr lang="en-US" sz="2100" dirty="0"/>
          </a:p>
          <a:p>
            <a:pPr marL="0" indent="0" algn="l">
              <a:lnSpc>
                <a:spcPct val="105000"/>
              </a:lnSpc>
              <a:spcAft>
                <a:spcPts val="672"/>
              </a:spcAft>
              <a:buNone/>
            </a:pPr>
            <a:r>
              <a:rPr lang="en-US" sz="2100" dirty="0">
                <a:solidFill>
                  <a:schemeClr val="tx1"/>
                </a:solidFill>
              </a:rPr>
              <a:t>☐ Há camada bruta intocada e camada curada reconstruível</a:t>
            </a:r>
            <a:endParaRPr lang="en-US" sz="2100" dirty="0"/>
          </a:p>
          <a:p>
            <a:pPr marL="0" indent="0" algn="l">
              <a:lnSpc>
                <a:spcPct val="105000"/>
              </a:lnSpc>
              <a:spcAft>
                <a:spcPts val="672"/>
              </a:spcAft>
              <a:buNone/>
            </a:pPr>
            <a:r>
              <a:rPr lang="en-US" sz="2100" dirty="0">
                <a:solidFill>
                  <a:schemeClr val="tx1"/>
                </a:solidFill>
              </a:rPr>
              <a:t>☐ O QC é um script, com relatório e teste com erros injetados</a:t>
            </a:r>
            <a:endParaRPr lang="en-US" sz="2100" dirty="0"/>
          </a:p>
          <a:p>
            <a:pPr marL="0" indent="0" algn="l">
              <a:lnSpc>
                <a:spcPct val="105000"/>
              </a:lnSpc>
              <a:spcAft>
                <a:spcPts val="672"/>
              </a:spcAft>
              <a:buNone/>
            </a:pPr>
            <a:r>
              <a:rPr lang="en-US" sz="2100" dirty="0">
                <a:solidFill>
                  <a:schemeClr val="tx1"/>
                </a:solidFill>
              </a:rPr>
              <a:t>☐ Toda correção está registrada com motivo e responsável</a:t>
            </a:r>
            <a:endParaRPr lang="en-US" sz="2100" dirty="0"/>
          </a:p>
          <a:p>
            <a:pPr marL="0" indent="0" algn="l">
              <a:lnSpc>
                <a:spcPct val="105000"/>
              </a:lnSpc>
              <a:spcAft>
                <a:spcPts val="672"/>
              </a:spcAft>
              <a:buNone/>
            </a:pPr>
            <a:r>
              <a:rPr lang="en-US" sz="2100" dirty="0">
                <a:solidFill>
                  <a:schemeClr val="tx1"/>
                </a:solidFill>
              </a:rPr>
              <a:t>☐ A análise vive em uma pasta organizada, com README e CLAUDE.md</a:t>
            </a:r>
            <a:endParaRPr lang="en-US" sz="2100" dirty="0"/>
          </a:p>
          <a:p>
            <a:pPr marL="0" indent="0" algn="l">
              <a:lnSpc>
                <a:spcPct val="105000"/>
              </a:lnSpc>
              <a:buNone/>
            </a:pPr>
            <a:r>
              <a:rPr lang="en-US" sz="2100" dirty="0">
                <a:solidFill>
                  <a:schemeClr val="tx1"/>
                </a:solidFill>
              </a:rPr>
              <a:t>☐ Apagar os resultados e rodar os scripts recria tudo</a:t>
            </a:r>
            <a:endParaRPr lang="en-US" sz="2100" dirty="0"/>
          </a:p>
        </p:txBody>
      </p:sp>
      <p:sp>
        <p:nvSpPr>
          <p:cNvPr id="4" name="rodape"/>
          <p:cNvSpPr txBox="1"/>
          <p:nvPr/>
        </p:nvSpPr>
        <p:spPr>
          <a:xfrm>
            <a:off x="566928" y="640080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50" kern="0" spc="100" dirty="0">
                <a:solidFill>
                  <a:schemeClr val="tx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SEÇÃO 1 · BLOCO 6</a:t>
            </a:r>
            <a:endParaRPr lang="en-US" sz="95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527487" y="6400800"/>
            <a:ext cx="109728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xmlns="" val="0"/>
            </a:ext>
          </a:extLst>
        </p:spPr>
        <p:txBody>
          <a:bodyPr lIns="0" tIns="0" rIns="0" bIns="0"/>
          <a:lstStyle>
            <a:lvl1pPr>
              <a:defRPr sz="1000">
                <a:solidFill>
                  <a:srgbClr val="8FA9A3"/>
                </a:solidFill>
                <a:latin typeface="Courier New"/>
                <a:ea typeface="Courier New"/>
                <a:cs typeface="Courier New"/>
              </a:defRPr>
            </a:lvl1pPr>
          </a:lstStyle>
          <a:p>
            <a:pPr algn="r"/>
            <a:fld id="{F7021451-1387-4CA6-816F-3879F97B5CBC}" type="slidenum">
              <a:rPr lang="en-US" b="0"/>
              <a:t>52</a:t>
            </a:fld>
            <a:endParaRPr lang="en-US"/>
          </a:p>
        </p:txBody>
      </p:sp>
    </p:spTree>
  </p:cSld>
  <p:clrMapOvr>
    <a:masterClrMapping/>
  </p:clrMapOvr>
</p:sld>
</file>

<file path=ppt/slides/slide5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>
            <a:spLocks noGrp="1"/>
          </p:cNvSpPr>
          <p:nvPr>
            <p:ph type="title" idx="100" hasCustomPrompt="1"/>
          </p:nvPr>
        </p:nvSpPr>
        <p:spPr>
          <a:xfrm>
            <a:off x="566928" y="384048"/>
            <a:ext cx="11057839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buNone/>
            </a:pPr>
            <a:r>
              <a:rPr lang="en-US" sz="1900" b="1" dirty="0">
                <a:solidFill>
                  <a:schemeClr val="accent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6.2   </a:t>
            </a:r>
            <a:r>
              <a:rPr lang="en-US" sz="2800" b="1" dirty="0">
                <a:solidFill>
                  <a:schemeClr val="tx1"/>
                </a:solidFill>
              </a:rPr>
              <a:t>Tarefa</a:t>
            </a:r>
            <a:endParaRPr lang="en-US" sz="2800" dirty="0"/>
          </a:p>
        </p:txBody>
      </p:sp>
      <p:sp>
        <p:nvSpPr>
          <p:cNvPr id="3" name="texto-0"/>
          <p:cNvSpPr txBox="1"/>
          <p:nvPr/>
        </p:nvSpPr>
        <p:spPr>
          <a:xfrm>
            <a:off x="566928" y="1085240"/>
            <a:ext cx="11057839" cy="206885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81000" indent="-381000" algn="l">
              <a:lnSpc>
                <a:spcPct val="105000"/>
              </a:lnSpc>
              <a:spcAft>
                <a:spcPts val="672"/>
              </a:spcAft>
              <a:buSzPct val="100000"/>
              <a:buFont typeface="+mj-lt"/>
              <a:buAutoNum type="arabicPeriod"/>
            </a:pPr>
            <a:r>
              <a:rPr lang="en-US" sz="2100" dirty="0">
                <a:solidFill>
                  <a:schemeClr val="tx1"/>
                </a:solidFill>
              </a:rPr>
              <a:t>Copie </a:t>
            </a:r>
            <a:r>
              <a:rPr lang="en-US" sz="1932" dirty="0">
                <a:solidFill>
                  <a:schemeClr val="accent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modelos/projeto-analise/</a:t>
            </a:r>
            <a:r>
              <a:rPr lang="en-US" sz="2100" dirty="0">
                <a:solidFill>
                  <a:schemeClr val="tx1"/>
                </a:solidFill>
              </a:rPr>
              <a:t> para um ensaio do seu próprio projeto.</a:t>
            </a:r>
            <a:endParaRPr lang="en-US" sz="2100" dirty="0"/>
          </a:p>
          <a:p>
            <a:pPr marL="381000" indent="-381000" algn="l">
              <a:lnSpc>
                <a:spcPct val="105000"/>
              </a:lnSpc>
              <a:spcAft>
                <a:spcPts val="672"/>
              </a:spcAft>
              <a:buSzPct val="100000"/>
              <a:buFont typeface="+mj-lt"/>
              <a:buAutoNum type="arabicPeriod"/>
            </a:pPr>
            <a:r>
              <a:rPr lang="en-US" sz="2100" dirty="0">
                <a:solidFill>
                  <a:schemeClr val="tx1"/>
                </a:solidFill>
              </a:rPr>
              <a:t>Preencha </a:t>
            </a:r>
            <a:r>
              <a:rPr lang="en-US" sz="1932" dirty="0">
                <a:solidFill>
                  <a:schemeClr val="accent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data/bruto/LEIA-ME.md</a:t>
            </a:r>
            <a:r>
              <a:rPr lang="en-US" sz="2100" dirty="0">
                <a:solidFill>
                  <a:schemeClr val="tx1"/>
                </a:solidFill>
              </a:rPr>
              <a:t> e </a:t>
            </a:r>
            <a:r>
              <a:rPr lang="en-US" sz="1932" dirty="0">
                <a:solidFill>
                  <a:schemeClr val="accent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docs/dicionario_de_dados.csv</a:t>
            </a:r>
            <a:r>
              <a:rPr lang="en-US" sz="2100" dirty="0">
                <a:solidFill>
                  <a:schemeClr val="tx1"/>
                </a:solidFill>
              </a:rPr>
              <a:t>.</a:t>
            </a:r>
            <a:endParaRPr lang="en-US" sz="2100" dirty="0"/>
          </a:p>
          <a:p>
            <a:pPr marL="381000" indent="-381000" algn="l">
              <a:lnSpc>
                <a:spcPct val="105000"/>
              </a:lnSpc>
              <a:spcAft>
                <a:spcPts val="672"/>
              </a:spcAft>
              <a:buSzPct val="100000"/>
              <a:buFont typeface="+mj-lt"/>
              <a:buAutoNum type="arabicPeriod"/>
            </a:pPr>
            <a:r>
              <a:rPr lang="en-US" sz="2100" dirty="0">
                <a:solidFill>
                  <a:schemeClr val="tx1"/>
                </a:solidFill>
              </a:rPr>
              <a:t>Escreva três consultas SQL de QC (duplicatas, intervalos, padrão de ID) e rode-as.</a:t>
            </a:r>
            <a:endParaRPr lang="en-US" sz="2100" dirty="0"/>
          </a:p>
          <a:p>
            <a:pPr marL="381000" indent="-381000" algn="l">
              <a:lnSpc>
                <a:spcPct val="105000"/>
              </a:lnSpc>
              <a:spcAft>
                <a:spcPts val="672"/>
              </a:spcAft>
              <a:buSzPct val="100000"/>
              <a:buFont typeface="+mj-lt"/>
              <a:buAutoNum type="arabicPeriod"/>
            </a:pPr>
            <a:r>
              <a:rPr lang="en-US" sz="2100" dirty="0">
                <a:solidFill>
                  <a:schemeClr val="tx1"/>
                </a:solidFill>
              </a:rPr>
              <a:t>Adapte o </a:t>
            </a:r>
            <a:r>
              <a:rPr lang="en-US" sz="1932" dirty="0">
                <a:solidFill>
                  <a:schemeClr val="accent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CLAUDE.md</a:t>
            </a:r>
            <a:r>
              <a:rPr lang="en-US" sz="2100" dirty="0">
                <a:solidFill>
                  <a:schemeClr val="tx1"/>
                </a:solidFill>
              </a:rPr>
              <a:t> às regras do seu ensaio.</a:t>
            </a:r>
            <a:endParaRPr lang="en-US" sz="2100" dirty="0"/>
          </a:p>
          <a:p>
            <a:pPr marL="381000" indent="-381000" algn="l">
              <a:lnSpc>
                <a:spcPct val="105000"/>
              </a:lnSpc>
              <a:buSzPct val="100000"/>
              <a:buFont typeface="+mj-lt"/>
              <a:buAutoNum type="arabicPeriod"/>
            </a:pPr>
            <a:r>
              <a:rPr lang="en-US" sz="2100" dirty="0">
                <a:solidFill>
                  <a:schemeClr val="tx1"/>
                </a:solidFill>
              </a:rPr>
              <a:t>Na próxima seção, essa pasta será aberta no Claude Code.</a:t>
            </a:r>
            <a:endParaRPr lang="en-US" sz="2100" dirty="0"/>
          </a:p>
        </p:txBody>
      </p:sp>
      <p:sp>
        <p:nvSpPr>
          <p:cNvPr id="4" name="rodape"/>
          <p:cNvSpPr txBox="1"/>
          <p:nvPr/>
        </p:nvSpPr>
        <p:spPr>
          <a:xfrm>
            <a:off x="566928" y="640080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50" kern="0" spc="100" dirty="0">
                <a:solidFill>
                  <a:schemeClr val="tx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SEÇÃO 1 · BLOCO 6</a:t>
            </a:r>
            <a:endParaRPr lang="en-US" sz="95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527487" y="6400800"/>
            <a:ext cx="109728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xmlns="" val="0"/>
            </a:ext>
          </a:extLst>
        </p:spPr>
        <p:txBody>
          <a:bodyPr lIns="0" tIns="0" rIns="0" bIns="0"/>
          <a:lstStyle>
            <a:lvl1pPr>
              <a:defRPr sz="1000">
                <a:solidFill>
                  <a:srgbClr val="8FA9A3"/>
                </a:solidFill>
                <a:latin typeface="Courier New"/>
                <a:ea typeface="Courier New"/>
                <a:cs typeface="Courier New"/>
              </a:defRPr>
            </a:lvl1pPr>
          </a:lstStyle>
          <a:p>
            <a:pPr algn="r"/>
            <a:fld id="{F7021451-1387-4CA6-816F-3879F97B5CBC}" type="slidenum">
              <a:rPr lang="en-US" b="0"/>
              <a:t>53</a:t>
            </a:fld>
            <a:endParaRPr lang="en-US"/>
          </a:p>
        </p:txBody>
      </p:sp>
    </p:spTree>
  </p:cSld>
  <p:clrMapOvr>
    <a:masterClrMapping/>
  </p:clrMapOvr>
</p:sld>
</file>

<file path=ppt/slides/slide5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>
            <a:spLocks noGrp="1"/>
          </p:cNvSpPr>
          <p:nvPr>
            <p:ph type="title" idx="100" hasCustomPrompt="1"/>
          </p:nvPr>
        </p:nvSpPr>
        <p:spPr>
          <a:xfrm>
            <a:off x="566928" y="384048"/>
            <a:ext cx="11057839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buNone/>
            </a:pPr>
            <a:r>
              <a:rPr lang="en-US" sz="1900" b="1" dirty="0">
                <a:solidFill>
                  <a:schemeClr val="accent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6.3   </a:t>
            </a:r>
            <a:r>
              <a:rPr lang="en-US" sz="2800" b="1" dirty="0">
                <a:solidFill>
                  <a:schemeClr val="tx1"/>
                </a:solidFill>
              </a:rPr>
              <a:t>Referências</a:t>
            </a:r>
            <a:endParaRPr lang="en-US" sz="2800" dirty="0"/>
          </a:p>
        </p:txBody>
      </p:sp>
      <p:sp>
        <p:nvSpPr>
          <p:cNvPr id="3" name="texto-0"/>
          <p:cNvSpPr txBox="1"/>
          <p:nvPr/>
        </p:nvSpPr>
        <p:spPr>
          <a:xfrm>
            <a:off x="566928" y="1085240"/>
            <a:ext cx="11057839" cy="497425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279400" indent="-279400" algn="l">
              <a:lnSpc>
                <a:spcPct val="105000"/>
              </a:lnSpc>
              <a:spcAft>
                <a:spcPts val="672"/>
              </a:spcAft>
              <a:buSzPct val="100000"/>
              <a:buChar char="•"/>
            </a:pPr>
            <a:r>
              <a:rPr lang="en-US" sz="2100" dirty="0">
                <a:solidFill>
                  <a:schemeClr val="tx1"/>
                </a:solidFill>
              </a:rPr>
              <a:t>Broman, K. W.; Woo, K. H. (2018). Data organization in spreadsheets. </a:t>
            </a:r>
            <a:r>
              <a:rPr lang="en-US" sz="2100" i="1" dirty="0">
                <a:solidFill>
                  <a:schemeClr val="tx1"/>
                </a:solidFill>
              </a:rPr>
              <a:t>The American Statistician</a:t>
            </a:r>
            <a:r>
              <a:rPr lang="en-US" sz="2100" dirty="0">
                <a:solidFill>
                  <a:schemeClr val="tx1"/>
                </a:solidFill>
              </a:rPr>
              <a:t>, 72(1), 2–10.</a:t>
            </a:r>
            <a:endParaRPr lang="en-US" sz="2100" dirty="0"/>
          </a:p>
          <a:p>
            <a:pPr marL="279400" indent="-279400" algn="l">
              <a:lnSpc>
                <a:spcPct val="105000"/>
              </a:lnSpc>
              <a:spcAft>
                <a:spcPts val="672"/>
              </a:spcAft>
              <a:buSzPct val="100000"/>
              <a:buChar char="•"/>
            </a:pPr>
            <a:r>
              <a:rPr lang="en-US" sz="2100" dirty="0">
                <a:solidFill>
                  <a:schemeClr val="tx1"/>
                </a:solidFill>
              </a:rPr>
              <a:t>Morales, N. et al. (2022). Breedbase: a digital ecosystem for modern plant breeding. </a:t>
            </a:r>
            <a:r>
              <a:rPr lang="en-US" sz="2100" i="1" dirty="0">
                <a:solidFill>
                  <a:schemeClr val="tx1"/>
                </a:solidFill>
              </a:rPr>
              <a:t>G3</a:t>
            </a:r>
            <a:r>
              <a:rPr lang="en-US" sz="2100" dirty="0">
                <a:solidFill>
                  <a:schemeClr val="tx1"/>
                </a:solidFill>
              </a:rPr>
              <a:t>, 12(7), jkac078.</a:t>
            </a:r>
            <a:endParaRPr lang="en-US" sz="2100" dirty="0"/>
          </a:p>
          <a:p>
            <a:pPr marL="279400" indent="-279400" algn="l">
              <a:lnSpc>
                <a:spcPct val="105000"/>
              </a:lnSpc>
              <a:spcAft>
                <a:spcPts val="672"/>
              </a:spcAft>
              <a:buSzPct val="100000"/>
              <a:buChar char="•"/>
            </a:pPr>
            <a:r>
              <a:rPr lang="en-US" sz="2100" dirty="0">
                <a:solidFill>
                  <a:schemeClr val="tx1"/>
                </a:solidFill>
              </a:rPr>
              <a:t>Rife, T. W.; Poland, J. A. (2014). Field Book: an open-source application for field data collection on Android. </a:t>
            </a:r>
            <a:r>
              <a:rPr lang="en-US" sz="2100" i="1" dirty="0">
                <a:solidFill>
                  <a:schemeClr val="tx1"/>
                </a:solidFill>
              </a:rPr>
              <a:t>Crop Science</a:t>
            </a:r>
            <a:r>
              <a:rPr lang="en-US" sz="2100" dirty="0">
                <a:solidFill>
                  <a:schemeClr val="tx1"/>
                </a:solidFill>
              </a:rPr>
              <a:t>, 54(4). doi:10.2135/cropsci2013.08.0579.</a:t>
            </a:r>
            <a:endParaRPr lang="en-US" sz="2100" dirty="0"/>
          </a:p>
          <a:p>
            <a:pPr marL="279400" indent="-279400" algn="l">
              <a:lnSpc>
                <a:spcPct val="105000"/>
              </a:lnSpc>
              <a:spcAft>
                <a:spcPts val="672"/>
              </a:spcAft>
              <a:buSzPct val="100000"/>
              <a:buChar char="•"/>
            </a:pPr>
            <a:r>
              <a:rPr lang="en-US" sz="2100" dirty="0">
                <a:solidFill>
                  <a:schemeClr val="tx1"/>
                </a:solidFill>
              </a:rPr>
              <a:t>Wickham, H. (2014). Tidy data. </a:t>
            </a:r>
            <a:r>
              <a:rPr lang="en-US" sz="2100" i="1" dirty="0">
                <a:solidFill>
                  <a:schemeClr val="tx1"/>
                </a:solidFill>
              </a:rPr>
              <a:t>Journal of Statistical Software</a:t>
            </a:r>
            <a:r>
              <a:rPr lang="en-US" sz="2100" dirty="0">
                <a:solidFill>
                  <a:schemeClr val="tx1"/>
                </a:solidFill>
              </a:rPr>
              <a:t>, 59(10).</a:t>
            </a:r>
            <a:endParaRPr lang="en-US" sz="2100" dirty="0"/>
          </a:p>
          <a:p>
            <a:pPr marL="279400" indent="-279400" algn="l">
              <a:lnSpc>
                <a:spcPct val="105000"/>
              </a:lnSpc>
              <a:spcAft>
                <a:spcPts val="672"/>
              </a:spcAft>
              <a:buSzPct val="100000"/>
              <a:buChar char="•"/>
            </a:pPr>
            <a:r>
              <a:rPr lang="en-US" sz="2100" dirty="0">
                <a:solidFill>
                  <a:schemeClr val="tx1"/>
                </a:solidFill>
              </a:rPr>
              <a:t>Wilkinson, M. D. et al. (2016). The FAIR Guiding Principles for scientific data management and stewardship. </a:t>
            </a:r>
            <a:r>
              <a:rPr lang="en-US" sz="2100" i="1" dirty="0">
                <a:solidFill>
                  <a:schemeClr val="tx1"/>
                </a:solidFill>
              </a:rPr>
              <a:t>Scientific Data</a:t>
            </a:r>
            <a:r>
              <a:rPr lang="en-US" sz="2100" dirty="0">
                <a:solidFill>
                  <a:schemeClr val="tx1"/>
                </a:solidFill>
              </a:rPr>
              <a:t>, 3, 160018.</a:t>
            </a:r>
            <a:endParaRPr lang="en-US" sz="2100" dirty="0"/>
          </a:p>
          <a:p>
            <a:pPr marL="279400" indent="-279400" algn="l">
              <a:lnSpc>
                <a:spcPct val="105000"/>
              </a:lnSpc>
              <a:spcAft>
                <a:spcPts val="672"/>
              </a:spcAft>
              <a:buSzPct val="100000"/>
              <a:buChar char="•"/>
            </a:pPr>
            <a:r>
              <a:rPr lang="en-US" sz="2100" dirty="0">
                <a:solidFill>
                  <a:schemeClr val="tx1"/>
                </a:solidFill>
              </a:rPr>
              <a:t>Wilson, G. et al. (2017). Good enough practices in scientific computing. </a:t>
            </a:r>
            <a:r>
              <a:rPr lang="en-US" sz="2100" i="1" dirty="0">
                <a:solidFill>
                  <a:schemeClr val="tx1"/>
                </a:solidFill>
              </a:rPr>
              <a:t>PLOS Computational Biology</a:t>
            </a:r>
            <a:r>
              <a:rPr lang="en-US" sz="2100" dirty="0">
                <a:solidFill>
                  <a:schemeClr val="tx1"/>
                </a:solidFill>
              </a:rPr>
              <a:t>, 13(6), e1005510.</a:t>
            </a:r>
            <a:endParaRPr lang="en-US" sz="2100" dirty="0"/>
          </a:p>
          <a:p>
            <a:pPr marL="279400" indent="-279400" algn="l">
              <a:lnSpc>
                <a:spcPct val="105000"/>
              </a:lnSpc>
              <a:buSzPct val="100000"/>
              <a:buChar char="•"/>
            </a:pPr>
            <a:r>
              <a:rPr lang="en-US" sz="2100" dirty="0">
                <a:solidFill>
                  <a:schemeClr val="tx1"/>
                </a:solidFill>
              </a:rPr>
              <a:t>Crop Ontology: https://cropontology.org · BrAPI: https://brapi.org · DuckDB: https://duckdb.org</a:t>
            </a:r>
            <a:endParaRPr lang="en-US" sz="2100" dirty="0"/>
          </a:p>
        </p:txBody>
      </p:sp>
      <p:sp>
        <p:nvSpPr>
          <p:cNvPr id="4" name="rodape"/>
          <p:cNvSpPr txBox="1"/>
          <p:nvPr/>
        </p:nvSpPr>
        <p:spPr>
          <a:xfrm>
            <a:off x="566928" y="640080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50" kern="0" spc="100" dirty="0">
                <a:solidFill>
                  <a:schemeClr val="tx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SEÇÃO 1 · BLOCO 6</a:t>
            </a:r>
            <a:endParaRPr lang="en-US" sz="95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527487" y="6400800"/>
            <a:ext cx="109728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xmlns="" val="0"/>
            </a:ext>
          </a:extLst>
        </p:spPr>
        <p:txBody>
          <a:bodyPr lIns="0" tIns="0" rIns="0" bIns="0"/>
          <a:lstStyle>
            <a:lvl1pPr>
              <a:defRPr sz="1000">
                <a:solidFill>
                  <a:srgbClr val="8FA9A3"/>
                </a:solidFill>
                <a:latin typeface="Courier New"/>
                <a:ea typeface="Courier New"/>
                <a:cs typeface="Courier New"/>
              </a:defRPr>
            </a:lvl1pPr>
          </a:lstStyle>
          <a:p>
            <a:pPr algn="r"/>
            <a:fld id="{F7021451-1387-4CA6-816F-3879F97B5CBC}" type="slidenum">
              <a:rPr lang="en-US" b="0"/>
              <a:t>54</a:t>
            </a:fld>
            <a:endParaRPr lang="en-US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FIT 796">
  <a:themeElements>
    <a:clrScheme name="FIT 796">
      <a:dk1>
        <a:srgbClr val="E6F2EE"/>
      </a:dk1>
      <a:lt1>
        <a:srgbClr val="071419"/>
      </a:lt1>
      <a:dk2>
        <a:srgbClr val="8FA9A3"/>
      </a:dk2>
      <a:lt2>
        <a:srgbClr val="0B2F2A"/>
      </a:lt2>
      <a:accent1>
        <a:srgbClr val="A6E35A"/>
      </a:accent1>
      <a:accent2>
        <a:srgbClr val="3EC7C1"/>
      </a:accent2>
      <a:accent3>
        <a:srgbClr val="0D2229"/>
      </a:accent3>
      <a:accent4>
        <a:srgbClr val="1D3A41"/>
      </a:accent4>
      <a:accent5>
        <a:srgbClr val="0A1C22"/>
      </a:accent5>
      <a:accent6>
        <a:srgbClr val="15301F"/>
      </a:accent6>
      <a:hlink>
        <a:srgbClr val="3EC7C1"/>
      </a:hlink>
      <a:folHlink>
        <a:srgbClr val="A6E35A"/>
      </a:folHlink>
    </a:clrScheme>
    <a:fontScheme name="FIT 796">
      <a:majorFont>
        <a:latin typeface="Arial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16</TotalTime>
  <Words>6109</Words>
  <Application>Microsoft Office PowerPoint</Application>
  <PresentationFormat>Widescreen</PresentationFormat>
  <Paragraphs>947</Paragraphs>
  <Slides>54</Slides>
  <Notes>54</Notes>
  <HiddenSlides>0</HiddenSlides>
  <MMClips>0</MMClips>
  <ScaleCrop>false</ScaleCrop>
  <HeadingPairs>
    <vt:vector size="6" baseType="variant">
      <vt:variant>
        <vt:lpstr>Fonts Used</vt:lpstr>
      </vt:variant>
      <vt:variant>
        <vt:i4>3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54</vt:i4>
      </vt:variant>
    </vt:vector>
  </HeadingPairs>
  <TitlesOfParts>
    <vt:vector size="58" baseType="lpstr">
      <vt:lpstr>Aptos</vt:lpstr>
      <vt:lpstr>Arial</vt:lpstr>
      <vt:lpstr>Courier New</vt:lpstr>
      <vt:lpstr>FIT 796</vt:lpstr>
      <vt:lpstr>Dados: a base de toda IA no melhoramento</vt:lpstr>
      <vt:lpstr>Roteiro da seção</vt:lpstr>
      <vt:lpstr>Por que os dados vêm antes da IA</vt:lpstr>
      <vt:lpstr>1.1   Pergunta de abertura</vt:lpstr>
      <vt:lpstr>1.2   O ciclo de vida do dado em um programa de melhoramento</vt:lpstr>
      <vt:lpstr>1.3   O dado é o ativo de longo prazo do programa</vt:lpstr>
      <vt:lpstr>1.4   Consequência genética de um erro de dado</vt:lpstr>
      <vt:lpstr>1.5   A IA amplifica o que encontra</vt:lpstr>
      <vt:lpstr>Bancos de dados relacionais e a linguagem SQL</vt:lpstr>
      <vt:lpstr>2.1   Planilha ou banco de dados?</vt:lpstr>
      <vt:lpstr>2.2   O modelo relacional de um programa</vt:lpstr>
      <vt:lpstr>2.3   Chaves e restrições: regras do programa escritas no banco</vt:lpstr>
      <vt:lpstr>2.4   Normalização: por que não uma tabela única</vt:lpstr>
      <vt:lpstr>2.5   Duas camadas: bruta e curada</vt:lpstr>
      <vt:lpstr>2.6   Por que saber SQL, mesmo com IA</vt:lpstr>
      <vt:lpstr>2.7   SQL essencial (1): selecionar e filtrar</vt:lpstr>
      <vt:lpstr>2.8   SQL essencial (2): junções</vt:lpstr>
      <vt:lpstr>2.9   SQL essencial (3): agregar</vt:lpstr>
      <vt:lpstr>2.10   SQL intermediário: CTE e funções de janela</vt:lpstr>
      <vt:lpstr>2.11   Armadilhas que geram números errados sem erro</vt:lpstr>
      <vt:lpstr>2.12   SQL dentro do R</vt:lpstr>
      <vt:lpstr>2.13   E os dados genômicos?</vt:lpstr>
      <vt:lpstr>QA/QC: garantir e controlar a qualidade</vt:lpstr>
      <vt:lpstr>3.1   QA e QC não são a mesma coisa</vt:lpstr>
      <vt:lpstr>3.2   Dimensões da qualidade de dados</vt:lpstr>
      <vt:lpstr>3.3   QA na origem: prevenir é mais barato</vt:lpstr>
      <vt:lpstr>3.4   QC estrutural com SQL: resultados no banco do curso</vt:lpstr>
      <vt:lpstr>3.5   A ordem do QC importa</vt:lpstr>
      <vt:lpstr>3.6   QC estatístico: a qualidade de cada ensaio</vt:lpstr>
      <vt:lpstr>3.7   Outlier estatístico não é sinônimo de erro</vt:lpstr>
      <vt:lpstr>3.8   QC de genótipos</vt:lpstr>
      <vt:lpstr>3.9   O que fazer com cada problema</vt:lpstr>
      <vt:lpstr>3.10   Teste o seu QC</vt:lpstr>
      <vt:lpstr>Consistência e curadoria</vt:lpstr>
      <vt:lpstr>4.1   Consistência: o mesmo dado com o mesmo significado</vt:lpstr>
      <vt:lpstr>4.2   Identificadores bem projetados</vt:lpstr>
      <vt:lpstr>4.3   Dicionário de variáveis e ontologias</vt:lpstr>
      <vt:lpstr>4.4   Curadoria: um processo contínuo, com registro</vt:lpstr>
      <vt:lpstr>4.5   Proveniência, versão e FAIR</vt:lpstr>
      <vt:lpstr>4.6   Doze regras para planilhas (Broman e Woo, 2018)</vt:lpstr>
      <vt:lpstr>A pasta de análise como projeto do Claude Code</vt:lpstr>
      <vt:lpstr>5.1   O problema</vt:lpstr>
      <vt:lpstr>5.2   Princípios de uma boa pasta de projeto</vt:lpstr>
      <vt:lpstr>5.3   Estrutura recomendada</vt:lpstr>
      <vt:lpstr>5.4   Nomes de arquivos</vt:lpstr>
      <vt:lpstr>5.5   Do bruto ao resultado: uma cadeia de scripts</vt:lpstr>
      <vt:lpstr>5.6   A pasta é o contexto do agente</vt:lpstr>
      <vt:lpstr>5.7   CLAUDE.md da pasta de análise</vt:lpstr>
      <vt:lpstr>5.8   Proteger o dado bruto ⚙️</vt:lpstr>
      <vt:lpstr>5.9   O mesmo pedido, duas pastas</vt:lpstr>
      <vt:lpstr>Síntese e tarefa</vt:lpstr>
      <vt:lpstr>6.1   Checklist: os dados estão prontos para a IA?</vt:lpstr>
      <vt:lpstr>6.2   Tarefa</vt:lpstr>
      <vt:lpstr>6.3   Referências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Seção 1 — Dados: a base de toda IA no melhoramento</dc:title>
  <dc:subject>IA no Melhoramento Genético: Fundamentos e Aplicações</dc:subject>
  <dc:creator>FIT 796 · UFV</dc:creator>
  <cp:lastModifiedBy>Eder Silva</cp:lastModifiedBy>
  <cp:revision>1</cp:revision>
  <dcterms:created xsi:type="dcterms:W3CDTF">2026-10-17T17:47:55Z</dcterms:created>
  <dcterms:modified xsi:type="dcterms:W3CDTF">2026-10-20T12:21:42Z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MSIP_Label_2c76c141-ac86-40e5-abf2-c6f60e474cee_Enabled">
    <vt:lpwstr>true</vt:lpwstr>
  </property>
  <property fmtid="{D5CDD505-2E9C-101B-9397-08002B2CF9AE}" pid="3" name="MSIP_Label_2c76c141-ac86-40e5-abf2-c6f60e474cee_SetDate">
    <vt:lpwstr>2026-10-20T12:05:10Z</vt:lpwstr>
  </property>
  <property fmtid="{D5CDD505-2E9C-101B-9397-08002B2CF9AE}" pid="4" name="MSIP_Label_2c76c141-ac86-40e5-abf2-c6f60e474cee_Method">
    <vt:lpwstr>Standard</vt:lpwstr>
  </property>
  <property fmtid="{D5CDD505-2E9C-101B-9397-08002B2CF9AE}" pid="5" name="MSIP_Label_2c76c141-ac86-40e5-abf2-c6f60e474cee_Name">
    <vt:lpwstr>2c76c141-ac86-40e5-abf2-c6f60e474cee</vt:lpwstr>
  </property>
  <property fmtid="{D5CDD505-2E9C-101B-9397-08002B2CF9AE}" pid="6" name="MSIP_Label_2c76c141-ac86-40e5-abf2-c6f60e474cee_SiteId">
    <vt:lpwstr>fcb2b37b-5da0-466b-9b83-0014b67a7c78</vt:lpwstr>
  </property>
  <property fmtid="{D5CDD505-2E9C-101B-9397-08002B2CF9AE}" pid="7" name="MSIP_Label_2c76c141-ac86-40e5-abf2-c6f60e474cee_ActionId">
    <vt:lpwstr>b34163ae-cb13-44a4-aa18-32794f35e78c</vt:lpwstr>
  </property>
  <property fmtid="{D5CDD505-2E9C-101B-9397-08002B2CF9AE}" pid="8" name="MSIP_Label_2c76c141-ac86-40e5-abf2-c6f60e474cee_ContentBits">
    <vt:lpwstr>2</vt:lpwstr>
  </property>
  <property fmtid="{D5CDD505-2E9C-101B-9397-08002B2CF9AE}" pid="9" name="MSIP_Label_2c76c141-ac86-40e5-abf2-c6f60e474cee_Tag">
    <vt:lpwstr>10, 3, 0, 1</vt:lpwstr>
  </property>
  <property fmtid="{D5CDD505-2E9C-101B-9397-08002B2CF9AE}" pid="10" name="ClassificationContentMarkingFooterLocations">
    <vt:lpwstr>FIT 796:3</vt:lpwstr>
  </property>
  <property fmtid="{D5CDD505-2E9C-101B-9397-08002B2CF9AE}" pid="11" name="ClassificationContentMarkingFooterText">
    <vt:lpwstr>RESTRICTED</vt:lpwstr>
  </property>
</Properties>
</file>