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5484475" cy="8707438"/>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126" y="3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7CFAB-ADA6-44FE-8CD9-F3D70C7EF32D}"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E04E6-F13B-4A64-8A0A-A2D4669AAC42}" type="slidenum">
              <a:rPr lang="en-US" smtClean="0"/>
              <a:t>‹#›</a:t>
            </a:fld>
            <a:endParaRPr lang="en-US"/>
          </a:p>
        </p:txBody>
      </p:sp>
    </p:spTree>
    <p:extLst>
      <p:ext uri="{BB962C8B-B14F-4D97-AF65-F5344CB8AC3E}">
        <p14:creationId xmlns:p14="http://schemas.microsoft.com/office/powerpoint/2010/main" val="679202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Abra dizendo o que esta tarde não é: não é outro exercício de DuckDB, VCU, GBLUP, prompt ou OCS. É o mapa do que vem depois do que eles praticaram, com casos verificados. Avise que cada slide tem nota de apresentador com a citação, e que o dossiê na pasta da sessão tem o texto longo e os DOIs. O critério da aula: número sem fonte não entra no slide; o que ainda está em aberto fica marcado como a verificar nas notas. Peça que guardem uma pergunta por bloco para o painel final. Fontes: README do curso FIT 796.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a:t>
            </a:fld>
            <a:endParaRPr lang="en-US"/>
          </a:p>
        </p:txBody>
      </p:sp>
    </p:spTree>
    <p:extLst>
      <p:ext uri="{BB962C8B-B14F-4D97-AF65-F5344CB8AC3E}">
        <p14:creationId xmlns:p14="http://schemas.microsoft.com/office/powerpoint/2010/main" val="75094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Recapitule em dois minutos o fio que a turma já viveu. Sessão 04 curou o ensaio antes de modelar. Sessão 05 pôs o agente sob deny-list e plano. Sessão 06 mostrou que acurácia sem validação honesta mente. Sessão 08 mostrou alucinação em paper. Sessão 09 mostrou que theta e delta F são decisão humana, não saída de solver. A tarde de hoje estende esse fio: os mesmos critérios de validação, governança e decisão humana valem para foundation model, event, edição e digital twin. Não reabra o conteúdo técnico das sessões anteriores. Fontes: README do repositório do curso.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a:t>
            </a:fld>
            <a:endParaRPr lang="en-US"/>
          </a:p>
        </p:txBody>
      </p:sp>
    </p:spTree>
    <p:extLst>
      <p:ext uri="{BB962C8B-B14F-4D97-AF65-F5344CB8AC3E}">
        <p14:creationId xmlns:p14="http://schemas.microsoft.com/office/powerpoint/2010/main" val="2235986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Se alguém esperar outro script, diga isso no primeiro minuto. A função deste slide é gerenciar expectativa. Cada bloco vai citar uma âncora dessas sessões em uma frase e seguir para o que elas não cobriram. O risco pedagógico da tarde é virar revisão. Se a discussão voltar para como rodar quadprog ou lme4, redirecione: qual a implicação para o programa daqui a cinco anos? Fontes: plano da Sessão 11.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a:t>
            </a:fld>
            <a:endParaRPr lang="en-US"/>
          </a:p>
        </p:txBody>
      </p:sp>
    </p:spTree>
    <p:extLst>
      <p:ext uri="{BB962C8B-B14F-4D97-AF65-F5344CB8AC3E}">
        <p14:creationId xmlns:p14="http://schemas.microsoft.com/office/powerpoint/2010/main" val="81267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Leia a tabela como índice da tarde. Cada linha é um bloco. Não explique os termos ainda: AgroNT, twin e stacking serão definidos quando chegarem. O ponto é que nenhuma tendência é órfã do curso. Se o tempo apertar, este slide é o que permite pular um bloco sem perder o mapa. Fontes: plano da Sessão 11.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a:t>
            </a:fld>
            <a:endParaRPr lang="en-US"/>
          </a:p>
        </p:txBody>
      </p:sp>
    </p:spTree>
    <p:extLst>
      <p:ext uri="{BB962C8B-B14F-4D97-AF65-F5344CB8AC3E}">
        <p14:creationId xmlns:p14="http://schemas.microsoft.com/office/powerpoint/2010/main" val="161505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bloco abre a sessão de tendências mostrando que os modelos de fundação vão muito além do chatbot. Na Sessão 02 vimos o que é um modelo, como ele é treinado e que hardware exige; na Sessão 07, como ML e DL entram no melhoramento; na Sessão 08, como LLMs apoiam a pesquisa. Agora aplicamos a mesma receita, pré-treino auto-supervisionado em grandes volumes de dados sem rótulo, a sequências de DNA, RNA e proteínas e a imagens de plantas. A pergunta-guia é prática: esses modelos já ajudam o melhorista a tomar decisões melhores, ou ainda são promessa? Vou responder com números verificados nos artigos originais e também com casos em que NÃO houve ganho, porque isso é tão importante quanto os sucessos. O roteiro tem quatro partes: primeiro, como funcionam os modelos de linguagem de DNA e como eles escoram variantes; segundo, os modelos específicos de plantas e o que eles entregam para a seleção genômica; terceiro, modelos de proteína, desenho de receptores de resistência e visão para fenotipagem; quarto, limitações e um roteiro para começar. Peço que acompanhem com olhar crítico, como fizemos na Sessão 06 com validação cruzada e vazamento: todo resultado será comparado com um baseline simples, como phyloP, SIFT ou o próprio GBLUP. No final, deixo três perguntas para discussão em grupo e uma lista curta de mensagens para levar para casa.</a:t>
            </a:r>
          </a:p>
          <a:p>
            <a:r>
              <a:rPr lang="pt-BR"/>
              <a:t>Fontes: dossiê dossie/01_foundation_models.md (referências completas com DOI).</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a:t>
            </a:fld>
            <a:endParaRPr lang="en-US"/>
          </a:p>
        </p:txBody>
      </p:sp>
    </p:spTree>
    <p:extLst>
      <p:ext uri="{BB962C8B-B14F-4D97-AF65-F5344CB8AC3E}">
        <p14:creationId xmlns:p14="http://schemas.microsoft.com/office/powerpoint/2010/main" val="191917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Um modelo de linguagem de DNA aprende a gramática do genoma prevendo nucleotídeos escondidos, ou o próximo nucleotídeo, sem nenhum rótulo. Três escolhas de projeto definem o modelo. A primeira é a tokenização. Com um token por nucleotídeo, cada base é uma palavra e a resolução é máxima, o que é essencial para escorar SNPs; é o caso de GPN, PlantCaduceus e Evo. Com 6-mers, como no Nucleotide Transformer e no AgroNT, a sequência fica seis vezes mais curta e cabe mais contexto, mas o genoma é cortado em pedaços arbitrários. A segunda escolha é o objetivo: o masked LM esconde cerca de 15% dos tokens e usa o contexto dos dois lados, o que é ideal para avaliar variantes; o autorregressivo prevê o próximo token e permite gerar sequências novas. A terceira é a arquitetura. O Transformer tem custo quadrático no comprimento da sequência, o que limita o contexto a cerca de 6 kb. Hyena e Mamba escalam quase linearmente: o Evo chega a 131 kb e o Evo 2 a 1 Mb. O Caduceus, base do PlantCaduceus, é uma variante de Mamba bidirecional e equivariante ao reverso-complemento, ou seja, dá a mesma resposta para as duas fitas do DNA. Depois do pré-treino, o modelo é usado de duas formas: probing, que congela o modelo e treina um classificador leve sobre os embeddings, ou fine-tuning, que ajusta os pesos. É o mesmo raciocínio de transfer learning em visão que vimos na Sessão 07.</a:t>
            </a:r>
          </a:p>
          <a:p>
            <a:r>
              <a:rPr lang="pt-BR"/>
              <a:t>Fontes: Dalla-Torre et al., Nature Methods 2024; Nguyen et al., Science 2024; Brixi et al., Nature 2026; Zhai et al., PNAS 2025; Mendoza-Revilla et al., Communications Biology 2024.</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a:t>
            </a:fld>
            <a:endParaRPr lang="en-US"/>
          </a:p>
        </p:txBody>
      </p:sp>
    </p:spTree>
    <p:extLst>
      <p:ext uri="{BB962C8B-B14F-4D97-AF65-F5344CB8AC3E}">
        <p14:creationId xmlns:p14="http://schemas.microsoft.com/office/powerpoint/2010/main" val="1009088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conceito mais útil para o melhorista. Para cada SNP, o modelo calcula a probabilidade do alelo de referência e do alelo alternativo no mesmo contexto, e a diferença dos logaritmos é o escore. Se o modelo espera fortemente a base de referência naquela posição, trocá-la é surpreendente, e o sítio provavelmente está sob restrição evolutiva. Valores mais negativos indicam mutações mais provavelmente deletérias. O ponto forte é ser zero-shot: não precisa de nenhum dado rotulado, então serve para culturas órfãs que têm apenas um genoma de referência. Como saber se funciona? Os artigos usam três checagens. Mutações stop-gain e de sítio de splice devem ter escores mais negativos que as intergênicas. As variantes que o modelo considera deletérias devem ter frequência alélica menor na população. E o escore deve recuperar mutações causais já conhecidas. O GPN superou phyloP e phastCons em Arabidopsis. Já o AgroNT, apesar de ter um bilhão de parâmetros, ficou abaixo de GPN e phyloP na priorização de variantes deletérias em Arabidopsis, superando apenas levemente o phastCons. A moral é que tamanho não garante desempenho e que o baseline de conservação é obrigatório. Quem acompanhou a Sessão 06 vai reconhecer o padrão: um método novo só vale se bater o método simples numa avaliação honesta, com os mesmos dados e sem vazamento entre treino e teste.</a:t>
            </a:r>
          </a:p>
          <a:p>
            <a:r>
              <a:rPr lang="pt-BR"/>
              <a:t>Fontes: Benegas, Batra &amp; Song, PNAS 2023; Mendoza-Revilla et al., Communications Biology 2024; Zhai et al., PNAS 2025.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a:t>
            </a:fld>
            <a:endParaRPr lang="en-US"/>
          </a:p>
        </p:txBody>
      </p:sp>
    </p:spTree>
    <p:extLst>
      <p:ext uri="{BB962C8B-B14F-4D97-AF65-F5344CB8AC3E}">
        <p14:creationId xmlns:p14="http://schemas.microsoft.com/office/powerpoint/2010/main" val="3129187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slide é um mapa para consulta; não precisam decorar. O GPN, de 2023, foi o primeiro modelo de linguagem de DNA de plantas: uma rede convolucional treinada em Arabidopsis e sete parentes da ordem Brassicales. O número de parâmetros que aparece em revisões, cerca de 65 milhões, ainda está a verificar no artigo original. O AgroNT, da InstaDeep, levou a escala de Transformer às culturas: um bilhão de parâmetros, 48 espécies e um recurso valioso, a mutagênese in silico de mais de dez milhões de mutações em mandioca. O PlantCaduceus volta para modelos menores, de 20 a 225 milhões de parâmetros, com curadoria cuidadosa dos dados; vamos detalhá-lo no próximo slide. Os PDLLMs mostram que dá para treinar e usar modelos de plantas numa única placa de vídeo de consumidor, uma RTX 4090, o que importa para laboratórios brasileiros com orçamento limitado. O PlantRNA-FM trabalha com RNA e anota regiões gênicas com F1 de 0,974 em Arabidopsis, espécie que não estava no pré-treino. Entre os modelos universais, o Evo 2 é o gigante: 40 bilhões de parâmetros, contexto de um milhão de bases e treino em todos os domínios da vida, mas com custo computacional extremo. O PlantGFM, de 2026, gera genes novos de plantas, inclusive NLRs, com atividade transcricional confirmada em Nicotiana benthamiana. A tendência é menos tamanho bruto, mais curadoria e contexto maior.</a:t>
            </a:r>
          </a:p>
          <a:p>
            <a:r>
              <a:rPr lang="pt-BR"/>
              <a:t>Fontes: Benegas et al., PNAS 2023; Mendoza-Revilla et al., Commun Biol 2024; Zhai et al., PNAS 2025; Liu et al., Mol Plant 2024; Yu et al., Nat Mach Intell 2024; Brixi et al., Nature 2026; PlantGFM, Adv Sci 2026.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8</a:t>
            </a:fld>
            <a:endParaRPr lang="en-US"/>
          </a:p>
        </p:txBody>
      </p:sp>
    </p:spTree>
    <p:extLst>
      <p:ext uri="{BB962C8B-B14F-4D97-AF65-F5344CB8AC3E}">
        <p14:creationId xmlns:p14="http://schemas.microsoft.com/office/powerpoint/2010/main" val="3497723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 PlantCaduceus, do grupo de Kuleshov e Buckler em Cornell, é o modelo mais relevante para melhoristas hoje. Foi treinado em 16 genomas de angiospermas que somam cerca de 160 milhões de anos de evolução, com sequências repetitivas sub-ponderadas para que o modelo não gaste capacidade aprendendo transposons. O experimento-chave é de transferência: o classificador é treinado apenas com rótulos de Arabidopsis, que é bem anotada, e testado em milho, que o modelo nunca viu no pré-treino. Para sítios de início de tradução, o PlantCaduceus foi 7,23 vezes melhor que o GPN em PRAUC, enquanto um CNN com LSTM supervisionado caiu de 0,713 para quase zero. Esse é o argumento central do transfer learning para espécies pouco estudadas. Na detecção de mutações deletérias, as variantes priorizadas têm frequência alélica média três vezes menor que as priorizadas pelo phyloP, e o desempenho em missense é comparável ao do modelo de proteína ESM. Para restrição evolutiva em milho, com o modelo ajustado em sorgo, a versão de 20 milhões de parâmetros chegou a AUC de 0,829. O caso mais didático é o milho doce: na região do sugary1, o GWAS não separa a variante causal por causa da alta LD, mas o escore zero-shot aponta a mutação W578R. A limitação é a janela de 512 pares de base, parcialmente resolvida no PlantCAD2, que aceita até 8.192.</a:t>
            </a:r>
          </a:p>
          <a:p>
            <a:r>
              <a:rPr lang="pt-BR"/>
              <a:t>Fontes: Zhai et al., PNAS 2025 (doi:10.1073/pnas.2421738122); repositório kuleshov-group/PlantCaduceus no GitHub.</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9</a:t>
            </a:fld>
            <a:endParaRPr lang="en-US"/>
          </a:p>
        </p:txBody>
      </p:sp>
    </p:spTree>
    <p:extLst>
      <p:ext uri="{BB962C8B-B14F-4D97-AF65-F5344CB8AC3E}">
        <p14:creationId xmlns:p14="http://schemas.microsoft.com/office/powerpoint/2010/main" val="3033699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 mais importante para não vender ilusão. A pergunta natural é: se o modelo identifica variantes deletérias, colocar essa informação no modelo de seleção genômica aumenta a acurácia? A resposta da literatura é: às vezes. Em 2017, Yang e colaboradores, com Buckler entre os autores, usaram escores de conservação GERP num dialelo parcial elite de milho e ponderaram blocos haplotípicos pela complementação de alelos deletérios. A acurácia para produção de grão subiu mais de 4,3%, e a de heterose cerca de 1%. Em 2022, Ramstein e Buckler repetiram a ideia com um preditor de restrição evolutiva muito melhor, e ponderar todos os SNPs não melhorou a predição em painéis híbridos. A explicação provável é o LD extenso: os SNPs do painel já carregam a informação das causais por ligação, então a reponderação não acrescenta nada. Houve ganho apenas para produção de grão, e apenas quando se priorizou o top 1% ou 0,1% dos SNPs mais restritos; para altura e florescimento, nada. Em gado leiteiro, priors funcionais no BayesRC ajudaram na maioria dos cenários, cerca de 66% segundo o resumo do estudo (número a verificar), mas a diferença em relação ao BayesR em geral não foi significativa. Conclusão: o ganho depende de população, caráter e densidade de marcadores, e só vale com validação cruzada sem vazamento, como discutimos na Sessão 06.</a:t>
            </a:r>
          </a:p>
          <a:p>
            <a:r>
              <a:rPr lang="pt-BR"/>
              <a:t>Fontes: Yang et al., PLoS Genetics 2017 (doi:10.1371/journal.pgen.1007019); Ramstein &amp; Buckler, Genome Biology 2022 (doi:10.1186/s13059-022-02747-2); Xiang et al., Animal Production Science 2021 (doi:10.1071/an21061).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10</a:t>
            </a:fld>
            <a:endParaRPr lang="en-US"/>
          </a:p>
        </p:txBody>
      </p:sp>
    </p:spTree>
    <p:extLst>
      <p:ext uri="{BB962C8B-B14F-4D97-AF65-F5344CB8AC3E}">
        <p14:creationId xmlns:p14="http://schemas.microsoft.com/office/powerpoint/2010/main" val="1739513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Saindo do DNA para a proteína. O AlphaFold2, de 2021, mudou a biologia estrutural: no CASP14, a acurácia mediana de backbone foi de 0,96 ångström, enquanto o segundo melhor método ficou em 2,8. Para comparação, um átomo de carbono tem cerca de 1,4 ångström de largura. O ESM-2, da Meta, é um modelo de linguagem de proteínas com até 15 bilhões de parâmetros. O ESMFold usa as representações dele para prever a estrutura a partir de uma única sequência, sem alinhamento múltiplo, cerca de uma ordem de grandeza mais rápido que o AlphaFold2, e foi usado em mais de 617 milhões de proteínas metagenômicas. O AlphaFold3, de 2024, troca o módulo de estrutura por um modelo de difusão e prevê complexos inteiros: proteína com DNA, RNA, ligantes e íons. Para nós, isso abre a porta para estudar interações entre efetor e receptor ou entre enzima e herbicida. O ESM3, com 98 bilhões de parâmetros, trabalha com sequência, estrutura e função ao mesmo tempo, e gerou uma proteína fluorescente funcional com apenas 58% de identidade em relação às conhecidas. Boltz-1 e Boltz-2 são alternativas abertas no estilo do AlphaFold3, úteis quando a licença do AF3 é um problema; as citações exatas estão a verificar. Mas atenção: esses números vêm de proteínas bem representadas no PDB, e as de plantas estão sub-representadas, como mostra o próximo slide.</a:t>
            </a:r>
          </a:p>
          <a:p>
            <a:r>
              <a:rPr lang="pt-BR"/>
              <a:t>Fontes: Jumper et al., Nature 2021; Jumper et al., Proteins 2021; Lin et al., Science 2023; Abramson et al., Nature 2024; Hayes et al., Science 2025.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11</a:t>
            </a:fld>
            <a:endParaRPr lang="en-US"/>
          </a:p>
        </p:txBody>
      </p:sp>
    </p:spTree>
    <p:extLst>
      <p:ext uri="{BB962C8B-B14F-4D97-AF65-F5344CB8AC3E}">
        <p14:creationId xmlns:p14="http://schemas.microsoft.com/office/powerpoint/2010/main" val="2272528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estudo é o contrapeso do slide anterior e foi feito por pesquisadores do USDA ligados ao MaizeGDB. Eles rodaram cinco preditores, AlphaFold2, AlphaFold3, ESMFold, Boltz-1 e Boltz-2, em 417 genes clássicos de milho, ou seja, genes com função e fenótipo bem conhecidos. O primeiro achado: proteínas sem domínios conservados de sequência ou de estrutura tiveram, em média, confiança de 25% a 43% menor que as que têm os dois tipos de domínio. O segundo: usando filostratigrafia, as proteínas jovens, específicas de milho, tiveram confiança bem menor que as proteínas conservadas entre angiospermas ou eucariotos. Isso preocupa porque genes específicos de linhagem podem estar por trás de características agronômicas únicas. O terceiro: Boltz-1 e ESMFold produziram mais estruturas com problemas graves de geometria, como átomos sobrepostos e ângulos de ligação improváveis, o que inviabiliza o uso posterior em docking ou em desenho de proteínas. Os autores também compararam predições com estruturas experimentais de Arabidopsis, milho, arroz, trigo e soja e encontraram incongruências. A recomendação prática é usar cada ferramenta no seu papel: AlphaFold para confiança, ESMFold para velocidade em proteoma inteiro e Boltz como meio-termo. E sempre olhar a confiança por resíduo antes de tirar conclusões. A frase dos autores resume bem: o enovelamento de proteínas não está resolvido para culturas agrícolas.</a:t>
            </a:r>
          </a:p>
          <a:p>
            <a:r>
              <a:rPr lang="pt-BR"/>
              <a:t>Fontes: Haley et al., bioRxiv 2025 (doi:10.1101/2025.07.05.663230).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12</a:t>
            </a:fld>
            <a:endParaRPr lang="en-US"/>
          </a:p>
        </p:txBody>
      </p:sp>
    </p:spTree>
    <p:extLst>
      <p:ext uri="{BB962C8B-B14F-4D97-AF65-F5344CB8AC3E}">
        <p14:creationId xmlns:p14="http://schemas.microsoft.com/office/powerpoint/2010/main" val="4153648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Até aqui falamos de predição; agora, de desenho. O fluxo padrão para desenhar proteínas novas tem três passos. O RFdiffusion, do laboratório de David Baker, gera um backbone novo a partir de ruído, como os modelos que geram imagens, e pode ser condicionado a se ligar a um alvo. O ProteinMPNN escreve uma sequência de aminoácidos que dobre naquele backbone; em backbones nativos, ele recupera 52,4% da sequência, contra 32,9% do Rosetta. Por fim, AlphaFold2 ou ESMFold conferem se a sequência realmente dobra na forma desejada. O caso mais interessante para quem trabalha com resistência é o dos Pikobodies, do grupo de Sophien Kamoun. O receptor de arroz Pikm-1 tem um domínio integrado, o HMA, que reconhece o efetor do fungo da brusone. Os autores trocaram esse domínio por nanobodies de camelídeo que se ligam a proteínas fluorescentes; junto com o Pikm-2, as plantas ficaram resistentes a vírus PVX que expressavam a proteína-alvo. Como é possível gerar nanobodies contra quase qualquer molécula, a ideia é imunidade sob encomenda contra efetores de patógenos. Os riscos são autoatividade do receptor, a necessidade de o alvo estar no citosol, ligação inespecífica e queda de produtividade por superativação do NLR. Exemplos de engenharia de Rubisco ou de tolerância a herbicidas com essas ferramentas ainda estão a verificar. O papel do melhorista começa a mudar de selecionar variação existente para projetar variação nova.</a:t>
            </a:r>
          </a:p>
          <a:p>
            <a:r>
              <a:rPr lang="pt-BR"/>
              <a:t>Fontes: Watson et al., Nature 2023; Dauparas et al., Science 2022; Kourelis et al., Science 2023 (doi:10.1126/science.abn4116).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13</a:t>
            </a:fld>
            <a:endParaRPr lang="en-US"/>
          </a:p>
        </p:txBody>
      </p:sp>
    </p:spTree>
    <p:extLst>
      <p:ext uri="{BB962C8B-B14F-4D97-AF65-F5344CB8AC3E}">
        <p14:creationId xmlns:p14="http://schemas.microsoft.com/office/powerpoint/2010/main" val="84205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Os modelos de fundação também mudaram a visão computacional, o que conversa diretamente com a Sessão 03, de fenotipagem de alto desempenho. O SAM, da Meta, segmenta qualquer objeto a partir de um clique ou de uma caixa, sem treino específico; foi treinado com mais de um bilhão de máscaras em 11 milhões de imagens. Na prática, serve para separar folhas, panículas, espigas ou plantas do fundo sem desenhar máscaras à mão. O DINOv2 é um backbone auto-supervisionado que produz features de imagem úteis sem fine-tuning: basta um classificador linear por cima. O desafio PlantCLEF 2024 disponibilizou modelos DINOv2 já ajustados em cerca de 1,4 milhão de imagens de 7.806 espécies de plantas da flora do sudoeste europeu, um ponto de partida melhor que o ImageNet para tarefas botânicas. O SCOLD é um exemplo de modelo de visão e linguagem para doenças foliares, que permite classificar imagens a partir de descrições em texto, com poucos ou nenhum exemplo rotulado. A receita para HTP é a mesma do probing em DNA: backbone congelado e uma cabeça leve treinada com poucas imagens rotuladas. A ordem de grandeza que costuma ser citada, dezenas de imagens em vez de milhares, é ilustrativa e está a verificar para cada caráter e cultura. O ganho real é reduzir o gargalo de anotação manual que discutimos na Sessão 07.</a:t>
            </a:r>
          </a:p>
          <a:p>
            <a:r>
              <a:rPr lang="pt-BR"/>
              <a:t>Fontes: Kirillov et al., arXiv 2023 (SAM); Oquab et al., arXiv 2023 (DINOv2); Goëau et al., PlantCLEF 2024, Zenodo; Nguyen Quoc et al., arXiv 2025 (SCOLD).</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14</a:t>
            </a:fld>
            <a:endParaRPr lang="en-US"/>
          </a:p>
        </p:txBody>
      </p:sp>
    </p:spTree>
    <p:extLst>
      <p:ext uri="{BB962C8B-B14F-4D97-AF65-F5344CB8AC3E}">
        <p14:creationId xmlns:p14="http://schemas.microsoft.com/office/powerpoint/2010/main" val="3279900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Na Sessão 08 usamos LLMs como assistentes de escrita e de código e vimos o Claude Code agindo como agente. O mesmo padrão está chegando ao laboratório. O BioDiscoveryAgent, de Stanford, usa o Claude 3.5 Sonnet com ferramentas de busca na literatura, execução de código e um segundo agente crítico para escolher quais genes perturbar em triagens genéticas. Em seis datasets, encontrou em média 21% mais genes relevantes que métodos de otimização bayesiana treinados para a tarefa, e 46% mais na tarefa mais difícil, de genes não-essenciais. Um dos datasets era inédito, o que reduz o risco de o modelo já ter visto as respostas no treino. O CRISPR-GPT, de Stanford e Princeton, guia o desenho de um experimento de edição de ponta a ponta: escolhe o sistema CRISPR, desenha os gRNAs, sugere o método de entrega, escreve protocolos e analisa os dados. Foi validado em linhagens celulares humanas, com knockout de quatro genes por Cas12a e ativação epigenética de dois genes por dCas9. O GeneGPT conecta um LLM às APIs do NCBI; as métricas dele estão a verificar. Sobre modelos multimodais de genótipo para fenótipo: Evo 2 e PlantGFM integram DNA, RNA e proteína, mas ainda não existe um modelo maduro que vá do genoma ao fenótipo de campo em culturas. Esses agentes também ainda não foram validados em plantas em escala.</a:t>
            </a:r>
          </a:p>
          <a:p>
            <a:r>
              <a:rPr lang="pt-BR"/>
              <a:t>Fontes: Roohani et al., arXiv 2024 (BioDiscoveryAgent); Huang et al., bioRxiv 2024 (CRISPR-GPT); Jin et al., Bioinformatics 2024 (GeneGPT).</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15</a:t>
            </a:fld>
            <a:endParaRPr lang="en-US"/>
          </a:p>
        </p:txBody>
      </p:sp>
    </p:spTree>
    <p:extLst>
      <p:ext uri="{BB962C8B-B14F-4D97-AF65-F5344CB8AC3E}">
        <p14:creationId xmlns:p14="http://schemas.microsoft.com/office/powerpoint/2010/main" val="1439576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 do ceticismo saudável. Primeiro, os dados: temos poucos genomas de plantas de alta qualidade, e muitos são poliploides e cheios de elementos transponíveis. Sequências repetitivas são fáceis de prever, então o modelo pode parecer bom aprendendo transposons em vez de função; por isso GPN e PlantCaduceus sub-ponderam repetições. Segundo, o custo: o AgroNT foi treinado em TPU v4 e o PlantRNA-FM levou mais de três semanas em quatro A100. Usar modelos prontos é barato; treinar do zero não é. Terceiro, vazamento, como na Sessão 06: benchmarks de variantes humanas usam rótulos que às vezes foram definidos com ajuda dos próprios preditores, e a frequência alélica reflete deriva e hitchhiking, não só seleção. Quarto, os gLMs nem sempre ganham. Tang e Koo mostraram que modelos zero-shot, inclusive o Nucleotide Transformer de 2,5 bilhões de parâmetros, foram ruins para prever efeitos de variantes medidos em MPRA, perdendo para Enformer e Sei. A revisão de Benegas e colaboradores conclui que, no genoma humano, gLMs com embeddings congelados geralmente não superam baselines. Para variantes codificantes raras, o GPN-MSA não foi o melhor em nenhum gene. Em plantas o quadro é mais favorável porque há menos dados rotulados, mas a comparação com phyloP é obrigatória. Por fim, a interpretabilidade: embeddings são opacos e a atribuição causal continua difícil.</a:t>
            </a:r>
          </a:p>
          <a:p>
            <a:r>
              <a:rPr lang="pt-BR"/>
              <a:t>Fontes: Tang &amp; Koo 2024 (PMC10925287); Benegas et al. 2025 (PMC11275703); GPN-MSA (PMC10592768); estudo de variantes codificantes raras (PMC12552115); Frontiers in Plant Science 2025 (doi:10.3389/fpls.2025.1611992).</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16</a:t>
            </a:fld>
            <a:endParaRPr lang="en-US"/>
          </a:p>
        </p:txBody>
      </p:sp>
    </p:spTree>
    <p:extLst>
      <p:ext uri="{BB962C8B-B14F-4D97-AF65-F5344CB8AC3E}">
        <p14:creationId xmlns:p14="http://schemas.microsoft.com/office/powerpoint/2010/main" val="2264369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Como um programa de melhoramento começa amanhã, sem gastar muito? Primeiro, não treine modelo do zero. Baixe modelos prontos do Hugging Face: AgroNT, PlantCaduceus nos tamanhos de 20 a 225 milhões de parâmetros, Nucleotide Transformer, ESM-2 para proteínas e o DINOv2 ajustado do PlantCLEF para imagens. Segundo, comece por probing: extraia embeddings com o modelo congelado e treine um XGBoost ou uma regressão por cima. Uma GPU de 16 a 40 gigabytes deve bastar para escore zero-shot e probing nos modelos menores, valor a verificar para cada modelo. Fine-tuning completo de um modelo de um bilhão de parâmetros exige cluster. Terceiro, os dados mínimos: o genoma de referência da cultura, um painel de SNPs com frequências alélicas para validar os escores e algumas centenas de sítios funcionais rotulados para o probing. O piloto que proponho tem quatro passos: calcular o escore zero-shot de todo o painel; comparar com phyloP, phastCons e SIFT; testar o escore como feature ou prior em GBLUP ou BayesRC, com validação cruzada sem vazamento; e, para resistência, rodar ESMFold ou AlphaFold nos NLRs candidatos. Agora, as perguntas para discussão em grupo. Em que população o LD não apaga o sinal: sequência completa, alelos raros, introgressão de germoplasma exótico? Um gLM que não bate o phyloP ainda serve? E quais riscos agronômicos e regulatórios existem em levar ao campo genes desenhados por IA?</a:t>
            </a:r>
          </a:p>
          <a:p>
            <a:r>
              <a:rPr lang="pt-BR"/>
              <a:t>Fontes: cartões de modelo no Hugging Face (InstaDeepAI, kuleshov-group, PlantNet, facebook/esm2); Ramstein &amp; Buckler, Genome Biology 2022; Kourelis et al., Science 2023.</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17</a:t>
            </a:fld>
            <a:endParaRPr lang="en-US"/>
          </a:p>
        </p:txBody>
      </p:sp>
    </p:spTree>
    <p:extLst>
      <p:ext uri="{BB962C8B-B14F-4D97-AF65-F5344CB8AC3E}">
        <p14:creationId xmlns:p14="http://schemas.microsoft.com/office/powerpoint/2010/main" val="3300899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Para fechar o bloco, cinco mensagens. Primeira: modelos de linguagem de DNA escoram variantes sem nenhum rótulo e, em plantas, transferem conhecimento entre espécies separadas por cerca de 160 milhões de anos, o que é valioso para culturas pouco estudadas. Segunda: tamanho não é tudo. O PlantCaduceus, com no máximo 225 milhões de parâmetros e dados bem curados, manteve o desempenho na transferência entre espécies, enquanto o AgroNT, de um bilhão, e os demais modelos caíram bastante. Terceira: na seleção genômica, o ganho é condicional. Houve mais de 4,3% de ganho em produção de grão em um estudo e nenhum ganho ao ponderar SNPs em outro. A diferença vem de LD, caráter e população, e só uma validação sem vazamento separa uma situação da outra. Quarta: os modelos de proteína são extraordinários para famílias conservadas, mas a confiança cai bastante para proteínas sem domínios e específicas de culturas. Ao mesmo tempo, ferramentas de desenho como RFdiffusion, ProteinMPNN e os Pikobodies mudam o papel do melhorista, de selecionar para projetar. Quinta: na visão, SAM e DINOv2 reduzem o custo de anotação em fenotipagem, e agentes como o BioDiscoveryAgent e o CRISPR-GPT começam a desenhar experimentos. A regra de ouro, que vale para todo o curso, é comparar sempre com um baseline simples e validar sem vazamento. No próximo bloco seguimos com as demais tendências.</a:t>
            </a:r>
          </a:p>
          <a:p>
            <a:r>
              <a:rPr lang="pt-BR"/>
              <a:t>Fontes: Zhai et al., PNAS 2025; Yang et al., PLoS Genetics 2017; Ramstein &amp; Buckler, Genome Biology 2022; Haley et al., bioRxiv 2025; Kourelis et al., Science 2023.</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18</a:t>
            </a:fld>
            <a:endParaRPr lang="en-US"/>
          </a:p>
        </p:txBody>
      </p:sp>
    </p:spTree>
    <p:extLst>
      <p:ext uri="{BB962C8B-B14F-4D97-AF65-F5344CB8AC3E}">
        <p14:creationId xmlns:p14="http://schemas.microsoft.com/office/powerpoint/2010/main" val="1288603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bloco. A turma passou dois dias otimizando o que já existe no germoplasma: GEBV, OCS, alocação de parcelas. Este bloco trata do outro pipeline da indústria de sementes e defensivos, a trait technology. Nele o produto é uma molécula aplicada, um peptídeo, uma proteína expressa na planta ou um event que entra no germoplasma elite por introgressão. A IA entra nos dois lados, mas de formas diferentes: no primeiro, como química e biologia generativas; no segundo, como otimização de pipeline (seleção de events, stacking, look-ahead). Lance a pergunta-guia e deixe-a sem resposta até o slide de economia: o custo de desenvolver um trait caiu, mas o tempo subiu. Isso indica onde a IA move a agulha e onde não move. Avise que o bloco termina com o paralelo com fármacos, para calibrar o que transfere da farma para o campo. Fontes: Agenda FIT 796; AgbioInvestor/CropLife 2022 e 2026.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19</a:t>
            </a:fld>
            <a:endParaRPr lang="en-US"/>
          </a:p>
        </p:txBody>
      </p:sp>
    </p:spTree>
    <p:extLst>
      <p:ext uri="{BB962C8B-B14F-4D97-AF65-F5344CB8AC3E}">
        <p14:creationId xmlns:p14="http://schemas.microsoft.com/office/powerpoint/2010/main" val="3834082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slide-âncora do bloco. Os números vêm das séries de estudos que a CropLife encomenda a AgbioInvestor (antes Phillips McDougall), com dados agregados de BASF, Bayer, Corteva, FMC e Syngenta. Para defensivos, o custo por ingrediente ativo dobrou em cerca de 25 anos, e a taxa de sucesso piorou: de 52.500 moléculas triadas por produto em 1995 para cerca de 160.000 hoje, principalmente por exigências de segurança mais estritas. O número de ingredientes ativos lançados por ano caiu de 4 para 1,5. Na repartição de 2020–23, desenvolvimento responde por 45,1%, pesquisa por 43,4% e registro por 11,5%. O paradoxo do trait é a mensagem principal: entre 2008–12 e 2017–22 o custo caiu de 136 para 115 milhões, mas o tempo cresceu de 13,1 para 16,5 anos. Eficiência de P&amp;D não resolve o gargalo regulatório e de mercado. E nenhum desses números inclui o tempo para gerar variedades com traits empilhados, que é o produto comercial real. Fontes: AgbioInvestor/CropLife (2026, 2022); Phillips McDougall (2011); Bayer, Crop Protection Regulatory Process.</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20</a:t>
            </a:fld>
            <a:endParaRPr lang="en-US"/>
          </a:p>
        </p:txBody>
      </p:sp>
    </p:spTree>
    <p:extLst>
      <p:ext uri="{BB962C8B-B14F-4D97-AF65-F5344CB8AC3E}">
        <p14:creationId xmlns:p14="http://schemas.microsoft.com/office/powerpoint/2010/main" val="26776998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Use este slide como esqueleto mental do bloco. No trait GM, mais da metade do custo está em construir e testar events, exatamente onde ML de seleção de event e otimização de introgressão podem agir. Descoberta é só 6,6% do custo: mesmo que a IA reduza essa fase pela metade, o impacto no custo total é pequeno. No defensivo, o maior item é química de síntese e formulação (US$ 75 mi), alvo direto de química generativa e predição de rota de síntese; ensaios de campo somam US$ 59 mi e não são comprimidos por IA. Peça à turma que guarde a distinção entre IA de molécula (gerar e priorizar candidatos) e IA de decisão (otimizar o pipeline de events e breeding, ponte com a Sessão 09). A consequência para a Sessão 10: o valor da IA em um portfólio está em reduzir atrito, candidatos que falham tarde, e não só em acelerar a fase inicial. Fontes: AgbioInvestor (2022) Time and Cost to Develop a Trait; AgbioInvestor/CropLife (2026).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21</a:t>
            </a:fld>
            <a:endParaRPr lang="en-US"/>
          </a:p>
        </p:txBody>
      </p:sp>
    </p:spTree>
    <p:extLst>
      <p:ext uri="{BB962C8B-B14F-4D97-AF65-F5344CB8AC3E}">
        <p14:creationId xmlns:p14="http://schemas.microsoft.com/office/powerpoint/2010/main" val="2067274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Estudo de caso corporativo central, do parceiro do curso. A metáfora precisa ser explicada com rigor: a fechadura é uma proteína-alvo que o ML confirma existir no organismo-praga e não em organismos não-alvo; isso dá seletividade e segurança desde o desenho. A chave é a molécula desenhada por virtual screening. O diferencial em relação à triagem clássica é otimizar vários parâmetros ao mesmo tempo, antes de sintetizar: eficácia, seletividade, degradabilidade no solo e custo de síntese. Os números (mais de 30 alvos, mais de 10 MoA validados, 2 MoA desenhados) são declarações públicas da Bayer e devem ser apresentados como resultados de pesquisa inicial, não como produtos registrados. Conecte ao slide de economia: com 1 em 160.000 moléculas chegando ao mercado, qualquer filtro in silico que elimine candidatos ruins cedo tem valor alto. Pergunta para a turma: por que a escassez de novos modos de ação é um problema tão grave quanto o custo? Resistência de plantas daninhas, fungos e insetos cresce mais rápido que o lançamento de novos MoA. Fontes: Bayer, CropKey (bayer.com/en/agriculture/cropkey).</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22</a:t>
            </a:fld>
            <a:endParaRPr lang="en-US"/>
          </a:p>
        </p:txBody>
      </p:sp>
    </p:spTree>
    <p:extLst>
      <p:ext uri="{BB962C8B-B14F-4D97-AF65-F5344CB8AC3E}">
        <p14:creationId xmlns:p14="http://schemas.microsoft.com/office/powerpoint/2010/main" val="1429479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Mostre que não é iniciativa isolada de uma empresa. A Syngenta levou a plataforma de química generativa da Insilico, criada para fármacos, para controle de plantas daninhas; em três projetos a IA apontou novas áreas químicas com atividade in vitro e in vivo. Enko Chem combina bibliotecas codificadas por DNA, bilhões de moléculas triadas em pool, com ML e design estrutural, e tem Bayer, Syngenta e Nufarm como parceiras. Moa Technology, spin-out de Oxford, faz fenotipagem de alto conteúdo em plantas miniaturizadas e usa IA de imagem para comparar fenótipos com herbicidas conhecidos. Micropep gera micropeptídeos com IA generativa; seu MPD-01 teve eficácia de campo igual ou superior a padrões químicos em mais de 25 ensaios, segundo a empresa. Pergunta de discussão: por que uma multinacional prefere parceria com startup a construir internamente? Possíveis respostas: velocidade, acesso a talento de ML, opcionalidade de portfólio. Fontes: Syngenta media release (2021); Enko (PR Newswire); Moa Technology; Micropep.</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23</a:t>
            </a:fld>
            <a:endParaRPr lang="en-US"/>
          </a:p>
        </p:txBody>
      </p:sp>
    </p:spTree>
    <p:extLst>
      <p:ext uri="{BB962C8B-B14F-4D97-AF65-F5344CB8AC3E}">
        <p14:creationId xmlns:p14="http://schemas.microsoft.com/office/powerpoint/2010/main" val="2394833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Três estudos revisados por pares, todos com validação experimental. AGRAMP, USDA-ARS e George Mason, usa n-gramas de alfabetos reduzidos de aminoácidos e Random Forest; aplicou o modelo ao genoma de citros e testou um subconjunto contra Spiroplasma citri, agente do citrus stubborn. Su e colaboradores varreram 6.706 genomas de Bacillus no RefSeq, 56 milhões de polipeptídeos de 10 a 100 aminoácidos, e ficaram com a interseção de quatro arquiteturas (BERT, Mamba, CNN-LSTM, CNN-Attention): quase 5 milhões de candidatos, dos quais dois foram validados por dinâmica molecular e ensaio contra bactérias e fungos agrícolas, incluindo Fusarium oxysporum e Phytophthora nicotianae. Ran e colaboradores, no Journal of Agricultural and Food Chemistry de 2025, usaram XGBoost e acharam o peptídeo TP, com supressão quase completa de Fusarium graminearum a 13,33 micromolar; a dinâmica molecular sugere ligação à miosina. A leitura pedagógica: a IA não inventa o peptídeo do zero, ela prioriza candidatos num espaço de milhões de sequências. Sem validação molhada, o número não entra em aula. Fontes: Shao et al. 2024, DOI 10.3389/fmicb.2024.1304044; Su et al. 2025, DOI 10.1186/s40538-025-00751-9; Ran et al. 2025, DOI 10.1021/acs.jafc.5c03429.</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24</a:t>
            </a:fld>
            <a:endParaRPr lang="en-US"/>
          </a:p>
        </p:txBody>
      </p:sp>
    </p:spTree>
    <p:extLst>
      <p:ext uri="{BB962C8B-B14F-4D97-AF65-F5344CB8AC3E}">
        <p14:creationId xmlns:p14="http://schemas.microsoft.com/office/powerpoint/2010/main" val="32498693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Spear é o caso comercial consolidado de peptídeo inseticida, com bula pública. O ingrediente ativo é um peptídeo derivado de veneno de aranha funnel-web australiana, registrado pela EPA em fevereiro de 2014, registro 88847-6, 2% de ingrediente ativo, grupo IRAC 32. Atua em canais iônicos do sistema nervoso do inseto, só por contato, sem ação sistêmica e sem efeito sobre ovos: exige cobertura foliar excelente. O perfil toxicológico é favorável a peixes, aves e mamíferos, e o intervalo pré-colheita é zero. Isso é o que torna o peptídeo atraente regulatoriamente. Os gargalos agronômicos são os que a IA de design tenta atacar e ainda não resolve sozinha: proteólise no filoplano, degradação por UV, formulação e custo de síntese de uma cadeia de dezenas de aminoácidos. Bioprodução por fermentação é a rota para viabilidade por hectare. A espécie exata da aranha (Hadronyche versuta) fica como nota a verificar se alguém perguntar. Fontes: EPA Chemical Search, registro 88847-6.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25</a:t>
            </a:fld>
            <a:endParaRPr lang="en-US"/>
          </a:p>
        </p:txBody>
      </p:sp>
    </p:spTree>
    <p:extLst>
      <p:ext uri="{BB962C8B-B14F-4D97-AF65-F5344CB8AC3E}">
        <p14:creationId xmlns:p14="http://schemas.microsoft.com/office/powerpoint/2010/main" val="16823209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 trabalho de PACE é evolução dirigida contínua, não machine learning, e por isso é o marco certo para calibrar o que a IA promete depois. Badran e colaboradores evoluíram Cry1Ac para ligar uma caderina de Trichoplusia ni que o tipo selvagem não reconhece, com afinidade nanomolar e letalidade até 335 vezes maior contra populações resistentes. A prova é biológica: dá para vencer resistência redesenhando a ligação ao receptor. O ML entra na etapa seguinte, priorizando quais variantes testar quando a biblioteca é grande e o dado experimental é escasso. Cite MULTI-evolve, do Arc Institute, treinado em cerca de 200 variantes, como exemplo de modelo que funciona com pouco dado. Vip3Ca mostra que engenharia racional clássica, sítios de clivagem e afinidade de membrana, já entrega até 12,3 vezes de toxicidade sem ML. A magnitude de redução de 80% nos ciclos experimentais, citada em revisões, fica só nas notas como a verificar. Feche com manejo: uma toxina redesenhada continua sujeita a resistência; o valor está no plano de múltiplos modos de ação. Fontes: Badran et al. 2016, Nature (PMC4865400).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26</a:t>
            </a:fld>
            <a:endParaRPr lang="en-US"/>
          </a:p>
        </p:txBody>
      </p:sp>
    </p:spTree>
    <p:extLst>
      <p:ext uri="{BB962C8B-B14F-4D97-AF65-F5344CB8AC3E}">
        <p14:creationId xmlns:p14="http://schemas.microsoft.com/office/powerpoint/2010/main" val="2332041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Dois exemplos em que o produto comercial é literalmente uma sequência desenhada. No SmartStax PRO, o event MON 87411 expressa um dsRNA que silencia Snf7, gene de sobrevivência da larva de Diabrotica, mais Cry3Bb1 e tolerância a glifosato. A especificidade é de sequência: a planta, humanos e outros insetos não têm o alvo. Cronologia útil para a Sessão 10: registro EPA em junho de 2017, aprovação de importação da China em janeiro de 2021, lançamento nos EUA em 2022. São três modos de ação contra rootworm e seis no produto completo, estratégia explícita de manejo de resistência. FG72 é o caso de engenharia de proteína mais limpo: uma única troca de aminoácido, W336, na HPPD de Pseudomonas fluorescens torna a enzima insensível ao isoxaflutol. Calantha leva o RNAi para fora da planta: dsRNA aplicado na folha da batata, registrado pela EPA em dezembro de 2023, dose de 4 gramas por acre. Pergunta: o que muda para o melhorista quando o trait é uma sequência curta e específica, e não um transgene de proteína grande? Fontes: EPA (MON 87411; Calantha); CFIA DD2012-91 (FG72).</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27</a:t>
            </a:fld>
            <a:endParaRPr lang="en-US"/>
          </a:p>
        </p:txBody>
      </p:sp>
    </p:spTree>
    <p:extLst>
      <p:ext uri="{BB962C8B-B14F-4D97-AF65-F5344CB8AC3E}">
        <p14:creationId xmlns:p14="http://schemas.microsoft.com/office/powerpoint/2010/main" val="2496597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Slide conceitual. Kourelis e colaboradores, na Science de 2023, pegaram o par de NLR de arroz que reconhece efetores do fungo da brusone e trocaram o domínio integrado HMA por nanobodies de camelídeo, que podem ser levantados contra quase qualquer molécula. A fusão dispara imunidade quando a proteína-alvo está presente e conferiu resistência a um vírus de planta que expressa essa proteína, com desempenho comparável ao gene R nativo Rx em Nicotiana benthamiana. É prova de conceito com alvo artificial, proteína fluorescente, não um produto de campo. O gancho de IA é direto e deve ser dito com essa ressalva: AlphaFold 3 e o pipeline RFdiffusion mais ProteinMPNN podem desenhar o domínio de reconhecimento sob medida. A pergunta que a turma deve levar é de durabilidade. Um receptor programável contra um efetor de hoje vira vulnerável assim que o patógeno muda o efetor. Qual é o análogo do refúgio nesse desenho? Fontes: Kourelis et al. 2023, Science, DOI 10.1126/science.abn4116.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28</a:t>
            </a:fld>
            <a:endParaRPr lang="en-US"/>
          </a:p>
        </p:txBody>
      </p:sp>
    </p:spTree>
    <p:extLst>
      <p:ext uri="{BB962C8B-B14F-4D97-AF65-F5344CB8AC3E}">
        <p14:creationId xmlns:p14="http://schemas.microsoft.com/office/powerpoint/2010/main" val="14640809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Defina event com precisão, porque a turma mistura trait, gene e event. Um event é o produto de uma inserção específica. Ter o gene não é ter o event: outro locus significa outro identificador OECD, outro dossiê e outro valor de propriedade intelectual. A seleção de event olha sítio de inserção, número de cópias, integridade do inserto, ausência de backbone, estabilidade de expressão entre gerações e ambientes, e herança mendeliana. O número de unidades triadas por trait entregue subiu de 1.638 antes de 2002 para 6.204 em 2008–2012: virou um problema de dados em escala, que é onde a classificação por ML cabe. Use o dossiê do FG72 para mostrar o nível de detalhe exigido: a proteína HPPD medida em microgramas por grama, folha V4 38,4, V6 35,8, V8 27,2, caule 16,6, raiz 5,81. O ML não substitui essa caracterização; ele decide quais events merecem o ensaio caro. Fontes: Phillips McDougall (2011); CFIA DD2012-91.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29</a:t>
            </a:fld>
            <a:endParaRPr lang="en-US"/>
          </a:p>
        </p:txBody>
      </p:sp>
    </p:spTree>
    <p:extLst>
      <p:ext uri="{BB962C8B-B14F-4D97-AF65-F5344CB8AC3E}">
        <p14:creationId xmlns:p14="http://schemas.microsoft.com/office/powerpoint/2010/main" val="3215786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Ponte explícita com a Sessão 09. Peng e colaboradores simularam a conversão de um híbrido de milho para 15 events transgênicos, oito no parental fêmea e sete no macho. A meta é recuperar pelo menos 96,66% do genoma do recorrente, no máximo 120 cM de germoplasma do doador num genoma de 1.788 cM, com menos de 8 cM por conversão e cerca de 1 cM de linkage drag na janela de 20 cM ao redor do event. A solução simulada usa cinco gerações de retrocruzamento assistido, populações de 600 e depois 400, intensidade de seleção 0,01. A Parte III mostra que cinco versões de cada parental e 25 híbridos testados dão mais de 95% de chance de recuperar o desempenho do híbrido original, dentro de 3%. Look-ahead selection, de Moeinizade e colaboradores em 2019, formaliza a função-objetivo como o GEBV esperado do melhor descendente no prazo T, ajustando seleção, acasalamento e alocação. Designed diversity, Trends in Plant Science de 2026, junta isso a pan-genoma, speed breeding e edição. A frase para a turma: vocês já formularam esse problema na Sessão 09; aqui as variáveis incluem events e prazo regulatório. Fontes: Peng et al. 2014, DOI 10.1007/s11032-013-9936-7; Moeinizade et al. 2019, DOI 10.1534/g3.118.200842; Yadav et al. 2026, DOI 10.1016/j.tplants.2026.04.003.</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30</a:t>
            </a:fld>
            <a:endParaRPr lang="en-US"/>
          </a:p>
        </p:txBody>
      </p:sp>
    </p:spTree>
    <p:extLst>
      <p:ext uri="{BB962C8B-B14F-4D97-AF65-F5344CB8AC3E}">
        <p14:creationId xmlns:p14="http://schemas.microsoft.com/office/powerpoint/2010/main" val="40193752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Feche o bloco com dois aterrissamentos. Brasil: o relatório USDA FAS de 2025, citando a CTNBio, conta 134 events aprovados para cultivo em 2024, sendo 65 de milho, 25 de algodão, 24 de soja, 10 de eucalipto, 7 de cana, 2 de trigo HB4 e 1 de feijão da Embrapa, o primeiro GM integralmente público. A base ISAAA lista 155, mas inclui importação e alimentação: não misture os denominadores. Intacta 2 Xtend é um stack de quatro events; o cultivo foi aprovado no Brasil em 2018 e o lançamento comercial só ocorreu em junho de 2021, depois da China em junho de 2020 e da União Europeia em janeiro de 2021. Três anos de capital parado por aprovação de mercado importador, e isso nem entra nos 16,5 anos do estudo AgbioInvestor. Na farma, rentosertib é o caso mais maduro de molécula de IA em clínica: fase 2a, capacidade vital forçada de mais 98,4 mL contra menos 20,3 mL no placebo. Isomorphic, dona do AlphaFold 3 junto com a DeepMind, captou 600 milhões de dólares em 2025 e até meados daquele ano ainda não tinha ensaio em humanos. O que transfere é a química generativa. O que não transfere é eficácia de campo, custo por hectare, seletividade a abelhas e o relógio regulatório. Fontes: USDA FAS BR2025-0043; Nature Medicine 2025, DOI 10.1038/s41591-025-03743-2.</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31</a:t>
            </a:fld>
            <a:endParaRPr lang="en-US"/>
          </a:p>
        </p:txBody>
      </p:sp>
    </p:spTree>
    <p:extLst>
      <p:ext uri="{BB962C8B-B14F-4D97-AF65-F5344CB8AC3E}">
        <p14:creationId xmlns:p14="http://schemas.microsoft.com/office/powerpoint/2010/main" val="3329262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Recapitule as cinco frases e devolva a pergunta-guia. Se a IA cortasse a descoberta pela metade, o tempo total do trait ainda seria dominado pelos 16,5 anos, dos quais o regulatório é a maior fração. O investimento racional, portanto, é em reduzir atrito tardio e em otimizar a conversão e o stacking, não só em gerar mais candidatos. Peça uma resposta rápida da sala à última pergunta, genética da planta ou molécula aplicada, e use-a como gancho para o bloco de edição: a edição é uma terceira via, escrever o alelo sem necessariamente criar um event transgênico clássico. Indique o dossiê 02 para quem quiser os DOIs. Fontes: dossiê/02_moleculas_peptideos_events.md.</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32</a:t>
            </a:fld>
            <a:endParaRPr lang="en-US"/>
          </a:p>
        </p:txBody>
      </p:sp>
    </p:spTree>
    <p:extLst>
      <p:ext uri="{BB962C8B-B14F-4D97-AF65-F5344CB8AC3E}">
        <p14:creationId xmlns:p14="http://schemas.microsoft.com/office/powerpoint/2010/main" val="32778381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Slide de abertura do bloco. Posicione a edição de genoma como extensão — não substituição — do arcabouço quantitativo que a turma já domina de seleção genômica (Sessão 06) e OCS (Sessão 09). A seleção genômica move a média deslocando frequências alélicas por recombinação e seleção; a edição escreve o alelo diretamente, saltando a espera recombinacional. Mas isso só é vantagem quando há causalidade conhecida e efeito relevante. Apresente as quatro frentes de IA (desenho de guias/editores, engenharia de enzimas, descoberta de alvos, agentes LLM) para ancorar os próximos 12 slides. Use os números do PAGE (1,08× a 4,12× sobre GS pura) como gancho quantitativo, prometendo rigor, mas antecipe o custo de endogamia que conecta de volta ao OCS. Deixe claro o critério de verificação: toda afirmação numérica no corpo tem fonte primária; números voláteis ou de preprint ficam só nas notas, marcados 'a verificar'. A pergunta-guia (quando editar supera selecionar?) deve ser repetida no fechamento. Convide a turma a, durante a aula, pensar no próprio caráter-alvo. Fontes: Jenko et al. 2015 (GSE, 10.1186/s12711-015-0135-3); Sessões 06 e 09 do curso.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33</a:t>
            </a:fld>
            <a:endParaRPr lang="en-US"/>
          </a:p>
        </p:txBody>
      </p:sp>
    </p:spTree>
    <p:extLst>
      <p:ext uri="{BB962C8B-B14F-4D97-AF65-F5344CB8AC3E}">
        <p14:creationId xmlns:p14="http://schemas.microsoft.com/office/powerpoint/2010/main" val="20654261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Percorra o espectro do menos ao mais preciso, correlacionando cada ferramenta a um uso de melhoramento. SDN-1 cobre a maioria dos alelos de domesticação (perda de função) e é a rota regulatória mais favorável porque o produto final não contém DNA exógeno. Editores de base recriam SNPs favoráveis conhecidos sem recombinação — ideal quando a variante causal é um ponto, mas atenção aos bystander edits na janela de atividade. Prime editing é o canivete suíço (todas as transições/transversões e pequenos indels, sem quebra nem molde doador), porém a eficiência em plantas ainda é inferior à das nucleases. Destaque o Cas12a pelo multiplex nativo: processa seu próprio array de crRNA, o que importa para poliploides e para editar vários QTN de uma vez. Conclua com a heurística de escolha: defina primeiro a edição biológica desejada (nocaute? troca de base? inserção?), depois escolha a ferramenta com melhor eficiência comprovada naquela espécie, e só então verifique o enquadramento regulatório. Isso evita o erro comum de escolher a tecnologia da moda antes de definir o problema. Fontes: revisões de base/prime editing; Anzalone/Komor (editores); documentação de Cas12a; Seção 1 do dossiê.</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34</a:t>
            </a:fld>
            <a:endParaRPr lang="en-US"/>
          </a:p>
        </p:txBody>
      </p:sp>
    </p:spTree>
    <p:extLst>
      <p:ext uri="{BB962C8B-B14F-4D97-AF65-F5344CB8AC3E}">
        <p14:creationId xmlns:p14="http://schemas.microsoft.com/office/powerpoint/2010/main" val="25770854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 conceitualmente mais importante para melhoristas quantitativos. A ideia revolucionária de 2017 foi gerar variação quantitativa nova sob demanda, editando regiões regulatórias em vez de esperar mutações raras em QTL. Mostre que isso cria um gradiente de alelos — um reostato para traços de rendimento — em contraste com o nocaute binário. O achado contraintuitivo (a magnitude da mudança transcricional não prediz o efeito fenotípico) é um alerta metodológico central: não se pode substituir a fenotipagem por predição molecular. Conecte adiante com a Seção de descoberta de alvos: é exatamente aqui que os modelos de linguagem genômica e a mutagênese in silico entram, prometendo estreitar a série alélica antes da bancada, mas ainda exigindo validação de campo. Peça à turma que relacione isso com seus próprios caracteres poligênicos: quais teriam QTL regulatórios editáveis para ajuste fino? Termine amarrando ao conceito de arquitetura genética que decidirá, no slide de decisão, editar versus selecionar. Reforce que o poder dessa abordagem está no ajuste quantitativo fino, impossível com introgressão de alelos naturais discretos. Fontes: Rodríguez-Leal et al. 2017 (Cell 171:470, 10.1016/j.cell.2017.08.030).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35</a:t>
            </a:fld>
            <a:endParaRPr lang="en-US"/>
          </a:p>
        </p:txBody>
      </p:sp>
    </p:spTree>
    <p:extLst>
      <p:ext uri="{BB962C8B-B14F-4D97-AF65-F5344CB8AC3E}">
        <p14:creationId xmlns:p14="http://schemas.microsoft.com/office/powerpoint/2010/main" val="5451930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 domesticação de novo inverte a lógica clássica: em vez de introgredir traços de produtividade em germoplasma elite (perdendo diversidade), parte-se de um selvagem robusto e instalam-se os alelos de domesticação. Destaque os números de Zsögön (3×, 10×, 500%) como prova de que poucos loci de grande efeito capturam boa parte do fenótipo domesticado, porque muitas mudanças de domesticação são monogênicas. Li et al. reforçam que resistência a doença e tolerância a sal do parental são preservadas — o grande atrativo frente à introgressão. Yu 2021 estende a prova para poliploide e cereal, sinalizando viabilidade além de dicotiledôneas modelo. HI-Edit resolve o problema prático de como editar a elite que não se transforma: a edição viaja no pólen indutor e é eliminada, entregando um haploide editado que entra direto no pipeline de duplo-haploide, colapsando ciclos e sinergizando com speed breeding. Ressalte a eficiência modesta (cerca de 3 a 4 por cento) como gargalo atual, conectando ao próximo slide sobre regeneração. Fontes: Zsögön et al. 2018 (nbt.4272); Li et al. 2018 (nbt.4273); Yu et al. 2021 (Cell, 10.1016/j.cell.2021.01.013); Kelliher et al. 2019 (nbt, s41587-019-0038-x).</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36</a:t>
            </a:fld>
            <a:endParaRPr lang="en-US"/>
          </a:p>
        </p:txBody>
      </p:sp>
    </p:spTree>
    <p:extLst>
      <p:ext uri="{BB962C8B-B14F-4D97-AF65-F5344CB8AC3E}">
        <p14:creationId xmlns:p14="http://schemas.microsoft.com/office/powerpoint/2010/main" val="29141885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Melhoristas frequentemente subestimam que o rendimento de um programa de edição é dominado pela etapa de cultura de tecidos. Explique que reguladores morfogênicos (fatores de desenvolvimento) reprogramam células para regenerar, destravando genótipos elite antes intratáveis — o que importa porque editar um genótipo-modelo e depois introgredir anularia a vantagem da edição. Os números de GRF4-GIF1 (regeneração 7,8 vezes maior, dispensa de citocinina permitindo seleção sem marcador) são concretos e memoráveis. Mencione o trade-off: expressão persistente de BBM/WUS2 pode causar defeitos de desenvolvimento, por isso se usam estratégias de excisão ou expressão transitória. Para poliploides e culturas órfãs, essa é a fronteira que define se a edição é sequer possível. Conecte com o slide anterior: quando a regeneração ainda falha, HI-Edit contorna a transformação estável. Encerre enquadrando regeneração como área onde ganhos de engenharia têm alto retorno para o programa, às vezes maior do que otimizar a própria nuclease. Combinações de BBM/WUS com GRF-GIF em trigo relatam eficiências ainda maiores, mas o dado vem de resumo de congresso e deve ser tratado como preliminar (a verificar). Fontes: Debernardi et al. 2020 (nbt, s41587-020-0703-0); literatura de BBM/WUS2.</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37</a:t>
            </a:fld>
            <a:endParaRPr lang="en-US"/>
          </a:p>
        </p:txBody>
      </p:sp>
    </p:spTree>
    <p:extLst>
      <p:ext uri="{BB962C8B-B14F-4D97-AF65-F5344CB8AC3E}">
        <p14:creationId xmlns:p14="http://schemas.microsoft.com/office/powerpoint/2010/main" val="196691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Organize por tarefa: escolher guia eficiente, evitar off-target, prever resultado de base/prime. Enfatize a ressalva de transferência: a maioria dos modelos nasceu em células humanas, com cromatina diferente, então o preprint de 2025 em plantas é a evidência mais relevante — e mostra que, apesar da origem, vários modelos ranqueiam bem guias in planta. O ponto crítico a martelar: esses escores são comparativos (ordem de teste), não absolutos; entrega, genótipo e estado de cromatina não são entradas do modelo. Para base e prime editing, os altos coeficientes do BE-Hive e do PRIDICT mostram que prever o produto da edição é hoje bastante confiável, útil para evitar bystander e escolher pegRNAs eficientes. O exemplo do PRIDICT (pegRNAs acima de 70 editam de 10 a 12 vezes mais) é prático e memorável. Conclua com a prática recomendada: usar IA para reduzir o espaço de guias e pegRNAs, validar off-targets por sequenciamento dirigido, e nunca pular a confirmação experimental. Isso prepara o slide seguinte (engenharia de enzimas) e o de riscos (caixa-preta). O dado do benchmark em plantas é de preprint não revisado (a verificar). Fontes: Xiang et al. 2021 CRISPRon (s41467-021-23576-0); Gong 2025 (bioRxiv 10.1101/2025.10.15.679654); Doench 2016 (CFD); Arbab 2020 (BE-Hive); Mathis 2023 (PRIDICT, s41587-022-01613-7).</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38</a:t>
            </a:fld>
            <a:endParaRPr lang="en-US"/>
          </a:p>
        </p:txBody>
      </p:sp>
    </p:spTree>
    <p:extLst>
      <p:ext uri="{BB962C8B-B14F-4D97-AF65-F5344CB8AC3E}">
        <p14:creationId xmlns:p14="http://schemas.microsoft.com/office/powerpoint/2010/main" val="15544515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Mostre a mudança de paradigma: até aqui a IA otimizava o uso de enzimas naturais; agora gera proteínas funcionais inexistentes na natureza. OpenCRISPR-1 é a prova — centenas de mutações distante do SpCas9, com off-target drasticamente menor, o que tem apelo regulatório óbvio (menos efeitos não-intencionais). Discuta a implicação para propriedade intelectual: enzimas desenhadas de novo podem contornar o emaranhado de patentes do Cas9, tema do slide de IP. CRISPR-GPT representa a outra ponta: agentes que democratizam o desenho de experimentos, decompondo tarefas e integrando ferramentas, validados em bancada real com nocaute por Cas12a e ativação epigenética por dCas9. Para a turma, o duplo recado é oportunidade e cautela: poder de desenho sem precedentes, mas crescente dependência de modelos opacos. Antecipe a tensão regulatória — um editor cuja sequência e cujo alvo foram ambos sugeridos por IA desafia a rastreabilidade do racional que a CTNBio e outros reguladores exigem. Note que a validação desses editores desenhados por IA foi feita em células humanas; a eficácia em plantas ainda é incipiente e deve ser tratada como promissora, porém não comprovada (a verificar). Fontes: Ruffolo, Nayfach, Gallagher, Bhatnagar et al. 2025 (Nature, 10.1038/s41586-025-09298-z); Qu et al. 2025 (Nat Biomed Eng, s41551-025-01463-z).</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39</a:t>
            </a:fld>
            <a:endParaRPr lang="en-US"/>
          </a:p>
        </p:txBody>
      </p:sp>
    </p:spTree>
    <p:extLst>
      <p:ext uri="{BB962C8B-B14F-4D97-AF65-F5344CB8AC3E}">
        <p14:creationId xmlns:p14="http://schemas.microsoft.com/office/powerpoint/2010/main" val="24388562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elo que muitos cursos ignoram: a edição só é poderosa se soubermos o alvo causal. Explique o pipeline: GWAS e fine-mapping entregam candidatos estatísticos; pan-genomas e variantes estruturais revelam alelos ausentes do genoma de referência; os modelos de linguagem genômica pontuam o efeito funcional em modo zero-shot, filtrando o que vale editar. Os números do PlantCaduceus (transferência para milho a 160 milhões de anos de divergência) são impressionantes e mostram que a conservação evolutiva aprendida generaliza entre espécies, útil para culturas sem dados próprios. A mutagênese in silico de saturação do AgroNT em mandioca (mais de 10 milhões de mutações) é o exemplo mais tangível de desenhar a série alélica de promotor por computador, conectando ao slide de edição cis-regulatória e ao achado de que transcrição não prediz fenótipo. Seja honesto sobre limites: epistasia, pleiotropia e GxE não são bem capturados, então a fenotipagem permanece obrigatória. Conecte ao slide de decisão: a existência de variante causal conhecida é um critério-chave para escolher editar em vez de selecionar. Ressalve que a validação funcional desses modelos ainda é restrita a poucas culturas (a verificar). Fontes: Mendoza-Revilla et al. 2024 AgroNT (s42003-024-06465-2); PlantCaduceus 2025 (PNAS 10.1073/pnas.2421738122); PhytoExpr (PNAS 10.1073/pnas.2319811121).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40</a:t>
            </a:fld>
            <a:endParaRPr lang="en-US"/>
          </a:p>
        </p:txBody>
      </p:sp>
    </p:spTree>
    <p:extLst>
      <p:ext uri="{BB962C8B-B14F-4D97-AF65-F5344CB8AC3E}">
        <p14:creationId xmlns:p14="http://schemas.microsoft.com/office/powerpoint/2010/main" val="11910576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Traga o rigor quantitativo que a turma espera. Explique PAGE (promotion of alleles by genome editing): editar alelos favoráveis de QTN nos melhores reprodutores, por cima da seleção genômica. Os números mostram que concentrar recursos de edição nos indivíduos de maior mérito genético maximiza resposta (4,12 vezes editando 500 QTN por geração nos 5 melhores touros) mas é também o que mais infla parentesco — exatamente o trade-off que o OCS da Sessão 09 gerencia. Contraste com espalhar as mesmas 500 edições por todos os 25 touros, que rende apenas 2,00 vezes. Use os valores absolutos da geração 20 (10,07 contra 20,09) para tornar concreto o dobro de resposta. Destaque o decaimento marginal: como os QTN de maior efeito se fixam primeiro, cada edição adicional rende menos; isso responde a pergunta quantas edições valem a pena — poucas de grande efeito, não centenas de pequeno efeito. Ressalve que esses resultados são de gado; para plantas os princípios valem, mas simulações GS mais edição especificamente vegetais ainda são escassas, um bom tema de pesquisa para a turma (a verificar). Feche com a síntese estratégica: editar grande efeito, GS no fundo poligênico, OCS para endogamia. Fontes: Jenko et al. 2015 (GSE 47:55, 10.1186/s12711-015-0135-3); Johnsson et al. 2019 RAGE (s12711-019-0456-8).</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41</a:t>
            </a:fld>
            <a:endParaRPr lang="en-US"/>
          </a:p>
        </p:txBody>
      </p:sp>
    </p:spTree>
    <p:extLst>
      <p:ext uri="{BB962C8B-B14F-4D97-AF65-F5344CB8AC3E}">
        <p14:creationId xmlns:p14="http://schemas.microsoft.com/office/powerpoint/2010/main" val="34781994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Use esta tabela para aterrissar a teoria em produtos concretos que a turma pode encontrar ou já consumiu. Ordene cronologicamente para mostrar a maturação do campo: o óleo Calyno (2019, via TALEN, não CRISPR) foi a primeira comida editada vendida nos EUA; o tomate alto-GABA da Sanatech (2021) foi a primeira comida CRISPR vendida no mundo; a mostarda da Pairwise (2023) a primeira comida CRISPR dos EUA. Destaque a colaboração Bayer-Pairwise como exemplo de pipeline comercial de grande escala: a parceria inicial, encerrada em junho de 2023, transferiu 27 traços aos programas da Bayer, incluindo milho com cerca de 20 por cento mais fileiras de grãos, e a nova fase foca milho de baixa estatura (30 a 40 por cento menor) para o sistema Preceon. Mencione o lado brasileiro: a Embrapa teve soja com lectina silenciada (cultivar BRS 537) aprovada como não-OGM pela CTNBio em setembro de 2022, e a GDM teve soja tolerante à seca aprovada em maio de 2022. Conecte ao próximo slide: o que torna esses lançamentos viáveis é a classificação regulatória. Fontes: Sanatech (sanatech-seed.com); Calyxt/BusinessWire 2019; Pairwise/Bayer 2023 (bayer.com); APHIS 2023; pareceres CTNBio/Embrapa.</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42</a:t>
            </a:fld>
            <a:endParaRPr lang="en-US"/>
          </a:p>
        </p:txBody>
      </p:sp>
    </p:spTree>
    <p:extLst>
      <p:ext uri="{BB962C8B-B14F-4D97-AF65-F5344CB8AC3E}">
        <p14:creationId xmlns:p14="http://schemas.microsoft.com/office/powerpoint/2010/main" val="32431131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Enquadre a regulação como variável econômica de primeira ordem, não como nota de rodapé. Em Brasil e Argentina, um produto SDN-1 sem transgene residual pode ser declarado não-OGM em meses, colapsando anos e milhões de custo frente ao caminho OGM — isso muda o cálculo de editar versus selecionar do próximo slide. A RN16 brasileira exige, no dossiê, a descrição e avaliação de off-targets, o que conecta ao slide seguinte. Destaque a reviravolta nos EUA: a vacatur de dezembro de 2024 (caso National Family Farm Coalition contra Vilsack) restaurou o regime pré-2020 de forma prospectiva — determinações e permissões anteriores continuam válidas — reintroduzindo incerteza justamente onde havia previsibilidade, importante para quem planeja lançamentos. A UE só destrava produtos a partir de 2028, e mesmo assim com a divisão NGT1 (equivalente a convencional) e NGT2 (regime tipo-OGM), com herbicida-tolerância e inseticida excluídos da categoria leve. A mensagem para a turma: a geografia regulatória deve orientar onde desenvolver e lançar primeiro. A contagem brasileira de produtos é volátil; o total atual deve ser confirmado na tabela TIMP da CTNBio (a verificar). Fontes: CTNBio RN16/2018; Argentina Res. 173/2015; govinfo (vacatur SECURE, FR 2025-06-16); Reg. (UE) 2026/1388; MARA China 2022.</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43</a:t>
            </a:fld>
            <a:endParaRPr lang="en-US"/>
          </a:p>
        </p:txBody>
      </p:sp>
    </p:spTree>
    <p:extLst>
      <p:ext uri="{BB962C8B-B14F-4D97-AF65-F5344CB8AC3E}">
        <p14:creationId xmlns:p14="http://schemas.microsoft.com/office/powerpoint/2010/main" val="26666808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Comece desarmando o medo exagerado de off-target: a evidência por sequenciamento de genoma completo em arroz mostra que a variação somaclonal da própria cultura de tecidos (cerca de 102 a 148 SNVs e 32 a 83 indels por planta) supera largamente os off-targets de um CRISPR bem desenhado, dos quais apenas 1 de 12 guias produziu edição fora do alvo e nenhum off-target genuíno apareceu na geração T1. Esse é um argumento central em dossiês regulatórios e no debate público. Mas seja rigoroso: editores de base hiperativos como o ABE8e geram cerca de 500 mutações independentes de guia por planta, logo a escolha da ferramenta muda o perfil de risco e a necessidade de sequenciamento completo. Em poliploides como o trigo hexaploide, a necessidade de editar múltiplos homeólogos aumenta a complexidade, mas a redundância tampona nocautes. No tema de IP, explique o emaranhado: aplicação agrícola de Cas9 geralmente exige licença do grupo CVC (Berkeley/Viena, Cas9 genérico) e do Broad (uso em eucariotos). A Corteva consolidou o maior portfólio agrícola e oferece, junto com o Broad, licença conjunta não-exclusiva desde 2017, com pesquisa acadêmica isenta. Enzimas desenhadas por IA e alternativas como Cas12 podem reduzir a dependência. Fontes: Tang et al. 2018 (Genome Biol 19:84); preprint ABE8e arroz 2022; Biotechnology Law Report 2022; Corteva Open Innovation.</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44</a:t>
            </a:fld>
            <a:endParaRPr lang="en-US"/>
          </a:p>
        </p:txBody>
      </p:sp>
    </p:spTree>
    <p:extLst>
      <p:ext uri="{BB962C8B-B14F-4D97-AF65-F5344CB8AC3E}">
        <p14:creationId xmlns:p14="http://schemas.microsoft.com/office/powerpoint/2010/main" val="364381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 de síntese prática — o que a turma leva para casa. Caminhe pelos critérios com um exemplo concreto por linha. Enfatize que a decisão não é ideológica (editar não é intrinsecamente melhor), mas condicional à arquitetura genética e ao contexto do programa. Para traços altamente poligênicos de pequeno efeito, a seleção genômica continua imbatível porque move centenas de locos simultaneamente; a edição brilha em alelos de grande efeito com causalidade conhecida, sobretudo quando ausentes do pool elite e caros de introgredir — lembre que a introgressão clássica custa cerca de 7 anos e arrasta linkage drag. Reforce a estratégia híbrida recomendada: editar o grande efeito, deixar a seleção genômica cuidar do poligênico, e usar OCS (Sessão 09) para conter a endogamia que o PAGE infla, fechando o ciclo iniciado no slide de integração. Lembre que custo regulatório e tempo são eixos tão decisivos quanto o efeito biológico: um ganho genético real pode não valer o custo de um produto classificado como OGM ou NGT2 na UE. Encerre lançando as perguntas de discussão e convidando a turma a aplicar o quadro ao próprio caráter-alvo. Fontes: síntese do dossiê (Seção 8); Jenko et al. 2015; Sessões 06 e 09 do curso.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45</a:t>
            </a:fld>
            <a:endParaRPr lang="en-US"/>
          </a:p>
        </p:txBody>
      </p:sp>
    </p:spTree>
    <p:extLst>
      <p:ext uri="{BB962C8B-B14F-4D97-AF65-F5344CB8AC3E}">
        <p14:creationId xmlns:p14="http://schemas.microsoft.com/office/powerpoint/2010/main" val="32385227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Feche recapitulando a pergunta-guia: quando editar supera selecionar? A resposta é condicional, não absoluta. Reafirme os cinco pilares que a turma deve levar: primeiro, a edição é um reostato quantitativo (a edição cis-regulatória gera séries alélicas contínuas, cujo fenótipo não é previsível só pela transcrição). Segundo, a IA agora atravessa todo o fluxo — desenho de guias e pegRNAs, engenharia de enzimas inéditas como o OpenCRISPR-1, descoberta de alvos com modelos de linguagem genômica, e orquestração por agentes LLM. Terceiro, a integração com seleção genômica (PAGE) entrega de 1,08 a 4,12 vezes mais resposta, mas concentra ganho e endogamia, exigindo controle via OCS. Quarto, o gargalo real de muitos programas é a regeneração e a entrega, não a enzima — reguladores morfogênicos e HI-Edit são as alavancas. Quinto, a regulação define a economia: SDN-1 sem transgene é rápido no Brasil e na Argentina, incerto nos EUA após a vacatur, e só liberado na UE a partir de 2028. Termine reforçando o quadro de decisão (arquitetura, tamanho de efeito, variante causal, custo regulatório, tempo) e convide às perguntas de discussão e à conexão com os blocos de GS e OCS. Fontes: dossiê completo do Bloco 3 e referências das Sessões 06 e 09.</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46</a:t>
            </a:fld>
            <a:endParaRPr lang="en-US"/>
          </a:p>
        </p:txBody>
      </p:sp>
    </p:spTree>
    <p:extLst>
      <p:ext uri="{BB962C8B-B14F-4D97-AF65-F5344CB8AC3E}">
        <p14:creationId xmlns:p14="http://schemas.microsoft.com/office/powerpoint/2010/main" val="14059077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Pausa entre edição e plataforma. Se o bloco 3 estourar o horário, corte as notas longas e mantenha o quadro de decisão editar versus selecionar. Fontes: agenda da sessão.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47</a:t>
            </a:fld>
            <a:endParaRPr lang="en-US"/>
          </a:p>
        </p:txBody>
      </p:sp>
    </p:spTree>
    <p:extLst>
      <p:ext uri="{BB962C8B-B14F-4D97-AF65-F5344CB8AC3E}">
        <p14:creationId xmlns:p14="http://schemas.microsoft.com/office/powerpoint/2010/main" val="36777214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bloco fecha o arco técnico do curso juntando quatro sessões anteriores. Na Sessão 03 vocês viram fenotipagem de alto rendimento; na 04, QC e organização de dados em DuckDB; na 09, simulação estocástica com AlphaSimR e seleção de cruzamentos ótimos; na 10, a lógica de decisão. A pergunta que atravessa os próximos 30 minutos é simples e incômoda: aquilo que vocês construíram é um modelo digital, uma sombra digital ou um gêmeo digital? A resposta honesta, para quase todos os programas públicos e boa parte dos privados, é modelo ou sombra. Isso não é um demérito. O problema é quando um fornecedor, um edital ou um artigo chama de gêmeo algo que não fecha o laço entre o mundo físico e o virtual. Vamos percorrer primeiro as definições formais, depois a simulação de programas como ferramenta de desenho, em seguida modelos de cultura e enviromics, com forte contribuição brasileira, depois automação e padrões de dados, e por fim o que a indústria realmente publica, inclusive uma patente de 2025 que descreve literalmente um gêmeo de pipeline com aprendizado por reforço. Fechamos com valor da informação e limites. Éder conduz a parte de definições, simulação e modelos; Vitor conduz automação, dados, indústria e decisão. Peçam à turma que anote, ao longo do bloco, em que camada o próprio projeto deles está mais fraco. Fontes: Kritzinger et al. 2018 (IFAC-PapersOnLine); Verdouw et al. 2021 (Agricultural Systems); dossiê 04 deste curso.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48</a:t>
            </a:fld>
            <a:endParaRPr lang="en-US"/>
          </a:p>
        </p:txBody>
      </p:sp>
    </p:spTree>
    <p:extLst>
      <p:ext uri="{BB962C8B-B14F-4D97-AF65-F5344CB8AC3E}">
        <p14:creationId xmlns:p14="http://schemas.microsoft.com/office/powerpoint/2010/main" val="33533171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Kritzinger e colegas resolveram a confusão terminológica de forma brutalmente simples: não perguntaram o que o modelo faz, perguntaram como os dados fluem. Um modelo de elementos finitos extremamente sofisticado que depende de um engenheiro para atualizar parâmetros é um digital model. Uma planilha trivial alimentada automaticamente por sensores é um digital shadow. Só quando o virtual também atua sobre o físico sem intervenção manual temos um digital twin, e a revisão deles mostrou que, mesmo na manufatura, essa literatura é escassa. Verdouw e colegas complementam com seis tipos ao longo do ciclo de vida do objeto. O imaginário simula o que não existe, como um esquema de melhoramento ainda não implantado. O de monitoramento descreve e diagnostica o estado atual. O preditivo projeta estados futuros com dados correntes. O prescritivo recomenda ações, mas Verdouw é explícito: a decisão continua humana. O autônomo controla sem humano. O de recordação guarda a memória de objetos que deixaram de existir, e em melhoramento isso é central, porque descartamos milhares de linhagens por ano e esse histórico é o que permite re-treinar modelos depois. Os tipos não são excludentes. Façam a pergunta à turma: quando um fenótipo novo entra no banco de vocês, alguma coisa muda sozinha no modelo de decisão? Se alguém precisa rodar um script, é sombra ou modelo. Fontes: Kritzinger et al. 2018, IFAC-PapersOnLine 51(11):1016–1022, DOI 10.1016/j.ifacol.2018.08.474; Verdouw et al. 2021, Agricultural Systems 189:103046; Ganapathysubramanian et al. 2025, Trends in Plant Science 30(5).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49</a:t>
            </a:fld>
            <a:endParaRPr lang="en-US"/>
          </a:p>
        </p:txBody>
      </p:sp>
    </p:spTree>
    <p:extLst>
      <p:ext uri="{BB962C8B-B14F-4D97-AF65-F5344CB8AC3E}">
        <p14:creationId xmlns:p14="http://schemas.microsoft.com/office/powerpoint/2010/main" val="31197613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Esta distinção organiza o resto do bloco. A simulação estocástica é uma ferramenta de desenho: vocês a usam a cada poucos anos, quando decidem adotar a estratégia em duas partes, quantos estágios terá o ensaio de valor de cultivo, quanto do orçamento vai para genotipagem. Ela trabalha com populações sintéticas, replicadas centenas de vezes, porque o objetivo é estimar a distribuição do ganho genético sob uma arquitetura, não prever o que vai acontecer com a família 4017. O gêmeo operacional é uma ferramenta de operação: roda continuamente, usa a única realização real do programa, e responde a eventos com horizonte de dias ou semanas. São infraestruturas diferentes, equipes diferentes e ciclos de validação diferentes. AlphaSimR simula até o nível de sequência de DNA, para diploides e autopoliploides, via scripts em R. MoBPS, da equipe de Göttingen, usa armazenamento bit-wise e já traz contribuições genéticas ótimas e ssGBLUP, com uma interface web pensada para ensino. ChromaX reescreveu a simulação em JAX para rodar em GPU. Um erro comum e caro é tentar transformar o simulador em sistema operacional: ele não tem os dados do seu programa, tem suposições sobre programas em geral. O inverso também falha: um painel operacional não responde perguntas de arquitetura, porque só observa a configuração já escolhida. O que vocês fizeram na Sessão 09 foi desenho, e isso foi apropriado. Fontes: Gaynor, Gorjanc &amp; Hickey 2021, G3 11(2):jkaa017; Pook et al. 2020, G3 10(6):1915–1918; Younis et al. 2024, Bioinformatics, DOI 10.1093/bioinformatics/btad691.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50</a:t>
            </a:fld>
            <a:endParaRPr lang="en-US"/>
          </a:p>
        </p:txBody>
      </p:sp>
    </p:spTree>
    <p:extLst>
      <p:ext uri="{BB962C8B-B14F-4D97-AF65-F5344CB8AC3E}">
        <p14:creationId xmlns:p14="http://schemas.microsoft.com/office/powerpoint/2010/main" val="1581892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Dois pontos técnicos costumam se perder quando esse artigo é citado. O primeiro é a restrição de custo: todos os programas simulados foram limitados a custos operacionais anuais aproximadamente iguais. Sem isso o resultado seria trivial, porque gastar mais produz mais ganho. O que Gaynor e colegas mostraram é que, com o mesmo dinheiro, reorganizar o programa em um componente de melhoria populacional por seleção genômica recorrente rápida e um componente de desenvolvimento de produto com desenho tradicional gera mais que o dobro do ganho do programa convencional e cerca de um terço a mais que a melhor implementação padrão de seleção genômica. O segundo ponto é a incerteza: o intervalo de confiança mais largo, de 2,08 a 2,67, aparece justamente no cenário com mais variância genótipo por ano. Mais interação ambiental, mais incerteza sobre o benefício. O Brasil tropical tem muito G×E, então o número a comunicar é o conservador. Para ancorar na realidade, tragam o resultado do CIMMYT: em milho tropical multiparental, com 18 linhagens elite, mil famílias e quase um milhão de SNPs, dois ciclos por ano produziram ganho realizado em campo de 0,225 t/ha por ciclo, ou 0,100 t/ha por ano em 4,5 anos, com estreitamento apenas discreto da diversidade. Uma extensão com seleção de cruzamentos ótimos, de Gorjanc e colegas, mostra ganho de longo prazo maior, mas a magnitude exata está a verificar na versão publicada. Fontes: Gaynor et al. 2017, Crop Science, DOI 10.2135/cropsci2016.09.0742; Zhang et al. 2017, G3 7(7):2315, DOI 10.1534/g3.117.043141; Gorjanc et al., bioRxiv 10.1101/227215.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51</a:t>
            </a:fld>
            <a:endParaRPr lang="en-US"/>
          </a:p>
        </p:txBody>
      </p:sp>
    </p:spTree>
    <p:extLst>
      <p:ext uri="{BB962C8B-B14F-4D97-AF65-F5344CB8AC3E}">
        <p14:creationId xmlns:p14="http://schemas.microsoft.com/office/powerpoint/2010/main" val="3241034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Comecem pela velocidade, porque ela muda o que é viável. ChromaX, escrito em JAX, simulou cem mil cruzamentos biparentais em 29 milissegundos numa GPU comum, contra quase quinze segundos do AlphaSimR em CPU de cluster. No programa completo de Gaynor, o ganho foi de cerca de quinhentas vezes. Os autores são honestos sobre o preço: o consumo de memória é bem maior, por causa do desenho funcional e da vetorização. Se a população cabe na memória da GPU, vocês ganham duas ordens de grandeza; se não cabe, não ganham nada. Agora a otimização do esquema, com uma correção importante: Hassanpour e colegas, em 2023, usaram regressão kernel, não otimização bayesiana. O método exigiu mais de cem mil simulações e estreitamento manual. No artigo seguinte, um algoritmo evolucionário chegou a resultado equivalente com 2.400 simulações, mais de quarenta vezes menos, e os autores calcularam o custo em nuvem: 67 euros e 65 centavos. Otimizar formalmente um programa custa menos que um jantar; o gargalo é organizacional. Quem usou otimização bayesiana foi Jannink e colegas, com BoTorch sobre AlphaSimR, e o achado é incômodo: a superfície de resposta é plana perto do ótimo, o ruído pode superar a inclinação, alocações bem diferentes rendem quase o máximo e nenhuma regra simples emergiu. Leitura pessimista: não vale otimizar. Leitura que preferimos: há folga para acomodar restrições práticas sem perder ganho. Fontes: Younis et al. 2024, Bioinformatics; Hassanpour et al. 2023, G3 jkad217; Hassanpour et al. 2024, G3 jkae248; Jannink et al., Crop Science, DOI 10.1002/csc2.21124; Tanaka &amp; Iwata 2022, Front. Plant Sci. 13:1050198.</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52</a:t>
            </a:fld>
            <a:endParaRPr lang="en-US"/>
          </a:p>
        </p:txBody>
      </p:sp>
    </p:spTree>
    <p:extLst>
      <p:ext uri="{BB962C8B-B14F-4D97-AF65-F5344CB8AC3E}">
        <p14:creationId xmlns:p14="http://schemas.microsoft.com/office/powerpoint/2010/main" val="25754501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 seleção look-ahead é conceitualmente elegante e vale desacelerar aqui. Métodos como o valor haploide ótimo e o valor de progênie ótimo perguntam qual seria o melhor descendente possível, assumindo tempo e recursos ilimitados. A seleção genômica convencional pergunta qual é o melhor pai agora, ignorando o futuro. O LAS introduz o prazo como parâmetro do próprio objetivo: maximiza o valor genético esperado do melhor descendente na geração final, levando em conta a incerteza da recombinação. O melhor cruzamento quando faltam dez gerações é diferente do melhor cruzamento quando falta uma. O estudo de caso usou 369 linhagens de milho com mais de 1,4 milhão de SNPs, e o LAS superou os métodos comparados nas simulações. Isso dialoga diretamente com o OCS da Sessão 09: ambos equilibram ganho e diversidade, mas o OCS faz isso por restrição de parentesco e o LAS pelo horizonte temporal. A camada de aprendizado por reforço, de 2022, resolve outro problema: o LAS escolhe cruzamentos, mas não decide o orçamento. Gastar cedo, antes que a diversidade se deteriore, ou distribuir ao longo das gerações? Os autores formulam isso como processo de decisão de Markov, usam um programa linear inteiro para conter o espaço de estados, aproximam a função valor e melhoram a política de forma gulosa. Se alguém chamar isso de bandit, corrijam: é RL baseado em valor. Guardem esta lâmina, porque ela volta quando falarmos da patente da Pioneer. Fontes: Moeinizade et al. 2019, G3, DOI 10.1534/g3.118.200842; Moeinizade et al. 2022, Intelligent Systems with Applications, DOI 10.1016/j.iswa.2022.200076.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53</a:t>
            </a:fld>
            <a:endParaRPr lang="en-US"/>
          </a:p>
        </p:txBody>
      </p:sp>
    </p:spTree>
    <p:extLst>
      <p:ext uri="{BB962C8B-B14F-4D97-AF65-F5344CB8AC3E}">
        <p14:creationId xmlns:p14="http://schemas.microsoft.com/office/powerpoint/2010/main" val="31586165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 ideia do CGM-WGP é deslocar o que se prediz. Em vez de ir dos marcadores direto à produtividade, prediz-se parâmetros fisiológicos a partir dos marcadores e deixa-se o modelo de cultura integrar esses parâmetros ao longo do ciclo, com o clima real de cada ambiente. O estudo de Messina e colegas é o maior caso empírico: meio-dialelo de nove endogâmicas elite, 35 famílias, 2.367 híbridos, 17 locais no corn belt e seis ambientes de estresse manejado, com evapotranspiração entre 377 e 760 mm. Para genótipos e ambientes não testados, a correlação foi 0,43 contra 0,27 do BayesA. Mas o número que precisa ficar é outro: a correlação genética entre os ambientes de déficit hídrico e a população-alvo de ambientes foi 0,0003, praticamente zero. Selecionar ali não produzia progresso no alvo, e nenhum GBLUP convencional sinalizaria isso. Observem também a assimetria: com ambientes testados, as duas abordagens predizem genótipos novos de forma parecida; sob G×E, o CGM-WGP mantém a acurácia enquanto o WGP cai de 0,62 para 0,42. A revisão de duas décadas de Cooper mostra o ganho sob seca subindo de 6,2 para 7,5 gramas por metro quadrado por ano, perto dos 8,6 sob água suficiente, com diferencial de acurácia de cerca de 30%. Advertência final: a prova de conceito de 2016 funcionou porque fisiologistas escolheram cinco traits a priori. Não há atalho automático; um modelo do corn belt não descreve Viçosa. Fontes: Technow et al. 2016, Crop Science, DOI 10.2135/cropsci2015.08.0512; Messina et al. 2022, Plant Physiology, PMC8825268; Cooper et al. 2023, J. Exp. Bot., DOI 10.1093/jxb/erad231.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54</a:t>
            </a:fld>
            <a:endParaRPr lang="en-US"/>
          </a:p>
        </p:txBody>
      </p:sp>
    </p:spTree>
    <p:extLst>
      <p:ext uri="{BB962C8B-B14F-4D97-AF65-F5344CB8AC3E}">
        <p14:creationId xmlns:p14="http://schemas.microsoft.com/office/powerpoint/2010/main" val="2719798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Esta é a lâmina com mais orgulho local, e com razão: Resende, Costa-Neto, Fritsche-Neto, Crossa e colaboradores definiram boa parte deste campo a partir do Brasil. Resende e colegas cunharam o termo enviromics com uma analogia que se sustenta tecnicamente: assim como um genótipo é descrito por marcadores de DNA, um local é descrito por envirótipos em marcadores ambientais, e isso permite casar genótipos com locais, delimitar regiões de melhoramento com alta correlação genética e escolher onde instalar ensaios. O EnvRtype transforma isso em pipeline em R: baixa clima do NASA POWER, calcula variáveis ecofisiológicas, monta a matriz de covariáveis e gera kernels para GBLUP com normas de reação. No estudo de montagem enviromica, ao predizer a resposta individual de cada genótipo ao longo dos ensaios multiambientes, a mediana da correlação foi 0,17 com GBLUP e 0,83 com E-GP. Um salto desse tamanho merece ceticismo, então expliquem o cenário: é exatamente onde o GBLUP é mais fraco, em ambientes ainda não observados. O achado operacional mais valioso é outro: a representatividade das combinações genótipo-ambiente importa mais que o número de ambientes. Um programa com orçamento limitado pode escolher melhor em vez de instalar mais. Esse é o gêmeo digital de um ensaio na prática: não um avatar 3D, mas um kernel. A Embrapa disponibiliza APIs como ClimAPI e SATVeg que alimentam esse tipo de pipeline. Fontes: Resende et al. 2021, Theor. Appl. Genet., DOI 10.1007/s00122-020-03684-z; Costa-Neto et al. 2021, G3 11(4):jkab040; Costa-Neto, Crossa &amp; Fritsche-Neto 2021, Front. Plant Sci. 12:717552; Xu et al. 2024, Molecular Plant.</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55</a:t>
            </a:fld>
            <a:endParaRPr lang="en-US"/>
          </a:p>
        </p:txBody>
      </p:sp>
    </p:spTree>
    <p:extLst>
      <p:ext uri="{BB962C8B-B14F-4D97-AF65-F5344CB8AC3E}">
        <p14:creationId xmlns:p14="http://schemas.microsoft.com/office/powerpoint/2010/main" val="19837415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Façam a correção logo no início, porque a descrição como sistema de drone circula e está errada. O DT-FieldPheno é uma plataforma de fenotipagem sobre trilhos, da Academia de Ciências Agrícolas e Florestais de Pequim. A arquitetura é de laço fechado: o gêmeo sincroniza o equipamento físico com sua contraparte virtual, avalia o risco meteorológico combinando previsão e medições em tempo real com análise hierárquica e lógica fuzzy, e decide se a coleta deve acontecer. Em 27 dias seguidos num campo de milho, reduziu pela metade a inspeção manual, cancelou duas tarefas de alto risco por vento acima do limiar dos sensores e reprogramou outras duas por rajadas e chuva. Alertas de desvio de trilho saíram em menos de dois segundos. É o exemplo público mais próximo de um gêmeo autônomo no sentido de Verdouw. Mas delimitem o escopo: o gêmeo controla o equipamento de fenotipagem, não a decisão de melhoramento. Ninguém deixou um algoritmo decidir quais linhagens avançam, e a distância entre cancelar um voo e descartar uma família é enorme. Os 50% também se referem à inspeção do equipamento, não ao trabalho do melhorista. O viveiro virtual do projeto PORTAL, do DFKI com a NPZ, mostra o outro lado: um robô autônomo captura imagens, varreduras laser e dados multiespectrais, e o melhorista avalia gêmeos 3D em realidade virtual, comparando candidatos entre locais e datas. É um gêmeo de monitoramento e recordação. Fontes: Liu et al. 2025, Agriculture 15(11):1217, DOI 10.3390/agriculture15111217; Tieben et al. 2024, ACM SUI, DOI 10.1145/3677386.3688876; DFKI, projeto PORTAL.</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56</a:t>
            </a:fld>
            <a:endParaRPr lang="en-US"/>
          </a:p>
        </p:txBody>
      </p:sp>
    </p:spTree>
    <p:extLst>
      <p:ext uri="{BB962C8B-B14F-4D97-AF65-F5344CB8AC3E}">
        <p14:creationId xmlns:p14="http://schemas.microsoft.com/office/powerpoint/2010/main" val="28214641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Esta é a lâmina que os alunos acham chata e que determina se o resto funciona. Voltem à definição de Kritzinger: a fronteira entre modelo digital e sombra digital é exatamente a automação do fluxo do físico para o virtual. BrAPI e MIAPPE não são burocracia; são o mecanismo que faz um sistema subir de categoria. BrAPI é uma especificação aberta de serviços web para germoplasma, ensaios, fenotipagem e genotipagem, compatível com os principais padrões comunitários e com a Crop Ontology. MIAPPE 1.1 deixou de ser uma lista de verificação e virou um modelo de dados formal, com campos obrigatórios e cobertura de culturas perenes. Breedbase, que nasceu como Cassavabase, guarda fenótipos relacionais e genótipos em formato compacto dentro do mesmo PostgreSQL, preservando integridade referencial. O EBS é o sistema preferencial do CGIAR e conversa com o Field Book e com o pacote QBMS por BrAPI. Conectem com a Sessão 04: o QC que vocês fizeram em DuckDB cumpre a mesma função, mas o banco institucional impõe ontologias consistentes e preserva proveniência. Um minuto sobre edge computing: o projeto FACT-AI, de Clemson, processa nos nós de borda e transfere apenas o dado útil, ou seja, alguém decidiu em tempo de projeto o que nunca seria armazenado. Essa escolha é irreversível e raramente discutida. E não romantizem: os autores do Breedbase admitem que bancos de melhoramento são complexos, difíceis e caros de manter. Fontes: brapi.org; Papoutsoglou et al. 2020, New Phytologist, DOI 10.1111/nph.16544; Morales et al. 2022, G3 12(7):jkac078; ebsproject.org; USDA-NIFA 1030625; Hershberger Lab DSFAS SC-2023-11724.</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57</a:t>
            </a:fld>
            <a:endParaRPr lang="en-US"/>
          </a:p>
        </p:txBody>
      </p:sp>
    </p:spTree>
    <p:extLst>
      <p:ext uri="{BB962C8B-B14F-4D97-AF65-F5344CB8AC3E}">
        <p14:creationId xmlns:p14="http://schemas.microsoft.com/office/powerpoint/2010/main" val="19256349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Esta lâmina amarra tudo numa arquitetura que vocês podem usar para diagnosticar qualquer programa. A camada física reúne tudo que existe no mundo: viveiros, ensaios multiambientes, estufas de ciclo rápido, laboratório de amostragem de sementes, robôs terrestres, plataformas sobre trilhos, drones, estações meteorológicas. Entre a física e os dados está o primeiro corte de Kritzinger: se a ingestão depende de alguém digitar ou importar planilhas, vocês têm um modelo digital. A camada de dados é onde vivem BrAPI, MIAPPE, Crop Ontology, Breedbase ou EBS, o processamento na borda e o controle de qualidade. A camada de modelos tem quatro famílias: genéticos, como GBLUP e normas de reação; ambientais, como os kernels do EnvRtype; fisiológicos, como APSIM, DSSAT e CGM-WGP, que tem mais de 45 culturas no DSSAT; e de programa, como AlphaSimR, MoBPS e ChromaX. A camada de decisão traz OCS, seleção look-ahead, aprendizado por reforço, otimização de esquema e, como governança, o BPAT do CGIAR, que avalia programas com métricas de processo como tempo de ciclo e CV dos ensaios. A seta de volta, do virtual para o físico, é o segundo corte: só com ela há gêmeo. Hoje ela está fechada para equipamentos, como no DT-FieldPheno, e reivindicada em patente para decisões de cruzamento, mas não demonstrada publicamente para seleção. Peçam que cada grupo marque em que camada o próprio projeto está mais fraco. Fontes: Kritzinger et al. 2018; Verdouw et al. 2021; Holzworth et al. 2018, EM&amp;S 103:43–51; dssat.net; BPAT, University of Queensland; dossiê 04, seção 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58</a:t>
            </a:fld>
            <a:endParaRPr lang="en-US"/>
          </a:p>
        </p:txBody>
      </p:sp>
    </p:spTree>
    <p:extLst>
      <p:ext uri="{BB962C8B-B14F-4D97-AF65-F5344CB8AC3E}">
        <p14:creationId xmlns:p14="http://schemas.microsoft.com/office/powerpoint/2010/main" val="42222300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Tratem esta lâmina como exercício de leitura crítica, não como celebração. Todos os números vêm de comunicação corporativa: chamadas com investidores, páginas de produto e imprensa setorial, sem revisão por pares. Alguns são concretos e auditáveis em princípio, como quinze milhões de parcelas por ano. Outros são vagos por construção: a Corteva afirma ganho de quatro a cinco vezes na acurácia do pipeline inicial, mas sem métrica nem comparador, então fica a verificar e fora da lâmina. A Bayer é um bom caso pedagógico: a página do DEKALB fala em reduzir o tempo de melhoramento de cinco anos para cinco meses, e a apresentação do Innovation Summit de 2023 fala em cinco a seis anos para cerca de quatro meses, com meta de dobrar o ganho genético até 2030. São afirmações corporativas, discordantes entre si e a verificar; se a própria empresa publica dois números, o que exatamente está sendo medido? O mesmo material cita um gêmeo digital de testes de campo, misturando ensaios simulados e reais. Para Syngenta, Inari e Benson Hill não encontramos números primários auditáveis. Agora a patente, com uma correção: ela é da Pioneer Hi-Bred, isto é, da Corteva, não da Bayer. Ela descreve um gêmeo de pipeline de ponta a ponta que recebe genótipo, fenótipo, solo e ambiente, inclusive plantas editadas e transgênicas, e gera ações até o plantio. O parágrafo 14 especifica agentes que executam políticas de seleção dentro do gêmeo, avaliados num MDP que recompensa ganho genético. É a lâmina de aprendizado por reforço, patenteada. Fontes: transcrição Corteva/Wolfe Research 2026; Seed World 12/2025; Corteva Investor Day 2026; Bayer DEKALB; Bayer CS Innovation Summit 2023; WO/2025/080804 (WIPO, Google Patents).</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59</a:t>
            </a:fld>
            <a:endParaRPr lang="en-US"/>
          </a:p>
        </p:txBody>
      </p:sp>
    </p:spTree>
    <p:extLst>
      <p:ext uri="{BB962C8B-B14F-4D97-AF65-F5344CB8AC3E}">
        <p14:creationId xmlns:p14="http://schemas.microsoft.com/office/powerpoint/2010/main" val="28114445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Esta é a lâmina de decisão, que conversa com a Sessão 10. Comecem pela equação do ganho genético: qualquer tecnologia só gera valor se aumentar a intensidade de seleção, a acurácia ou a variância aditiva explorada, ou se encurtar o ciclo. Araus e colegas dão um número concreto para fenotipagem: medir altura de arroz à mão rende 45 parcelas por hora; com um veículo de fenotipagem com sensor ultrassônico, três mil. Esse ganho de throughput vira intensidade de seleção, porque o mesmo orçamento cobre populações maiores. Agora a pergunta de latência. Tempo real só tem valor onde a janela de ação é curta e a perda é irreversível. Se o vento passou do limiar, perdeu-se aquele dia de coleta. Se a irrigação de um ensaio de estresse manejado falhou, compromete-se a correlação genética com o ambiente-alvo e a safra inteira. Falha de estande pede reação em dias. Já avanço, descarte e escolha de cruzamentos precisam do ensaio completo, e decidir antes não traz ganho. O contraste final é o ponto central: investir onde o gradiente é íngreme. Refinar a alocação de orçamento perto do ótimo rende pouco, como mostraram Jannink e colegas; acrescentar informação ambiental pode quadruplicar a correlação. Lembrem também que custo de equipamento e treinamento costuma ser a barreira dominante, e que o cálculo dos EUA não se transfere automaticamente ao Brasil. Cifras de custo por hectare de voos de drone que circulam por aí vêm de fonte duvidosa e ficam a verificar. Fontes: Araus et al. 2018, Trends in Plant Science, DOI 10.1016/j.tplants.2018.02.001; Jannink et al., Crop Science, DOI 10.1002/csc2.21124; Costa-Neto et al. 2021, Front. Plant Sci. 12:717552; Euphytica, DOI 10.1007/s10681-018-2226-z.</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60</a:t>
            </a:fld>
            <a:endParaRPr lang="en-US"/>
          </a:p>
        </p:txBody>
      </p:sp>
    </p:spTree>
    <p:extLst>
      <p:ext uri="{BB962C8B-B14F-4D97-AF65-F5344CB8AC3E}">
        <p14:creationId xmlns:p14="http://schemas.microsoft.com/office/powerpoint/2010/main" val="5386252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Fechem com honestidade epistêmica, porque é o que distingue uma aula de pós-graduação de um webinar de fornecedor. O item mais importante é o último: revisões recentes convergem na constatação de que a maior parte das aplicações de inteligência artificial e gêmeos digitais em melhoramento foi avaliada com dados históricos, simulações ou pontos de decisão isolados, não em ciclos completos comparados prospectivamente contra o melhoramento convencional. Isso não quer dizer que não funcione; quer dizer que ainda é hipótese. O ponto sobre superajuste ao simulador merece ênfase para esta turma, que acabou de usar AlphaSimR: ao otimizar um esquema contra um simulador, vocês otimizam contra a arquitetura genética, o mapa e as variâncias que vocês mesmos informaram, e há relatos de que resultados de otimização bayesiana mudam com pequenas alterações nos genótipos de entrada. A correlação genética quase nula entre seca manejada e ambiente-alvo, do estudo de Messina, é o exemplo perfeito de erro silencioso. Sobre dados, a frase de Geoff Graham, da Corteva, resume: se há erro no sistema, as decisões são ruins. Integração tem custo alto e contínuo, e plataformas proprietárias criam dependência de fornecedor; o contraponto aberto são Breedbase, EBS, BrAPI e MIAPPE. Por fim, a pergunta ética: quando uma política de aprendizado por reforço erra uma decisão de seleção, quem responde? Deixem a turma discutir antes da lâmina final. Fontes: Front. Plant Sci. 2026, DOI 10.3389/fpls.2026.1929693; Messina et al. 2022, Plant Physiology; Hassanpour et al. 2024, G3 jkae248; Tanaka &amp; Iwata 2022; Morales et al. 2022, G3; Seed World 12/2025.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61</a:t>
            </a:fld>
            <a:endParaRPr lang="en-US"/>
          </a:p>
        </p:txBody>
      </p:sp>
    </p:spTree>
    <p:extLst>
      <p:ext uri="{BB962C8B-B14F-4D97-AF65-F5344CB8AC3E}">
        <p14:creationId xmlns:p14="http://schemas.microsoft.com/office/powerpoint/2010/main" val="16029013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Usem esta lâmina para devolver a pergunta-guia à turma. Primeiro, classifiquem antes de comprar ou de escrever um projeto: perguntem como os dados fluem, não quão sofisticado é o modelo. Segundo, separem desenho de operação. Simuladores como AlphaSimR, MoBPS e ChromaX respondem perguntas de arquitetura, como a estratégia em duas partes, que com o mesmo orçamento rendeu mais que o dobro do programa convencional. Sistemas operacionais respondem perguntas da semana. Terceiro, otimizar formalmente um esquema já é barato: o algoritmo evolucionário de Hassanpour custou menos de setenta euros em nuvem. Se ninguém faz, o motivo é organizacional. Quarto, onde a interação genótipo por ambiente domina, fisiologia e informação ambiental fazem diferença grande, como mostram o CGM-WGP e o trabalho brasileiro de enviromics. Quinto, a infraestrutura de dados é o que permite subir de categoria: BrAPI, MIAPPE e um banco como Breedbase ou EBS transformam planilhas em uma sombra digital. Sexto, tempo real só se justifica onde a janela de ação é curta e a perda irreversível, e as decisões de seleção continuam humanas, mesmo quando patentes já descrevem agentes automatizados. Como tarefa, peçam que cada grupo desenhe as quatro camadas do próprio projeto, marque os dois cortes de Kritzinger e proponha uma única intervenção que mova o projeto um nível acima. Isso conecta diretamente com a discussão final do curso. Fontes: Kritzinger et al. 2018; Gaynor et al. 2017; Hassanpour et al. 2024, G3 jkae248; Messina et al. 2022; Costa-Neto et al. 2021; Papoutsoglou et al. 2020; Liu et al. 2025; WO/2025/080804.</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62</a:t>
            </a:fld>
            <a:endParaRPr lang="en-US"/>
          </a:p>
        </p:txBody>
      </p:sp>
    </p:spTree>
    <p:extLst>
      <p:ext uri="{BB962C8B-B14F-4D97-AF65-F5344CB8AC3E}">
        <p14:creationId xmlns:p14="http://schemas.microsoft.com/office/powerpoint/2010/main" val="20252277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bloco fecha o curso conectando tudo o que os alunos praticaram com as perguntas que vão enfrentar na carreira. Abram lembrando o que eles já fizeram: configuraram agentes com regras de permissão, criaram deny-lists sobre dados brutos, trabalharam em modo plan-first e aprenderam, na Sessão 08, que o modelo inventa referências com naturalidade. Esses três controles — permissão, escopo de dados e plano antes da ação — são exatamente o que normas como a ISO/IEC 42001 e o OWASP MCP Top 10 estão formalizando agora. Ou seja, eles já praticaram governança sem chamar de governança. A pergunta-guia é deliberadamente provocativa: o agente acelera, mas quem assina? Ela atravessa os quatro eixos do bloco. Em ciência, quem assina o resultado que o agente produziu. Em governança, quem responde quando a recomendação falha. Em propriedade intelectual, quem é inventor de um alelo que um modelo propôs. Em dados, quem responde pelo vazamento quando alguém cola uma tabela num chat. O roteiro segue do entusiasmo para a cautela e termina em prática: começamos com o que os agentes já fazem de verdade, passamos pela evidência dura de erro e de viés, mapeamos o quadro regulatório e de IP, e fechamos com um checklist operacional, cinco dilemas para o painel e três hábitos. Todos os números deste bloco foram verificados em fontes primárias em outubro de 2026; o que não pôde ser verificado aparece apenas nas notas, marcado como a verificar. Fontes: dossie/05_breeder_aumentado_etica_ip.md; OWASP MCP Top 10 (2025); ISO/IEC 42001:2023.</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63</a:t>
            </a:fld>
            <a:endParaRPr lang="en-US"/>
          </a:p>
        </p:txBody>
      </p:sp>
    </p:spTree>
    <p:extLst>
      <p:ext uri="{BB962C8B-B14F-4D97-AF65-F5344CB8AC3E}">
        <p14:creationId xmlns:p14="http://schemas.microsoft.com/office/powerpoint/2010/main" val="39570023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Peçam que a turma defina agente com as próprias palavras antes de mostrar o slide. A diferença em relação a um chatbot não é de inteligência, é de autonomia operacional: decompor a tarefa, chamar ferramentas, observar o resultado e iterar. E autonomia é exatamente o que cria superfície de risco. Os sistemas listados não são apenas demonstrações: Robin produziu um candidato terapêutico validado experimentalmente, CRISPR-GPT gerou edições reais verificadas por sequenciamento, e BioDiscoveryAgent superou baselines de otimização bayesiana treinados especificamente para a tarefa. Isso desarma o argumento cético de que tudo é hype. Ao mesmo tempo, notem que o Co-Scientist saiu em blog e arXiv em fevereiro de 2025 e só foi publicado na Nature em 2026; a distância entre anúncio e revisão por pares é, em si, uma lição de leitura crítica. Existe ainda o Kosmos, da Edison Scientific, que alega cerca de 79 por cento de afirmações corretas e o equivalente a seis meses de trabalho por execução — números a verificar, porque são auto-reportados pela empresa e por avaliadores recrutados por ela. A mensagem central está no último bullet: em todos os casos que funcionam, o LLM não produz o número. GeneGPT gera uma URL e executa a chamada; CRISPR-GPT delega o desenho de sgRNA a ferramentas especializadas. É o mesmo princípio que a FAO adotou: a IA explica, o modelo estatístico estima. Peçam que identifiquem, no próprio trabalho, um número que hoje vem do texto e deveria vir de código. Fontes: Gottweis et al. 2025 / Nature 2026; Ghareeb et al. 2025; Qu et al. 2025 (DOI 10.1038/s41551-025-01463-z); Roohani et al. ICLR 2025; Jin et al. 2024 (DOI 10.1093/bioinformatics/btae075).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64</a:t>
            </a:fld>
            <a:endParaRPr lang="en-US"/>
          </a:p>
        </p:txBody>
      </p:sp>
    </p:spTree>
    <p:extLst>
      <p:ext uri="{BB962C8B-B14F-4D97-AF65-F5344CB8AC3E}">
        <p14:creationId xmlns:p14="http://schemas.microsoft.com/office/powerpoint/2010/main" val="39457836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 mais importante da primeira metade do bloco, porque toca diretamente no objeto de trabalho dos alunos: dados de passaporte de germoplasma. Chat-RGIE extrai, sem exemplos rotulados, informações como nome da variedade, parentais, caracteres agronômicos, qualidade, produtividade e resistência a partir de registros e resumos de artigos. Para conter alucinações, usa várias respostas do modelo, votação e um componente de calibração. No ambiente controlado, a precisão é de 0,91. Em dados reais, cai para 0,64 — cerca de 28 pontos percentuais a menos. E os autores publicaram isso abertamente, o que merece crédito. Perguntem à turma o que significa operacionalmente: em mil campos extraídos, algo como 360 estariam errados. Para um banco de passaporte que alimenta decisões de pré-melhoramento, isso é inaceitável sem revisão humana. Agora observem a revocação de 1,0: o sistema não perde informação, ele adiciona informação errada. Isso define o desenho correto do fluxo, que é o inverso do instinto da maioria: usar a IA para a varredura exaustiva, onde ela é excelente, e o humano para filtrar, onde ela falha. Conectem com a Sessão 08: alucinação não é um bug que some na próxima versão, é uma propriedade estatística que se gerencia com desenho de processo. Os autores ainda relatam um achado curioso: sob prompts mais pressionantes, o modelo viola mais as restrições quando não há resposta possível. Fontes: Wei &amp; Fan, J. Big Data 12:202 (2025), DOI 10.1186/s40537-025-01236-0.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65</a:t>
            </a:fld>
            <a:endParaRPr lang="en-US"/>
          </a:p>
        </p:txBody>
      </p:sp>
    </p:spTree>
    <p:extLst>
      <p:ext uri="{BB962C8B-B14F-4D97-AF65-F5344CB8AC3E}">
        <p14:creationId xmlns:p14="http://schemas.microsoft.com/office/powerpoint/2010/main" val="20964901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Usem este slide para ensinar leitura crítica de pré-print. Primeiro, marquem claramente que não passou por revisão por pares. Segundo, elogiem os autores por reportarem o resultado desfavorável à narrativa: quando há dados genômicos, a otimização bayesiana clássica com processo gaussiano continua sendo a melhor abordagem. Eles poderiam ter escondido isso e não esconderam. O desenho é elegante: o LLM entra em dois pontos do ciclo. No warmstart zero-shot, ele escolhe os genótipos iniciais a partir de informação textual de passaporte, como nome da cultivar, país de origem e subpopulação, opcionalmente com escores de componentes principais de SNPs. No modelo substituto, ele prevê o fenótipo de genótipos não testados por aprendizado em contexto. Para número de sementes por panícula, o warmstart reduziu o número de genótipos avaliados até chegar ao melhor; para teor de proteína, o ganho foi pequeno. Um caráter, um resultado — generalizar a partir de dois caracteres numa espécie seria exatamente o erro que estamos ensinando a evitar. A implicação mais interessante para o Brasil é contraintuitiva: se o ganho do LLM aparece onde falta genômica, o beneficiário natural não é quem genotipa tudo, é o banco de germoplasma com metadados ricos e poucos marcadores. E conectem com a Sessão 09: o LLM propõe o ponto de partida do espaço de busca, mas a função objetivo, θ e ΔF continuam sendo decisão do melhorista. Fontes: Hamazaki &amp; Tsuda, bioRxiv (2026), DOI 10.64898/2026.06.28.735149; código github.com/KosukeHamazaki/RLLMBO.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66</a:t>
            </a:fld>
            <a:endParaRPr lang="en-US"/>
          </a:p>
        </p:txBody>
      </p:sp>
    </p:spTree>
    <p:extLst>
      <p:ext uri="{BB962C8B-B14F-4D97-AF65-F5344CB8AC3E}">
        <p14:creationId xmlns:p14="http://schemas.microsoft.com/office/powerpoint/2010/main" val="32077198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Apresentem os três números da METR na ordem — previsão, percepção, realidade — e façam uma pausa antes do terceiro. Quase todos na sala vão apostar em aceleração; esse erro coletivo é mais pedagógico que o número. Sejam escrupulosos com as limitações: 16 participantes, repositórios maduros e familiares, ferramentas do início de 2025, e a própria METR declarou em fevereiro de 2026 que o resultado está desatualizado. Não usem isso para dizer que IA não ajuda. Usem para fixar algo mais robusto: a autopercepção de ganho não é evidência de ganho. Os participantes experimentaram a lentidão e ainda relataram aceleração. Se quiserem saber se a IA acelera o programa, meçam ciclos por ano, acurácia e retrabalho. Na parte de citações, as taxas variam entre estudos, e essa variação é informativa: depende de modelo, prompt e domínio. O achado que mais importa é o gradiente por familiaridade do tema: 6 por cento de fabricação em depressão maior contra 28 a 29 por cento em transtornos pouco estudados. Traduzam para o melhoramento: a literatura se concentra em milho, trigo, arroz e soja em ambientes temperados. Quem trabalha com culturas e patossistemas de nicho enfrenta taxas piores que as dos benchmarks. O detalhe dos DOIs é perverso: 64 por cento dos DOIs das citações falsas funcionavam, mas levavam a outro artigo. O teste do link funciona falha; o único teste válido é abrir e ler. Fontes: METR, arXiv:2507.09089 e atualização fev/2026; Walters &amp; Wilder, Sci Rep 2023 (DOI 10.1038/s41598-023-41032-5); JMIR Mental Health 12:e80371 (2025).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67</a:t>
            </a:fld>
            <a:endParaRPr lang="en-US"/>
          </a:p>
        </p:txBody>
      </p:sp>
    </p:spTree>
    <p:extLst>
      <p:ext uri="{BB962C8B-B14F-4D97-AF65-F5344CB8AC3E}">
        <p14:creationId xmlns:p14="http://schemas.microsoft.com/office/powerpoint/2010/main" val="2700964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slide combate duas distorções comuns. A primeira é a ideia de que a União Europeia proibiu IA na agricultura. É falsa e verificável: a orientação oficial do AI Act Service Desk cita drones e robôs agrícolas usados para previsão de produtividade ou otimização de irrigação como exemplos de sistemas que não são componentes de segurança. A segunda distorção é concluir que nada se aplica. Também falso: o mesmo documento cita um sistema que direciona pulverização sem considerar a presença de pessoas próximas como componente de segurança, e portanto alto risco quando integrado a máquinas ou veículos agrícolas regulados. A fronteira não é o setor, é a função: a falha pode ferir alguém? As datas do EU AI Act mudaram com o AI Omnibus, em vigor desde 27 de julho de 2026; as regras de alto risco ficaram para dezembro de 2027 e agosto de 2028. Sobre o Brasil, sejam precisos: a ficha de tramitação da Câmara mostra o PL 2338/2023 aguardando parecer do relator na Comissão Especial, sem parecer protocolado, e o relator indicou votação só depois das eleições de outubro de 2026. Mas vácuo legislativo não é vácuo normativo: a LGPD, com o direito de revisão de decisões automatizadas do artigo 20, a Lei 13.123, a Lei de Cultivares e os contratos já criam deveres exigíveis. Fechem com a FAO, que oferece o princípio mais transponível para um programa de melhoramento: separar quem explica de quem estima. Fontes: NIST AI 600-1 (DOI 10.6028/NIST.AI.600-1); AI Act Service Desk, timeline e high-risk in regulated products; ISO/IEC 42001:2023; Câmara, ficha PL 2338/2023; FAO Data Lab; Carroll et al. 2020.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68</a:t>
            </a:fld>
            <a:endParaRPr lang="en-US"/>
          </a:p>
        </p:txBody>
      </p:sp>
    </p:spTree>
    <p:extLst>
      <p:ext uri="{BB962C8B-B14F-4D97-AF65-F5344CB8AC3E}">
        <p14:creationId xmlns:p14="http://schemas.microsoft.com/office/powerpoint/2010/main" val="26567145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Organizem a discussão em torno de uma pergunta: que camada de proteção a IA realmente ameaça? Proteção de cultivares e patentes são relativamente robustas, porque são registros públicos com escopo definido. A camada vulnerável é o segredo de negócio: germoplasma elite, pedigrees, dados de ensaio, BLUPs e modelos de predição. O segredo depende de medidas razoáveis de sigilo, e colar esses dados num serviço externo pode ser lido como abandono dessas medidas. Não é preciso haver vazamento público; a perda de controle já enfraquece a posição jurídica. Enfatizem o Decreto 8.772/2016: o cadastro no SisGen deve preceder a remessa, o pedido de qualquer direito de propriedade intelectual, a comercialização de produto intermediário e a divulgação de resultados, inclusive parciais, em meios científicos. Estudantes de pós-graduação frequentemente descobrem isso depois do resumo em congresso. Vale perguntar diretamente quem na sala tem material em bancada cujo acesso ainda não foi cadastrado. Sobre a UPOV, o fato de o Brasil estar na Ata de 1978 e não na de 1991 é tecnicamente relevante: preserva mais espaço para o uso próprio pelo agricultor e para a isenção do melhorista. Há pressão recorrente por adesão à Ata de 1991, mas não antecipem desfecho. A repartição monetária da Lei 13.123 é de 1 por cento da receita líquida anual, com possibilidade de redução para 0,1 por cento por acordo setorial — números que voltarão no dilema do alelo. Fontes: Lei 9.456/1997 art. 11; Decreto 3.109/1999; Lei 13.123/2015 arts. 16, 20 e 21; Decreto 8.772/2016 art. 20.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69</a:t>
            </a:fld>
            <a:endParaRPr lang="en-US"/>
          </a:p>
        </p:txBody>
      </p:sp>
    </p:spTree>
    <p:extLst>
      <p:ext uri="{BB962C8B-B14F-4D97-AF65-F5344CB8AC3E}">
        <p14:creationId xmlns:p14="http://schemas.microsoft.com/office/powerpoint/2010/main" val="2933654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Comecem explicando por que DSI é a questão que define a próxima década do melhoramento. O Protocolo de Nagoya foi pensado para material físico cruzando fronteiras. Hoje, o valor atravessa a fronteira como arquivo de sequência, e nenhum frasco se move. E modelos de IA treinados em sequências públicas tornam essa questão ainda mais aguda. O Fundo de Cali, criado pela Decisão 16/2 na COP16 da Convenção sobre Diversidade Biológica, é a primeira tentativa multilateral de endereçar isso. Sejam precisos com os números, porque são frequentemente mal citados. A taxa é indicativa, não obrigatória. O critério de entidade grande é atender dois de três limiares, em média dos últimos três anos, e não todos os três. A pesquisa pública e acadêmica que usa DSI sem se beneficiar comercialmente está isenta, o que responde à pergunta que a turma fará sobre a própria UFV. Pelo menos metade do fundo deve apoiar necessidades autodeterminadas de povos indígenas e comunidades locais. E taxas e limiares definitivos serão fixados na COP17. O contraponto sóbrio vem do Tratado Internacional sobre Recursos Fitogenéticos: na GB-11, em novembro de 2025, não houve consenso sobre o pacote completo. Taxas, limiares e a expansão do Anexo I ficaram para a GB-12, e DSI foi para um grupo consultivo ad hoc. Países em desenvolvimento da Ásia, América Latina e Oriente Próximo registraram discordância com a arquitetura de pagamento. A mensagem: é um regime em disputa ativa, e esta geração vai participar das decisões. Fontes: CBD, Decisão 16/2 e Guide to the Cali Fund; IISD/ENB, ITPGRFA GB-11 Summary (nov/2025).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70</a:t>
            </a:fld>
            <a:endParaRPr lang="en-US"/>
          </a:p>
        </p:txBody>
      </p:sp>
    </p:spTree>
    <p:extLst>
      <p:ext uri="{BB962C8B-B14F-4D97-AF65-F5344CB8AC3E}">
        <p14:creationId xmlns:p14="http://schemas.microsoft.com/office/powerpoint/2010/main" val="16831302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As decisões contam uma história coerente e, bem lida, tranquilizadora. A máquina não é inventora nem autora; isso está firme no Reino Unido e nos Estados Unidos, em patentes e em direito autoral. Na decisão unânime da Suprema Corte britânica, a propriedade da máquina DABUS também não deu a Thaler direito à patente. O que está em jogo, portanto, não é se a invenção assistida por IA é patenteável — a orientação do USPTO diz claramente que não é categoricamente impatenteável — mas se você consegue provar a sua própria contribuição. Leiam os três fatores Pannu em voz alta, porque o terceiro é o que mais derruba candidaturas: fazer mais do que explicar conceitos conhecidos ou o estado da técnica. E a exigência é por reivindicação: cada uma precisa de pelo menos um humano com contribuição significativa. Se o LLM fez o trabalho criativo e você fez apenas a curadoria, qual foi sua contribuição à concepção? A resposta pode ser excelente: definir o objetivo biológico, restringir o espaço de busca com conhecimento de fisiologia, escolher entre candidatos com critério técnico, desenhar a validação. Mas só vale se estiver registrado no momento, não reconstruído depois. Daí a consequência prática do último bullet: o caderno de laboratório ganhou campos novos. No Brasil, não localizamos orientação equivalente do INPI, ponto a verificar antes de qualquer afirmação. Fontes: Thaler v Comptroller-General [2023] UKSC 49; USPTO, Inventorship Guidance for AI-Assisted Inventions (13/fev/2024); Thaler v. Perlmutter, D.C. Cir. (18/mar/2025); U.S. Copyright Office, Copyright and AI Part 2 (jan/2025).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71</a:t>
            </a:fld>
            <a:endParaRPr lang="en-US"/>
          </a:p>
        </p:txBody>
      </p:sp>
    </p:spTree>
    <p:extLst>
      <p:ext uri="{BB962C8B-B14F-4D97-AF65-F5344CB8AC3E}">
        <p14:creationId xmlns:p14="http://schemas.microsoft.com/office/powerpoint/2010/main" val="5773005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 detalhe que torna o caso Samsung universal é que nenhum dos três funcionários agiu de má-fé. Um queria corrigir um erro de código, outro queria otimizar um programa, o terceiro queria uma ata de reunião. São as três coisas que qualquer pessoa nesta sala faria numa terça-feira. O aviso interno da empresa merece ser lembrado: uma vez enviado, o dado fica em servidor externo e não pode ser recuperado. Por isso a resposta mais eficaz não é apenas treinar as pessoas, é remover o atalho. A Samsung passou a desenvolver ferramentas internas; se existe um assistente aprovado que resolve o problema, ninguém recorre ao proibido. Traduzam para o melhoramento: colar uma matriz de BLUPs de linhagens elite com pedigrees num chat de consumidor equivale a publicar o programa de cruzamentos. Sobre as três camadas, sejam precisos. OpenAI e Anthropic declaram que não treinam com dados de API ou planos empresariais por padrão e oferecem retenção zero sob contrato, mas a cobertura não é universal: alguns endpoints e recursos ficam de fora, e a retenção zero precisa ser solicitada por organização. Leiam a documentação específica antes de confiar. A abordagem da FAO é a mais segura e replicável numa instituição pública brasileira: modelos de pesos abertos rodando em infraestrutura própria aprovada. E há alternativas técnicas reais em melhoramento: Fed-LSH faz busca de similaridade genômica entre instituições sem compartilhar dados brutos. Fontes: TechCrunch e Korea Herald (mai/2023); OpenAI Business Data; Anthropic API and data retention; FAO Data Lab Responsible AI; Liu et al., Front Plant Sci 2025 (DOI 10.3389/fpls.2025.1684243).</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72</a:t>
            </a:fld>
            <a:endParaRPr lang="en-US"/>
          </a:p>
        </p:txBody>
      </p:sp>
    </p:spTree>
    <p:extLst>
      <p:ext uri="{BB962C8B-B14F-4D97-AF65-F5344CB8AC3E}">
        <p14:creationId xmlns:p14="http://schemas.microsoft.com/office/powerpoint/2010/main" val="6174151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slide de segurança, e vale conectá-lo explicitamente ao que a turma já praticou com o Claude Code. Quando configuraram deny-lists sobre dados brutos e exigiram plano antes da execução, estavam implementando controles que a OWASP só formalizou em 2025. Reforcem isso: eles têm a intuição correta e agora ganham o vocabulário. O Model Context Protocol tornou trivial conectar um agente a bancos de dados, APIs e arquivos — a Embrapa I/O, por exemplo, já expõe servidor MCP. Essa conveniência tem um custo. A causa raiz dos ataques é uma lacuna de confiança: a descrição da ferramenta é revisada uma vez, na conexão, mas as respostas da ferramenta entram direto no contexto do modelo, sem verificação equivalente. O item mais importante do slide é o quinto: não confiem no system prompt para restringir acesso. Escrever não leia arquivos fora de tal pasta é uma instrução em linguagem natural, e instruções em linguagem natural podem ser sobrescritas por outras que chegam via conteúdo externo — um PDF, uma página web, a resposta de uma ferramenta. A restrição tem que estar na camada de execução, onde o modelo não alcança. O rug pull merece um minuto extra porque é o mais contraintuitivo: você aprovou uma ferramenta legítima e ela mudou depois. Isso derruba a ideia de que revisar na conexão basta. Perguntem o que, no programa deles, um agente comprometido poderia exfiltrar sem que ninguém notasse, e em quanto tempo alguém notaria. Fontes: OWASP MCP Top 10 (2025); OWASP MCP Security Cheat Sheet; Microsoft for Developers, indirect prompt injection in MCP.</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73</a:t>
            </a:fld>
            <a:endParaRPr lang="en-US"/>
          </a:p>
        </p:txBody>
      </p:sp>
    </p:spTree>
    <p:extLst>
      <p:ext uri="{BB962C8B-B14F-4D97-AF65-F5344CB8AC3E}">
        <p14:creationId xmlns:p14="http://schemas.microsoft.com/office/powerpoint/2010/main" val="34288193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slide é o antídoto contra a frase confortável de que tudo bem, tem humano no circuito. Tem — e o humano falha de forma mensurável e previsível. A revisão de 2011 mostra que conselho errado de um sistema de apoio à decisão aumentou decisões erradas em 26 por cento frente a quem decidiu sem o sistema. A revisão de 2016 traz o achado mais acionável: o viés aparece quando a verificação é cognitivamente cara, mesmo em tarefa única, não apenas em multitarefa. Em melhoramento, verificar se um BLUP faz sentido exige reconstruir o modelo, checar a estrutura dos dados e pensar em interação genótipo por ambiente. É caro. Estamos exatamente na zona de risco. A meta-análise de 2026 fecha o argumento: supervisão humana deve ser avaliada como capacidade de interceptar erro, não presumida como garantia. A implicação de desenho, que conecta com a Sessão 10, é baratear a verificação: mostrar incerteza, expor os dados que sustentam a recomendação, sinalizar quando o caso está fora da distribuição de treino. Sobre o relatório When Chatbots Breed New Plant Varieties, corrijam a atribuição comum: é da Save Our Seeds, de janeiro de 2025, apresentado em workshop da Testbiotech em julho de 2025. O argumento mais forte não é a alucinação, é a causalidade: modelos identificam padrões, não mecanismos, e por isso não antecipam efeitos colaterais de intervenções genéticas extensas. É uma crítica científica séria e merece ser tratada assim. Fontes: Goddard et al., JAMIA 2011 (DOI 10.1136/amiajnl-2011-000089); Lyell &amp; Coiera, JAMIA 2016; npj Digit Med 2026; Save Our Seeds 2025; Mitchell et al. 2019; Gebru et al. 2021.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74</a:t>
            </a:fld>
            <a:endParaRPr lang="en-US"/>
          </a:p>
        </p:txBody>
      </p:sp>
    </p:spTree>
    <p:extLst>
      <p:ext uri="{BB962C8B-B14F-4D97-AF65-F5344CB8AC3E}">
        <p14:creationId xmlns:p14="http://schemas.microsoft.com/office/powerpoint/2010/main" val="41731351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Costurem equidade e carreira, porque são a mesma questão vista de dois ângulos. A concentração descreve um sistema em que a IA tende a amplificar vantagens existentes: metade do mercado comercial de sementes em quatro empresas, quase toda a capacidade de supercomputação em países ricos, e financiamento de pesquisa várias vezes maior para as commodities principais. Sobre o número de sementes, citem sempre o ano-base: as estimativas são de ONGs e a edição anterior, com vendas de 2023, indicava 56 por cento para o top 4. O mesmo relatório alerta para a corrida por dados públicos e de ecossistemas para treinar modelos, sem consulta ou compensação — o que conecta com os princípios CARE. O viés de financiamento tem consequência direta para LLMs: eles sabem muito sobre milho e pouco sobre feijão-caupi ou mandioca, e a fabricação cresce justamente onde a literatura é escassa. Mas há contrapesos reais. BrAPI, Breedbase e AlphaSimR são abertos e usados em mandioca, inhame, banana e batata-doce. A Embrapa já expõe MCP e WebMCP, então conectar agentes a dados agrícolas brasileiros é questão de configuração. Sobre carreira, a demanda é real; projeções específicas para melhoristas, como crescimento de cerca de 7 por cento até 2035 e mediana salarial próxima de 79 mil dólares, vêm de agregador secundário e estão a verificar no BLS. O perfil raro é quem domina genética quantitativa e opera agentes com disciplina. Fontes: ETC Group/GRAIN, Top 10 Agribusiness Giants 2026; World Bank, Digital Progress and Trends Report 2025; Front Sustain Food Syst 2021 (DOI 10.3389/fsufs.2021.794594); Breedbase G3 2022; USDA/Purdue 2025–2030.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75</a:t>
            </a:fld>
            <a:endParaRPr lang="en-US"/>
          </a:p>
        </p:txBody>
      </p:sp>
    </p:spTree>
    <p:extLst>
      <p:ext uri="{BB962C8B-B14F-4D97-AF65-F5344CB8AC3E}">
        <p14:creationId xmlns:p14="http://schemas.microsoft.com/office/powerpoint/2010/main" val="334548737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é o checklist condensado; a versão completa, organizada em antes de usar, configuração do agente, durante o uso, antes de decidir e depois, está no dossiê. Apresentem cada linha como resposta a um risco que já discutimos, para que não pareça burocracia solta. A classificação em três níveis responde ao caso Samsung: sem saber o que é restrito, ninguém sabe o que não colar. A regra de onde o dado restrito pode rodar responde às três camadas de confidencialidade e ao princípio da FAO de levar o modelo até o dado. O SisGen responde à armadilha da divulgação antes do cadastro, que pega estudantes de pós no primeiro congresso. Deny-list, allowlist, plan-first e log imutável respondem ao OWASP MCP Top 10 — e são exatamente o que a turma já configurou no curso. A checagem de DOI responde às taxas de fabricação de citações da Sessão 08, que pioram em temas de nicho. A exigência de reproduzir todo número por código com seed fixa implementa a separação entre explicar e estimar. O revisor nomeado com justificativa escrita independente responde ao viés de automação e ancora a Sessão 09: θ e ΔF são decisões humanas assinadas. E a documentação de prompt, modelo, data e escolhas humanas responde aos fatores Pannu: é o rastro que sustenta inventoria e titularidade. Sugiram que cada grupo de pesquisa adapte esta lista em uma página e a revise a cada trimestre, junto com o caderno adversarial. Fontes: dossie/05_breeder_aumentado_etica_ip.md, seção 8; OWASP MCP Top 10; Decreto 8.772/2016; USPTO 2024; FAO Data Lab.</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76</a:t>
            </a:fld>
            <a:endParaRPr lang="en-US"/>
          </a:p>
        </p:txBody>
      </p:sp>
    </p:spTree>
    <p:extLst>
      <p:ext uri="{BB962C8B-B14F-4D97-AF65-F5344CB8AC3E}">
        <p14:creationId xmlns:p14="http://schemas.microsoft.com/office/powerpoint/2010/main" val="25107400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Usem os dilemas para abrir o painel com todos os palestrantes; escolham dois ou três conforme o tempo. No primeiro, o DSS recomenda descartar 40 por cento das linhagens do estágio 2, incluindo uma que o melhorista sênior defendia por resistência vista em campo; dois anos depois surge uma raça nova e aquela era a única fonte de resistência. A pergunta não é só quem responde, mas o que no fluxo teria forçado a interceptação — conectem com o viés de automação e com a Sessão 10. No segundo, um pós-doc usa um agente para propor 50 edições num promotor, uma funciona, o prompt foi genérico e a seleção foi feita por script. Os fatores Pannu estão satisfeitos? O que deveria ter sido registrado, e quando? No terceiro, uma estagiária cola a tabela de BLUPs de 1.800 linhagens elite com pedigrees num chat de consumidor para fazer um gráfico. O dano já ocorreu; o que é recuperável, e que controle teria impedido — treinamento, bloqueio técnico ou assistente interno aprovado? No quarto, um servidor MCP comunitário muda a descrição de uma ferramenta depois de aprovado e passa a carregar blocos codificados com dados de ensaios; cada chamada era válida conforme o contrato. Que controle detectaria e qual preveniria? No quinto, sequências públicas de uma espécie silvestre brasileira treinam um modelo que projeta um alelo usado numa cultivar comercial. Há obrigação pelo SisGen, pelo Fundo de Cali, por ambos ou por nenhum? E se fosse um laboratório público sem exploração comercial? Fontes: dossie/05_breeder_aumentado_etica_ip.md, seção 9; Lei 13.123/2015; CBD Decisão 16/2; USPTO 2024; OWASP MCP Top 10.</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77</a:t>
            </a:fld>
            <a:endParaRPr lang="en-US"/>
          </a:p>
        </p:txBody>
      </p:sp>
    </p:spTree>
    <p:extLst>
      <p:ext uri="{BB962C8B-B14F-4D97-AF65-F5344CB8AC3E}">
        <p14:creationId xmlns:p14="http://schemas.microsoft.com/office/powerpoint/2010/main" val="37920934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Fechem retomando a pergunta-guia e respondendo-a explicitamente: o agente acelera, e quem assina é você. As quatro primeiras linhas condensam o bloco. Agentes já produzem descobertas validadas, mas a queda de precisão de 0,91 para 0,64 no Chat-RGIE lembra que benchmark não é produção. A percepção de ganho não substitui medição, como mostrou a METR, ainda que com ferramentas já superadas. O Brasil ainda não tem lei específica de IA, mas a LGPD, a Lei de Acesso ao Patrimônio Genético, a Lei de Cultivares e os contratos já criam deveres exigíveis hoje. E a máquina não é inventora nem autora: o que sustenta a titularidade é o rastro documentado da contribuição humana. Os três hábitos são a parte mais durável do bloco, porque não dependem de qual modelo estará em uso no ano que vem. Prever antes de perguntar obriga o melhorista a ter uma hipótese própria; quando a IA discorda, isso vira investigação, não ajuste silencioso do palpite. Verificar o caro, não o fácil, aplica diretamente a evidência sobre viés de automação: o erro passa exatamente onde verificar dá trabalho, então o tempo de verificação deve ser proporcional ao custo da decisão. Manter um caderno adversarial, registrando onde a IA errou na sua cultura e no seu patossistema, constrói em poucos meses um mapa de confiabilidade que nenhum benchmark publicado oferece. Encerrem convidando para o painel de perguntas. Fontes: Wei &amp; Fan 2025; METR 2025/2026; Lei 13.709/2018; Lei 13.123/2015; Lei 9.456/1997; USPTO 2024; Lyell &amp; Coiera 2016.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78</a:t>
            </a:fld>
            <a:endParaRPr lang="en-US"/>
          </a:p>
        </p:txBody>
      </p:sp>
    </p:spTree>
    <p:extLst>
      <p:ext uri="{BB962C8B-B14F-4D97-AF65-F5344CB8AC3E}">
        <p14:creationId xmlns:p14="http://schemas.microsoft.com/office/powerpoint/2010/main" val="30745539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Leia as seis frases devagar. Cada uma aponta para uma sessão: dado (04), agente (05), validação (06 e bloco 1), otimização (09 e blocos 2 e 4), menu novo (blocos 2 e 3), responsabilidade (bloco 5). Não acrescente uma sétima. Se sobrar um minuto, peça que cada aluno escolha a frase que mais muda o trabalho dele na segunda-feira. Fontes: síntese da Sessão 11.</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79</a:t>
            </a:fld>
            <a:endParaRPr lang="en-US"/>
          </a:p>
        </p:txBody>
      </p:sp>
    </p:spTree>
    <p:extLst>
      <p:ext uri="{BB962C8B-B14F-4D97-AF65-F5344CB8AC3E}">
        <p14:creationId xmlns:p14="http://schemas.microsoft.com/office/powerpoint/2010/main" val="29194434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Este slide é mais útil que uma lista de papers. Leia as seis perguntas como checklist de entrevista e de diagnóstico de programa. A última é a que separa breeder aumentado de automação: score alto com ensaio ruim é exatamente o caso em que o viés de automação passa. Ligue à Sessão 06, acurácia otimista, e ao bloco 5, interceptação de erro. Fontes: blocos 1 a 5.</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80</a:t>
            </a:fld>
            <a:endParaRPr lang="en-US"/>
          </a:p>
        </p:txBody>
      </p:sp>
    </p:spTree>
    <p:extLst>
      <p:ext uri="{BB962C8B-B14F-4D97-AF65-F5344CB8AC3E}">
        <p14:creationId xmlns:p14="http://schemas.microsoft.com/office/powerpoint/2010/main" val="41482625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Não peça que leiam os cinco dossiês. Peça um: o do bloco que mais encostou no projeto de cada um. A leitura rápida é o caminho de 40 minutos. O livro do programa é a referência de prateleira. Reforce que o repositório do curso continua sendo o lugar para praticar dado, código, GS e OCS; esta sessão não substitui isso. Fontes: README da sessão; Borém e Bhering 2026.</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81</a:t>
            </a:fld>
            <a:endParaRPr lang="en-US"/>
          </a:p>
        </p:txBody>
      </p:sp>
    </p:spTree>
    <p:extLst>
      <p:ext uri="{BB962C8B-B14F-4D97-AF65-F5344CB8AC3E}">
        <p14:creationId xmlns:p14="http://schemas.microsoft.com/office/powerpoint/2010/main" val="144755359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Abra o microfone. Se ninguém falar em 20 segundos, use a pergunta 1 do roteiro: o que quebra primeiro, o foundation model desatualizado ou o caderno de campo sujo? Mantenha cada troca em dois a quatro minutos. Se a resposta virar tutorial de AlphaFold ou de CRISPR, redirecione para a decisão do programa. Reserve cinco minutos finais para agradecimento. Fontes: roteiro_qa.md.</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82</a:t>
            </a:fld>
            <a:endParaRPr lang="en-US"/>
          </a:p>
        </p:txBody>
      </p:sp>
    </p:spTree>
    <p:extLst>
      <p:ext uri="{BB962C8B-B14F-4D97-AF65-F5344CB8AC3E}">
        <p14:creationId xmlns:p14="http://schemas.microsoft.com/office/powerpoint/2010/main" val="83498518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Agradecimento curto. Não reabra conteúdo. Lembre os contatos do README do curso e que o material fica no repositório. Fontes: README do curso.</a:t>
            </a:r>
            <a:endParaRPr lang="en-US"/>
          </a:p>
        </p:txBody>
      </p:sp>
      <p:sp>
        <p:nvSpPr>
          <p:cNvPr id="4" name="Slide Number Placeholder 3"/>
          <p:cNvSpPr>
            <a:spLocks noGrp="1"/>
          </p:cNvSpPr>
          <p:nvPr>
            <p:ph type="sldNum" sz="quarter" idx="5"/>
          </p:nvPr>
        </p:nvSpPr>
        <p:spPr/>
        <p:txBody>
          <a:bodyPr/>
          <a:lstStyle/>
          <a:p>
            <a:fld id="{359E04E6-F13B-4A64-8A0A-A2D4669AAC42}" type="slidenum">
              <a:rPr lang="en-US" smtClean="0"/>
              <a:t>83</a:t>
            </a:fld>
            <a:endParaRPr lang="en-US"/>
          </a:p>
        </p:txBody>
      </p:sp>
    </p:spTree>
    <p:extLst>
      <p:ext uri="{BB962C8B-B14F-4D97-AF65-F5344CB8AC3E}">
        <p14:creationId xmlns:p14="http://schemas.microsoft.com/office/powerpoint/2010/main" val="3776046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3447-F7C5-CEF1-BCF2-71397312D692}"/>
              </a:ext>
            </a:extLst>
          </p:cNvPr>
          <p:cNvSpPr>
            <a:spLocks noGrp="1"/>
          </p:cNvSpPr>
          <p:nvPr>
            <p:ph type="ctrTitle"/>
          </p:nvPr>
        </p:nvSpPr>
        <p:spPr>
          <a:xfrm>
            <a:off x="1935560" y="1425038"/>
            <a:ext cx="11613356" cy="3031478"/>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250D7D-DEDB-9B58-11A6-40F549E372D7}"/>
              </a:ext>
            </a:extLst>
          </p:cNvPr>
          <p:cNvSpPr>
            <a:spLocks noGrp="1"/>
          </p:cNvSpPr>
          <p:nvPr>
            <p:ph type="subTitle" idx="1"/>
          </p:nvPr>
        </p:nvSpPr>
        <p:spPr>
          <a:xfrm>
            <a:off x="1935560" y="4573421"/>
            <a:ext cx="11613356" cy="2102281"/>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FAE130-8889-51C5-7616-9063A1C9CB4B}"/>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E45D9374-6D9D-5FD1-0800-117ADEBE9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C57AA-41FA-A50C-DB20-363A65FC4FED}"/>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2554814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331C-BC90-B0DF-FBFC-6C87DC3A2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6F6DBB-CA19-4F86-4A46-171FA2D4C6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C1343-78D3-EFC3-0398-CB73082376DA}"/>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D2938FB4-D36B-D9B8-6964-3A889CE9B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23DF41-8537-2E33-6A4E-F1081185E84A}"/>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71803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79D5-B2D5-9254-701A-8564CA4D6064}"/>
              </a:ext>
            </a:extLst>
          </p:cNvPr>
          <p:cNvSpPr>
            <a:spLocks noGrp="1"/>
          </p:cNvSpPr>
          <p:nvPr>
            <p:ph type="title"/>
          </p:nvPr>
        </p:nvSpPr>
        <p:spPr>
          <a:xfrm>
            <a:off x="1056493" y="2170815"/>
            <a:ext cx="13355360" cy="3622052"/>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47A0FE-8ADA-C726-0221-5C3A704CE6AF}"/>
              </a:ext>
            </a:extLst>
          </p:cNvPr>
          <p:cNvSpPr>
            <a:spLocks noGrp="1"/>
          </p:cNvSpPr>
          <p:nvPr>
            <p:ph type="body" idx="1"/>
          </p:nvPr>
        </p:nvSpPr>
        <p:spPr>
          <a:xfrm>
            <a:off x="1056493" y="5827133"/>
            <a:ext cx="13355360" cy="190475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CCE9A6-221B-67F0-B3D9-01BC7BA5F26E}"/>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0C9B53BC-6B7C-B39C-CE86-F93CA16A42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D0255-F3BC-31D6-2080-9451EF5FA0F0}"/>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631468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7F535-8ABF-86B4-15A8-0CA924ED84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00BE61-F6C1-5496-C048-4E56839B770F}"/>
              </a:ext>
            </a:extLst>
          </p:cNvPr>
          <p:cNvSpPr>
            <a:spLocks noGrp="1"/>
          </p:cNvSpPr>
          <p:nvPr>
            <p:ph sz="half" idx="1"/>
          </p:nvPr>
        </p:nvSpPr>
        <p:spPr>
          <a:xfrm>
            <a:off x="1064558" y="2317952"/>
            <a:ext cx="6580902" cy="55247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68ACF2-81FD-4426-F737-5B431F985B79}"/>
              </a:ext>
            </a:extLst>
          </p:cNvPr>
          <p:cNvSpPr>
            <a:spLocks noGrp="1"/>
          </p:cNvSpPr>
          <p:nvPr>
            <p:ph sz="half" idx="2"/>
          </p:nvPr>
        </p:nvSpPr>
        <p:spPr>
          <a:xfrm>
            <a:off x="7839015" y="2317952"/>
            <a:ext cx="6580902" cy="55247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A04C3B-5EEF-2443-9A90-E6E0767717CB}"/>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6" name="Footer Placeholder 5">
            <a:extLst>
              <a:ext uri="{FF2B5EF4-FFF2-40B4-BE49-F238E27FC236}">
                <a16:creationId xmlns:a16="http://schemas.microsoft.com/office/drawing/2014/main" id="{8EFA26E5-3D5F-86B0-80C5-4B2F1B1FD8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08E66B-D970-2BA8-D012-357B3A6D44C9}"/>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3711206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2F59A-81D5-31EB-44E8-3F1393FE749B}"/>
              </a:ext>
            </a:extLst>
          </p:cNvPr>
          <p:cNvSpPr>
            <a:spLocks noGrp="1"/>
          </p:cNvSpPr>
          <p:nvPr>
            <p:ph type="title"/>
          </p:nvPr>
        </p:nvSpPr>
        <p:spPr>
          <a:xfrm>
            <a:off x="1066574" y="463592"/>
            <a:ext cx="13355360" cy="1683036"/>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4CE487-5634-1F1B-8DD1-DE1EFF1102FD}"/>
              </a:ext>
            </a:extLst>
          </p:cNvPr>
          <p:cNvSpPr>
            <a:spLocks noGrp="1"/>
          </p:cNvSpPr>
          <p:nvPr>
            <p:ph type="body" idx="1"/>
          </p:nvPr>
        </p:nvSpPr>
        <p:spPr>
          <a:xfrm>
            <a:off x="1066575" y="2134532"/>
            <a:ext cx="6550658" cy="1046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78AFB1-D79C-542C-0584-2E879597C5A0}"/>
              </a:ext>
            </a:extLst>
          </p:cNvPr>
          <p:cNvSpPr>
            <a:spLocks noGrp="1"/>
          </p:cNvSpPr>
          <p:nvPr>
            <p:ph sz="half" idx="2"/>
          </p:nvPr>
        </p:nvSpPr>
        <p:spPr>
          <a:xfrm>
            <a:off x="1066575" y="3180634"/>
            <a:ext cx="6550658" cy="46782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A4F9BF-17D9-7B6F-E600-C68D36D71FA7}"/>
              </a:ext>
            </a:extLst>
          </p:cNvPr>
          <p:cNvSpPr>
            <a:spLocks noGrp="1"/>
          </p:cNvSpPr>
          <p:nvPr>
            <p:ph type="body" sz="quarter" idx="3"/>
          </p:nvPr>
        </p:nvSpPr>
        <p:spPr>
          <a:xfrm>
            <a:off x="7839016" y="2134532"/>
            <a:ext cx="6582919" cy="1046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681D25-0662-5E13-D1B5-1911CC5A8B1F}"/>
              </a:ext>
            </a:extLst>
          </p:cNvPr>
          <p:cNvSpPr>
            <a:spLocks noGrp="1"/>
          </p:cNvSpPr>
          <p:nvPr>
            <p:ph sz="quarter" idx="4"/>
          </p:nvPr>
        </p:nvSpPr>
        <p:spPr>
          <a:xfrm>
            <a:off x="7839016" y="3180634"/>
            <a:ext cx="6582919" cy="46782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D2ACB9-8992-396E-7B37-BEE8F917D348}"/>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8" name="Footer Placeholder 7">
            <a:extLst>
              <a:ext uri="{FF2B5EF4-FFF2-40B4-BE49-F238E27FC236}">
                <a16:creationId xmlns:a16="http://schemas.microsoft.com/office/drawing/2014/main" id="{07E4EBEF-E46D-2FBC-9848-816BDCC274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BB69A8-EF26-7E0A-8B66-F776FAE982A9}"/>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1544358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D266-45B3-B571-6419-2CFC59C345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AFE2CA-D3DE-9517-EA23-051C1267A4B6}"/>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4" name="Footer Placeholder 3">
            <a:extLst>
              <a:ext uri="{FF2B5EF4-FFF2-40B4-BE49-F238E27FC236}">
                <a16:creationId xmlns:a16="http://schemas.microsoft.com/office/drawing/2014/main" id="{A8059D68-307F-7296-E7C6-886AF45B5F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F20365-D702-CFEC-1E78-C87D0272E9AB}"/>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1139457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80D6B8-E9A6-AC9C-7825-CF22E8A41057}"/>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3" name="Footer Placeholder 2">
            <a:extLst>
              <a:ext uri="{FF2B5EF4-FFF2-40B4-BE49-F238E27FC236}">
                <a16:creationId xmlns:a16="http://schemas.microsoft.com/office/drawing/2014/main" id="{F496CCF7-0AEC-0A0E-79B3-9D2F3EB703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A34348-EACE-77A9-C028-FE8335FD0D63}"/>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3075563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A27BB-0DAE-BFE0-5E73-9BFDFD6C41B2}"/>
              </a:ext>
            </a:extLst>
          </p:cNvPr>
          <p:cNvSpPr>
            <a:spLocks noGrp="1"/>
          </p:cNvSpPr>
          <p:nvPr>
            <p:ph type="title"/>
          </p:nvPr>
        </p:nvSpPr>
        <p:spPr>
          <a:xfrm>
            <a:off x="1066575" y="580496"/>
            <a:ext cx="4994146" cy="2031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DEA498-3FD7-10A0-B798-9361A125F750}"/>
              </a:ext>
            </a:extLst>
          </p:cNvPr>
          <p:cNvSpPr>
            <a:spLocks noGrp="1"/>
          </p:cNvSpPr>
          <p:nvPr>
            <p:ph idx="1"/>
          </p:nvPr>
        </p:nvSpPr>
        <p:spPr>
          <a:xfrm>
            <a:off x="6582920" y="1253712"/>
            <a:ext cx="7839015" cy="61879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146ED7-DE32-CEDF-A562-922B0F061690}"/>
              </a:ext>
            </a:extLst>
          </p:cNvPr>
          <p:cNvSpPr>
            <a:spLocks noGrp="1"/>
          </p:cNvSpPr>
          <p:nvPr>
            <p:ph type="body" sz="half" idx="2"/>
          </p:nvPr>
        </p:nvSpPr>
        <p:spPr>
          <a:xfrm>
            <a:off x="1066575" y="2612231"/>
            <a:ext cx="4994146" cy="48394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15AFDD-EB43-F11E-B1C8-5FC2267B125C}"/>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6" name="Footer Placeholder 5">
            <a:extLst>
              <a:ext uri="{FF2B5EF4-FFF2-40B4-BE49-F238E27FC236}">
                <a16:creationId xmlns:a16="http://schemas.microsoft.com/office/drawing/2014/main" id="{B4B5B5CD-5D1F-7CDD-8260-71763CA8AD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AB50CB-9725-E122-A088-945BCD8DEF46}"/>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542564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4F0AD-DD87-D9A9-0DDB-3EF5066B1D51}"/>
              </a:ext>
            </a:extLst>
          </p:cNvPr>
          <p:cNvSpPr>
            <a:spLocks noGrp="1"/>
          </p:cNvSpPr>
          <p:nvPr>
            <p:ph type="title"/>
          </p:nvPr>
        </p:nvSpPr>
        <p:spPr>
          <a:xfrm>
            <a:off x="1066575" y="580496"/>
            <a:ext cx="4994146" cy="2031736"/>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6E16DD-CE44-6A1E-9C09-2A601142BFFC}"/>
              </a:ext>
            </a:extLst>
          </p:cNvPr>
          <p:cNvSpPr>
            <a:spLocks noGrp="1" noChangeAspect="1"/>
          </p:cNvSpPr>
          <p:nvPr>
            <p:ph type="pic" idx="1"/>
          </p:nvPr>
        </p:nvSpPr>
        <p:spPr>
          <a:xfrm>
            <a:off x="6582920" y="1253712"/>
            <a:ext cx="7839015" cy="61879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BA5263-69D2-65C5-0AEB-D43782ED5872}"/>
              </a:ext>
            </a:extLst>
          </p:cNvPr>
          <p:cNvSpPr>
            <a:spLocks noGrp="1"/>
          </p:cNvSpPr>
          <p:nvPr>
            <p:ph type="body" sz="half" idx="2"/>
          </p:nvPr>
        </p:nvSpPr>
        <p:spPr>
          <a:xfrm>
            <a:off x="1066575" y="2612231"/>
            <a:ext cx="4994146" cy="48394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7D7AAB-5398-1946-9FC0-C8BC4B8FD69B}"/>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6" name="Footer Placeholder 5">
            <a:extLst>
              <a:ext uri="{FF2B5EF4-FFF2-40B4-BE49-F238E27FC236}">
                <a16:creationId xmlns:a16="http://schemas.microsoft.com/office/drawing/2014/main" id="{8DFDC1C0-8A67-3063-2571-4C92CA656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BFDEF4-B293-3A94-906E-757CDB408EE5}"/>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4289379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6400-CEFD-9B84-55EA-5DD228D1A1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C08AA0-0DB0-2971-52A0-A5DFDE36CB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92C2F-A874-BC4D-3F47-0E08BE92EBA0}"/>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544989D3-A23B-4CFB-6256-18B2AFD934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73C2C3-0212-8FD3-DC3C-847D44B2B33B}"/>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72330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E43DFF-D8BB-6FA8-E9AB-D27BB4D65179}"/>
              </a:ext>
            </a:extLst>
          </p:cNvPr>
          <p:cNvSpPr>
            <a:spLocks noGrp="1"/>
          </p:cNvSpPr>
          <p:nvPr>
            <p:ph type="title" orient="vert"/>
          </p:nvPr>
        </p:nvSpPr>
        <p:spPr>
          <a:xfrm>
            <a:off x="11081077" y="463591"/>
            <a:ext cx="3338840" cy="737915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1807EB-5B3C-E452-595E-2EAC96E6990F}"/>
              </a:ext>
            </a:extLst>
          </p:cNvPr>
          <p:cNvSpPr>
            <a:spLocks noGrp="1"/>
          </p:cNvSpPr>
          <p:nvPr>
            <p:ph type="body" orient="vert" idx="1"/>
          </p:nvPr>
        </p:nvSpPr>
        <p:spPr>
          <a:xfrm>
            <a:off x="1064558" y="463591"/>
            <a:ext cx="9822964" cy="73791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F27397-52F6-2BA9-515D-E5FAE0987735}"/>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BF1D1DF3-7DA1-22DA-E628-57E772DFD6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5E61C7-A9FA-348F-916C-C267C0E3F09E}"/>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1001440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5248F-D9D4-1326-B619-B007A7E72CE0}"/>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E5E4186-38E4-414C-4C17-2FB927C70A93}"/>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80E18-6D34-C5C0-D230-A1A5090D28A7}"/>
              </a:ext>
            </a:extLst>
          </p:cNvPr>
          <p:cNvSpPr>
            <a:spLocks noGrp="1"/>
          </p:cNvSpPr>
          <p:nvPr>
            <p:ph type="dt" sz="half" idx="10"/>
          </p:nvPr>
        </p:nvSpPr>
        <p:spPr/>
        <p:txBody>
          <a:body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96D0118D-171B-B3FD-CB70-C7BBD480E8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2B5AB-0652-149D-E8EB-86F19C81FE99}"/>
              </a:ext>
            </a:extLst>
          </p:cNvPr>
          <p:cNvSpPr>
            <a:spLocks noGrp="1"/>
          </p:cNvSpPr>
          <p:nvPr>
            <p:ph type="sldNum" sz="quarter" idx="12"/>
          </p:nvPr>
        </p:nvSpPr>
        <p:spPr/>
        <p:txBody>
          <a:bodyPr/>
          <a:lstStyle/>
          <a:p>
            <a:fld id="{05BC34DA-4128-4C1A-8C1E-5143575C8FA4}" type="slidenum">
              <a:rPr lang="en-US" smtClean="0"/>
              <a:t>‹#›</a:t>
            </a:fld>
            <a:endParaRPr lang="en-US"/>
          </a:p>
        </p:txBody>
      </p:sp>
    </p:spTree>
    <p:extLst>
      <p:ext uri="{BB962C8B-B14F-4D97-AF65-F5344CB8AC3E}">
        <p14:creationId xmlns:p14="http://schemas.microsoft.com/office/powerpoint/2010/main" val="3025684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999B31-191B-2D7D-5B19-D8AAE9BDFE67}"/>
              </a:ext>
            </a:extLst>
          </p:cNvPr>
          <p:cNvSpPr>
            <a:spLocks noGrp="1"/>
          </p:cNvSpPr>
          <p:nvPr>
            <p:ph type="title"/>
          </p:nvPr>
        </p:nvSpPr>
        <p:spPr>
          <a:xfrm>
            <a:off x="1064558" y="463592"/>
            <a:ext cx="13355360" cy="1683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E15727-B598-12A8-1537-9B38829AA678}"/>
              </a:ext>
            </a:extLst>
          </p:cNvPr>
          <p:cNvSpPr>
            <a:spLocks noGrp="1"/>
          </p:cNvSpPr>
          <p:nvPr>
            <p:ph type="body" idx="1"/>
          </p:nvPr>
        </p:nvSpPr>
        <p:spPr>
          <a:xfrm>
            <a:off x="1064558" y="2317952"/>
            <a:ext cx="13355360" cy="55247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D6ED3-7C61-7E8B-4873-F855475E0937}"/>
              </a:ext>
            </a:extLst>
          </p:cNvPr>
          <p:cNvSpPr>
            <a:spLocks noGrp="1"/>
          </p:cNvSpPr>
          <p:nvPr>
            <p:ph type="dt" sz="half" idx="2"/>
          </p:nvPr>
        </p:nvSpPr>
        <p:spPr>
          <a:xfrm>
            <a:off x="1064559" y="8070507"/>
            <a:ext cx="3484007" cy="463590"/>
          </a:xfrm>
          <a:prstGeom prst="rect">
            <a:avLst/>
          </a:prstGeom>
        </p:spPr>
        <p:txBody>
          <a:bodyPr vert="horz" lIns="91440" tIns="45720" rIns="91440" bIns="45720" rtlCol="0" anchor="ctr"/>
          <a:lstStyle>
            <a:lvl1pPr algn="l">
              <a:defRPr sz="1200">
                <a:solidFill>
                  <a:schemeClr val="tx1">
                    <a:tint val="82000"/>
                  </a:schemeClr>
                </a:solidFill>
              </a:defRPr>
            </a:lvl1pPr>
          </a:lstStyle>
          <a:p>
            <a:fld id="{97BF769F-4EDA-46FE-A7E4-C2848B83A3BF}" type="datetimeFigureOut">
              <a:rPr lang="en-US" smtClean="0"/>
              <a:t>10/26/2026</a:t>
            </a:fld>
            <a:endParaRPr lang="en-US"/>
          </a:p>
        </p:txBody>
      </p:sp>
      <p:sp>
        <p:nvSpPr>
          <p:cNvPr id="5" name="Footer Placeholder 4">
            <a:extLst>
              <a:ext uri="{FF2B5EF4-FFF2-40B4-BE49-F238E27FC236}">
                <a16:creationId xmlns:a16="http://schemas.microsoft.com/office/drawing/2014/main" id="{A1A1ECCB-CB03-3BB0-A8CF-FB1132A6F727}"/>
              </a:ext>
            </a:extLst>
          </p:cNvPr>
          <p:cNvSpPr>
            <a:spLocks noGrp="1"/>
          </p:cNvSpPr>
          <p:nvPr>
            <p:ph type="ftr" sz="quarter" idx="3"/>
          </p:nvPr>
        </p:nvSpPr>
        <p:spPr>
          <a:xfrm>
            <a:off x="5129233" y="8070507"/>
            <a:ext cx="5226010" cy="463590"/>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135CE9-D593-4C24-E5EF-6197C55D0EF7}"/>
              </a:ext>
            </a:extLst>
          </p:cNvPr>
          <p:cNvSpPr>
            <a:spLocks noGrp="1"/>
          </p:cNvSpPr>
          <p:nvPr>
            <p:ph type="sldNum" sz="quarter" idx="4"/>
          </p:nvPr>
        </p:nvSpPr>
        <p:spPr>
          <a:xfrm>
            <a:off x="10935911" y="8070507"/>
            <a:ext cx="3484007" cy="463590"/>
          </a:xfrm>
          <a:prstGeom prst="rect">
            <a:avLst/>
          </a:prstGeom>
        </p:spPr>
        <p:txBody>
          <a:bodyPr vert="horz" lIns="91440" tIns="45720" rIns="91440" bIns="45720" rtlCol="0" anchor="ctr"/>
          <a:lstStyle>
            <a:lvl1pPr algn="r">
              <a:defRPr sz="1200">
                <a:solidFill>
                  <a:schemeClr val="tx1">
                    <a:tint val="82000"/>
                  </a:schemeClr>
                </a:solidFill>
              </a:defRPr>
            </a:lvl1pPr>
          </a:lstStyle>
          <a:p>
            <a:fld id="{05BC34DA-4128-4C1A-8C1E-5143575C8FA4}" type="slidenum">
              <a:rPr lang="en-US" smtClean="0"/>
              <a:t>‹#›</a:t>
            </a:fld>
            <a:endParaRPr lang="en-US"/>
          </a:p>
        </p:txBody>
      </p:sp>
      <p:sp>
        <p:nvSpPr>
          <p:cNvPr id="8" name="TextBox 7">
            <a:extLst>
              <a:ext uri="{FF2B5EF4-FFF2-40B4-BE49-F238E27FC236}">
                <a16:creationId xmlns:a16="http://schemas.microsoft.com/office/drawing/2014/main" id="{617BD796-C939-9195-7379-744C13F8E653}"/>
              </a:ext>
            </a:extLst>
          </p:cNvPr>
          <p:cNvSpPr txBox="1"/>
          <p:nvPr userDrawn="1">
            <p:extLst>
              <p:ext uri="{1162E1C5-73C7-4A58-AE30-91384D911F3F}">
                <p184:classification xmlns:p184="http://schemas.microsoft.com/office/powerpoint/2018/4/main" val="ftr"/>
              </p:ext>
            </p:extLst>
          </p:nvPr>
        </p:nvSpPr>
        <p:spPr>
          <a:xfrm>
            <a:off x="13885863" y="8308658"/>
            <a:ext cx="1592262" cy="335280"/>
          </a:xfrm>
          <a:prstGeom prst="rect">
            <a:avLst/>
          </a:prstGeom>
        </p:spPr>
        <p:txBody>
          <a:bodyPr horzOverflow="overflow" lIns="0" tIns="0" rIns="0" bIns="0">
            <a:spAutoFit/>
          </a:bodyPr>
          <a:lstStyle/>
          <a:p>
            <a:pPr algn="l"/>
            <a:r>
              <a:rPr lang="en-US" sz="2200">
                <a:solidFill>
                  <a:srgbClr val="FF8939">
                    <a:alpha val="50000"/>
                  </a:srgbClr>
                </a:solidFill>
                <a:latin typeface="Aptos" panose="020B0004020202020204" pitchFamily="34" charset="0"/>
              </a:rPr>
              <a:t>RESTRICTED</a:t>
            </a:r>
          </a:p>
        </p:txBody>
      </p:sp>
    </p:spTree>
    <p:extLst>
      <p:ext uri="{BB962C8B-B14F-4D97-AF65-F5344CB8AC3E}">
        <p14:creationId xmlns:p14="http://schemas.microsoft.com/office/powerpoint/2010/main" val="1760945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9CB3F-9559-4BDD-6B53-EFA6DFD70583}"/>
              </a:ext>
            </a:extLst>
          </p:cNvPr>
          <p:cNvSpPr>
            <a:spLocks noGrp="1"/>
          </p:cNvSpPr>
          <p:nvPr>
            <p:ph type="title"/>
          </p:nvPr>
        </p:nvSpPr>
        <p:spPr/>
        <p:txBody>
          <a:bodyPr>
            <a:normAutofit/>
          </a:bodyPr>
          <a:lstStyle/>
          <a:p>
            <a:r>
              <a:rPr lang="pt-BR" sz="2400"/>
              <a:t>Tendências futuras, perguntas e fechamento</a:t>
            </a:r>
            <a:endParaRPr lang="en-US" sz="2400"/>
          </a:p>
        </p:txBody>
      </p:sp>
      <p:sp>
        <p:nvSpPr>
          <p:cNvPr id="3" name="Text Placeholder 2">
            <a:extLst>
              <a:ext uri="{FF2B5EF4-FFF2-40B4-BE49-F238E27FC236}">
                <a16:creationId xmlns:a16="http://schemas.microsoft.com/office/drawing/2014/main" id="{CD28093F-5655-C00D-32BF-A041F62CE44E}"/>
              </a:ext>
            </a:extLst>
          </p:cNvPr>
          <p:cNvSpPr>
            <a:spLocks noGrp="1"/>
          </p:cNvSpPr>
          <p:nvPr>
            <p:ph type="body" idx="1"/>
          </p:nvPr>
        </p:nvSpPr>
        <p:spPr/>
        <p:txBody>
          <a:bodyPr wrap="square">
            <a:normAutofit/>
          </a:bodyPr>
          <a:lstStyle/>
          <a:p>
            <a:r>
              <a:rPr lang="pt-BR" sz="1600"/>
              <a:t>• FIT 796 · IA no melhoramento de plantas · UFV × Bayer × IDATA</a:t>
            </a:r>
          </a:p>
          <a:p>
            <a:r>
              <a:rPr lang="pt-BR" sz="1600"/>
              <a:t>• 5 de novembro de 2026 · 13h30–17h00 · Instrutores: todos</a:t>
            </a:r>
          </a:p>
          <a:p>
            <a:r>
              <a:rPr lang="pt-BR" sz="1600"/>
              <a:t>• Sem lab novo: o horizonte 2024–2026, com número e fonte</a:t>
            </a:r>
          </a:p>
          <a:p>
            <a:r>
              <a:rPr lang="pt-BR" sz="1600"/>
              <a:t>• Cinco blocos: modelos, moléculas, edição, plataforma, governança</a:t>
            </a:r>
          </a:p>
          <a:p>
            <a:r>
              <a:rPr lang="pt-BR" sz="1600"/>
              <a:t>• O detalhe está nas notas do apresentador e na pasta dossie/</a:t>
            </a:r>
            <a:endParaRPr lang="en-US" sz="1600"/>
          </a:p>
        </p:txBody>
      </p:sp>
    </p:spTree>
    <p:extLst>
      <p:ext uri="{BB962C8B-B14F-4D97-AF65-F5344CB8AC3E}">
        <p14:creationId xmlns:p14="http://schemas.microsoft.com/office/powerpoint/2010/main" val="2130357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5258D-F795-403B-130C-9B46A2D151D6}"/>
              </a:ext>
            </a:extLst>
          </p:cNvPr>
          <p:cNvSpPr>
            <a:spLocks noGrp="1"/>
          </p:cNvSpPr>
          <p:nvPr>
            <p:ph type="title"/>
          </p:nvPr>
        </p:nvSpPr>
        <p:spPr/>
        <p:txBody>
          <a:bodyPr>
            <a:normAutofit/>
          </a:bodyPr>
          <a:lstStyle/>
          <a:p>
            <a:r>
              <a:rPr lang="pt-BR" sz="2400"/>
              <a:t>O arco dos três dias</a:t>
            </a:r>
            <a:endParaRPr lang="en-US" sz="2400"/>
          </a:p>
        </p:txBody>
      </p:sp>
      <p:sp>
        <p:nvSpPr>
          <p:cNvPr id="3" name="Text Placeholder 2">
            <a:extLst>
              <a:ext uri="{FF2B5EF4-FFF2-40B4-BE49-F238E27FC236}">
                <a16:creationId xmlns:a16="http://schemas.microsoft.com/office/drawing/2014/main" id="{321A7E01-1DF1-E598-2F89-F72B4F60C3F6}"/>
              </a:ext>
            </a:extLst>
          </p:cNvPr>
          <p:cNvSpPr>
            <a:spLocks noGrp="1"/>
          </p:cNvSpPr>
          <p:nvPr>
            <p:ph type="body" idx="1"/>
          </p:nvPr>
        </p:nvSpPr>
        <p:spPr/>
        <p:txBody>
          <a:bodyPr wrap="square">
            <a:normAutofit/>
          </a:bodyPr>
          <a:lstStyle/>
          <a:p>
            <a:r>
              <a:rPr lang="pt-BR" sz="1600"/>
              <a:t>• Dia 1: fundamentos, HTP, qualidade de dado, coding com agente</a:t>
            </a:r>
          </a:p>
          <a:p>
            <a:r>
              <a:rPr lang="pt-BR" sz="1600"/>
              <a:t>• Dia 2: seleção genômica, ML/DL, LLM em paper, OCS e simulação</a:t>
            </a:r>
          </a:p>
          <a:p>
            <a:r>
              <a:rPr lang="pt-BR" sz="1600"/>
              <a:t>• Dia 3: decisão de programa (manhã) e tendências (tarde)</a:t>
            </a:r>
          </a:p>
          <a:p>
            <a:r>
              <a:rPr lang="pt-BR" sz="1600"/>
              <a:t>• Filo: dado limpo → agente sob regra → predição honesta → otimização</a:t>
            </a:r>
          </a:p>
          <a:p>
            <a:r>
              <a:rPr lang="pt-BR" sz="1600"/>
              <a:t>• A decisão e a responsabilidade ficam com o melhorista</a:t>
            </a:r>
            <a:endParaRPr lang="en-US" sz="1600"/>
          </a:p>
        </p:txBody>
      </p:sp>
    </p:spTree>
    <p:extLst>
      <p:ext uri="{BB962C8B-B14F-4D97-AF65-F5344CB8AC3E}">
        <p14:creationId xmlns:p14="http://schemas.microsoft.com/office/powerpoint/2010/main" val="152503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EC9F1-DF34-3E7E-970E-538103FF2A53}"/>
              </a:ext>
            </a:extLst>
          </p:cNvPr>
          <p:cNvSpPr>
            <a:spLocks noGrp="1"/>
          </p:cNvSpPr>
          <p:nvPr>
            <p:ph type="title"/>
          </p:nvPr>
        </p:nvSpPr>
        <p:spPr/>
        <p:txBody>
          <a:bodyPr>
            <a:normAutofit/>
          </a:bodyPr>
          <a:lstStyle/>
          <a:p>
            <a:r>
              <a:rPr lang="pt-BR" sz="2400"/>
              <a:t>O que esta sessão não repete</a:t>
            </a:r>
            <a:endParaRPr lang="en-US" sz="2400"/>
          </a:p>
        </p:txBody>
      </p:sp>
      <p:sp>
        <p:nvSpPr>
          <p:cNvPr id="3" name="Text Placeholder 2">
            <a:extLst>
              <a:ext uri="{FF2B5EF4-FFF2-40B4-BE49-F238E27FC236}">
                <a16:creationId xmlns:a16="http://schemas.microsoft.com/office/drawing/2014/main" id="{715862AD-7459-5017-586F-D0A21461A625}"/>
              </a:ext>
            </a:extLst>
          </p:cNvPr>
          <p:cNvSpPr>
            <a:spLocks noGrp="1"/>
          </p:cNvSpPr>
          <p:nvPr>
            <p:ph type="body" idx="1"/>
          </p:nvPr>
        </p:nvSpPr>
        <p:spPr/>
        <p:txBody>
          <a:bodyPr wrap="square">
            <a:normAutofit/>
          </a:bodyPr>
          <a:lstStyle/>
          <a:p>
            <a:r>
              <a:rPr lang="pt-BR" sz="1600"/>
              <a:t>• 04–05: QC, DuckDB, VCU, Claude Code, governança de dado bruto</a:t>
            </a:r>
          </a:p>
          <a:p>
            <a:r>
              <a:rPr lang="pt-BR" sz="1600"/>
              <a:t>• 06: GBLUP, GEBV, validação por família, desafio de acurácia falsa</a:t>
            </a:r>
          </a:p>
          <a:p>
            <a:r>
              <a:rPr lang="pt-BR" sz="1600"/>
              <a:t>• 08: estudo de paper com LLM e engenharia de prompt</a:t>
            </a:r>
          </a:p>
          <a:p>
            <a:r>
              <a:rPr lang="pt-BR" sz="1600"/>
              <a:t>• 09: OCS, delta F, alocação de parcelas, AlphaSimR</a:t>
            </a:r>
          </a:p>
          <a:p>
            <a:r>
              <a:rPr lang="pt-BR" sz="1600"/>
              <a:t>• 10: DSS, ROI e avanço de linhagem — só como âncora, não como reprise</a:t>
            </a:r>
            <a:endParaRPr lang="en-US" sz="1600"/>
          </a:p>
        </p:txBody>
      </p:sp>
    </p:spTree>
    <p:extLst>
      <p:ext uri="{BB962C8B-B14F-4D97-AF65-F5344CB8AC3E}">
        <p14:creationId xmlns:p14="http://schemas.microsoft.com/office/powerpoint/2010/main" val="3622121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47C7-43CE-EF3D-4E82-BAE68CAB6EFE}"/>
              </a:ext>
            </a:extLst>
          </p:cNvPr>
          <p:cNvSpPr>
            <a:spLocks noGrp="1"/>
          </p:cNvSpPr>
          <p:nvPr>
            <p:ph type="title"/>
          </p:nvPr>
        </p:nvSpPr>
        <p:spPr/>
        <p:txBody>
          <a:bodyPr>
            <a:normAutofit/>
          </a:bodyPr>
          <a:lstStyle/>
          <a:p>
            <a:r>
              <a:rPr lang="en-US" sz="2400"/>
              <a:t>Mapa: já visto, tendência</a:t>
            </a:r>
          </a:p>
        </p:txBody>
      </p:sp>
      <p:sp>
        <p:nvSpPr>
          <p:cNvPr id="3" name="Text Placeholder 2">
            <a:extLst>
              <a:ext uri="{FF2B5EF4-FFF2-40B4-BE49-F238E27FC236}">
                <a16:creationId xmlns:a16="http://schemas.microsoft.com/office/drawing/2014/main" id="{6C19F449-40B9-4C70-7A98-EA3F881CF139}"/>
              </a:ext>
            </a:extLst>
          </p:cNvPr>
          <p:cNvSpPr>
            <a:spLocks noGrp="1"/>
          </p:cNvSpPr>
          <p:nvPr>
            <p:ph type="body" idx="1"/>
          </p:nvPr>
        </p:nvSpPr>
        <p:spPr/>
        <p:txBody>
          <a:bodyPr wrap="square">
            <a:normAutofit/>
          </a:bodyPr>
          <a:lstStyle/>
          <a:p>
            <a:r>
              <a:rPr lang="en-US" sz="1600"/>
              <a:t>• 04–05 dado e VCU → plataforma em tempo real e governança em escala</a:t>
            </a:r>
          </a:p>
          <a:p>
            <a:r>
              <a:rPr lang="en-US" sz="1600"/>
              <a:t>• 06–07 GBLUP e ML → DNA e protein foundation models</a:t>
            </a:r>
          </a:p>
          <a:p>
            <a:r>
              <a:rPr lang="en-US" sz="1600"/>
              <a:t>• 08 LLM de texto → AgroNT, AlphaFold, design de proteína</a:t>
            </a:r>
          </a:p>
          <a:p>
            <a:r>
              <a:rPr lang="en-US" sz="1600"/>
              <a:t>• 09 OCS e AlphaSimR → digital twin operacional do programa</a:t>
            </a:r>
          </a:p>
          <a:p>
            <a:r>
              <a:rPr lang="en-US" sz="1600"/>
              <a:t>• 10 portfólio → events, stacking, edição e moléculas aplicadas</a:t>
            </a:r>
          </a:p>
          <a:p>
            <a:r>
              <a:rPr lang="en-US" sz="1600"/>
              <a:t>• Agente sob regra → quem assina quando o modelo erra</a:t>
            </a:r>
          </a:p>
        </p:txBody>
      </p:sp>
    </p:spTree>
    <p:extLst>
      <p:ext uri="{BB962C8B-B14F-4D97-AF65-F5344CB8AC3E}">
        <p14:creationId xmlns:p14="http://schemas.microsoft.com/office/powerpoint/2010/main" val="27556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2695-1A3F-ABE0-93DD-F0ABBCBEA8DC}"/>
              </a:ext>
            </a:extLst>
          </p:cNvPr>
          <p:cNvSpPr>
            <a:spLocks noGrp="1"/>
          </p:cNvSpPr>
          <p:nvPr>
            <p:ph type="title"/>
          </p:nvPr>
        </p:nvSpPr>
        <p:spPr/>
        <p:txBody>
          <a:bodyPr>
            <a:normAutofit/>
          </a:bodyPr>
          <a:lstStyle/>
          <a:p>
            <a:r>
              <a:rPr lang="en-US" sz="2400"/>
              <a:t>Bloco 1 — Foundation models além do chatbot</a:t>
            </a:r>
          </a:p>
        </p:txBody>
      </p:sp>
      <p:sp>
        <p:nvSpPr>
          <p:cNvPr id="3" name="Text Placeholder 2">
            <a:extLst>
              <a:ext uri="{FF2B5EF4-FFF2-40B4-BE49-F238E27FC236}">
                <a16:creationId xmlns:a16="http://schemas.microsoft.com/office/drawing/2014/main" id="{AF6E999E-D576-D7BD-DFAE-862D65083D6A}"/>
              </a:ext>
            </a:extLst>
          </p:cNvPr>
          <p:cNvSpPr>
            <a:spLocks noGrp="1"/>
          </p:cNvSpPr>
          <p:nvPr>
            <p:ph type="body" idx="1"/>
          </p:nvPr>
        </p:nvSpPr>
        <p:spPr/>
        <p:txBody>
          <a:bodyPr wrap="square">
            <a:normAutofit/>
          </a:bodyPr>
          <a:lstStyle/>
          <a:p>
            <a:r>
              <a:rPr lang="pt-BR" sz="1600"/>
              <a:t>• Apresentador: Kaique · duração ~30 min</a:t>
            </a:r>
          </a:p>
          <a:p>
            <a:r>
              <a:rPr lang="pt-BR" sz="1600"/>
              <a:t>• Âncoras: Sessão 02 (modelos/hardware), 07 (ML/DL), 08 (IA generativa e LLMs)</a:t>
            </a:r>
          </a:p>
          <a:p>
            <a:r>
              <a:rPr lang="pt-BR" sz="1600"/>
              <a:t>• Escopo: modelos de DNA/RNA, proteínas, visão para fenotipagem e agentes</a:t>
            </a:r>
          </a:p>
          <a:p>
            <a:r>
              <a:rPr lang="pt-BR" sz="1600"/>
              <a:t>• Pergunta-guia: modelos treinados em sequências e imagens já ajudam o melhorista?</a:t>
            </a:r>
          </a:p>
          <a:p>
            <a:r>
              <a:rPr lang="pt-BR" sz="1600"/>
              <a:t>• Fio condutor: sempre comparar com baseline simples (phyloP, SIFT, GBLUP)</a:t>
            </a:r>
            <a:endParaRPr lang="en-US" sz="1600"/>
          </a:p>
        </p:txBody>
      </p:sp>
    </p:spTree>
    <p:extLst>
      <p:ext uri="{BB962C8B-B14F-4D97-AF65-F5344CB8AC3E}">
        <p14:creationId xmlns:p14="http://schemas.microsoft.com/office/powerpoint/2010/main" val="2313248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2825-786B-6DE9-E525-85BBF7B36922}"/>
              </a:ext>
            </a:extLst>
          </p:cNvPr>
          <p:cNvSpPr>
            <a:spLocks noGrp="1"/>
          </p:cNvSpPr>
          <p:nvPr>
            <p:ph type="title"/>
          </p:nvPr>
        </p:nvSpPr>
        <p:spPr/>
        <p:txBody>
          <a:bodyPr>
            <a:normAutofit/>
          </a:bodyPr>
          <a:lstStyle/>
          <a:p>
            <a:r>
              <a:rPr lang="pt-BR" sz="2400"/>
              <a:t>Anatomia de um modelo de linguagem de DNA (gLM)</a:t>
            </a:r>
            <a:endParaRPr lang="en-US" sz="2400"/>
          </a:p>
        </p:txBody>
      </p:sp>
      <p:sp>
        <p:nvSpPr>
          <p:cNvPr id="3" name="Text Placeholder 2">
            <a:extLst>
              <a:ext uri="{FF2B5EF4-FFF2-40B4-BE49-F238E27FC236}">
                <a16:creationId xmlns:a16="http://schemas.microsoft.com/office/drawing/2014/main" id="{7AD07943-8737-9ADB-AD9A-22A501CD5097}"/>
              </a:ext>
            </a:extLst>
          </p:cNvPr>
          <p:cNvSpPr>
            <a:spLocks noGrp="1"/>
          </p:cNvSpPr>
          <p:nvPr>
            <p:ph type="body" idx="1"/>
          </p:nvPr>
        </p:nvSpPr>
        <p:spPr/>
        <p:txBody>
          <a:bodyPr wrap="square">
            <a:normAutofit/>
          </a:bodyPr>
          <a:lstStyle/>
          <a:p>
            <a:r>
              <a:rPr lang="en-US" sz="1600"/>
              <a:t>• Pré-treino auto-supervisionado em DNA bruto, sem rótulos → embeddings reutilizáveis</a:t>
            </a:r>
          </a:p>
          <a:p>
            <a:r>
              <a:rPr lang="en-US" sz="1600"/>
              <a:t>• Tokens: 1 nt (GPN, PlantCaduceus, Evo) vs 6-mer, vocabulário 4.105 (NT, AgroNT)</a:t>
            </a:r>
          </a:p>
          <a:p>
            <a:r>
              <a:rPr lang="en-US" sz="1600"/>
              <a:t>• Objetivos: masked LM ~15% (bidirecional) vs autorregressivo (gera sequências)</a:t>
            </a:r>
          </a:p>
          <a:p>
            <a:r>
              <a:rPr lang="en-US" sz="1600"/>
              <a:t>• Transformer O(n²): ~6 kb de contexto (Dalla-Torre et al., Nat Methods 2024)</a:t>
            </a:r>
          </a:p>
          <a:p>
            <a:r>
              <a:rPr lang="en-US" sz="1600"/>
              <a:t>• Hyena: 131 kb no Evo e 1 Mb no Evo 2 (Nguyen, Science 2024; Brixi, Nature 2026)</a:t>
            </a:r>
          </a:p>
          <a:p>
            <a:r>
              <a:rPr lang="en-US" sz="1600"/>
              <a:t>• Caduceus (Mamba): bidirecional e equivariante ao reverso-complemento (Zhai, PNAS 2025)</a:t>
            </a:r>
          </a:p>
          <a:p>
            <a:r>
              <a:rPr lang="en-US" sz="1600"/>
              <a:t>• Uso: probing (embeddings congelados + XGBoost) ou fine-tuning (IA3 no AgroNT)</a:t>
            </a:r>
          </a:p>
        </p:txBody>
      </p:sp>
    </p:spTree>
    <p:extLst>
      <p:ext uri="{BB962C8B-B14F-4D97-AF65-F5344CB8AC3E}">
        <p14:creationId xmlns:p14="http://schemas.microsoft.com/office/powerpoint/2010/main" val="1528366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0F2B5-5CCC-E654-13CA-6F9ADCCAA4EC}"/>
              </a:ext>
            </a:extLst>
          </p:cNvPr>
          <p:cNvSpPr>
            <a:spLocks noGrp="1"/>
          </p:cNvSpPr>
          <p:nvPr>
            <p:ph type="title"/>
          </p:nvPr>
        </p:nvSpPr>
        <p:spPr/>
        <p:txBody>
          <a:bodyPr>
            <a:normAutofit/>
          </a:bodyPr>
          <a:lstStyle/>
          <a:p>
            <a:r>
              <a:rPr lang="pt-BR" sz="2400"/>
              <a:t>Escore zero-shot de variantes: a razão de log-verossimilhança</a:t>
            </a:r>
            <a:endParaRPr lang="en-US" sz="2400"/>
          </a:p>
        </p:txBody>
      </p:sp>
      <p:sp>
        <p:nvSpPr>
          <p:cNvPr id="3" name="Text Placeholder 2">
            <a:extLst>
              <a:ext uri="{FF2B5EF4-FFF2-40B4-BE49-F238E27FC236}">
                <a16:creationId xmlns:a16="http://schemas.microsoft.com/office/drawing/2014/main" id="{C23406A0-3E70-A19D-18B7-72B41954E841}"/>
              </a:ext>
            </a:extLst>
          </p:cNvPr>
          <p:cNvSpPr>
            <a:spLocks noGrp="1"/>
          </p:cNvSpPr>
          <p:nvPr>
            <p:ph type="body" idx="1"/>
          </p:nvPr>
        </p:nvSpPr>
        <p:spPr/>
        <p:txBody>
          <a:bodyPr wrap="square">
            <a:normAutofit/>
          </a:bodyPr>
          <a:lstStyle/>
          <a:p>
            <a:r>
              <a:rPr lang="en-US" sz="1600"/>
              <a:t>• Escore = log P(alelo alt) − log P(alelo ref) no mesmo contexto genômico</a:t>
            </a:r>
          </a:p>
          <a:p>
            <a:r>
              <a:rPr lang="en-US" sz="1600"/>
              <a:t>• Mais negativo ⇒ sítio mais conservado ⇒ mutação provavelmente deletéria</a:t>
            </a:r>
          </a:p>
          <a:p>
            <a:r>
              <a:rPr lang="en-US" sz="1600"/>
              <a:t>• Zero-shot: nenhum dado rotulado; vale para qualquer espécie com genoma de referência</a:t>
            </a:r>
          </a:p>
          <a:p>
            <a:r>
              <a:rPr lang="en-US" sz="1600"/>
              <a:t>• GPN supera phyloP e phastCons em Arabidopsis (Benegas et al., PNAS 2023)</a:t>
            </a:r>
          </a:p>
          <a:p>
            <a:r>
              <a:rPr lang="en-US" sz="1600"/>
              <a:t>• AgroNT: LLR abaixo de GPN e phyloP (Mendoza-Revilla et al., Commun Biol 2024)</a:t>
            </a:r>
          </a:p>
          <a:p>
            <a:r>
              <a:rPr lang="en-US" sz="1600"/>
              <a:t>• Checagens: stop-gain/splice mais negativos, MAF menor, causais conhecidas</a:t>
            </a:r>
          </a:p>
          <a:p>
            <a:r>
              <a:rPr lang="en-US" sz="1600"/>
              <a:t>• Baseline obrigatório: phyloP, phastCons, SIFT</a:t>
            </a:r>
          </a:p>
        </p:txBody>
      </p:sp>
    </p:spTree>
    <p:extLst>
      <p:ext uri="{BB962C8B-B14F-4D97-AF65-F5344CB8AC3E}">
        <p14:creationId xmlns:p14="http://schemas.microsoft.com/office/powerpoint/2010/main" val="2440950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75CB2-9C2B-AC1B-2893-B53ACB713892}"/>
              </a:ext>
            </a:extLst>
          </p:cNvPr>
          <p:cNvSpPr>
            <a:spLocks noGrp="1"/>
          </p:cNvSpPr>
          <p:nvPr>
            <p:ph type="title"/>
          </p:nvPr>
        </p:nvSpPr>
        <p:spPr/>
        <p:txBody>
          <a:bodyPr>
            <a:normAutofit/>
          </a:bodyPr>
          <a:lstStyle/>
          <a:p>
            <a:r>
              <a:rPr lang="pt-BR" sz="2400"/>
              <a:t>Panorama: modelos de DNA e RNA para plantas</a:t>
            </a:r>
            <a:endParaRPr lang="en-US" sz="2400"/>
          </a:p>
        </p:txBody>
      </p:sp>
      <p:sp>
        <p:nvSpPr>
          <p:cNvPr id="3" name="Text Placeholder 2">
            <a:extLst>
              <a:ext uri="{FF2B5EF4-FFF2-40B4-BE49-F238E27FC236}">
                <a16:creationId xmlns:a16="http://schemas.microsoft.com/office/drawing/2014/main" id="{6AC28586-91B2-733F-2894-148FC46CFC3F}"/>
              </a:ext>
            </a:extLst>
          </p:cNvPr>
          <p:cNvSpPr>
            <a:spLocks noGrp="1"/>
          </p:cNvSpPr>
          <p:nvPr>
            <p:ph type="body" idx="1"/>
          </p:nvPr>
        </p:nvSpPr>
        <p:spPr/>
        <p:txBody>
          <a:bodyPr wrap="square">
            <a:normAutofit/>
          </a:bodyPr>
          <a:lstStyle/>
          <a:p>
            <a:r>
              <a:rPr lang="en-US" sz="1600"/>
              <a:t>• GPN (2023): CNN, Arabidopsis + 7 Brassicales; 1º gLM de plantas (PNAS 2023)</a:t>
            </a:r>
          </a:p>
          <a:p>
            <a:r>
              <a:rPr lang="en-US" sz="1600"/>
              <a:t>• AgroNT (2024): 1 B parâm., 48 espécies, ~6 kb; &gt;10 M mutações em mandioca</a:t>
            </a:r>
          </a:p>
          <a:p>
            <a:r>
              <a:rPr lang="en-US" sz="1600"/>
              <a:t>• PlantCaduceus (2025): 20–225 M, 16 angiospermas, 512 bp (PlantCAD2: 8.192 bp)</a:t>
            </a:r>
          </a:p>
          <a:p>
            <a:r>
              <a:rPr lang="en-US" sz="1600"/>
              <a:t>• PDLLMs (2024): 14 espécies, 198 modelos, treináveis em uma RTX 4090 (Mol Plant)</a:t>
            </a:r>
          </a:p>
          <a:p>
            <a:r>
              <a:rPr lang="en-US" sz="1600"/>
              <a:t>• PlantRNA-FM (2024): 35 M, 1.124 espécies; F1 0,974 em Arabidopsis (Nat Mach Intell)</a:t>
            </a:r>
          </a:p>
          <a:p>
            <a:r>
              <a:rPr lang="en-US" sz="1600"/>
              <a:t>• Evo 2 (2026): 7 B/40 B, 1 Mb, ~9,3 T tokens de todos os domínios (Nature 2026)</a:t>
            </a:r>
          </a:p>
          <a:p>
            <a:r>
              <a:rPr lang="en-US" sz="1600"/>
              <a:t>• PlantGFM (2026): Hyena, 64 kb, 12 espécies; gera genes de novo (Adv Sci 2026)</a:t>
            </a:r>
          </a:p>
        </p:txBody>
      </p:sp>
    </p:spTree>
    <p:extLst>
      <p:ext uri="{BB962C8B-B14F-4D97-AF65-F5344CB8AC3E}">
        <p14:creationId xmlns:p14="http://schemas.microsoft.com/office/powerpoint/2010/main" val="1889712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60DD5-D7DF-AAB6-AC1F-43AFAA907C1F}"/>
              </a:ext>
            </a:extLst>
          </p:cNvPr>
          <p:cNvSpPr>
            <a:spLocks noGrp="1"/>
          </p:cNvSpPr>
          <p:nvPr>
            <p:ph type="title"/>
          </p:nvPr>
        </p:nvSpPr>
        <p:spPr/>
        <p:txBody>
          <a:bodyPr>
            <a:normAutofit/>
          </a:bodyPr>
          <a:lstStyle/>
          <a:p>
            <a:r>
              <a:rPr lang="en-US" sz="2400"/>
              <a:t>Estudo de caso: PlantCaduceus</a:t>
            </a:r>
          </a:p>
        </p:txBody>
      </p:sp>
      <p:sp>
        <p:nvSpPr>
          <p:cNvPr id="3" name="Text Placeholder 2">
            <a:extLst>
              <a:ext uri="{FF2B5EF4-FFF2-40B4-BE49-F238E27FC236}">
                <a16:creationId xmlns:a16="http://schemas.microsoft.com/office/drawing/2014/main" id="{651089B1-470F-8BDA-F723-C7B6D1C5DEC2}"/>
              </a:ext>
            </a:extLst>
          </p:cNvPr>
          <p:cNvSpPr>
            <a:spLocks noGrp="1"/>
          </p:cNvSpPr>
          <p:nvPr>
            <p:ph type="body" idx="1"/>
          </p:nvPr>
        </p:nvSpPr>
        <p:spPr/>
        <p:txBody>
          <a:bodyPr wrap="square">
            <a:normAutofit/>
          </a:bodyPr>
          <a:lstStyle/>
          <a:p>
            <a:r>
              <a:rPr lang="pt-BR" sz="1600"/>
              <a:t>• 16 angiospermas, ~160 milhões de anos; repetições sub-ponderadas (Zhai et al., PNAS 2025)</a:t>
            </a:r>
          </a:p>
          <a:p>
            <a:r>
              <a:rPr lang="pt-BR" sz="1600"/>
              <a:t>• Probing só em Arabidopsis → milho: 1,45× a 7,23× sobre o melhor gLM existente</a:t>
            </a:r>
          </a:p>
          <a:p>
            <a:r>
              <a:rPr lang="pt-BR" sz="1600"/>
              <a:t>• TIS em milho: 7,23× vs GPN; TTS: 3,75×; CNN+LSTM cai de 0,713 para ~0 (PRAUC)</a:t>
            </a:r>
          </a:p>
          <a:p>
            <a:r>
              <a:rPr lang="pt-BR" sz="1600"/>
              <a:t>• Deleteriedade: MAF média 3× menor que phyloP; competitivo com ESM em missense</a:t>
            </a:r>
          </a:p>
          <a:p>
            <a:r>
              <a:rPr lang="pt-BR" sz="1600"/>
              <a:t>• Restrição evolutiva em milho: AUC 0,829 e PR-AUC 0,797 com só 20 M de parâmetros</a:t>
            </a:r>
          </a:p>
          <a:p>
            <a:r>
              <a:rPr lang="pt-BR" sz="1600"/>
              <a:t>• Recupera W578R em sugary1 (milho doce); 15/19 causais EMS no top 1–10%</a:t>
            </a:r>
            <a:endParaRPr lang="en-US" sz="1600"/>
          </a:p>
        </p:txBody>
      </p:sp>
    </p:spTree>
    <p:extLst>
      <p:ext uri="{BB962C8B-B14F-4D97-AF65-F5344CB8AC3E}">
        <p14:creationId xmlns:p14="http://schemas.microsoft.com/office/powerpoint/2010/main" val="650056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42D19-5D5C-A886-73E4-946633D1BD96}"/>
              </a:ext>
            </a:extLst>
          </p:cNvPr>
          <p:cNvSpPr>
            <a:spLocks noGrp="1"/>
          </p:cNvSpPr>
          <p:nvPr>
            <p:ph type="title"/>
          </p:nvPr>
        </p:nvSpPr>
        <p:spPr/>
        <p:txBody>
          <a:bodyPr>
            <a:normAutofit/>
          </a:bodyPr>
          <a:lstStyle/>
          <a:p>
            <a:r>
              <a:rPr lang="pt-BR" sz="2400"/>
              <a:t>gLMs na seleção genômica: o veredito honesto</a:t>
            </a:r>
            <a:endParaRPr lang="en-US" sz="2400"/>
          </a:p>
        </p:txBody>
      </p:sp>
      <p:sp>
        <p:nvSpPr>
          <p:cNvPr id="3" name="Text Placeholder 2">
            <a:extLst>
              <a:ext uri="{FF2B5EF4-FFF2-40B4-BE49-F238E27FC236}">
                <a16:creationId xmlns:a16="http://schemas.microsoft.com/office/drawing/2014/main" id="{D173D596-A21B-D6DE-0E38-FAAD8CD7A15F}"/>
              </a:ext>
            </a:extLst>
          </p:cNvPr>
          <p:cNvSpPr>
            <a:spLocks noGrp="1"/>
          </p:cNvSpPr>
          <p:nvPr>
            <p:ph type="body" idx="1"/>
          </p:nvPr>
        </p:nvSpPr>
        <p:spPr/>
        <p:txBody>
          <a:bodyPr wrap="square">
            <a:normAutofit/>
          </a:bodyPr>
          <a:lstStyle/>
          <a:p>
            <a:r>
              <a:rPr lang="pt-BR" sz="1600"/>
              <a:t>• Yang et al. 2017: ponderar por carga deletéria (GERP) → &gt;4,3% em produção de grão</a:t>
            </a:r>
          </a:p>
          <a:p>
            <a:r>
              <a:rPr lang="pt-BR" sz="1600"/>
              <a:t>• Heterose de produção de grão: ~1% de ganho; &gt;350 mil sítios deletérios (PLoS Genet 2017)</a:t>
            </a:r>
          </a:p>
          <a:p>
            <a:r>
              <a:rPr lang="pt-BR" sz="1600"/>
              <a:t>• Ramstein &amp; Buckler 2022: ponderar SNPs por PNC predita NÃO melhorou em híbridos</a:t>
            </a:r>
          </a:p>
          <a:p>
            <a:r>
              <a:rPr lang="pt-BR" sz="1600"/>
              <a:t>• Causa provável: LD extenso (r² &gt; 0,1 em 100 kb) já captura as causais</a:t>
            </a:r>
          </a:p>
          <a:p>
            <a:r>
              <a:rPr lang="pt-BR" sz="1600"/>
              <a:t>• Ganho só ao priorizar o top 1%/0,1% mais restrito, e só em produção de grão</a:t>
            </a:r>
          </a:p>
          <a:p>
            <a:r>
              <a:rPr lang="pt-BR" sz="1600"/>
              <a:t>• Sem ganho para altura de planta e dias para florescimento (Genome Biol 2022)</a:t>
            </a:r>
          </a:p>
          <a:p>
            <a:r>
              <a:rPr lang="pt-BR" sz="1600"/>
              <a:t>• Leitura: prior funcional ajuda de forma condicional; validar sem vazamento (Sessão 06)</a:t>
            </a:r>
            <a:endParaRPr lang="en-US" sz="1600"/>
          </a:p>
        </p:txBody>
      </p:sp>
    </p:spTree>
    <p:extLst>
      <p:ext uri="{BB962C8B-B14F-4D97-AF65-F5344CB8AC3E}">
        <p14:creationId xmlns:p14="http://schemas.microsoft.com/office/powerpoint/2010/main" val="2456181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700C4-3386-42D3-62F1-1ADEEF8BD928}"/>
              </a:ext>
            </a:extLst>
          </p:cNvPr>
          <p:cNvSpPr>
            <a:spLocks noGrp="1"/>
          </p:cNvSpPr>
          <p:nvPr>
            <p:ph type="title"/>
          </p:nvPr>
        </p:nvSpPr>
        <p:spPr/>
        <p:txBody>
          <a:bodyPr>
            <a:normAutofit/>
          </a:bodyPr>
          <a:lstStyle/>
          <a:p>
            <a:r>
              <a:rPr lang="pt-BR" sz="2400"/>
              <a:t>Modelos de proteína: da estrutura à função</a:t>
            </a:r>
            <a:endParaRPr lang="en-US" sz="2400"/>
          </a:p>
        </p:txBody>
      </p:sp>
      <p:sp>
        <p:nvSpPr>
          <p:cNvPr id="3" name="Text Placeholder 2">
            <a:extLst>
              <a:ext uri="{FF2B5EF4-FFF2-40B4-BE49-F238E27FC236}">
                <a16:creationId xmlns:a16="http://schemas.microsoft.com/office/drawing/2014/main" id="{C33AADA3-EE88-6753-D369-8CB8DE76DE2C}"/>
              </a:ext>
            </a:extLst>
          </p:cNvPr>
          <p:cNvSpPr>
            <a:spLocks noGrp="1"/>
          </p:cNvSpPr>
          <p:nvPr>
            <p:ph type="body" idx="1"/>
          </p:nvPr>
        </p:nvSpPr>
        <p:spPr/>
        <p:txBody>
          <a:bodyPr wrap="square">
            <a:normAutofit/>
          </a:bodyPr>
          <a:lstStyle/>
          <a:p>
            <a:r>
              <a:rPr lang="en-US" sz="1600"/>
              <a:t>• AlphaFold2: backbone mediano 0,96 Å RMSD95 no CASP14 (Jumper et al., Nature 2021)</a:t>
            </a:r>
          </a:p>
          <a:p>
            <a:r>
              <a:rPr lang="en-US" sz="1600"/>
              <a:t>• ESM-2 até 15 B; ESMFold sem MSA, &gt;617 M estruturas (Lin et al., Science 2023)</a:t>
            </a:r>
          </a:p>
          <a:p>
            <a:r>
              <a:rPr lang="en-US" sz="1600"/>
              <a:t>• AlphaFold3: difusão; proteína + DNA/RNA + ligantes + íons (Abramson, Nature 2024)</a:t>
            </a:r>
          </a:p>
          <a:p>
            <a:r>
              <a:rPr lang="en-US" sz="1600"/>
              <a:t>• ESM3: 98 B, multimodal; proteína fluorescente a 58% de identidade (Science 2025)</a:t>
            </a:r>
          </a:p>
          <a:p>
            <a:r>
              <a:rPr lang="en-US" sz="1600"/>
              <a:t>• Boltz-1/Boltz-2: alternativas abertas no estilo do AlphaFold3</a:t>
            </a:r>
          </a:p>
          <a:p>
            <a:r>
              <a:rPr lang="en-US" sz="1600"/>
              <a:t>• No melhoramento: estrutura de NLRs, efetores e enzimas-alvo de herbicidas</a:t>
            </a:r>
          </a:p>
        </p:txBody>
      </p:sp>
    </p:spTree>
    <p:extLst>
      <p:ext uri="{BB962C8B-B14F-4D97-AF65-F5344CB8AC3E}">
        <p14:creationId xmlns:p14="http://schemas.microsoft.com/office/powerpoint/2010/main" val="3692778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E0503-7CDE-7838-082A-5C9DC6593385}"/>
              </a:ext>
            </a:extLst>
          </p:cNvPr>
          <p:cNvSpPr>
            <a:spLocks noGrp="1"/>
          </p:cNvSpPr>
          <p:nvPr>
            <p:ph type="title"/>
          </p:nvPr>
        </p:nvSpPr>
        <p:spPr/>
        <p:txBody>
          <a:bodyPr>
            <a:normAutofit/>
          </a:bodyPr>
          <a:lstStyle/>
          <a:p>
            <a:r>
              <a:rPr lang="pt-BR" sz="2400"/>
              <a:t>Alerta: o benchmark de 417 genes de milho</a:t>
            </a:r>
            <a:endParaRPr lang="en-US" sz="2400"/>
          </a:p>
        </p:txBody>
      </p:sp>
      <p:sp>
        <p:nvSpPr>
          <p:cNvPr id="3" name="Text Placeholder 2">
            <a:extLst>
              <a:ext uri="{FF2B5EF4-FFF2-40B4-BE49-F238E27FC236}">
                <a16:creationId xmlns:a16="http://schemas.microsoft.com/office/drawing/2014/main" id="{024EA14F-7816-B015-9A08-E085F087A0BC}"/>
              </a:ext>
            </a:extLst>
          </p:cNvPr>
          <p:cNvSpPr>
            <a:spLocks noGrp="1"/>
          </p:cNvSpPr>
          <p:nvPr>
            <p:ph type="body" idx="1"/>
          </p:nvPr>
        </p:nvSpPr>
        <p:spPr/>
        <p:txBody>
          <a:bodyPr wrap="square">
            <a:normAutofit/>
          </a:bodyPr>
          <a:lstStyle/>
          <a:p>
            <a:r>
              <a:rPr lang="pt-BR" sz="1600"/>
              <a:t>• 417 genes clássicos de milho; AF2, AF3, ESMFold, Boltz-1 e Boltz-2 (Haley et al., 2025)</a:t>
            </a:r>
          </a:p>
          <a:p>
            <a:r>
              <a:rPr lang="pt-BR" sz="1600"/>
              <a:t>• Sem domínios conservados: confiança 25–43% menor (bioRxiv 2025)</a:t>
            </a:r>
          </a:p>
          <a:p>
            <a:r>
              <a:rPr lang="pt-BR" sz="1600"/>
              <a:t>• Proteínas jovens, específicas de milho: confiança bem menor (filostratigrafia)</a:t>
            </a:r>
          </a:p>
          <a:p>
            <a:r>
              <a:rPr lang="pt-BR" sz="1600"/>
              <a:t>• Boltz-1 e ESMFold: mais geometria grave (átomos sobrepostos, ângulos improváveis)</a:t>
            </a:r>
          </a:p>
          <a:p>
            <a:r>
              <a:rPr lang="pt-BR" sz="1600"/>
              <a:t>• AlphaFold = mais confiável; ESMFold = mais rápido; Boltz = meio-termo</a:t>
            </a:r>
          </a:p>
          <a:p>
            <a:r>
              <a:rPr lang="pt-BR" sz="1600"/>
              <a:t>• Mensagem: o enovelamento NÃO está resolvido para proteínas de culturas</a:t>
            </a:r>
            <a:endParaRPr lang="en-US" sz="1600"/>
          </a:p>
        </p:txBody>
      </p:sp>
    </p:spTree>
    <p:extLst>
      <p:ext uri="{BB962C8B-B14F-4D97-AF65-F5344CB8AC3E}">
        <p14:creationId xmlns:p14="http://schemas.microsoft.com/office/powerpoint/2010/main" val="1957823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93E1-0EBC-ED64-AFB4-31DBCE51A1D1}"/>
              </a:ext>
            </a:extLst>
          </p:cNvPr>
          <p:cNvSpPr>
            <a:spLocks noGrp="1"/>
          </p:cNvSpPr>
          <p:nvPr>
            <p:ph type="title"/>
          </p:nvPr>
        </p:nvSpPr>
        <p:spPr/>
        <p:txBody>
          <a:bodyPr>
            <a:normAutofit/>
          </a:bodyPr>
          <a:lstStyle/>
          <a:p>
            <a:r>
              <a:rPr lang="pt-BR" sz="2400"/>
              <a:t>Desenho de proteínas e resistência sob encomenda (Pikobodies)</a:t>
            </a:r>
            <a:endParaRPr lang="en-US" sz="2400"/>
          </a:p>
        </p:txBody>
      </p:sp>
      <p:sp>
        <p:nvSpPr>
          <p:cNvPr id="3" name="Text Placeholder 2">
            <a:extLst>
              <a:ext uri="{FF2B5EF4-FFF2-40B4-BE49-F238E27FC236}">
                <a16:creationId xmlns:a16="http://schemas.microsoft.com/office/drawing/2014/main" id="{B57434B6-0018-ED8E-D665-026C90E4184B}"/>
              </a:ext>
            </a:extLst>
          </p:cNvPr>
          <p:cNvSpPr>
            <a:spLocks noGrp="1"/>
          </p:cNvSpPr>
          <p:nvPr>
            <p:ph type="body" idx="1"/>
          </p:nvPr>
        </p:nvSpPr>
        <p:spPr/>
        <p:txBody>
          <a:bodyPr wrap="square">
            <a:normAutofit/>
          </a:bodyPr>
          <a:lstStyle/>
          <a:p>
            <a:r>
              <a:rPr lang="en-US" sz="1600"/>
              <a:t>• Fluxo: RFdiffusion (backbone) → ProteinMPNN (sequência) → AF2/ESMFold (checagem)</a:t>
            </a:r>
          </a:p>
          <a:p>
            <a:r>
              <a:rPr lang="en-US" sz="1600"/>
              <a:t>• ProteinMPNN: recuperação 52,4% vs 32,9% do Rosetta (Dauparas et al., Science 2022)</a:t>
            </a:r>
          </a:p>
          <a:p>
            <a:r>
              <a:rPr lang="en-US" sz="1600"/>
              <a:t>• RFdiffusion: binders e oligômeros validados em bancada (Watson et al., Nature 2023)</a:t>
            </a:r>
          </a:p>
          <a:p>
            <a:r>
              <a:rPr lang="en-US" sz="1600"/>
              <a:t>• Pikobodies: HMA do Pikm-1 trocado por nanobody + Pikm-2 (Kourelis et al., Science 2023)</a:t>
            </a:r>
          </a:p>
          <a:p>
            <a:r>
              <a:rPr lang="en-US" sz="1600"/>
              <a:t>• Resistência a PVX que expressa a proteína fluorescente-alvo: imunidade sob encomenda</a:t>
            </a:r>
          </a:p>
          <a:p>
            <a:r>
              <a:rPr lang="en-US" sz="1600"/>
              <a:t>• Riscos: autoatividade, alvo precisa estar no citosol, yield drag por NLR superativo</a:t>
            </a:r>
          </a:p>
        </p:txBody>
      </p:sp>
    </p:spTree>
    <p:extLst>
      <p:ext uri="{BB962C8B-B14F-4D97-AF65-F5344CB8AC3E}">
        <p14:creationId xmlns:p14="http://schemas.microsoft.com/office/powerpoint/2010/main" val="3848035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BB0A-BE08-1B9C-89B0-F73D03F2281D}"/>
              </a:ext>
            </a:extLst>
          </p:cNvPr>
          <p:cNvSpPr>
            <a:spLocks noGrp="1"/>
          </p:cNvSpPr>
          <p:nvPr>
            <p:ph type="title"/>
          </p:nvPr>
        </p:nvSpPr>
        <p:spPr/>
        <p:txBody>
          <a:bodyPr>
            <a:normAutofit/>
          </a:bodyPr>
          <a:lstStyle/>
          <a:p>
            <a:r>
              <a:rPr lang="pt-BR" sz="2400"/>
              <a:t>Modelos de fundação de visão para fenotipagem (HTP)</a:t>
            </a:r>
            <a:endParaRPr lang="en-US" sz="2400"/>
          </a:p>
        </p:txBody>
      </p:sp>
      <p:sp>
        <p:nvSpPr>
          <p:cNvPr id="3" name="Text Placeholder 2">
            <a:extLst>
              <a:ext uri="{FF2B5EF4-FFF2-40B4-BE49-F238E27FC236}">
                <a16:creationId xmlns:a16="http://schemas.microsoft.com/office/drawing/2014/main" id="{26A21E9B-9B20-D204-C07C-7F03258B85CF}"/>
              </a:ext>
            </a:extLst>
          </p:cNvPr>
          <p:cNvSpPr>
            <a:spLocks noGrp="1"/>
          </p:cNvSpPr>
          <p:nvPr>
            <p:ph type="body" idx="1"/>
          </p:nvPr>
        </p:nvSpPr>
        <p:spPr/>
        <p:txBody>
          <a:bodyPr wrap="square">
            <a:normAutofit/>
          </a:bodyPr>
          <a:lstStyle/>
          <a:p>
            <a:r>
              <a:rPr lang="en-US" sz="1600"/>
              <a:t>• SAM: segmentação promptable zero-shot; SA-1B com 1 B máscaras em 11 M imagens (2023)</a:t>
            </a:r>
          </a:p>
          <a:p>
            <a:r>
              <a:rPr lang="en-US" sz="1600"/>
              <a:t>• DINOv2: ViT auto-supervisionado até 1 B; features sem fine-tuning (Oquab et al., 2023)</a:t>
            </a:r>
          </a:p>
          <a:p>
            <a:r>
              <a:rPr lang="en-US" sz="1600"/>
              <a:t>• PlantCLEF 2024: ViT-B/14 DINOv2 em ~1,4 M imagens de 7.806 espécies (Pl@ntNet)</a:t>
            </a:r>
          </a:p>
          <a:p>
            <a:r>
              <a:rPr lang="en-US" sz="1600"/>
              <a:t>• SCOLD: visão-linguagem p/ doença foliar, 186 mil pares imagem-legenda, 97 conceitos</a:t>
            </a:r>
          </a:p>
          <a:p>
            <a:r>
              <a:rPr lang="en-US" sz="1600"/>
              <a:t>• Receita HTP: backbone congelado + cabeça leve → contagem, área foliar, severidade</a:t>
            </a:r>
          </a:p>
          <a:p>
            <a:r>
              <a:rPr lang="en-US" sz="1600"/>
              <a:t>• Liga com Sessão 03 (HTP) e 07 (DL supervisionado): menos anotação manual</a:t>
            </a:r>
          </a:p>
        </p:txBody>
      </p:sp>
    </p:spTree>
    <p:extLst>
      <p:ext uri="{BB962C8B-B14F-4D97-AF65-F5344CB8AC3E}">
        <p14:creationId xmlns:p14="http://schemas.microsoft.com/office/powerpoint/2010/main" val="1330304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DC619-7AC7-1465-77F4-48622E80AE28}"/>
              </a:ext>
            </a:extLst>
          </p:cNvPr>
          <p:cNvSpPr>
            <a:spLocks noGrp="1"/>
          </p:cNvSpPr>
          <p:nvPr>
            <p:ph type="title"/>
          </p:nvPr>
        </p:nvSpPr>
        <p:spPr/>
        <p:txBody>
          <a:bodyPr>
            <a:normAutofit/>
          </a:bodyPr>
          <a:lstStyle/>
          <a:p>
            <a:r>
              <a:rPr lang="pt-BR" sz="2400"/>
              <a:t>Agentes LLM e modelos multimodais na genômica</a:t>
            </a:r>
            <a:endParaRPr lang="en-US" sz="2400"/>
          </a:p>
        </p:txBody>
      </p:sp>
      <p:sp>
        <p:nvSpPr>
          <p:cNvPr id="3" name="Text Placeholder 2">
            <a:extLst>
              <a:ext uri="{FF2B5EF4-FFF2-40B4-BE49-F238E27FC236}">
                <a16:creationId xmlns:a16="http://schemas.microsoft.com/office/drawing/2014/main" id="{92725AEE-05F9-8860-70F0-EBE43BA83D31}"/>
              </a:ext>
            </a:extLst>
          </p:cNvPr>
          <p:cNvSpPr>
            <a:spLocks noGrp="1"/>
          </p:cNvSpPr>
          <p:nvPr>
            <p:ph type="body" idx="1"/>
          </p:nvPr>
        </p:nvSpPr>
        <p:spPr/>
        <p:txBody>
          <a:bodyPr wrap="square">
            <a:normAutofit/>
          </a:bodyPr>
          <a:lstStyle/>
          <a:p>
            <a:r>
              <a:rPr lang="en-US" sz="1600"/>
              <a:t>• BioDiscoveryAgent (Claude 3.5 Sonnet): +21% vs otimização bayesiana em 6 datasets</a:t>
            </a:r>
          </a:p>
          <a:p>
            <a:r>
              <a:rPr lang="en-US" sz="1600"/>
              <a:t>• +46% na tarefa difícil de genes não-essenciais (Roohani et al., arXiv 2024)</a:t>
            </a:r>
          </a:p>
          <a:p>
            <a:r>
              <a:rPr lang="en-US" sz="1600"/>
              <a:t>• CRISPR-GPT: sistema, gRNA, entrega, protocolo e análise (Huang et al., bioRxiv 2024)</a:t>
            </a:r>
          </a:p>
          <a:p>
            <a:r>
              <a:rPr lang="en-US" sz="1600"/>
              <a:t>• Validação: knockout de 4 genes (Cas12a) e ativação de 2 genes (dCas9) em células humanas</a:t>
            </a:r>
          </a:p>
          <a:p>
            <a:r>
              <a:rPr lang="en-US" sz="1600"/>
              <a:t>• GeneGPT: LLM que consulta as APIs do NCBI (Jin et al., Bioinformatics 2024)</a:t>
            </a:r>
          </a:p>
          <a:p>
            <a:r>
              <a:rPr lang="en-US" sz="1600"/>
              <a:t>• G2P multimodal: Evo 2 e PlantGFM unem DNA, RNA e proteína; nada maduro em culturas</a:t>
            </a:r>
          </a:p>
          <a:p>
            <a:r>
              <a:rPr lang="en-US" sz="1600"/>
              <a:t>• Ponte com a Sessão 08: o padrão de agente do Claude Code, agora no laboratório</a:t>
            </a:r>
          </a:p>
        </p:txBody>
      </p:sp>
    </p:spTree>
    <p:extLst>
      <p:ext uri="{BB962C8B-B14F-4D97-AF65-F5344CB8AC3E}">
        <p14:creationId xmlns:p14="http://schemas.microsoft.com/office/powerpoint/2010/main" val="2715956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2779-4054-82B0-7AAA-2CEA9C96F4F5}"/>
              </a:ext>
            </a:extLst>
          </p:cNvPr>
          <p:cNvSpPr>
            <a:spLocks noGrp="1"/>
          </p:cNvSpPr>
          <p:nvPr>
            <p:ph type="title"/>
          </p:nvPr>
        </p:nvSpPr>
        <p:spPr/>
        <p:txBody>
          <a:bodyPr>
            <a:normAutofit/>
          </a:bodyPr>
          <a:lstStyle/>
          <a:p>
            <a:r>
              <a:rPr lang="pt-BR" sz="2400"/>
              <a:t>Limitações que todo melhorista deve conhecer</a:t>
            </a:r>
            <a:endParaRPr lang="en-US" sz="2400"/>
          </a:p>
        </p:txBody>
      </p:sp>
      <p:sp>
        <p:nvSpPr>
          <p:cNvPr id="3" name="Text Placeholder 2">
            <a:extLst>
              <a:ext uri="{FF2B5EF4-FFF2-40B4-BE49-F238E27FC236}">
                <a16:creationId xmlns:a16="http://schemas.microsoft.com/office/drawing/2014/main" id="{3D1ADB5B-1709-8468-8E8F-F34C0E53FE7B}"/>
              </a:ext>
            </a:extLst>
          </p:cNvPr>
          <p:cNvSpPr>
            <a:spLocks noGrp="1"/>
          </p:cNvSpPr>
          <p:nvPr>
            <p:ph type="body" idx="1"/>
          </p:nvPr>
        </p:nvSpPr>
        <p:spPr/>
        <p:txBody>
          <a:bodyPr wrap="square">
            <a:normAutofit/>
          </a:bodyPr>
          <a:lstStyle/>
          <a:p>
            <a:r>
              <a:rPr lang="pt-BR" sz="1600"/>
              <a:t>• Dados: poucos genomas de plantas; poliploidia e TEs inflam a sequência repetitiva</a:t>
            </a:r>
          </a:p>
          <a:p>
            <a:r>
              <a:rPr lang="pt-BR" sz="1600"/>
              <a:t>• Custo: AgroNT em TPU v4; PlantRNA-FM &gt;3 semanas em 4 A100 (Frontiers 2025)</a:t>
            </a:r>
          </a:p>
          <a:p>
            <a:r>
              <a:rPr lang="pt-BR" sz="1600"/>
              <a:t>• Vazamento: rótulos de benchmark e espécies do pré-treino contaminam o teste</a:t>
            </a:r>
          </a:p>
          <a:p>
            <a:r>
              <a:rPr lang="pt-BR" sz="1600"/>
              <a:t>• MPRA: gLMs zero-shot perdem para Enformer e Sei (Tang &amp; Koo, 2024)</a:t>
            </a:r>
          </a:p>
          <a:p>
            <a:r>
              <a:rPr lang="pt-BR" sz="1600"/>
              <a:t>• Genoma humano: gLMs em geral não superam baselines não-gLM (Benegas et al., 2025)</a:t>
            </a:r>
          </a:p>
          <a:p>
            <a:r>
              <a:rPr lang="pt-BR" sz="1600"/>
              <a:t>• GPN-MSA em variantes codificantes raras: SLP 2,05 vs 7,48 do AlphaMissense</a:t>
            </a:r>
          </a:p>
          <a:p>
            <a:r>
              <a:rPr lang="pt-BR" sz="1600"/>
              <a:t>• Interpretabilidade: embeddings opacos; mutagênese in silico ajuda, mas não prova causa</a:t>
            </a:r>
            <a:endParaRPr lang="en-US" sz="1600"/>
          </a:p>
        </p:txBody>
      </p:sp>
    </p:spTree>
    <p:extLst>
      <p:ext uri="{BB962C8B-B14F-4D97-AF65-F5344CB8AC3E}">
        <p14:creationId xmlns:p14="http://schemas.microsoft.com/office/powerpoint/2010/main" val="3040442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BFD47-E54C-60E6-2533-DC1CAC8E25B3}"/>
              </a:ext>
            </a:extLst>
          </p:cNvPr>
          <p:cNvSpPr>
            <a:spLocks noGrp="1"/>
          </p:cNvSpPr>
          <p:nvPr>
            <p:ph type="title"/>
          </p:nvPr>
        </p:nvSpPr>
        <p:spPr/>
        <p:txBody>
          <a:bodyPr>
            <a:normAutofit/>
          </a:bodyPr>
          <a:lstStyle/>
          <a:p>
            <a:r>
              <a:rPr lang="pt-BR" sz="2400"/>
              <a:t>Como começar amanhã + perguntas para discussão</a:t>
            </a:r>
            <a:endParaRPr lang="en-US" sz="2400"/>
          </a:p>
        </p:txBody>
      </p:sp>
      <p:sp>
        <p:nvSpPr>
          <p:cNvPr id="3" name="Text Placeholder 2">
            <a:extLst>
              <a:ext uri="{FF2B5EF4-FFF2-40B4-BE49-F238E27FC236}">
                <a16:creationId xmlns:a16="http://schemas.microsoft.com/office/drawing/2014/main" id="{93DFFBD8-4FE6-24D5-0406-B6A2B5CE8C81}"/>
              </a:ext>
            </a:extLst>
          </p:cNvPr>
          <p:cNvSpPr>
            <a:spLocks noGrp="1"/>
          </p:cNvSpPr>
          <p:nvPr>
            <p:ph type="body" idx="1"/>
          </p:nvPr>
        </p:nvSpPr>
        <p:spPr/>
        <p:txBody>
          <a:bodyPr wrap="square">
            <a:normAutofit/>
          </a:bodyPr>
          <a:lstStyle/>
          <a:p>
            <a:r>
              <a:rPr lang="pt-BR" sz="1600"/>
              <a:t>• Hugging Face: AgroNT 1B, PlantCaduceus l20–l32, NT, ESM-2, DINOv2 do PlantCLEF</a:t>
            </a:r>
          </a:p>
          <a:p>
            <a:r>
              <a:rPr lang="pt-BR" sz="1600"/>
              <a:t>• Comece por probing: embeddings congelados + XGBoost; fine-tuning só se necessário</a:t>
            </a:r>
          </a:p>
          <a:p>
            <a:r>
              <a:rPr lang="pt-BR" sz="1600"/>
              <a:t>• Dados: referência + painel de SNPs com MAF + sítios funcionais rotulados (TIS/splice)</a:t>
            </a:r>
          </a:p>
          <a:p>
            <a:r>
              <a:rPr lang="pt-BR" sz="1600"/>
              <a:t>• Piloto: escore zero-shot → phyloP/SIFT → feature em GBLUP/BayesRC → CV sem vazamento</a:t>
            </a:r>
          </a:p>
          <a:p>
            <a:r>
              <a:rPr lang="pt-BR" sz="1600"/>
              <a:t>• Q1: em que população o LD não apaga o sinal de um prior vindo de um gLM?</a:t>
            </a:r>
          </a:p>
          <a:p>
            <a:r>
              <a:rPr lang="pt-BR" sz="1600"/>
              <a:t>• Q2: um gLM que não bate o phyloP ainda serve? Como testar sem vazamento?</a:t>
            </a:r>
          </a:p>
          <a:p>
            <a:r>
              <a:rPr lang="pt-BR" sz="1600"/>
              <a:t>• Q3: que riscos há em levar ao campo NLRs ou genes desenhados por IA?</a:t>
            </a:r>
            <a:endParaRPr lang="en-US" sz="1600"/>
          </a:p>
        </p:txBody>
      </p:sp>
    </p:spTree>
    <p:extLst>
      <p:ext uri="{BB962C8B-B14F-4D97-AF65-F5344CB8AC3E}">
        <p14:creationId xmlns:p14="http://schemas.microsoft.com/office/powerpoint/2010/main" val="357724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BC0DB-CBDF-F65D-A3AE-D96F9150B290}"/>
              </a:ext>
            </a:extLst>
          </p:cNvPr>
          <p:cNvSpPr>
            <a:spLocks noGrp="1"/>
          </p:cNvSpPr>
          <p:nvPr>
            <p:ph type="title"/>
          </p:nvPr>
        </p:nvSpPr>
        <p:spPr/>
        <p:txBody>
          <a:bodyPr>
            <a:normAutofit/>
          </a:bodyPr>
          <a:lstStyle/>
          <a:p>
            <a:r>
              <a:rPr lang="en-US" sz="2400"/>
              <a:t>Bloco 1 — Take-home</a:t>
            </a:r>
          </a:p>
        </p:txBody>
      </p:sp>
      <p:sp>
        <p:nvSpPr>
          <p:cNvPr id="3" name="Text Placeholder 2">
            <a:extLst>
              <a:ext uri="{FF2B5EF4-FFF2-40B4-BE49-F238E27FC236}">
                <a16:creationId xmlns:a16="http://schemas.microsoft.com/office/drawing/2014/main" id="{452ED882-EB02-6273-9BCB-AA5D3B433C5C}"/>
              </a:ext>
            </a:extLst>
          </p:cNvPr>
          <p:cNvSpPr>
            <a:spLocks noGrp="1"/>
          </p:cNvSpPr>
          <p:nvPr>
            <p:ph type="body" idx="1"/>
          </p:nvPr>
        </p:nvSpPr>
        <p:spPr/>
        <p:txBody>
          <a:bodyPr wrap="square">
            <a:normAutofit/>
          </a:bodyPr>
          <a:lstStyle/>
          <a:p>
            <a:r>
              <a:rPr lang="pt-BR" sz="1600"/>
              <a:t>• gLMs escoram variantes sem rótulos e transferem entre espécies (Zhai et al., PNAS 2025)</a:t>
            </a:r>
          </a:p>
          <a:p>
            <a:r>
              <a:rPr lang="pt-BR" sz="1600"/>
              <a:t>• Curadoria &gt; tamanho: PlantCaduceus (≤225 M) manteve desempenho; AgroNT (1 B) caiu</a:t>
            </a:r>
          </a:p>
          <a:p>
            <a:r>
              <a:rPr lang="pt-BR" sz="1600"/>
              <a:t>• Seleção genômica: ganho condicional, &gt;4,3% (Yang 2017) vs nenhum (Ramstein 2022)</a:t>
            </a:r>
          </a:p>
          <a:p>
            <a:r>
              <a:rPr lang="pt-BR" sz="1600"/>
              <a:t>• Proteínas: confiança cai 25–43% sem domínios conservados (Haley et al., 2025)</a:t>
            </a:r>
          </a:p>
          <a:p>
            <a:r>
              <a:rPr lang="pt-BR" sz="1600"/>
              <a:t>• Desenho (RFdiffusion, ProteinMPNN, Pikobodies): de selecionar para projetar</a:t>
            </a:r>
          </a:p>
          <a:p>
            <a:r>
              <a:rPr lang="pt-BR" sz="1600"/>
              <a:t>• Visão: SAM/DINOv2 reduzem anotação em HTP; agentes já desenham experimentos</a:t>
            </a:r>
          </a:p>
          <a:p>
            <a:r>
              <a:rPr lang="pt-BR" sz="1600"/>
              <a:t>• Regra de ouro: sempre contra baseline simples e com validação sem vazamento</a:t>
            </a:r>
            <a:endParaRPr lang="en-US" sz="1600"/>
          </a:p>
        </p:txBody>
      </p:sp>
    </p:spTree>
    <p:extLst>
      <p:ext uri="{BB962C8B-B14F-4D97-AF65-F5344CB8AC3E}">
        <p14:creationId xmlns:p14="http://schemas.microsoft.com/office/powerpoint/2010/main" val="3738531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620AD-C543-359D-4AF7-4F285AEEF659}"/>
              </a:ext>
            </a:extLst>
          </p:cNvPr>
          <p:cNvSpPr>
            <a:spLocks noGrp="1"/>
          </p:cNvSpPr>
          <p:nvPr>
            <p:ph type="title"/>
          </p:nvPr>
        </p:nvSpPr>
        <p:spPr/>
        <p:txBody>
          <a:bodyPr>
            <a:normAutofit/>
          </a:bodyPr>
          <a:lstStyle/>
          <a:p>
            <a:r>
              <a:rPr lang="pt-BR" sz="2400"/>
              <a:t>Bloco 2 — Moléculas, peptídeos, proteínas e events</a:t>
            </a:r>
            <a:endParaRPr lang="en-US" sz="2400"/>
          </a:p>
        </p:txBody>
      </p:sp>
      <p:sp>
        <p:nvSpPr>
          <p:cNvPr id="3" name="Text Placeholder 2">
            <a:extLst>
              <a:ext uri="{FF2B5EF4-FFF2-40B4-BE49-F238E27FC236}">
                <a16:creationId xmlns:a16="http://schemas.microsoft.com/office/drawing/2014/main" id="{EC0B60EF-4605-440B-085C-2B6ABAD22475}"/>
              </a:ext>
            </a:extLst>
          </p:cNvPr>
          <p:cNvSpPr>
            <a:spLocks noGrp="1"/>
          </p:cNvSpPr>
          <p:nvPr>
            <p:ph type="body" idx="1"/>
          </p:nvPr>
        </p:nvSpPr>
        <p:spPr/>
        <p:txBody>
          <a:bodyPr wrap="square">
            <a:normAutofit/>
          </a:bodyPr>
          <a:lstStyle/>
          <a:p>
            <a:r>
              <a:rPr lang="pt-BR" sz="1600"/>
              <a:t>• Palestrante: Vinicius (+ convidado biotech) — duração ~35 min</a:t>
            </a:r>
          </a:p>
          <a:p>
            <a:r>
              <a:rPr lang="pt-BR" sz="1600"/>
              <a:t>• Âncora: Agenda FIT 796 — molecules, peptides, events, drugs, proteins</a:t>
            </a:r>
          </a:p>
          <a:p>
            <a:r>
              <a:rPr lang="pt-BR" sz="1600"/>
              <a:t>• GS/OCS otimizam alelos que já estão no germoplasma</a:t>
            </a:r>
          </a:p>
          <a:p>
            <a:r>
              <a:rPr lang="pt-BR" sz="1600"/>
              <a:t>• Trait technology cria o que ainda não está: molécula, proteína, event</a:t>
            </a:r>
          </a:p>
          <a:p>
            <a:r>
              <a:rPr lang="pt-BR" sz="1600"/>
              <a:t>• Pergunta-guia: se a IA acelera a descoberta, por que o trait demora mais?</a:t>
            </a:r>
            <a:endParaRPr lang="en-US" sz="1600"/>
          </a:p>
        </p:txBody>
      </p:sp>
    </p:spTree>
    <p:extLst>
      <p:ext uri="{BB962C8B-B14F-4D97-AF65-F5344CB8AC3E}">
        <p14:creationId xmlns:p14="http://schemas.microsoft.com/office/powerpoint/2010/main" val="1998678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59E4-464F-89ED-CEA5-8067525663B2}"/>
              </a:ext>
            </a:extLst>
          </p:cNvPr>
          <p:cNvSpPr>
            <a:spLocks noGrp="1"/>
          </p:cNvSpPr>
          <p:nvPr>
            <p:ph type="title"/>
          </p:nvPr>
        </p:nvSpPr>
        <p:spPr/>
        <p:txBody>
          <a:bodyPr>
            <a:normAutofit/>
          </a:bodyPr>
          <a:lstStyle/>
          <a:p>
            <a:r>
              <a:rPr lang="pt-BR" sz="2400"/>
              <a:t>A economia da descoberta: o paradoxo</a:t>
            </a:r>
            <a:endParaRPr lang="en-US" sz="2400"/>
          </a:p>
        </p:txBody>
      </p:sp>
      <p:sp>
        <p:nvSpPr>
          <p:cNvPr id="3" name="Text Placeholder 2">
            <a:extLst>
              <a:ext uri="{FF2B5EF4-FFF2-40B4-BE49-F238E27FC236}">
                <a16:creationId xmlns:a16="http://schemas.microsoft.com/office/drawing/2014/main" id="{D686F9EC-8A95-2A4C-3C3B-41F0BFD6BE46}"/>
              </a:ext>
            </a:extLst>
          </p:cNvPr>
          <p:cNvSpPr>
            <a:spLocks noGrp="1"/>
          </p:cNvSpPr>
          <p:nvPr>
            <p:ph type="body" idx="1"/>
          </p:nvPr>
        </p:nvSpPr>
        <p:spPr/>
        <p:txBody>
          <a:bodyPr wrap="square">
            <a:normAutofit/>
          </a:bodyPr>
          <a:lstStyle/>
          <a:p>
            <a:r>
              <a:rPr lang="en-US" sz="1600"/>
              <a:t>• Defensivo novo: US$ 307 mi e ~11 anos (2020–23) (AgbioInvestor/CropLife 2026)</a:t>
            </a:r>
          </a:p>
          <a:p>
            <a:r>
              <a:rPr lang="en-US" sz="1600"/>
              <a:t>• Custo por i.a.: US$ 152 mi (1995) → 286 mi (2010–14) → 307 mi (2020–23)</a:t>
            </a:r>
          </a:p>
          <a:p>
            <a:r>
              <a:rPr lang="en-US" sz="1600"/>
              <a:t>• ~160.000 moléculas triadas por i.a. (52.500 em 1995) (Bayer)</a:t>
            </a:r>
          </a:p>
          <a:p>
            <a:r>
              <a:rPr lang="en-US" sz="1600"/>
              <a:t>• Trait GM: US$ 136 mi / 13,1 anos (2008–12) (Phillips McDougall 2011)</a:t>
            </a:r>
          </a:p>
          <a:p>
            <a:r>
              <a:rPr lang="en-US" sz="1600"/>
              <a:t>• Trait GM: US$ 115 mi / 16,5 anos (2017–22) (AgbioInvestor 2022)</a:t>
            </a:r>
          </a:p>
          <a:p>
            <a:r>
              <a:rPr lang="en-US" sz="1600"/>
              <a:t>• Custo do trait caiu 15%; o tempo subiu 3,4 anos</a:t>
            </a:r>
          </a:p>
        </p:txBody>
      </p:sp>
    </p:spTree>
    <p:extLst>
      <p:ext uri="{BB962C8B-B14F-4D97-AF65-F5344CB8AC3E}">
        <p14:creationId xmlns:p14="http://schemas.microsoft.com/office/powerpoint/2010/main" val="3878864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5312D-89DA-7339-9440-7D8A182FF4F5}"/>
              </a:ext>
            </a:extLst>
          </p:cNvPr>
          <p:cNvSpPr>
            <a:spLocks noGrp="1"/>
          </p:cNvSpPr>
          <p:nvPr>
            <p:ph type="title"/>
          </p:nvPr>
        </p:nvSpPr>
        <p:spPr/>
        <p:txBody>
          <a:bodyPr>
            <a:normAutofit/>
          </a:bodyPr>
          <a:lstStyle/>
          <a:p>
            <a:r>
              <a:rPr lang="pt-BR" sz="2400"/>
              <a:t>Onde a IA atua no pipeline</a:t>
            </a:r>
            <a:endParaRPr lang="en-US" sz="2400"/>
          </a:p>
        </p:txBody>
      </p:sp>
      <p:sp>
        <p:nvSpPr>
          <p:cNvPr id="3" name="Text Placeholder 2">
            <a:extLst>
              <a:ext uri="{FF2B5EF4-FFF2-40B4-BE49-F238E27FC236}">
                <a16:creationId xmlns:a16="http://schemas.microsoft.com/office/drawing/2014/main" id="{DF4B0034-FA32-D640-6272-9C80D2E36BD9}"/>
              </a:ext>
            </a:extLst>
          </p:cNvPr>
          <p:cNvSpPr>
            <a:spLocks noGrp="1"/>
          </p:cNvSpPr>
          <p:nvPr>
            <p:ph type="body" idx="1"/>
          </p:nvPr>
        </p:nvSpPr>
        <p:spPr/>
        <p:txBody>
          <a:bodyPr wrap="square">
            <a:normAutofit/>
          </a:bodyPr>
          <a:lstStyle/>
          <a:p>
            <a:r>
              <a:rPr lang="pt-BR" sz="1600"/>
              <a:t>• Trait: descoberta US$ 7,6 mi (6,6%) → construção/teste do event US$ 64,2 mi (55,8%)</a:t>
            </a:r>
          </a:p>
          <a:p>
            <a:r>
              <a:rPr lang="pt-BR" sz="1600"/>
              <a:t>• Trait: regulatório US$ 43,2 mi (37,6%) — o tempo é dominado por ele</a:t>
            </a:r>
          </a:p>
          <a:p>
            <a:r>
              <a:rPr lang="pt-BR" sz="1600"/>
              <a:t>• Defensivo: química de síntese/formulação US$ 75 mi — maior item isolado</a:t>
            </a:r>
          </a:p>
          <a:p>
            <a:r>
              <a:rPr lang="pt-BR" sz="1600"/>
              <a:t>• IA de molécula: virtual screening, química generativa, ADMET/ecotox</a:t>
            </a:r>
          </a:p>
          <a:p>
            <a:r>
              <a:rPr lang="pt-BR" sz="1600"/>
              <a:t>• IA de decisão: seleção de event, sítio de inserção, agenda de stacking</a:t>
            </a:r>
          </a:p>
          <a:p>
            <a:r>
              <a:rPr lang="pt-BR" sz="1600"/>
              <a:t>• Regulatório e campo continuam humanos, lentos e caros</a:t>
            </a:r>
            <a:endParaRPr lang="en-US" sz="1600"/>
          </a:p>
        </p:txBody>
      </p:sp>
    </p:spTree>
    <p:extLst>
      <p:ext uri="{BB962C8B-B14F-4D97-AF65-F5344CB8AC3E}">
        <p14:creationId xmlns:p14="http://schemas.microsoft.com/office/powerpoint/2010/main" val="4118463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CCC48-6E7D-F4BB-69C1-986473CA005A}"/>
              </a:ext>
            </a:extLst>
          </p:cNvPr>
          <p:cNvSpPr>
            <a:spLocks noGrp="1"/>
          </p:cNvSpPr>
          <p:nvPr>
            <p:ph type="title"/>
          </p:nvPr>
        </p:nvSpPr>
        <p:spPr/>
        <p:txBody>
          <a:bodyPr>
            <a:normAutofit/>
          </a:bodyPr>
          <a:lstStyle/>
          <a:p>
            <a:r>
              <a:rPr lang="pt-BR" sz="2400"/>
              <a:t>Bayer CropKey: o paradigma fechadura-chave</a:t>
            </a:r>
            <a:endParaRPr lang="en-US" sz="2400"/>
          </a:p>
        </p:txBody>
      </p:sp>
      <p:sp>
        <p:nvSpPr>
          <p:cNvPr id="3" name="Text Placeholder 2">
            <a:extLst>
              <a:ext uri="{FF2B5EF4-FFF2-40B4-BE49-F238E27FC236}">
                <a16:creationId xmlns:a16="http://schemas.microsoft.com/office/drawing/2014/main" id="{1636EC3D-C7E7-BF21-4D24-CBA399FA9D40}"/>
              </a:ext>
            </a:extLst>
          </p:cNvPr>
          <p:cNvSpPr>
            <a:spLocks noGrp="1"/>
          </p:cNvSpPr>
          <p:nvPr>
            <p:ph type="body" idx="1"/>
          </p:nvPr>
        </p:nvSpPr>
        <p:spPr/>
        <p:txBody>
          <a:bodyPr wrap="square">
            <a:normAutofit/>
          </a:bodyPr>
          <a:lstStyle/>
          <a:p>
            <a:r>
              <a:rPr lang="pt-BR" sz="1600"/>
              <a:t>• ML identifica proteínas-alvo exclusivas da praga (fechaduras)</a:t>
            </a:r>
          </a:p>
          <a:p>
            <a:r>
              <a:rPr lang="pt-BR" sz="1600"/>
              <a:t>• Virtual screening desenha moléculas (chaves); biblioteca física de 2,6 mi</a:t>
            </a:r>
          </a:p>
          <a:p>
            <a:r>
              <a:rPr lang="pt-BR" sz="1600"/>
              <a:t>• Checa in silico ligação a não-alvos, degradação no solo e rota de síntese</a:t>
            </a:r>
          </a:p>
          <a:p>
            <a:r>
              <a:rPr lang="pt-BR" sz="1600"/>
              <a:t>• Mais de 30 alvos em estudo; mais de 10 validados como novos MoA (Bayer)</a:t>
            </a:r>
          </a:p>
          <a:p>
            <a:r>
              <a:rPr lang="pt-BR" sz="1600"/>
              <a:t>• 2 novos MoA desenhados: fungicida (hortifruti) e herbicida pós-emergente</a:t>
            </a:r>
          </a:p>
          <a:p>
            <a:r>
              <a:rPr lang="pt-BR" sz="1600"/>
              <a:t>• Ataca a escassez de modos de ação e a resistência</a:t>
            </a:r>
            <a:endParaRPr lang="en-US" sz="1600"/>
          </a:p>
        </p:txBody>
      </p:sp>
    </p:spTree>
    <p:extLst>
      <p:ext uri="{BB962C8B-B14F-4D97-AF65-F5344CB8AC3E}">
        <p14:creationId xmlns:p14="http://schemas.microsoft.com/office/powerpoint/2010/main" val="3498236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DE4F-8DBD-95E6-739B-F64F702AA235}"/>
              </a:ext>
            </a:extLst>
          </p:cNvPr>
          <p:cNvSpPr>
            <a:spLocks noGrp="1"/>
          </p:cNvSpPr>
          <p:nvPr>
            <p:ph type="title"/>
          </p:nvPr>
        </p:nvSpPr>
        <p:spPr/>
        <p:txBody>
          <a:bodyPr>
            <a:normAutofit/>
          </a:bodyPr>
          <a:lstStyle/>
          <a:p>
            <a:r>
              <a:rPr lang="pt-BR" sz="2400"/>
              <a:t>Ecossistema de startups: o playbook da farma no campo</a:t>
            </a:r>
            <a:endParaRPr lang="en-US" sz="2400"/>
          </a:p>
        </p:txBody>
      </p:sp>
      <p:sp>
        <p:nvSpPr>
          <p:cNvPr id="3" name="Text Placeholder 2">
            <a:extLst>
              <a:ext uri="{FF2B5EF4-FFF2-40B4-BE49-F238E27FC236}">
                <a16:creationId xmlns:a16="http://schemas.microsoft.com/office/drawing/2014/main" id="{F8B0665F-AC7F-E6AD-CF8C-46FA5D84C42F}"/>
              </a:ext>
            </a:extLst>
          </p:cNvPr>
          <p:cNvSpPr>
            <a:spLocks noGrp="1"/>
          </p:cNvSpPr>
          <p:nvPr>
            <p:ph type="body" idx="1"/>
          </p:nvPr>
        </p:nvSpPr>
        <p:spPr/>
        <p:txBody>
          <a:bodyPr wrap="square">
            <a:normAutofit/>
          </a:bodyPr>
          <a:lstStyle/>
          <a:p>
            <a:r>
              <a:rPr lang="pt-BR" sz="1600"/>
              <a:t>• Syngenta–Insilico (2021): Chemistry42 em herbicidas; 3 projetos com atividade</a:t>
            </a:r>
          </a:p>
          <a:p>
            <a:r>
              <a:rPr lang="pt-BR" sz="1600"/>
              <a:t>• Enko Chem: DNA-encoded libraries + ML; bilhões de moléculas; US$ 150 mi</a:t>
            </a:r>
          </a:p>
          <a:p>
            <a:r>
              <a:rPr lang="pt-BR" sz="1600"/>
              <a:t>• Moa Technology: 25 mil compostos/mês; mais de 750 mil triados; mais de 60 MoA</a:t>
            </a:r>
          </a:p>
          <a:p>
            <a:r>
              <a:rPr lang="pt-BR" sz="1600"/>
              <a:t>• Micropep: Krisalix gera milhões de micropeptídeos; MPD-01 em campo</a:t>
            </a:r>
          </a:p>
          <a:p>
            <a:r>
              <a:rPr lang="pt-BR" sz="1600"/>
              <a:t>• Parceiros recorrentes: Bayer, Syngenta, Corteva, Nufarm</a:t>
            </a:r>
          </a:p>
          <a:p>
            <a:r>
              <a:rPr lang="pt-BR" sz="1600"/>
              <a:t>• Padrão: big ag compra acesso a plataformas, não só moléculas</a:t>
            </a:r>
            <a:endParaRPr lang="en-US" sz="1600"/>
          </a:p>
        </p:txBody>
      </p:sp>
    </p:spTree>
    <p:extLst>
      <p:ext uri="{BB962C8B-B14F-4D97-AF65-F5344CB8AC3E}">
        <p14:creationId xmlns:p14="http://schemas.microsoft.com/office/powerpoint/2010/main" val="476422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8FF0-D9C8-A44B-A0B7-E8C00071F409}"/>
              </a:ext>
            </a:extLst>
          </p:cNvPr>
          <p:cNvSpPr>
            <a:spLocks noGrp="1"/>
          </p:cNvSpPr>
          <p:nvPr>
            <p:ph type="title"/>
          </p:nvPr>
        </p:nvSpPr>
        <p:spPr/>
        <p:txBody>
          <a:bodyPr>
            <a:normAutofit/>
          </a:bodyPr>
          <a:lstStyle/>
          <a:p>
            <a:r>
              <a:rPr lang="en-US" sz="2400"/>
              <a:t>Peptídeos antimicrobianos priorizados por ML</a:t>
            </a:r>
          </a:p>
        </p:txBody>
      </p:sp>
      <p:sp>
        <p:nvSpPr>
          <p:cNvPr id="3" name="Text Placeholder 2">
            <a:extLst>
              <a:ext uri="{FF2B5EF4-FFF2-40B4-BE49-F238E27FC236}">
                <a16:creationId xmlns:a16="http://schemas.microsoft.com/office/drawing/2014/main" id="{B27ACBFC-874C-6A54-949D-2F5E8B86FB14}"/>
              </a:ext>
            </a:extLst>
          </p:cNvPr>
          <p:cNvSpPr>
            <a:spLocks noGrp="1"/>
          </p:cNvSpPr>
          <p:nvPr>
            <p:ph type="body" idx="1"/>
          </p:nvPr>
        </p:nvSpPr>
        <p:spPr/>
        <p:txBody>
          <a:bodyPr wrap="square">
            <a:normAutofit/>
          </a:bodyPr>
          <a:lstStyle/>
          <a:p>
            <a:r>
              <a:rPr lang="en-US" sz="1600"/>
              <a:t>• AGRAMP (2024): Random Forest, acurácia 0,72–0,91; validado em Spiroplasma citri</a:t>
            </a:r>
          </a:p>
          <a:p>
            <a:r>
              <a:rPr lang="en-US" sz="1600"/>
              <a:t>• ~7% de 685.924 peptídeos do genoma de citros previstos como AMP</a:t>
            </a:r>
          </a:p>
          <a:p>
            <a:r>
              <a:rPr lang="en-US" sz="1600"/>
              <a:t>• Su et al. (2025): 6.706 genomas de Bacillus → 4,99 mi candidatos</a:t>
            </a:r>
          </a:p>
          <a:p>
            <a:r>
              <a:rPr lang="en-US" sz="1600"/>
              <a:t>• Ensemble BERT/Mamba/CNN; 2 AMPs validados contra Fusarium e Phytophthora</a:t>
            </a:r>
          </a:p>
          <a:p>
            <a:r>
              <a:rPr lang="en-US" sz="1600"/>
              <a:t>• Ran et al. (JAFC 2025): XGBoost (R² 0,77); peptídeo TP vs F. graminearum a 13,3 </a:t>
            </a:r>
            <a:r>
              <a:rPr lang="el-GR" sz="1600"/>
              <a:t>μ</a:t>
            </a:r>
            <a:r>
              <a:rPr lang="en-US" sz="1600"/>
              <a:t>M</a:t>
            </a:r>
          </a:p>
          <a:p>
            <a:r>
              <a:rPr lang="en-US" sz="1600"/>
              <a:t>• A IA prioriza; a validação molhada é o critério para acreditar</a:t>
            </a:r>
          </a:p>
        </p:txBody>
      </p:sp>
    </p:spTree>
    <p:extLst>
      <p:ext uri="{BB962C8B-B14F-4D97-AF65-F5344CB8AC3E}">
        <p14:creationId xmlns:p14="http://schemas.microsoft.com/office/powerpoint/2010/main" val="1896972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876C5-AAC8-24B7-1A6A-753A48B7E483}"/>
              </a:ext>
            </a:extLst>
          </p:cNvPr>
          <p:cNvSpPr>
            <a:spLocks noGrp="1"/>
          </p:cNvSpPr>
          <p:nvPr>
            <p:ph type="title"/>
          </p:nvPr>
        </p:nvSpPr>
        <p:spPr/>
        <p:txBody>
          <a:bodyPr>
            <a:normAutofit/>
          </a:bodyPr>
          <a:lstStyle/>
          <a:p>
            <a:r>
              <a:rPr lang="en-US" sz="2400"/>
              <a:t>Peptídeo inseticida no mercado: Vestaron Spear</a:t>
            </a:r>
          </a:p>
        </p:txBody>
      </p:sp>
      <p:sp>
        <p:nvSpPr>
          <p:cNvPr id="3" name="Text Placeholder 2">
            <a:extLst>
              <a:ext uri="{FF2B5EF4-FFF2-40B4-BE49-F238E27FC236}">
                <a16:creationId xmlns:a16="http://schemas.microsoft.com/office/drawing/2014/main" id="{69E170C2-14AE-D677-7E62-168CDB4E9B87}"/>
              </a:ext>
            </a:extLst>
          </p:cNvPr>
          <p:cNvSpPr>
            <a:spLocks noGrp="1"/>
          </p:cNvSpPr>
          <p:nvPr>
            <p:ph type="body" idx="1"/>
          </p:nvPr>
        </p:nvSpPr>
        <p:spPr/>
        <p:txBody>
          <a:bodyPr wrap="square">
            <a:normAutofit/>
          </a:bodyPr>
          <a:lstStyle/>
          <a:p>
            <a:r>
              <a:rPr lang="pt-BR" sz="1600"/>
              <a:t>• Ingrediente: GS-omega/kappa-Hxtx-Hv1a, peptídeo de veneno de aranha</a:t>
            </a:r>
          </a:p>
          <a:p>
            <a:r>
              <a:rPr lang="pt-BR" sz="1600"/>
              <a:t>• Primeiro registro EPA: 3 fev 2014; IRAC Grupo 32; inibe o SNC do inseto</a:t>
            </a:r>
          </a:p>
          <a:p>
            <a:r>
              <a:rPr lang="pt-BR" sz="1600"/>
              <a:t>• Ação de contato, sem sistêmico; intervalo pré-colheita de 0 dias</a:t>
            </a:r>
          </a:p>
          <a:p>
            <a:r>
              <a:rPr lang="pt-BR" sz="1600"/>
              <a:t>• Alvos de bula: pulgão, ácaro, tripes, mosca-branca, Drosophila suzukii</a:t>
            </a:r>
          </a:p>
          <a:p>
            <a:r>
              <a:rPr lang="pt-BR" sz="1600"/>
              <a:t>• Gargalos: estabilidade (UV, protease), cobertura foliar, custo de produção</a:t>
            </a:r>
          </a:p>
          <a:p>
            <a:r>
              <a:rPr lang="pt-BR" sz="1600"/>
              <a:t>• No Brasil a rota muda: aplicado (MAPA) vs expresso na planta (CTNBio)</a:t>
            </a:r>
            <a:endParaRPr lang="en-US" sz="1600"/>
          </a:p>
        </p:txBody>
      </p:sp>
    </p:spTree>
    <p:extLst>
      <p:ext uri="{BB962C8B-B14F-4D97-AF65-F5344CB8AC3E}">
        <p14:creationId xmlns:p14="http://schemas.microsoft.com/office/powerpoint/2010/main" val="3562742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75C88-8B46-9EC6-39A0-9B852AF0888D}"/>
              </a:ext>
            </a:extLst>
          </p:cNvPr>
          <p:cNvSpPr>
            <a:spLocks noGrp="1"/>
          </p:cNvSpPr>
          <p:nvPr>
            <p:ph type="title"/>
          </p:nvPr>
        </p:nvSpPr>
        <p:spPr/>
        <p:txBody>
          <a:bodyPr>
            <a:normAutofit/>
          </a:bodyPr>
          <a:lstStyle/>
          <a:p>
            <a:r>
              <a:rPr lang="pt-BR" sz="2400"/>
              <a:t>Proteínas Bt: vencer resistência redesenhando o receptor</a:t>
            </a:r>
            <a:endParaRPr lang="en-US" sz="2400"/>
          </a:p>
        </p:txBody>
      </p:sp>
      <p:sp>
        <p:nvSpPr>
          <p:cNvPr id="3" name="Text Placeholder 2">
            <a:extLst>
              <a:ext uri="{FF2B5EF4-FFF2-40B4-BE49-F238E27FC236}">
                <a16:creationId xmlns:a16="http://schemas.microsoft.com/office/drawing/2014/main" id="{6558DF9D-ECB2-555D-00E6-697BA1041764}"/>
              </a:ext>
            </a:extLst>
          </p:cNvPr>
          <p:cNvSpPr>
            <a:spLocks noGrp="1"/>
          </p:cNvSpPr>
          <p:nvPr>
            <p:ph type="body" idx="1"/>
          </p:nvPr>
        </p:nvSpPr>
        <p:spPr/>
        <p:txBody>
          <a:bodyPr wrap="square">
            <a:normAutofit/>
          </a:bodyPr>
          <a:lstStyle/>
          <a:p>
            <a:r>
              <a:rPr lang="pt-BR" sz="1600"/>
              <a:t>• PACE (Badran et al., Nature 2016): Cry1Ac evoluída por mais de 500 gerações</a:t>
            </a:r>
          </a:p>
          <a:p>
            <a:r>
              <a:rPr lang="pt-BR" sz="1600"/>
              <a:t>• Liga receptor TnCAD que o tipo selvagem não reconhece (Kd 11–41 nM)</a:t>
            </a:r>
          </a:p>
          <a:p>
            <a:r>
              <a:rPr lang="pt-BR" sz="1600"/>
              <a:t>• Letalidade até 335 vezes maior contra Trichoplusia ni resistente a Cry1Ac</a:t>
            </a:r>
          </a:p>
          <a:p>
            <a:r>
              <a:rPr lang="pt-BR" sz="1600"/>
              <a:t>• ML/AlphaFold prioriza variantes; datasets agrícolas são pequenos (~200)</a:t>
            </a:r>
          </a:p>
          <a:p>
            <a:r>
              <a:rPr lang="pt-BR" sz="1600"/>
              <a:t>• Vip3Ca: engenharia racional, sem ML, elevou toxicidade até 12,3 vezes</a:t>
            </a:r>
          </a:p>
          <a:p>
            <a:r>
              <a:rPr lang="pt-BR" sz="1600"/>
              <a:t>• Durabilidade exige vários modos de ação, não uma toxina só</a:t>
            </a:r>
            <a:endParaRPr lang="en-US" sz="1600"/>
          </a:p>
        </p:txBody>
      </p:sp>
    </p:spTree>
    <p:extLst>
      <p:ext uri="{BB962C8B-B14F-4D97-AF65-F5344CB8AC3E}">
        <p14:creationId xmlns:p14="http://schemas.microsoft.com/office/powerpoint/2010/main" val="1180508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85EE3-4FA1-B6AE-89BA-153E26F6FCC9}"/>
              </a:ext>
            </a:extLst>
          </p:cNvPr>
          <p:cNvSpPr>
            <a:spLocks noGrp="1"/>
          </p:cNvSpPr>
          <p:nvPr>
            <p:ph type="title"/>
          </p:nvPr>
        </p:nvSpPr>
        <p:spPr/>
        <p:txBody>
          <a:bodyPr>
            <a:normAutofit/>
          </a:bodyPr>
          <a:lstStyle/>
          <a:p>
            <a:r>
              <a:rPr lang="pt-BR" sz="2400"/>
              <a:t>RNAi e enzimas: o trait como molécula desenhada</a:t>
            </a:r>
            <a:endParaRPr lang="en-US" sz="2400"/>
          </a:p>
        </p:txBody>
      </p:sp>
      <p:sp>
        <p:nvSpPr>
          <p:cNvPr id="3" name="Text Placeholder 2">
            <a:extLst>
              <a:ext uri="{FF2B5EF4-FFF2-40B4-BE49-F238E27FC236}">
                <a16:creationId xmlns:a16="http://schemas.microsoft.com/office/drawing/2014/main" id="{D2A3598D-6163-61AE-C865-72E2CEFC5842}"/>
              </a:ext>
            </a:extLst>
          </p:cNvPr>
          <p:cNvSpPr>
            <a:spLocks noGrp="1"/>
          </p:cNvSpPr>
          <p:nvPr>
            <p:ph type="body" idx="1"/>
          </p:nvPr>
        </p:nvSpPr>
        <p:spPr/>
        <p:txBody>
          <a:bodyPr wrap="square">
            <a:normAutofit/>
          </a:bodyPr>
          <a:lstStyle/>
          <a:p>
            <a:r>
              <a:rPr lang="pt-BR" sz="1600"/>
              <a:t>• SmartStax PRO (MON 87411): dsRNA DvSnf7 + Cry3Bb1 + CP4 EPSPS</a:t>
            </a:r>
          </a:p>
          <a:p>
            <a:r>
              <a:rPr lang="pt-BR" sz="1600"/>
              <a:t>• EPA do PIP em jun/2017; China jan/2021; lançamento nos EUA em 2022</a:t>
            </a:r>
          </a:p>
          <a:p>
            <a:r>
              <a:rPr lang="pt-BR" sz="1600"/>
              <a:t>• 3 modos de ação contra Diabrotica; 6 no total com os traits de parte aérea</a:t>
            </a:r>
          </a:p>
          <a:p>
            <a:r>
              <a:rPr lang="pt-BR" sz="1600"/>
              <a:t>• FG72: uma troca (W336) na HPPD de Pseudomonas dá tolerância a isoxaflutol</a:t>
            </a:r>
          </a:p>
          <a:p>
            <a:r>
              <a:rPr lang="pt-BR" sz="1600"/>
              <a:t>• Calantha (GreenLight): dsRNA foliar ledprona, EPA dez/2023, 4 g/acre</a:t>
            </a:r>
          </a:p>
          <a:p>
            <a:r>
              <a:rPr lang="pt-BR" sz="1600"/>
              <a:t>• Especificidade de sequência é o que torna o desenho computacional natural</a:t>
            </a:r>
            <a:endParaRPr lang="en-US" sz="1600"/>
          </a:p>
        </p:txBody>
      </p:sp>
    </p:spTree>
    <p:extLst>
      <p:ext uri="{BB962C8B-B14F-4D97-AF65-F5344CB8AC3E}">
        <p14:creationId xmlns:p14="http://schemas.microsoft.com/office/powerpoint/2010/main" val="2243320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1214C-7921-A34E-1DDC-2C0EDC4A7927}"/>
              </a:ext>
            </a:extLst>
          </p:cNvPr>
          <p:cNvSpPr>
            <a:spLocks noGrp="1"/>
          </p:cNvSpPr>
          <p:nvPr>
            <p:ph type="title"/>
          </p:nvPr>
        </p:nvSpPr>
        <p:spPr/>
        <p:txBody>
          <a:bodyPr>
            <a:normAutofit/>
          </a:bodyPr>
          <a:lstStyle/>
          <a:p>
            <a:r>
              <a:rPr lang="en-US" sz="2400"/>
              <a:t>Pikobodies: imunidade programável</a:t>
            </a:r>
          </a:p>
        </p:txBody>
      </p:sp>
      <p:sp>
        <p:nvSpPr>
          <p:cNvPr id="3" name="Text Placeholder 2">
            <a:extLst>
              <a:ext uri="{FF2B5EF4-FFF2-40B4-BE49-F238E27FC236}">
                <a16:creationId xmlns:a16="http://schemas.microsoft.com/office/drawing/2014/main" id="{4E097D94-9112-FBFB-6B17-14ABE8411D41}"/>
              </a:ext>
            </a:extLst>
          </p:cNvPr>
          <p:cNvSpPr>
            <a:spLocks noGrp="1"/>
          </p:cNvSpPr>
          <p:nvPr>
            <p:ph type="body" idx="1"/>
          </p:nvPr>
        </p:nvSpPr>
        <p:spPr/>
        <p:txBody>
          <a:bodyPr wrap="square">
            <a:normAutofit/>
          </a:bodyPr>
          <a:lstStyle/>
          <a:p>
            <a:r>
              <a:rPr lang="pt-BR" sz="1600"/>
              <a:t>• NLR de arroz Pikm-1/Pikm-2; domínio HMA trocado por nanobody (Science 2023)</a:t>
            </a:r>
          </a:p>
          <a:p>
            <a:r>
              <a:rPr lang="pt-BR" sz="1600"/>
              <a:t>• O nanobody reconhece uma proteína; o NLR dispara a morte celular</a:t>
            </a:r>
          </a:p>
          <a:p>
            <a:r>
              <a:rPr lang="pt-BR" sz="1600"/>
              <a:t>• Resistência a PVX que expressa a proteína-alvo, comparável ao gene Rx</a:t>
            </a:r>
          </a:p>
          <a:p>
            <a:r>
              <a:rPr lang="pt-BR" sz="1600"/>
              <a:t>• Prova de conceito com alvo artificial (proteína fluorescente), não produto</a:t>
            </a:r>
          </a:p>
          <a:p>
            <a:r>
              <a:rPr lang="pt-BR" sz="1600"/>
              <a:t>• Próximo passo de IA: AlphaFold 3 e RFdiffusion desenham o domínio de ligação</a:t>
            </a:r>
          </a:p>
          <a:p>
            <a:r>
              <a:rPr lang="pt-BR" sz="1600"/>
              <a:t>• Durabilidade continua aberta: o patógeno também evolui</a:t>
            </a:r>
            <a:endParaRPr lang="en-US" sz="1600"/>
          </a:p>
        </p:txBody>
      </p:sp>
    </p:spTree>
    <p:extLst>
      <p:ext uri="{BB962C8B-B14F-4D97-AF65-F5344CB8AC3E}">
        <p14:creationId xmlns:p14="http://schemas.microsoft.com/office/powerpoint/2010/main" val="3363084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8E71-DC63-3419-8F69-B7A597888AFF}"/>
              </a:ext>
            </a:extLst>
          </p:cNvPr>
          <p:cNvSpPr>
            <a:spLocks noGrp="1"/>
          </p:cNvSpPr>
          <p:nvPr>
            <p:ph type="title"/>
          </p:nvPr>
        </p:nvSpPr>
        <p:spPr/>
        <p:txBody>
          <a:bodyPr>
            <a:normAutofit/>
          </a:bodyPr>
          <a:lstStyle/>
          <a:p>
            <a:r>
              <a:rPr lang="pt-BR" sz="2400"/>
              <a:t>Event não é gene: seleção e caracterização</a:t>
            </a:r>
            <a:endParaRPr lang="en-US" sz="2400"/>
          </a:p>
        </p:txBody>
      </p:sp>
      <p:sp>
        <p:nvSpPr>
          <p:cNvPr id="3" name="Text Placeholder 2">
            <a:extLst>
              <a:ext uri="{FF2B5EF4-FFF2-40B4-BE49-F238E27FC236}">
                <a16:creationId xmlns:a16="http://schemas.microsoft.com/office/drawing/2014/main" id="{2C7616EF-EBF9-E4A3-6A20-64B67793CA28}"/>
              </a:ext>
            </a:extLst>
          </p:cNvPr>
          <p:cNvSpPr>
            <a:spLocks noGrp="1"/>
          </p:cNvSpPr>
          <p:nvPr>
            <p:ph type="body" idx="1"/>
          </p:nvPr>
        </p:nvSpPr>
        <p:spPr/>
        <p:txBody>
          <a:bodyPr wrap="square">
            <a:normAutofit/>
          </a:bodyPr>
          <a:lstStyle/>
          <a:p>
            <a:r>
              <a:rPr lang="pt-BR" sz="1600"/>
              <a:t>• Event = uma inserção: locus, arranjo, cópias e expressão definidos</a:t>
            </a:r>
          </a:p>
          <a:p>
            <a:r>
              <a:rPr lang="pt-BR" sz="1600"/>
              <a:t>• O mesmo cassete em outro locus é outro event, outro dossiê, outro IP</a:t>
            </a:r>
          </a:p>
          <a:p>
            <a:r>
              <a:rPr lang="pt-BR" sz="1600"/>
              <a:t>• Gates: sítio neutro, cópia única, sem backbone, expressão estável, herança</a:t>
            </a:r>
          </a:p>
          <a:p>
            <a:r>
              <a:rPr lang="pt-BR" sz="1600"/>
              <a:t>• 6.204 unidades triadas por trait (2008–12), contra 1.638 antes de 2002</a:t>
            </a:r>
          </a:p>
          <a:p>
            <a:r>
              <a:rPr lang="pt-BR" sz="1600"/>
              <a:t>• FG72: HPPD de 38,4 μg/g na folha V4 a 5,8 μg/g na raiz (dossiê CFIA)</a:t>
            </a:r>
          </a:p>
          <a:p>
            <a:r>
              <a:rPr lang="pt-BR" sz="1600"/>
              <a:t>• ML prioriza quais events passam no gate molecular</a:t>
            </a:r>
            <a:endParaRPr lang="en-US" sz="1600"/>
          </a:p>
        </p:txBody>
      </p:sp>
    </p:spTree>
    <p:extLst>
      <p:ext uri="{BB962C8B-B14F-4D97-AF65-F5344CB8AC3E}">
        <p14:creationId xmlns:p14="http://schemas.microsoft.com/office/powerpoint/2010/main" val="2386702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13C39-BDDC-A103-A0EF-A8C6330CA10D}"/>
              </a:ext>
            </a:extLst>
          </p:cNvPr>
          <p:cNvSpPr>
            <a:spLocks noGrp="1"/>
          </p:cNvSpPr>
          <p:nvPr>
            <p:ph type="title"/>
          </p:nvPr>
        </p:nvSpPr>
        <p:spPr/>
        <p:txBody>
          <a:bodyPr>
            <a:normAutofit/>
          </a:bodyPr>
          <a:lstStyle/>
          <a:p>
            <a:r>
              <a:rPr lang="pt-BR" sz="2400"/>
              <a:t>Stacking é otimização de pipeline</a:t>
            </a:r>
            <a:endParaRPr lang="en-US" sz="2400"/>
          </a:p>
        </p:txBody>
      </p:sp>
      <p:sp>
        <p:nvSpPr>
          <p:cNvPr id="3" name="Text Placeholder 2">
            <a:extLst>
              <a:ext uri="{FF2B5EF4-FFF2-40B4-BE49-F238E27FC236}">
                <a16:creationId xmlns:a16="http://schemas.microsoft.com/office/drawing/2014/main" id="{773DF3C4-937F-3B7E-C317-864FB2EEB867}"/>
              </a:ext>
            </a:extLst>
          </p:cNvPr>
          <p:cNvSpPr>
            <a:spLocks noGrp="1"/>
          </p:cNvSpPr>
          <p:nvPr>
            <p:ph type="body" idx="1"/>
          </p:nvPr>
        </p:nvSpPr>
        <p:spPr/>
        <p:txBody>
          <a:bodyPr wrap="square">
            <a:normAutofit/>
          </a:bodyPr>
          <a:lstStyle/>
          <a:p>
            <a:r>
              <a:rPr lang="pt-BR" sz="1600"/>
              <a:t>• MTI (Peng et al. 2014): 15 events num híbrido de milho, 8 na fêmea e 7 no macho</a:t>
            </a:r>
          </a:p>
          <a:p>
            <a:r>
              <a:rPr lang="pt-BR" sz="1600"/>
              <a:t>• Meta: 96,7% do recorrente; menos de 8 cM de doador; ~1 cM de linkage drag</a:t>
            </a:r>
          </a:p>
          <a:p>
            <a:r>
              <a:rPr lang="pt-BR" sz="1600"/>
              <a:t>• 5 retrocruzamentos: população 600 (BC1–BC3) e 400 (BC4–BC5)</a:t>
            </a:r>
          </a:p>
          <a:p>
            <a:r>
              <a:rPr lang="pt-BR" sz="1600"/>
              <a:t>• Look-ahead (Moeinizade 2019): GEBV do melhor descendente no prazo T</a:t>
            </a:r>
          </a:p>
          <a:p>
            <a:r>
              <a:rPr lang="pt-BR" sz="1600"/>
              <a:t>• Designed diversity (Trends Plant Sci. 2026): sucesso × elite × tempo × custo</a:t>
            </a:r>
          </a:p>
          <a:p>
            <a:r>
              <a:rPr lang="pt-BR" sz="1600"/>
              <a:t>• É o mesmo tipo de problema da OCS da Sessão 09, com event e prazo</a:t>
            </a:r>
            <a:endParaRPr lang="en-US" sz="1600"/>
          </a:p>
        </p:txBody>
      </p:sp>
    </p:spTree>
    <p:extLst>
      <p:ext uri="{BB962C8B-B14F-4D97-AF65-F5344CB8AC3E}">
        <p14:creationId xmlns:p14="http://schemas.microsoft.com/office/powerpoint/2010/main" val="2791218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2956-580E-743E-CC03-54A05F306079}"/>
              </a:ext>
            </a:extLst>
          </p:cNvPr>
          <p:cNvSpPr>
            <a:spLocks noGrp="1"/>
          </p:cNvSpPr>
          <p:nvPr>
            <p:ph type="title"/>
          </p:nvPr>
        </p:nvSpPr>
        <p:spPr/>
        <p:txBody>
          <a:bodyPr>
            <a:normAutofit/>
          </a:bodyPr>
          <a:lstStyle/>
          <a:p>
            <a:r>
              <a:rPr lang="pt-BR" sz="2400"/>
              <a:t>Brasil, e o que a farma não transfere</a:t>
            </a:r>
            <a:endParaRPr lang="en-US" sz="2400"/>
          </a:p>
        </p:txBody>
      </p:sp>
      <p:sp>
        <p:nvSpPr>
          <p:cNvPr id="3" name="Text Placeholder 2">
            <a:extLst>
              <a:ext uri="{FF2B5EF4-FFF2-40B4-BE49-F238E27FC236}">
                <a16:creationId xmlns:a16="http://schemas.microsoft.com/office/drawing/2014/main" id="{7748B957-6CAA-E7F1-0318-CBBE442A924D}"/>
              </a:ext>
            </a:extLst>
          </p:cNvPr>
          <p:cNvSpPr>
            <a:spLocks noGrp="1"/>
          </p:cNvSpPr>
          <p:nvPr>
            <p:ph type="body" idx="1"/>
          </p:nvPr>
        </p:nvSpPr>
        <p:spPr/>
        <p:txBody>
          <a:bodyPr wrap="square">
            <a:normAutofit/>
          </a:bodyPr>
          <a:lstStyle/>
          <a:p>
            <a:r>
              <a:rPr lang="pt-BR" sz="1600"/>
              <a:t>• CTNBio, 2024: 134 events de cultivo (65 milho, 25 algodão, 24 soja, 1 feijão)</a:t>
            </a:r>
          </a:p>
          <a:p>
            <a:r>
              <a:rPr lang="pt-BR" sz="1600"/>
              <a:t>• Intacta 2 Xtend: 4 events; cultivo no Brasil 2018, lançamento jun/2021</a:t>
            </a:r>
          </a:p>
          <a:p>
            <a:r>
              <a:rPr lang="pt-BR" sz="1600"/>
              <a:t>• Três anos entre aprovação local e lançamento: China 2020, UE 2021</a:t>
            </a:r>
          </a:p>
          <a:p>
            <a:r>
              <a:rPr lang="pt-BR" sz="1600"/>
              <a:t>• Farma: rentosertib (IA) fase 2a, FVC +98 mL vs −20 mL placebo (Nat Med 2025)</a:t>
            </a:r>
          </a:p>
          <a:p>
            <a:r>
              <a:rPr lang="pt-BR" sz="1600"/>
              <a:t>• Transfere: química generativa e design de proteína</a:t>
            </a:r>
          </a:p>
          <a:p>
            <a:r>
              <a:rPr lang="pt-BR" sz="1600"/>
              <a:t>• Não transfere: eficácia de campo, custo por hectare, abelhas, dossiê</a:t>
            </a:r>
            <a:endParaRPr lang="en-US" sz="1600"/>
          </a:p>
        </p:txBody>
      </p:sp>
    </p:spTree>
    <p:extLst>
      <p:ext uri="{BB962C8B-B14F-4D97-AF65-F5344CB8AC3E}">
        <p14:creationId xmlns:p14="http://schemas.microsoft.com/office/powerpoint/2010/main" val="3885600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D3CE7-2406-BEEF-BC94-7FEC81D91F1F}"/>
              </a:ext>
            </a:extLst>
          </p:cNvPr>
          <p:cNvSpPr>
            <a:spLocks noGrp="1"/>
          </p:cNvSpPr>
          <p:nvPr>
            <p:ph type="title"/>
          </p:nvPr>
        </p:nvSpPr>
        <p:spPr/>
        <p:txBody>
          <a:bodyPr>
            <a:normAutofit/>
          </a:bodyPr>
          <a:lstStyle/>
          <a:p>
            <a:r>
              <a:rPr lang="en-US" sz="2400"/>
              <a:t>Bloco 2 — Take-home</a:t>
            </a:r>
          </a:p>
        </p:txBody>
      </p:sp>
      <p:sp>
        <p:nvSpPr>
          <p:cNvPr id="3" name="Text Placeholder 2">
            <a:extLst>
              <a:ext uri="{FF2B5EF4-FFF2-40B4-BE49-F238E27FC236}">
                <a16:creationId xmlns:a16="http://schemas.microsoft.com/office/drawing/2014/main" id="{ADB2A37A-16C7-A0F4-C0B4-2FC49DD41471}"/>
              </a:ext>
            </a:extLst>
          </p:cNvPr>
          <p:cNvSpPr>
            <a:spLocks noGrp="1"/>
          </p:cNvSpPr>
          <p:nvPr>
            <p:ph type="body" idx="1"/>
          </p:nvPr>
        </p:nvSpPr>
        <p:spPr/>
        <p:txBody>
          <a:bodyPr wrap="square">
            <a:normAutofit/>
          </a:bodyPr>
          <a:lstStyle/>
          <a:p>
            <a:r>
              <a:rPr lang="pt-BR" sz="1600"/>
              <a:t>• A IA comprime descoberta; o relógio do trait é regulatório e de campo</a:t>
            </a:r>
          </a:p>
          <a:p>
            <a:r>
              <a:rPr lang="pt-BR" sz="1600"/>
              <a:t>• Peptídeo e proteína: priorização por ML só vale com ensaio molhado</a:t>
            </a:r>
          </a:p>
          <a:p>
            <a:r>
              <a:rPr lang="pt-BR" sz="1600"/>
              <a:t>• Event é unidade de IP, dossiê e logística — não é ter o gene</a:t>
            </a:r>
          </a:p>
          <a:p>
            <a:r>
              <a:rPr lang="pt-BR" sz="1600"/>
              <a:t>• Stacking é o mesmo problema da OCS, com prazo e linkage drag</a:t>
            </a:r>
          </a:p>
          <a:p>
            <a:r>
              <a:rPr lang="pt-BR" sz="1600"/>
              <a:t>• GS otimiza o alelo que existe; design amplia o menu do que pode entrar</a:t>
            </a:r>
          </a:p>
          <a:p>
            <a:r>
              <a:rPr lang="pt-BR" sz="1600"/>
              <a:t>• Pergunta: o próximo ganho de sanidade é genética ou molécula aplicada?</a:t>
            </a:r>
            <a:endParaRPr lang="en-US" sz="1600"/>
          </a:p>
        </p:txBody>
      </p:sp>
    </p:spTree>
    <p:extLst>
      <p:ext uri="{BB962C8B-B14F-4D97-AF65-F5344CB8AC3E}">
        <p14:creationId xmlns:p14="http://schemas.microsoft.com/office/powerpoint/2010/main" val="493417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B5DCA-509C-5FEE-02CC-2B0FE391E348}"/>
              </a:ext>
            </a:extLst>
          </p:cNvPr>
          <p:cNvSpPr>
            <a:spLocks noGrp="1"/>
          </p:cNvSpPr>
          <p:nvPr>
            <p:ph type="title"/>
          </p:nvPr>
        </p:nvSpPr>
        <p:spPr/>
        <p:txBody>
          <a:bodyPr>
            <a:normAutofit/>
          </a:bodyPr>
          <a:lstStyle/>
          <a:p>
            <a:r>
              <a:rPr lang="pt-BR" sz="2400"/>
              <a:t>Bloco 3 — IA + edição gênica</a:t>
            </a:r>
            <a:endParaRPr lang="en-US" sz="2400"/>
          </a:p>
        </p:txBody>
      </p:sp>
      <p:sp>
        <p:nvSpPr>
          <p:cNvPr id="3" name="Text Placeholder 2">
            <a:extLst>
              <a:ext uri="{FF2B5EF4-FFF2-40B4-BE49-F238E27FC236}">
                <a16:creationId xmlns:a16="http://schemas.microsoft.com/office/drawing/2014/main" id="{C49B14C5-49A5-15BC-BF63-9C0E5149CB8E}"/>
              </a:ext>
            </a:extLst>
          </p:cNvPr>
          <p:cNvSpPr>
            <a:spLocks noGrp="1"/>
          </p:cNvSpPr>
          <p:nvPr>
            <p:ph type="body" idx="1"/>
          </p:nvPr>
        </p:nvSpPr>
        <p:spPr/>
        <p:txBody>
          <a:bodyPr wrap="square">
            <a:normAutofit/>
          </a:bodyPr>
          <a:lstStyle/>
          <a:p>
            <a:r>
              <a:rPr lang="pt-BR" sz="1600"/>
              <a:t>• Palestrante: Rodrigo — duração ~30 min</a:t>
            </a:r>
          </a:p>
          <a:p>
            <a:r>
              <a:rPr lang="pt-BR" sz="1600"/>
              <a:t>• Pergunta-guia: quando editar supera selecionar?</a:t>
            </a:r>
          </a:p>
          <a:p>
            <a:r>
              <a:rPr lang="pt-BR" sz="1600"/>
              <a:t>• Edição = espectro quantitativo, não só nocaute</a:t>
            </a:r>
          </a:p>
          <a:p>
            <a:r>
              <a:rPr lang="pt-BR" sz="1600"/>
              <a:t>• IA em 4 frentes: desenho, enzimas, alvos, agentes</a:t>
            </a:r>
          </a:p>
          <a:p>
            <a:r>
              <a:rPr lang="pt-BR" sz="1600"/>
              <a:t>• Ganho PAGE sobre GS: 1,08×–4,12× (Jenko 2015)</a:t>
            </a:r>
          </a:p>
          <a:p>
            <a:r>
              <a:rPr lang="pt-BR" sz="1600"/>
              <a:t>• Fio: arquitetura, efeito, variante causal, custo</a:t>
            </a:r>
            <a:endParaRPr lang="en-US" sz="1600"/>
          </a:p>
        </p:txBody>
      </p:sp>
    </p:spTree>
    <p:extLst>
      <p:ext uri="{BB962C8B-B14F-4D97-AF65-F5344CB8AC3E}">
        <p14:creationId xmlns:p14="http://schemas.microsoft.com/office/powerpoint/2010/main" val="1320774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414B-B104-35A3-A87F-344EFD3C12E8}"/>
              </a:ext>
            </a:extLst>
          </p:cNvPr>
          <p:cNvSpPr>
            <a:spLocks noGrp="1"/>
          </p:cNvSpPr>
          <p:nvPr>
            <p:ph type="title"/>
          </p:nvPr>
        </p:nvSpPr>
        <p:spPr/>
        <p:txBody>
          <a:bodyPr>
            <a:normAutofit/>
          </a:bodyPr>
          <a:lstStyle/>
          <a:p>
            <a:r>
              <a:rPr lang="pt-BR" sz="2400"/>
              <a:t>Caixa de ferramentas: nucleases, base, prime</a:t>
            </a:r>
            <a:endParaRPr lang="en-US" sz="2400"/>
          </a:p>
        </p:txBody>
      </p:sp>
      <p:sp>
        <p:nvSpPr>
          <p:cNvPr id="3" name="Text Placeholder 2">
            <a:extLst>
              <a:ext uri="{FF2B5EF4-FFF2-40B4-BE49-F238E27FC236}">
                <a16:creationId xmlns:a16="http://schemas.microsoft.com/office/drawing/2014/main" id="{9762BCED-9AF8-F366-F967-071E85A68496}"/>
              </a:ext>
            </a:extLst>
          </p:cNvPr>
          <p:cNvSpPr>
            <a:spLocks noGrp="1"/>
          </p:cNvSpPr>
          <p:nvPr>
            <p:ph type="body" idx="1"/>
          </p:nvPr>
        </p:nvSpPr>
        <p:spPr/>
        <p:txBody>
          <a:bodyPr wrap="square">
            <a:normAutofit/>
          </a:bodyPr>
          <a:lstStyle/>
          <a:p>
            <a:r>
              <a:rPr lang="pt-BR" sz="1600"/>
              <a:t>• Cas9 (PAM NGG, corte rombo) vs Cas12a (PAM-T, multiplex nativo)</a:t>
            </a:r>
          </a:p>
          <a:p>
            <a:r>
              <a:rPr lang="pt-BR" sz="1600"/>
              <a:t>• SDN-1 (indel/KO): via regulatória mais limpa, sem transgene</a:t>
            </a:r>
          </a:p>
          <a:p>
            <a:r>
              <a:rPr lang="pt-BR" sz="1600"/>
              <a:t>• SDN-2/3: substituição e inserção dirigida (gargalo em planta)</a:t>
            </a:r>
          </a:p>
          <a:p>
            <a:r>
              <a:rPr lang="pt-BR" sz="1600"/>
              <a:t>• CBE (C→T) e ABE (A→G): transições sem quebra</a:t>
            </a:r>
          </a:p>
          <a:p>
            <a:r>
              <a:rPr lang="pt-BR" sz="1600"/>
              <a:t>• Prime editing: as 12 trocas + indels curtos, sem doador</a:t>
            </a:r>
          </a:p>
          <a:p>
            <a:r>
              <a:rPr lang="pt-BR" sz="1600"/>
              <a:t>• Escolha = traço × precisão × eficiência × regulação</a:t>
            </a:r>
            <a:endParaRPr lang="en-US" sz="1600"/>
          </a:p>
        </p:txBody>
      </p:sp>
    </p:spTree>
    <p:extLst>
      <p:ext uri="{BB962C8B-B14F-4D97-AF65-F5344CB8AC3E}">
        <p14:creationId xmlns:p14="http://schemas.microsoft.com/office/powerpoint/2010/main" val="4101551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2775A-8817-E980-E5EF-DE7AB93258ED}"/>
              </a:ext>
            </a:extLst>
          </p:cNvPr>
          <p:cNvSpPr>
            <a:spLocks noGrp="1"/>
          </p:cNvSpPr>
          <p:nvPr>
            <p:ph type="title"/>
          </p:nvPr>
        </p:nvSpPr>
        <p:spPr/>
        <p:txBody>
          <a:bodyPr>
            <a:normAutofit/>
          </a:bodyPr>
          <a:lstStyle/>
          <a:p>
            <a:r>
              <a:rPr lang="pt-BR" sz="2400"/>
              <a:t>Edição cis-regulatória e variação quantitativa</a:t>
            </a:r>
            <a:endParaRPr lang="en-US" sz="2400"/>
          </a:p>
        </p:txBody>
      </p:sp>
      <p:sp>
        <p:nvSpPr>
          <p:cNvPr id="3" name="Text Placeholder 2">
            <a:extLst>
              <a:ext uri="{FF2B5EF4-FFF2-40B4-BE49-F238E27FC236}">
                <a16:creationId xmlns:a16="http://schemas.microsoft.com/office/drawing/2014/main" id="{48044FD6-A62C-5567-AA3A-215DB226A9CD}"/>
              </a:ext>
            </a:extLst>
          </p:cNvPr>
          <p:cNvSpPr>
            <a:spLocks noGrp="1"/>
          </p:cNvSpPr>
          <p:nvPr>
            <p:ph type="body" idx="1"/>
          </p:nvPr>
        </p:nvSpPr>
        <p:spPr/>
        <p:txBody>
          <a:bodyPr wrap="square">
            <a:normAutofit/>
          </a:bodyPr>
          <a:lstStyle/>
          <a:p>
            <a:r>
              <a:rPr lang="pt-BR" sz="1600"/>
              <a:t>• Rodríguez-Leal 2017 (Cell): 8 gRNAs no promotor SlCLV3 (~2 kb)</a:t>
            </a:r>
          </a:p>
          <a:p>
            <a:r>
              <a:rPr lang="pt-BR" sz="1600"/>
              <a:t>• Gera série alélica contínua de lóculos, fruto e arquitetura</a:t>
            </a:r>
          </a:p>
          <a:p>
            <a:r>
              <a:rPr lang="pt-BR" sz="1600"/>
              <a:t>• Fenótipo NÃO previsível por mudança transcricional</a:t>
            </a:r>
          </a:p>
          <a:p>
            <a:r>
              <a:rPr lang="pt-BR" sz="1600"/>
              <a:t>• 'Dial' quantitativo de rendimento vs liga/desliga do KO</a:t>
            </a:r>
          </a:p>
          <a:p>
            <a:r>
              <a:rPr lang="pt-BR" sz="1600"/>
              <a:t>• Aplica a genes de desenvolvimento (fruto, inflorescência)</a:t>
            </a:r>
          </a:p>
          <a:p>
            <a:r>
              <a:rPr lang="pt-BR" sz="1600"/>
              <a:t>• Implicação: fenotipar o espectro; IA prioriza, não dispensa campo</a:t>
            </a:r>
            <a:endParaRPr lang="en-US" sz="1600"/>
          </a:p>
        </p:txBody>
      </p:sp>
    </p:spTree>
    <p:extLst>
      <p:ext uri="{BB962C8B-B14F-4D97-AF65-F5344CB8AC3E}">
        <p14:creationId xmlns:p14="http://schemas.microsoft.com/office/powerpoint/2010/main" val="1371870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310F8-242B-B12D-CB37-D38258CD1C06}"/>
              </a:ext>
            </a:extLst>
          </p:cNvPr>
          <p:cNvSpPr>
            <a:spLocks noGrp="1"/>
          </p:cNvSpPr>
          <p:nvPr>
            <p:ph type="title"/>
          </p:nvPr>
        </p:nvSpPr>
        <p:spPr/>
        <p:txBody>
          <a:bodyPr>
            <a:normAutofit/>
          </a:bodyPr>
          <a:lstStyle/>
          <a:p>
            <a:r>
              <a:rPr lang="en-US" sz="2400"/>
              <a:t>Domesticação de novo + HI-Edit</a:t>
            </a:r>
          </a:p>
        </p:txBody>
      </p:sp>
      <p:sp>
        <p:nvSpPr>
          <p:cNvPr id="3" name="Text Placeholder 2">
            <a:extLst>
              <a:ext uri="{FF2B5EF4-FFF2-40B4-BE49-F238E27FC236}">
                <a16:creationId xmlns:a16="http://schemas.microsoft.com/office/drawing/2014/main" id="{ACE73F63-5783-EAEC-F424-7FFA6FACBD4D}"/>
              </a:ext>
            </a:extLst>
          </p:cNvPr>
          <p:cNvSpPr>
            <a:spLocks noGrp="1"/>
          </p:cNvSpPr>
          <p:nvPr>
            <p:ph type="body" idx="1"/>
          </p:nvPr>
        </p:nvSpPr>
        <p:spPr/>
        <p:txBody>
          <a:bodyPr wrap="square">
            <a:normAutofit/>
          </a:bodyPr>
          <a:lstStyle/>
          <a:p>
            <a:r>
              <a:rPr lang="en-US" sz="1600"/>
              <a:t>• Zsögön 2018: 6 loci em S. pimpinellifolium → +3× fruto, +10× nº, +500% licopeno</a:t>
            </a:r>
          </a:p>
          <a:p>
            <a:r>
              <a:rPr lang="en-US" sz="1600"/>
              <a:t>• Li 2018: SP/SP5G/CLV3/WUS/GGP1, mantém resistência e tolerância a sal</a:t>
            </a:r>
          </a:p>
          <a:p>
            <a:r>
              <a:rPr lang="en-US" sz="1600"/>
              <a:t>• Yu 2021 (Cell): arroz alotetraploide O. alta domesticado de novo</a:t>
            </a:r>
          </a:p>
          <a:p>
            <a:r>
              <a:rPr lang="en-US" sz="1600"/>
              <a:t>• HI-Edit (Kelliher 2019): edita elite via indutor de haploide</a:t>
            </a:r>
          </a:p>
          <a:p>
            <a:r>
              <a:rPr lang="en-US" sz="1600"/>
              <a:t>• Progênie haploide editada sem maquinaria → entra direto em DH</a:t>
            </a:r>
          </a:p>
          <a:p>
            <a:r>
              <a:rPr lang="en-US" sz="1600"/>
              <a:t>• Eficiência HI-Edit em milho ~3–4%</a:t>
            </a:r>
          </a:p>
        </p:txBody>
      </p:sp>
    </p:spTree>
    <p:extLst>
      <p:ext uri="{BB962C8B-B14F-4D97-AF65-F5344CB8AC3E}">
        <p14:creationId xmlns:p14="http://schemas.microsoft.com/office/powerpoint/2010/main" val="1161642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AB9A1-BEAE-9F97-0CEE-94DFB7173D33}"/>
              </a:ext>
            </a:extLst>
          </p:cNvPr>
          <p:cNvSpPr>
            <a:spLocks noGrp="1"/>
          </p:cNvSpPr>
          <p:nvPr>
            <p:ph type="title"/>
          </p:nvPr>
        </p:nvSpPr>
        <p:spPr/>
        <p:txBody>
          <a:bodyPr>
            <a:normAutofit/>
          </a:bodyPr>
          <a:lstStyle/>
          <a:p>
            <a:r>
              <a:rPr lang="pt-BR" sz="2400"/>
              <a:t>Gargalo real: entrega e regeneração</a:t>
            </a:r>
            <a:endParaRPr lang="en-US" sz="2400"/>
          </a:p>
        </p:txBody>
      </p:sp>
      <p:sp>
        <p:nvSpPr>
          <p:cNvPr id="3" name="Text Placeholder 2">
            <a:extLst>
              <a:ext uri="{FF2B5EF4-FFF2-40B4-BE49-F238E27FC236}">
                <a16:creationId xmlns:a16="http://schemas.microsoft.com/office/drawing/2014/main" id="{3A2C91F9-F127-FBE1-9CEA-B2D8BD833DB6}"/>
              </a:ext>
            </a:extLst>
          </p:cNvPr>
          <p:cNvSpPr>
            <a:spLocks noGrp="1"/>
          </p:cNvSpPr>
          <p:nvPr>
            <p:ph type="body" idx="1"/>
          </p:nvPr>
        </p:nvSpPr>
        <p:spPr/>
        <p:txBody>
          <a:bodyPr wrap="square">
            <a:normAutofit/>
          </a:bodyPr>
          <a:lstStyle/>
          <a:p>
            <a:r>
              <a:rPr lang="pt-BR" sz="1600"/>
              <a:t>• O limite costuma ser transformar/regenerar, não a enzima</a:t>
            </a:r>
          </a:p>
          <a:p>
            <a:r>
              <a:rPr lang="pt-BR" sz="1600"/>
              <a:t>• BBM/WUS2: altas frequências em milho antes recalcitrante</a:t>
            </a:r>
          </a:p>
          <a:p>
            <a:r>
              <a:rPr lang="pt-BR" sz="1600"/>
              <a:t>• GRF4–GIF1 (Debernardi 2020): trigo 65,1% vs 8,3% (7,8×)</a:t>
            </a:r>
          </a:p>
          <a:p>
            <a:r>
              <a:rPr lang="pt-BR" sz="1600"/>
              <a:t>• Sem citocinina exógena; plantas férteis; 30 editadas no gene Q</a:t>
            </a:r>
          </a:p>
          <a:p>
            <a:r>
              <a:rPr lang="pt-BR" sz="1600"/>
              <a:t>• Reguladores morfogênicos ampliam genótipos editáveis</a:t>
            </a:r>
          </a:p>
          <a:p>
            <a:r>
              <a:rPr lang="pt-BR" sz="1600"/>
              <a:t>• Quando falha, HI-Edit contorna a transformação estável</a:t>
            </a:r>
            <a:endParaRPr lang="en-US" sz="1600"/>
          </a:p>
        </p:txBody>
      </p:sp>
    </p:spTree>
    <p:extLst>
      <p:ext uri="{BB962C8B-B14F-4D97-AF65-F5344CB8AC3E}">
        <p14:creationId xmlns:p14="http://schemas.microsoft.com/office/powerpoint/2010/main" val="27614724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54F2-941A-790E-4FF0-90A392390EAF}"/>
              </a:ext>
            </a:extLst>
          </p:cNvPr>
          <p:cNvSpPr>
            <a:spLocks noGrp="1"/>
          </p:cNvSpPr>
          <p:nvPr>
            <p:ph type="title"/>
          </p:nvPr>
        </p:nvSpPr>
        <p:spPr/>
        <p:txBody>
          <a:bodyPr>
            <a:normAutofit/>
          </a:bodyPr>
          <a:lstStyle/>
          <a:p>
            <a:r>
              <a:rPr lang="pt-BR" sz="2400"/>
              <a:t>IA para desenhar a edição</a:t>
            </a:r>
            <a:endParaRPr lang="en-US" sz="2400"/>
          </a:p>
        </p:txBody>
      </p:sp>
      <p:sp>
        <p:nvSpPr>
          <p:cNvPr id="3" name="Text Placeholder 2">
            <a:extLst>
              <a:ext uri="{FF2B5EF4-FFF2-40B4-BE49-F238E27FC236}">
                <a16:creationId xmlns:a16="http://schemas.microsoft.com/office/drawing/2014/main" id="{CA140D93-5D64-C49C-EB98-76F254BE26FE}"/>
              </a:ext>
            </a:extLst>
          </p:cNvPr>
          <p:cNvSpPr>
            <a:spLocks noGrp="1"/>
          </p:cNvSpPr>
          <p:nvPr>
            <p:ph type="body" idx="1"/>
          </p:nvPr>
        </p:nvSpPr>
        <p:spPr/>
        <p:txBody>
          <a:bodyPr wrap="square">
            <a:normAutofit/>
          </a:bodyPr>
          <a:lstStyle/>
          <a:p>
            <a:r>
              <a:rPr lang="en-US" sz="1600"/>
              <a:t>• On-target: CRISPRon R≈0,80 &gt; DeepHF/DeepSpCas9 ~0,73–0,74 &gt; Azimuth 0,56</a:t>
            </a:r>
          </a:p>
          <a:p>
            <a:r>
              <a:rPr lang="en-US" sz="1600"/>
              <a:t>• Plantas: Gong 2025 (bioRxiv) — ML correlaciona com indels in planta</a:t>
            </a:r>
          </a:p>
          <a:p>
            <a:r>
              <a:rPr lang="en-US" sz="1600"/>
              <a:t>• Off-target: CFD (AUC 0,91) &gt; MIT (0,87) + sequenciamento dirigido</a:t>
            </a:r>
          </a:p>
          <a:p>
            <a:r>
              <a:rPr lang="en-US" sz="1600"/>
              <a:t>• Base/prime: BE-Hive R≈0,9 (genótipo); PRIDICT R=0,85/0,78</a:t>
            </a:r>
          </a:p>
          <a:p>
            <a:r>
              <a:rPr lang="en-US" sz="1600"/>
              <a:t>• PRIDICT escore &gt;70 vs &lt;70: 12× in vitro / 10× in vivo</a:t>
            </a:r>
          </a:p>
          <a:p>
            <a:r>
              <a:rPr lang="en-US" sz="1600"/>
              <a:t>• Escore = prior relativo p/ ranquear guias, não garantia de %</a:t>
            </a:r>
          </a:p>
        </p:txBody>
      </p:sp>
    </p:spTree>
    <p:extLst>
      <p:ext uri="{BB962C8B-B14F-4D97-AF65-F5344CB8AC3E}">
        <p14:creationId xmlns:p14="http://schemas.microsoft.com/office/powerpoint/2010/main" val="1710264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AF86D-85E9-C132-C3AF-DE01ECB297FF}"/>
              </a:ext>
            </a:extLst>
          </p:cNvPr>
          <p:cNvSpPr>
            <a:spLocks noGrp="1"/>
          </p:cNvSpPr>
          <p:nvPr>
            <p:ph type="title"/>
          </p:nvPr>
        </p:nvSpPr>
        <p:spPr/>
        <p:txBody>
          <a:bodyPr>
            <a:normAutofit/>
          </a:bodyPr>
          <a:lstStyle/>
          <a:p>
            <a:r>
              <a:rPr lang="en-US" sz="2400"/>
              <a:t>OpenCRISPR-1 + CRISPR-GPT</a:t>
            </a:r>
          </a:p>
        </p:txBody>
      </p:sp>
      <p:sp>
        <p:nvSpPr>
          <p:cNvPr id="3" name="Text Placeholder 2">
            <a:extLst>
              <a:ext uri="{FF2B5EF4-FFF2-40B4-BE49-F238E27FC236}">
                <a16:creationId xmlns:a16="http://schemas.microsoft.com/office/drawing/2014/main" id="{EE7DEDAE-E09B-EC83-568C-EF997CB74593}"/>
              </a:ext>
            </a:extLst>
          </p:cNvPr>
          <p:cNvSpPr>
            <a:spLocks noGrp="1"/>
          </p:cNvSpPr>
          <p:nvPr>
            <p:ph type="body" idx="1"/>
          </p:nvPr>
        </p:nvSpPr>
        <p:spPr/>
        <p:txBody>
          <a:bodyPr wrap="square">
            <a:normAutofit/>
          </a:bodyPr>
          <a:lstStyle/>
          <a:p>
            <a:r>
              <a:rPr lang="en-US" sz="1600"/>
              <a:t>• OpenCRISPR-1 (Profluent; Nature 2025): pLM em &gt;1M óperons CRISPR</a:t>
            </a:r>
          </a:p>
          <a:p>
            <a:r>
              <a:rPr lang="en-US" sz="1600"/>
              <a:t>• 4,8× a diversidade natural de famílias Cas</a:t>
            </a:r>
          </a:p>
          <a:p>
            <a:r>
              <a:rPr lang="en-US" sz="1600"/>
              <a:t>• On-target 56,4% vs 47,1% (SpCas9); 95% menos off-target</a:t>
            </a:r>
          </a:p>
          <a:p>
            <a:r>
              <a:rPr lang="en-US" sz="1600"/>
              <a:t>• ~400 mutações distante do SpCas9; compatível com base editing</a:t>
            </a:r>
          </a:p>
          <a:p>
            <a:r>
              <a:rPr lang="en-US" sz="1600"/>
              <a:t>• CRISPR-GPT (Nat. Biomed. Eng. 2025): agente LLM, 288 casos</a:t>
            </a:r>
          </a:p>
          <a:p>
            <a:r>
              <a:rPr lang="en-US" sz="1600"/>
              <a:t>• Validado em bancada: KO Cas12a e ativação dCas9</a:t>
            </a:r>
          </a:p>
        </p:txBody>
      </p:sp>
    </p:spTree>
    <p:extLst>
      <p:ext uri="{BB962C8B-B14F-4D97-AF65-F5344CB8AC3E}">
        <p14:creationId xmlns:p14="http://schemas.microsoft.com/office/powerpoint/2010/main" val="22302705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3579-35E6-8ECE-EBEC-BA669F7BCB5E}"/>
              </a:ext>
            </a:extLst>
          </p:cNvPr>
          <p:cNvSpPr>
            <a:spLocks noGrp="1"/>
          </p:cNvSpPr>
          <p:nvPr>
            <p:ph type="title"/>
          </p:nvPr>
        </p:nvSpPr>
        <p:spPr/>
        <p:txBody>
          <a:bodyPr>
            <a:normAutofit/>
          </a:bodyPr>
          <a:lstStyle/>
          <a:p>
            <a:r>
              <a:rPr lang="pt-BR" sz="2400"/>
              <a:t>Descoberta do alvo: qual alelo escrever</a:t>
            </a:r>
            <a:endParaRPr lang="en-US" sz="2400"/>
          </a:p>
        </p:txBody>
      </p:sp>
      <p:sp>
        <p:nvSpPr>
          <p:cNvPr id="3" name="Text Placeholder 2">
            <a:extLst>
              <a:ext uri="{FF2B5EF4-FFF2-40B4-BE49-F238E27FC236}">
                <a16:creationId xmlns:a16="http://schemas.microsoft.com/office/drawing/2014/main" id="{69575C93-EFD9-ED18-CDCC-AA6FCC6AB11C}"/>
              </a:ext>
            </a:extLst>
          </p:cNvPr>
          <p:cNvSpPr>
            <a:spLocks noGrp="1"/>
          </p:cNvSpPr>
          <p:nvPr>
            <p:ph type="body" idx="1"/>
          </p:nvPr>
        </p:nvSpPr>
        <p:spPr/>
        <p:txBody>
          <a:bodyPr wrap="square">
            <a:normAutofit/>
          </a:bodyPr>
          <a:lstStyle/>
          <a:p>
            <a:r>
              <a:rPr lang="en-US" sz="1600"/>
              <a:t>• gLMs de plantas: AgroNT (48 spp.), PlantCaduceus (16 spp.)</a:t>
            </a:r>
          </a:p>
          <a:p>
            <a:r>
              <a:rPr lang="en-US" sz="1600"/>
              <a:t>• AgroNT: mutagênese in silico de saturação em mandioca (&gt;10M mutações)</a:t>
            </a:r>
          </a:p>
          <a:p>
            <a:r>
              <a:rPr lang="en-US" sz="1600"/>
              <a:t>• PlantCaduceus: splice +1,45×, TIS +7,23×; deletérias com MAF 3× menor</a:t>
            </a:r>
          </a:p>
          <a:p>
            <a:r>
              <a:rPr lang="en-US" sz="1600"/>
              <a:t>• Fine-mapping + pan-genoma/SV + efeito de variante → lista editável</a:t>
            </a:r>
          </a:p>
          <a:p>
            <a:r>
              <a:rPr lang="en-US" sz="1600"/>
              <a:t>• PhytoExpr: desenho racional e de novo de sequências cis-regulatórias</a:t>
            </a:r>
          </a:p>
          <a:p>
            <a:r>
              <a:rPr lang="en-US" sz="1600"/>
              <a:t>• Limite: epistasia, pleiotropia e GxE exigem fenotipagem</a:t>
            </a:r>
          </a:p>
        </p:txBody>
      </p:sp>
    </p:spTree>
    <p:extLst>
      <p:ext uri="{BB962C8B-B14F-4D97-AF65-F5344CB8AC3E}">
        <p14:creationId xmlns:p14="http://schemas.microsoft.com/office/powerpoint/2010/main" val="2024326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1222-BEEF-F309-9BEE-2291C1CF9B8C}"/>
              </a:ext>
            </a:extLst>
          </p:cNvPr>
          <p:cNvSpPr>
            <a:spLocks noGrp="1"/>
          </p:cNvSpPr>
          <p:nvPr>
            <p:ph type="title"/>
          </p:nvPr>
        </p:nvSpPr>
        <p:spPr/>
        <p:txBody>
          <a:bodyPr>
            <a:normAutofit/>
          </a:bodyPr>
          <a:lstStyle/>
          <a:p>
            <a:r>
              <a:rPr lang="pt-BR" sz="2400"/>
              <a:t>Integração com GS: PAGE (Jenko 2015)</a:t>
            </a:r>
            <a:endParaRPr lang="en-US" sz="2400"/>
          </a:p>
        </p:txBody>
      </p:sp>
      <p:sp>
        <p:nvSpPr>
          <p:cNvPr id="3" name="Text Placeholder 2">
            <a:extLst>
              <a:ext uri="{FF2B5EF4-FFF2-40B4-BE49-F238E27FC236}">
                <a16:creationId xmlns:a16="http://schemas.microsoft.com/office/drawing/2014/main" id="{C1CE061A-4957-3993-2AB2-9886E892DCD0}"/>
              </a:ext>
            </a:extLst>
          </p:cNvPr>
          <p:cNvSpPr>
            <a:spLocks noGrp="1"/>
          </p:cNvSpPr>
          <p:nvPr>
            <p:ph type="body" idx="1"/>
          </p:nvPr>
        </p:nvSpPr>
        <p:spPr/>
        <p:txBody>
          <a:bodyPr wrap="square">
            <a:normAutofit/>
          </a:bodyPr>
          <a:lstStyle/>
          <a:p>
            <a:r>
              <a:rPr lang="pt-BR" sz="1600"/>
              <a:t>• Simulação: 10.000 QTN, 20 gerações; GS+PAGE 1,08×–4,12× vs GS pura</a:t>
            </a:r>
          </a:p>
          <a:p>
            <a:r>
              <a:rPr lang="pt-BR" sz="1600"/>
              <a:t>• 1 QTN/touro, todos 25: 1,08× | 20 QTN/touro, todos 25: 2,00×</a:t>
            </a:r>
          </a:p>
          <a:p>
            <a:r>
              <a:rPr lang="pt-BR" sz="1600"/>
              <a:t>• Top 5 touros, 500 edições/ger: 4,12× | espalhado (25): 2,00×</a:t>
            </a:r>
          </a:p>
          <a:p>
            <a:r>
              <a:rPr lang="pt-BR" sz="1600"/>
              <a:t>• Geração 20 absoluta: GS 10,07 vs GS+PAGE 20,09 unidades</a:t>
            </a:r>
          </a:p>
          <a:p>
            <a:r>
              <a:rPr lang="pt-BR" sz="1600"/>
              <a:t>• Ganho marginal decai; maior nos primeiros ciclos</a:t>
            </a:r>
          </a:p>
          <a:p>
            <a:r>
              <a:rPr lang="pt-BR" sz="1600"/>
              <a:t>• Concentrar edições → mais resposta E mais endogamia → OCS</a:t>
            </a:r>
            <a:endParaRPr lang="en-US" sz="1600"/>
          </a:p>
        </p:txBody>
      </p:sp>
    </p:spTree>
    <p:extLst>
      <p:ext uri="{BB962C8B-B14F-4D97-AF65-F5344CB8AC3E}">
        <p14:creationId xmlns:p14="http://schemas.microsoft.com/office/powerpoint/2010/main" val="3764946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8968-2196-E5F4-BC54-EC80EB3FC441}"/>
              </a:ext>
            </a:extLst>
          </p:cNvPr>
          <p:cNvSpPr>
            <a:spLocks noGrp="1"/>
          </p:cNvSpPr>
          <p:nvPr>
            <p:ph type="title"/>
          </p:nvPr>
        </p:nvSpPr>
        <p:spPr/>
        <p:txBody>
          <a:bodyPr>
            <a:normAutofit/>
          </a:bodyPr>
          <a:lstStyle/>
          <a:p>
            <a:r>
              <a:rPr lang="en-US" sz="2400"/>
              <a:t>Produtos reais no mercado</a:t>
            </a:r>
          </a:p>
        </p:txBody>
      </p:sp>
      <p:sp>
        <p:nvSpPr>
          <p:cNvPr id="3" name="Text Placeholder 2">
            <a:extLst>
              <a:ext uri="{FF2B5EF4-FFF2-40B4-BE49-F238E27FC236}">
                <a16:creationId xmlns:a16="http://schemas.microsoft.com/office/drawing/2014/main" id="{C63ACCC6-0935-2D56-7701-16E4BFE542C1}"/>
              </a:ext>
            </a:extLst>
          </p:cNvPr>
          <p:cNvSpPr>
            <a:spLocks noGrp="1"/>
          </p:cNvSpPr>
          <p:nvPr>
            <p:ph type="body" idx="1"/>
          </p:nvPr>
        </p:nvSpPr>
        <p:spPr/>
        <p:txBody>
          <a:bodyPr wrap="square">
            <a:normAutofit/>
          </a:bodyPr>
          <a:lstStyle/>
          <a:p>
            <a:r>
              <a:rPr lang="en-US" sz="1600"/>
              <a:t>• Tomate alto-GABA (Sanatech, Japão): 4–5× GABA, 1ª comida CRISPR, 15/09/2021</a:t>
            </a:r>
          </a:p>
          <a:p>
            <a:r>
              <a:rPr lang="en-US" sz="1600"/>
              <a:t>• Óleo soja Calyno (Calyxt, TALEN): ~80% oleico, 1ª editada nos EUA, fev/2019</a:t>
            </a:r>
          </a:p>
          <a:p>
            <a:r>
              <a:rPr lang="en-US" sz="1600"/>
              <a:t>• Mostarda Conscious Greens (Pairwise): 1ª comida CRISPR nos EUA, mai/2023</a:t>
            </a:r>
          </a:p>
          <a:p>
            <a:r>
              <a:rPr lang="en-US" sz="1600"/>
              <a:t>• Milho ceroso (Corteva, deleção Wx-1): não-regulado USDA</a:t>
            </a:r>
          </a:p>
          <a:p>
            <a:r>
              <a:rPr lang="en-US" sz="1600"/>
              <a:t>• Bayer–Pairwise: milho 30–40% mais baixo; parceria 5 anos (29/08/2023)</a:t>
            </a:r>
          </a:p>
          <a:p>
            <a:r>
              <a:rPr lang="en-US" sz="1600"/>
              <a:t>• Banana não-escurecedora (Tropic): APHIS 14/11/2023</a:t>
            </a:r>
          </a:p>
        </p:txBody>
      </p:sp>
    </p:spTree>
    <p:extLst>
      <p:ext uri="{BB962C8B-B14F-4D97-AF65-F5344CB8AC3E}">
        <p14:creationId xmlns:p14="http://schemas.microsoft.com/office/powerpoint/2010/main" val="3529875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1588-6CBA-4C40-153E-891E5F9C51B8}"/>
              </a:ext>
            </a:extLst>
          </p:cNvPr>
          <p:cNvSpPr>
            <a:spLocks noGrp="1"/>
          </p:cNvSpPr>
          <p:nvPr>
            <p:ph type="title"/>
          </p:nvPr>
        </p:nvSpPr>
        <p:spPr/>
        <p:txBody>
          <a:bodyPr>
            <a:normAutofit/>
          </a:bodyPr>
          <a:lstStyle/>
          <a:p>
            <a:r>
              <a:rPr lang="pt-BR" sz="2400"/>
              <a:t>Regulação e cronograma do programa</a:t>
            </a:r>
            <a:endParaRPr lang="en-US" sz="2400"/>
          </a:p>
        </p:txBody>
      </p:sp>
      <p:sp>
        <p:nvSpPr>
          <p:cNvPr id="3" name="Text Placeholder 2">
            <a:extLst>
              <a:ext uri="{FF2B5EF4-FFF2-40B4-BE49-F238E27FC236}">
                <a16:creationId xmlns:a16="http://schemas.microsoft.com/office/drawing/2014/main" id="{0A1770B8-930A-488E-9AE5-2BC4FC97112A}"/>
              </a:ext>
            </a:extLst>
          </p:cNvPr>
          <p:cNvSpPr>
            <a:spLocks noGrp="1"/>
          </p:cNvSpPr>
          <p:nvPr>
            <p:ph type="body" idx="1"/>
          </p:nvPr>
        </p:nvSpPr>
        <p:spPr/>
        <p:txBody>
          <a:bodyPr wrap="square">
            <a:normAutofit/>
          </a:bodyPr>
          <a:lstStyle/>
          <a:p>
            <a:r>
              <a:rPr lang="pt-BR" sz="1600"/>
              <a:t>• Brasil RN16/2018 (CTNBio): caso a caso; não-OGM se sem transgene</a:t>
            </a:r>
          </a:p>
          <a:p>
            <a:r>
              <a:rPr lang="pt-BR" sz="1600"/>
              <a:t>• Até ago/2022: 32 produtos aprovados como não-OGM no Brasil</a:t>
            </a:r>
          </a:p>
          <a:p>
            <a:r>
              <a:rPr lang="pt-BR" sz="1600"/>
              <a:t>• Argentina Res. 173/2015: 1º marco do mundo, prazo 60 dias (CONABIA)</a:t>
            </a:r>
          </a:p>
          <a:p>
            <a:r>
              <a:rPr lang="pt-BR" sz="1600"/>
              <a:t>• EUA SECURE rule vacatada em 02/12/2024 → incerteza aumentou</a:t>
            </a:r>
          </a:p>
          <a:p>
            <a:r>
              <a:rPr lang="pt-BR" sz="1600"/>
              <a:t>• UE: Reg. 2026/1388, NGT1 vs NGT2, aplicável só a partir de 2028</a:t>
            </a:r>
          </a:p>
          <a:p>
            <a:r>
              <a:rPr lang="pt-BR" sz="1600"/>
              <a:t>• China (MARA, 24/01/2022) segue modelo caso a caso sem genes exógenos</a:t>
            </a:r>
            <a:endParaRPr lang="en-US" sz="1600"/>
          </a:p>
        </p:txBody>
      </p:sp>
    </p:spTree>
    <p:extLst>
      <p:ext uri="{BB962C8B-B14F-4D97-AF65-F5344CB8AC3E}">
        <p14:creationId xmlns:p14="http://schemas.microsoft.com/office/powerpoint/2010/main" val="24074171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D894B-8F75-2E0A-0940-F7C771747120}"/>
              </a:ext>
            </a:extLst>
          </p:cNvPr>
          <p:cNvSpPr>
            <a:spLocks noGrp="1"/>
          </p:cNvSpPr>
          <p:nvPr>
            <p:ph type="title"/>
          </p:nvPr>
        </p:nvSpPr>
        <p:spPr/>
        <p:txBody>
          <a:bodyPr>
            <a:normAutofit/>
          </a:bodyPr>
          <a:lstStyle/>
          <a:p>
            <a:r>
              <a:rPr lang="en-US" sz="2400"/>
              <a:t>Off-targets e propriedade intelectual</a:t>
            </a:r>
          </a:p>
        </p:txBody>
      </p:sp>
      <p:sp>
        <p:nvSpPr>
          <p:cNvPr id="3" name="Text Placeholder 2">
            <a:extLst>
              <a:ext uri="{FF2B5EF4-FFF2-40B4-BE49-F238E27FC236}">
                <a16:creationId xmlns:a16="http://schemas.microsoft.com/office/drawing/2014/main" id="{B4D34C6C-390F-0F48-CEAB-0DC033E2BD65}"/>
              </a:ext>
            </a:extLst>
          </p:cNvPr>
          <p:cNvSpPr>
            <a:spLocks noGrp="1"/>
          </p:cNvSpPr>
          <p:nvPr>
            <p:ph type="body" idx="1"/>
          </p:nvPr>
        </p:nvSpPr>
        <p:spPr/>
        <p:txBody>
          <a:bodyPr wrap="square">
            <a:normAutofit/>
          </a:bodyPr>
          <a:lstStyle/>
          <a:p>
            <a:r>
              <a:rPr lang="en-US" sz="1600"/>
              <a:t>• Tang 2018 (arroz, WGS): só 1 de 12 sgRNAs com off-target previsto</a:t>
            </a:r>
          </a:p>
          <a:p>
            <a:r>
              <a:rPr lang="en-US" sz="1600"/>
              <a:t>• Cultura de tecidos: ~102–148 SNVs e ~32–83 indels/planta (somaclonal)</a:t>
            </a:r>
          </a:p>
          <a:p>
            <a:r>
              <a:rPr lang="en-US" sz="1600"/>
              <a:t>• Off-target de CRISPR bem-desenhado « variação somaclonal</a:t>
            </a:r>
          </a:p>
          <a:p>
            <a:r>
              <a:rPr lang="en-US" sz="1600"/>
              <a:t>• Exceção: ABE8e ~500 mutações A→G independentes de gRNA/planta</a:t>
            </a:r>
          </a:p>
          <a:p>
            <a:r>
              <a:rPr lang="en-US" sz="1600"/>
              <a:t>• IP: CVC (Cas9 genérico) + Broad (eucariotos) → licença dupla</a:t>
            </a:r>
          </a:p>
          <a:p>
            <a:r>
              <a:rPr lang="en-US" sz="1600"/>
              <a:t>• Corteva+Broad: licença conjunta não-exclusiva p/ agro desde 2017</a:t>
            </a:r>
          </a:p>
        </p:txBody>
      </p:sp>
    </p:spTree>
    <p:extLst>
      <p:ext uri="{BB962C8B-B14F-4D97-AF65-F5344CB8AC3E}">
        <p14:creationId xmlns:p14="http://schemas.microsoft.com/office/powerpoint/2010/main" val="3807498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576A6-DF76-EC15-ACEB-0C2820C12318}"/>
              </a:ext>
            </a:extLst>
          </p:cNvPr>
          <p:cNvSpPr>
            <a:spLocks noGrp="1"/>
          </p:cNvSpPr>
          <p:nvPr>
            <p:ph type="title"/>
          </p:nvPr>
        </p:nvSpPr>
        <p:spPr/>
        <p:txBody>
          <a:bodyPr>
            <a:normAutofit/>
          </a:bodyPr>
          <a:lstStyle/>
          <a:p>
            <a:r>
              <a:rPr lang="pt-BR" sz="2400"/>
              <a:t>Quadro de decisão: editar vs selecionar</a:t>
            </a:r>
            <a:endParaRPr lang="en-US" sz="2400"/>
          </a:p>
        </p:txBody>
      </p:sp>
      <p:sp>
        <p:nvSpPr>
          <p:cNvPr id="3" name="Text Placeholder 2">
            <a:extLst>
              <a:ext uri="{FF2B5EF4-FFF2-40B4-BE49-F238E27FC236}">
                <a16:creationId xmlns:a16="http://schemas.microsoft.com/office/drawing/2014/main" id="{E79588B2-B385-48B2-9F33-C1A487F067A6}"/>
              </a:ext>
            </a:extLst>
          </p:cNvPr>
          <p:cNvSpPr>
            <a:spLocks noGrp="1"/>
          </p:cNvSpPr>
          <p:nvPr>
            <p:ph type="body" idx="1"/>
          </p:nvPr>
        </p:nvSpPr>
        <p:spPr/>
        <p:txBody>
          <a:bodyPr wrap="square">
            <a:normAutofit/>
          </a:bodyPr>
          <a:lstStyle/>
          <a:p>
            <a:r>
              <a:rPr lang="pt-BR" sz="1600"/>
              <a:t>• Favorece editar: mono/oligogênico, efeito grande, variante causal conhecida</a:t>
            </a:r>
          </a:p>
          <a:p>
            <a:r>
              <a:rPr lang="pt-BR" sz="1600"/>
              <a:t>• Favorece editar: alelo ausente na elite (evita linkage drag; introgressão ~7 anos)</a:t>
            </a:r>
          </a:p>
          <a:p>
            <a:r>
              <a:rPr lang="pt-BR" sz="1600"/>
              <a:t>• Favorece selecionar: poligênico, efeitos pequenos, variante desconhecida</a:t>
            </a:r>
          </a:p>
          <a:p>
            <a:r>
              <a:rPr lang="pt-BR" sz="1600"/>
              <a:t>• Regra: editar grande efeito + GS no fundo + OCS p/ endogamia</a:t>
            </a:r>
          </a:p>
          <a:p>
            <a:r>
              <a:rPr lang="pt-BR" sz="1600"/>
              <a:t>• Custo regulatório e tempo entram tanto quanto a biologia</a:t>
            </a:r>
          </a:p>
          <a:p>
            <a:r>
              <a:rPr lang="pt-BR" sz="1600"/>
              <a:t>• Nº de alvos: 1–~20 edições (multiplex) viável vs centenas de locos</a:t>
            </a:r>
            <a:endParaRPr lang="en-US" sz="1600"/>
          </a:p>
        </p:txBody>
      </p:sp>
    </p:spTree>
    <p:extLst>
      <p:ext uri="{BB962C8B-B14F-4D97-AF65-F5344CB8AC3E}">
        <p14:creationId xmlns:p14="http://schemas.microsoft.com/office/powerpoint/2010/main" val="1277981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5941-4D81-7BA9-E361-8CEBB2943CE2}"/>
              </a:ext>
            </a:extLst>
          </p:cNvPr>
          <p:cNvSpPr>
            <a:spLocks noGrp="1"/>
          </p:cNvSpPr>
          <p:nvPr>
            <p:ph type="title"/>
          </p:nvPr>
        </p:nvSpPr>
        <p:spPr/>
        <p:txBody>
          <a:bodyPr>
            <a:normAutofit/>
          </a:bodyPr>
          <a:lstStyle/>
          <a:p>
            <a:r>
              <a:rPr lang="en-US" sz="2400"/>
              <a:t>Bloco 3 — Take-home</a:t>
            </a:r>
          </a:p>
        </p:txBody>
      </p:sp>
      <p:sp>
        <p:nvSpPr>
          <p:cNvPr id="3" name="Text Placeholder 2">
            <a:extLst>
              <a:ext uri="{FF2B5EF4-FFF2-40B4-BE49-F238E27FC236}">
                <a16:creationId xmlns:a16="http://schemas.microsoft.com/office/drawing/2014/main" id="{0583435E-8D56-FEFD-4CFA-CBB87AD043CB}"/>
              </a:ext>
            </a:extLst>
          </p:cNvPr>
          <p:cNvSpPr>
            <a:spLocks noGrp="1"/>
          </p:cNvSpPr>
          <p:nvPr>
            <p:ph type="body" idx="1"/>
          </p:nvPr>
        </p:nvSpPr>
        <p:spPr/>
        <p:txBody>
          <a:bodyPr wrap="square">
            <a:normAutofit/>
          </a:bodyPr>
          <a:lstStyle/>
          <a:p>
            <a:r>
              <a:rPr lang="pt-BR" sz="1600"/>
              <a:t>• Edição = reostato quantitativo, não só nocaute (Rodríguez-Leal 2017)</a:t>
            </a:r>
          </a:p>
          <a:p>
            <a:r>
              <a:rPr lang="pt-BR" sz="1600"/>
              <a:t>• IA desenha guias, editores (OpenCRISPR-1) e descobre alvos (gLMs)</a:t>
            </a:r>
          </a:p>
          <a:p>
            <a:r>
              <a:rPr lang="pt-BR" sz="1600"/>
              <a:t>• PAGE: 1,08×–4,12× sobre GS, mas infla endogamia → use OCS</a:t>
            </a:r>
          </a:p>
          <a:p>
            <a:r>
              <a:rPr lang="pt-BR" sz="1600"/>
              <a:t>• Gargalo é regeneração (GRF4–GIF1 7,8×) e entrega, não a enzima</a:t>
            </a:r>
          </a:p>
          <a:p>
            <a:r>
              <a:rPr lang="pt-BR" sz="1600"/>
              <a:t>• Regulação define a economia: Brasil/Argentina rápidos, UE só 2028</a:t>
            </a:r>
          </a:p>
          <a:p>
            <a:r>
              <a:rPr lang="pt-BR" sz="1600"/>
              <a:t>• Decida por arquitetura, efeito, variante causal, custo e tempo</a:t>
            </a:r>
            <a:endParaRPr lang="en-US" sz="1600"/>
          </a:p>
        </p:txBody>
      </p:sp>
    </p:spTree>
    <p:extLst>
      <p:ext uri="{BB962C8B-B14F-4D97-AF65-F5344CB8AC3E}">
        <p14:creationId xmlns:p14="http://schemas.microsoft.com/office/powerpoint/2010/main" val="849582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136B-0066-1A15-6F05-1BABBA594DBF}"/>
              </a:ext>
            </a:extLst>
          </p:cNvPr>
          <p:cNvSpPr>
            <a:spLocks noGrp="1"/>
          </p:cNvSpPr>
          <p:nvPr>
            <p:ph type="title"/>
          </p:nvPr>
        </p:nvSpPr>
        <p:spPr/>
        <p:txBody>
          <a:bodyPr>
            <a:normAutofit/>
          </a:bodyPr>
          <a:lstStyle/>
          <a:p>
            <a:r>
              <a:rPr lang="en-US" sz="2400"/>
              <a:t>Intervalo</a:t>
            </a:r>
          </a:p>
        </p:txBody>
      </p:sp>
      <p:sp>
        <p:nvSpPr>
          <p:cNvPr id="3" name="Text Placeholder 2">
            <a:extLst>
              <a:ext uri="{FF2B5EF4-FFF2-40B4-BE49-F238E27FC236}">
                <a16:creationId xmlns:a16="http://schemas.microsoft.com/office/drawing/2014/main" id="{A9EB4467-FAA3-127C-E257-39107925DB07}"/>
              </a:ext>
            </a:extLst>
          </p:cNvPr>
          <p:cNvSpPr>
            <a:spLocks noGrp="1"/>
          </p:cNvSpPr>
          <p:nvPr>
            <p:ph type="body" idx="1"/>
          </p:nvPr>
        </p:nvSpPr>
        <p:spPr/>
        <p:txBody>
          <a:bodyPr wrap="square">
            <a:normAutofit/>
          </a:bodyPr>
          <a:lstStyle/>
          <a:p>
            <a:r>
              <a:rPr lang="pt-BR" sz="1600"/>
              <a:t>• 15h15–15h30</a:t>
            </a:r>
          </a:p>
          <a:p>
            <a:r>
              <a:rPr lang="pt-BR" sz="1600"/>
              <a:t>• Na volta: plataforma e tempo real (Éder e Vitor)</a:t>
            </a:r>
          </a:p>
          <a:p>
            <a:r>
              <a:rPr lang="pt-BR" sz="1600"/>
              <a:t>• Depois: breeder aumentado, ética e IP (todos)</a:t>
            </a:r>
          </a:p>
          <a:p>
            <a:r>
              <a:rPr lang="pt-BR" sz="1600"/>
              <a:t>• Fechamento: síntese, checklist e painel</a:t>
            </a:r>
            <a:endParaRPr lang="en-US" sz="1600"/>
          </a:p>
        </p:txBody>
      </p:sp>
    </p:spTree>
    <p:extLst>
      <p:ext uri="{BB962C8B-B14F-4D97-AF65-F5344CB8AC3E}">
        <p14:creationId xmlns:p14="http://schemas.microsoft.com/office/powerpoint/2010/main" val="4417749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D3D8-3797-34C1-F960-562D88238574}"/>
              </a:ext>
            </a:extLst>
          </p:cNvPr>
          <p:cNvSpPr>
            <a:spLocks noGrp="1"/>
          </p:cNvSpPr>
          <p:nvPr>
            <p:ph type="title"/>
          </p:nvPr>
        </p:nvSpPr>
        <p:spPr/>
        <p:txBody>
          <a:bodyPr>
            <a:normAutofit/>
          </a:bodyPr>
          <a:lstStyle/>
          <a:p>
            <a:r>
              <a:rPr lang="pt-BR" sz="2400"/>
              <a:t>Bloco 4 — Plataforma, tempo real e digital twin</a:t>
            </a:r>
            <a:endParaRPr lang="en-US" sz="2400"/>
          </a:p>
        </p:txBody>
      </p:sp>
      <p:sp>
        <p:nvSpPr>
          <p:cNvPr id="3" name="Text Placeholder 2">
            <a:extLst>
              <a:ext uri="{FF2B5EF4-FFF2-40B4-BE49-F238E27FC236}">
                <a16:creationId xmlns:a16="http://schemas.microsoft.com/office/drawing/2014/main" id="{8C66FC41-57DE-0F9C-96B7-2C87CF907EB9}"/>
              </a:ext>
            </a:extLst>
          </p:cNvPr>
          <p:cNvSpPr>
            <a:spLocks noGrp="1"/>
          </p:cNvSpPr>
          <p:nvPr>
            <p:ph type="body" idx="1"/>
          </p:nvPr>
        </p:nvSpPr>
        <p:spPr/>
        <p:txBody>
          <a:bodyPr wrap="square">
            <a:normAutofit/>
          </a:bodyPr>
          <a:lstStyle/>
          <a:p>
            <a:r>
              <a:rPr lang="pt-BR" sz="1600"/>
              <a:t>• Palestrantes: Éder + Vitor · duração ~30 min</a:t>
            </a:r>
          </a:p>
          <a:p>
            <a:r>
              <a:rPr lang="pt-BR" sz="1600"/>
              <a:t>• Âncoras: Sessão 03 (HTP), 04 (dados), 09 (simulação/OCS), 10 (decisão)</a:t>
            </a:r>
          </a:p>
          <a:p>
            <a:r>
              <a:rPr lang="pt-BR" sz="1600"/>
              <a:t>• Do AlphaSimR ao gêmeo operacional: o que muda quando os dados fluem sozinhos</a:t>
            </a:r>
          </a:p>
          <a:p>
            <a:r>
              <a:rPr lang="pt-BR" sz="1600"/>
              <a:t>• Quatro camadas: física → dados → modelos → decisão (e a seta de volta)</a:t>
            </a:r>
          </a:p>
          <a:p>
            <a:r>
              <a:rPr lang="pt-BR" sz="1600"/>
              <a:t>• Evidência: simulação, CGM-WGP, enviromics, fenotipagem autônoma, indústria</a:t>
            </a:r>
          </a:p>
          <a:p>
            <a:r>
              <a:rPr lang="pt-BR" sz="1600"/>
              <a:t>• Pergunta-guia: o pipeline que vocês montaram é modelo, sombra ou gêmeo digital?</a:t>
            </a:r>
            <a:endParaRPr lang="en-US" sz="1600"/>
          </a:p>
        </p:txBody>
      </p:sp>
    </p:spTree>
    <p:extLst>
      <p:ext uri="{BB962C8B-B14F-4D97-AF65-F5344CB8AC3E}">
        <p14:creationId xmlns:p14="http://schemas.microsoft.com/office/powerpoint/2010/main" val="12977794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5D79-C09E-8077-A7E1-CF4DEEE7FAFF}"/>
              </a:ext>
            </a:extLst>
          </p:cNvPr>
          <p:cNvSpPr>
            <a:spLocks noGrp="1"/>
          </p:cNvSpPr>
          <p:nvPr>
            <p:ph type="title"/>
          </p:nvPr>
        </p:nvSpPr>
        <p:spPr/>
        <p:txBody>
          <a:bodyPr>
            <a:normAutofit/>
          </a:bodyPr>
          <a:lstStyle/>
          <a:p>
            <a:r>
              <a:rPr lang="pt-BR" sz="2400"/>
              <a:t>Modelo, sombra e gêmeo digital — e seis níveis</a:t>
            </a:r>
            <a:endParaRPr lang="en-US" sz="2400"/>
          </a:p>
        </p:txBody>
      </p:sp>
      <p:sp>
        <p:nvSpPr>
          <p:cNvPr id="3" name="Text Placeholder 2">
            <a:extLst>
              <a:ext uri="{FF2B5EF4-FFF2-40B4-BE49-F238E27FC236}">
                <a16:creationId xmlns:a16="http://schemas.microsoft.com/office/drawing/2014/main" id="{81B987E6-CD52-8912-F0F8-6D456A84F328}"/>
              </a:ext>
            </a:extLst>
          </p:cNvPr>
          <p:cNvSpPr>
            <a:spLocks noGrp="1"/>
          </p:cNvSpPr>
          <p:nvPr>
            <p:ph type="body" idx="1"/>
          </p:nvPr>
        </p:nvSpPr>
        <p:spPr/>
        <p:txBody>
          <a:bodyPr wrap="square">
            <a:normAutofit/>
          </a:bodyPr>
          <a:lstStyle/>
          <a:p>
            <a:r>
              <a:rPr lang="pt-BR" sz="1600"/>
              <a:t>• Digital Model: físico ↔ virtual atualizados à mão (Kritzinger 2018)</a:t>
            </a:r>
          </a:p>
          <a:p>
            <a:r>
              <a:rPr lang="pt-BR" sz="1600"/>
              <a:t>• Digital Shadow: físico → virtual automático; virtual → físico manual</a:t>
            </a:r>
          </a:p>
          <a:p>
            <a:r>
              <a:rPr lang="pt-BR" sz="1600"/>
              <a:t>• Digital Twin: fluxo automático nos dois sentidos — raro até na manufatura</a:t>
            </a:r>
          </a:p>
          <a:p>
            <a:r>
              <a:rPr lang="pt-BR" sz="1600"/>
              <a:t>• Critério é integração de dados, não sofisticação do modelo</a:t>
            </a:r>
          </a:p>
          <a:p>
            <a:r>
              <a:rPr lang="pt-BR" sz="1600"/>
              <a:t>• Verdouw 2021: imaginary, monitoring, predictive, prescriptive, autonomous, recollection</a:t>
            </a:r>
          </a:p>
          <a:p>
            <a:r>
              <a:rPr lang="pt-BR" sz="1600"/>
              <a:t>• Prescriptive: sistema recomenda, humano decide · Recollection: memória do descarte</a:t>
            </a:r>
          </a:p>
          <a:p>
            <a:r>
              <a:rPr lang="pt-BR" sz="1600"/>
              <a:t>• O AlphaSimR da Sessão 09 é um digital model (e tudo bem)</a:t>
            </a:r>
            <a:endParaRPr lang="en-US" sz="1600"/>
          </a:p>
        </p:txBody>
      </p:sp>
    </p:spTree>
    <p:extLst>
      <p:ext uri="{BB962C8B-B14F-4D97-AF65-F5344CB8AC3E}">
        <p14:creationId xmlns:p14="http://schemas.microsoft.com/office/powerpoint/2010/main" val="7880076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DF1B7-1DDE-D8D1-4739-DC2E5BDD652B}"/>
              </a:ext>
            </a:extLst>
          </p:cNvPr>
          <p:cNvSpPr>
            <a:spLocks noGrp="1"/>
          </p:cNvSpPr>
          <p:nvPr>
            <p:ph type="title"/>
          </p:nvPr>
        </p:nvSpPr>
        <p:spPr/>
        <p:txBody>
          <a:bodyPr>
            <a:normAutofit/>
          </a:bodyPr>
          <a:lstStyle/>
          <a:p>
            <a:r>
              <a:rPr lang="en-US" sz="2400"/>
              <a:t>Simulação estocástica ≠ gêmeo operacional</a:t>
            </a:r>
          </a:p>
        </p:txBody>
      </p:sp>
      <p:sp>
        <p:nvSpPr>
          <p:cNvPr id="3" name="Text Placeholder 2">
            <a:extLst>
              <a:ext uri="{FF2B5EF4-FFF2-40B4-BE49-F238E27FC236}">
                <a16:creationId xmlns:a16="http://schemas.microsoft.com/office/drawing/2014/main" id="{1C429981-0F98-3F4B-5226-8AFE1507E5BF}"/>
              </a:ext>
            </a:extLst>
          </p:cNvPr>
          <p:cNvSpPr>
            <a:spLocks noGrp="1"/>
          </p:cNvSpPr>
          <p:nvPr>
            <p:ph type="body" idx="1"/>
          </p:nvPr>
        </p:nvSpPr>
        <p:spPr/>
        <p:txBody>
          <a:bodyPr wrap="square">
            <a:normAutofit/>
          </a:bodyPr>
          <a:lstStyle/>
          <a:p>
            <a:r>
              <a:rPr lang="pt-BR" sz="1600"/>
              <a:t>• Simulação: «que arquitetura de programa é melhor?» — horizonte de 20–40 anos</a:t>
            </a:r>
          </a:p>
          <a:p>
            <a:r>
              <a:rPr lang="pt-BR" sz="1600"/>
              <a:t>• Gêmeo: «o que faço com este lote nesta semana?» — horizonte de dias</a:t>
            </a:r>
          </a:p>
          <a:p>
            <a:r>
              <a:rPr lang="pt-BR" sz="1600"/>
              <a:t>• Simulação: população sintética, centenas de réplicas; gêmeo: uma realização real</a:t>
            </a:r>
          </a:p>
          <a:p>
            <a:r>
              <a:rPr lang="pt-BR" sz="1600"/>
              <a:t>• Desenho: AlphaSimR (G3 2021), MoBPS (G3 2020), ChromaX (Bioinformatics 2024)</a:t>
            </a:r>
          </a:p>
          <a:p>
            <a:r>
              <a:rPr lang="pt-BR" sz="1600"/>
              <a:t>• Operação: EBS / Breedbase + modelos + regras de decisão</a:t>
            </a:r>
          </a:p>
          <a:p>
            <a:r>
              <a:rPr lang="pt-BR" sz="1600"/>
              <a:t>• Erro caro: usar simulador de desenho como sistema operacional, e vice-versa</a:t>
            </a:r>
            <a:endParaRPr lang="en-US" sz="1600"/>
          </a:p>
        </p:txBody>
      </p:sp>
    </p:spTree>
    <p:extLst>
      <p:ext uri="{BB962C8B-B14F-4D97-AF65-F5344CB8AC3E}">
        <p14:creationId xmlns:p14="http://schemas.microsoft.com/office/powerpoint/2010/main" val="2862321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3CE0D-9B9F-F245-A634-9D46DDEE3919}"/>
              </a:ext>
            </a:extLst>
          </p:cNvPr>
          <p:cNvSpPr>
            <a:spLocks noGrp="1"/>
          </p:cNvSpPr>
          <p:nvPr>
            <p:ph type="title"/>
          </p:nvPr>
        </p:nvSpPr>
        <p:spPr/>
        <p:txBody>
          <a:bodyPr>
            <a:normAutofit/>
          </a:bodyPr>
          <a:lstStyle/>
          <a:p>
            <a:r>
              <a:rPr lang="pt-BR" sz="2400"/>
              <a:t>Estratégia em duas partes: ganho com custo constante</a:t>
            </a:r>
            <a:endParaRPr lang="en-US" sz="2400"/>
          </a:p>
        </p:txBody>
      </p:sp>
      <p:sp>
        <p:nvSpPr>
          <p:cNvPr id="3" name="Text Placeholder 2">
            <a:extLst>
              <a:ext uri="{FF2B5EF4-FFF2-40B4-BE49-F238E27FC236}">
                <a16:creationId xmlns:a16="http://schemas.microsoft.com/office/drawing/2014/main" id="{2399D83D-EFE3-8244-891C-3A89C5F4275E}"/>
              </a:ext>
            </a:extLst>
          </p:cNvPr>
          <p:cNvSpPr>
            <a:spLocks noGrp="1"/>
          </p:cNvSpPr>
          <p:nvPr>
            <p:ph type="body" idx="1"/>
          </p:nvPr>
        </p:nvSpPr>
        <p:spPr/>
        <p:txBody>
          <a:bodyPr wrap="square">
            <a:normAutofit/>
          </a:bodyPr>
          <a:lstStyle/>
          <a:p>
            <a:r>
              <a:rPr lang="pt-BR" sz="1600"/>
              <a:t>• 40 anos simulados com custo operacional anual ≈ igual (Gaynor et al. 2017)</a:t>
            </a:r>
          </a:p>
          <a:p>
            <a:r>
              <a:rPr lang="pt-BR" sz="1600"/>
              <a:t>• 2,36× o convencional com G×Y = 10 (IC95% 2,08–2,67); 2,47× com G×Y = 0</a:t>
            </a:r>
          </a:p>
          <a:p>
            <a:r>
              <a:rPr lang="pt-BR" sz="1600"/>
              <a:t>• 1,31× (G×Y = 10) a 1,46× (G×Y = 0) vs. melhor GS padrão</a:t>
            </a:r>
          </a:p>
          <a:p>
            <a:r>
              <a:rPr lang="pt-BR" sz="1600"/>
              <a:t>• Mais G×Y → intervalo mais largo: usar o número conservador no Brasil tropical</a:t>
            </a:r>
          </a:p>
          <a:p>
            <a:r>
              <a:rPr lang="pt-BR" sz="1600"/>
              <a:t>• Ganho realizado no CIMMYT: 0,225 t/ha/ciclo = 0,100 t/ha/ano (Zhang 2017)</a:t>
            </a:r>
          </a:p>
          <a:p>
            <a:r>
              <a:rPr lang="pt-BR" sz="1600"/>
              <a:t>• 18 linhagens elite, 955.690 SNPs GBS, 2 ciclos/ano, 4,5 anos</a:t>
            </a:r>
            <a:endParaRPr lang="en-US" sz="1600"/>
          </a:p>
        </p:txBody>
      </p:sp>
    </p:spTree>
    <p:extLst>
      <p:ext uri="{BB962C8B-B14F-4D97-AF65-F5344CB8AC3E}">
        <p14:creationId xmlns:p14="http://schemas.microsoft.com/office/powerpoint/2010/main" val="1692243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03020-0E33-6D69-2062-2F827979EFAF}"/>
              </a:ext>
            </a:extLst>
          </p:cNvPr>
          <p:cNvSpPr>
            <a:spLocks noGrp="1"/>
          </p:cNvSpPr>
          <p:nvPr>
            <p:ph type="title"/>
          </p:nvPr>
        </p:nvSpPr>
        <p:spPr/>
        <p:txBody>
          <a:bodyPr>
            <a:normAutofit/>
          </a:bodyPr>
          <a:lstStyle/>
          <a:p>
            <a:r>
              <a:rPr lang="pt-BR" sz="2400"/>
              <a:t>Simulação rápida e otimização do esquema</a:t>
            </a:r>
            <a:endParaRPr lang="en-US" sz="2400"/>
          </a:p>
        </p:txBody>
      </p:sp>
      <p:sp>
        <p:nvSpPr>
          <p:cNvPr id="3" name="Text Placeholder 2">
            <a:extLst>
              <a:ext uri="{FF2B5EF4-FFF2-40B4-BE49-F238E27FC236}">
                <a16:creationId xmlns:a16="http://schemas.microsoft.com/office/drawing/2014/main" id="{2C168985-7149-BC35-C463-D4CEF1512B26}"/>
              </a:ext>
            </a:extLst>
          </p:cNvPr>
          <p:cNvSpPr>
            <a:spLocks noGrp="1"/>
          </p:cNvSpPr>
          <p:nvPr>
            <p:ph type="body" idx="1"/>
          </p:nvPr>
        </p:nvSpPr>
        <p:spPr/>
        <p:txBody>
          <a:bodyPr wrap="square">
            <a:normAutofit/>
          </a:bodyPr>
          <a:lstStyle/>
          <a:p>
            <a:r>
              <a:rPr lang="pt-BR" sz="1600"/>
              <a:t>• ChromaX GPU: 100 mil cruzamentos em 29 ms vs 14.821 ms no AlphaSimR CPU</a:t>
            </a:r>
          </a:p>
          <a:p>
            <a:r>
              <a:rPr lang="pt-BR" sz="1600"/>
              <a:t>• ~3× em CPU, ~500× em GPU; custo: memória bem maior (Younis 2024)</a:t>
            </a:r>
          </a:p>
          <a:p>
            <a:r>
              <a:rPr lang="pt-BR" sz="1600"/>
              <a:t>• Kernel (Hassanpour 2023, G3): &gt;100.000 simulações e estreitamento manual</a:t>
            </a:r>
          </a:p>
          <a:p>
            <a:r>
              <a:rPr lang="pt-BR" sz="1600"/>
              <a:t>• Evolucionário (Hassanpour 2024, G3): 2.400 simulações, redução &gt;40×</a:t>
            </a:r>
          </a:p>
          <a:p>
            <a:r>
              <a:rPr lang="pt-BR" sz="1600"/>
              <a:t>• Custo em nuvem: €67,65 para 12.300 simulações em 40 iterações</a:t>
            </a:r>
          </a:p>
          <a:p>
            <a:r>
              <a:rPr lang="pt-BR" sz="1600"/>
              <a:t>• Bayesiana (Jannink, Crop Sci): superfície plana perto do ótimo; ruído &gt; inclinação</a:t>
            </a:r>
          </a:p>
          <a:p>
            <a:r>
              <a:rPr lang="pt-BR" sz="1600"/>
              <a:t>• Sem regras de bolso: cada programa precisa simular o seu</a:t>
            </a:r>
            <a:endParaRPr lang="en-US" sz="1600"/>
          </a:p>
        </p:txBody>
      </p:sp>
    </p:spTree>
    <p:extLst>
      <p:ext uri="{BB962C8B-B14F-4D97-AF65-F5344CB8AC3E}">
        <p14:creationId xmlns:p14="http://schemas.microsoft.com/office/powerpoint/2010/main" val="2637134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6EB2B-FCAE-D28A-6AA1-73F176248937}"/>
              </a:ext>
            </a:extLst>
          </p:cNvPr>
          <p:cNvSpPr>
            <a:spLocks noGrp="1"/>
          </p:cNvSpPr>
          <p:nvPr>
            <p:ph type="title"/>
          </p:nvPr>
        </p:nvSpPr>
        <p:spPr/>
        <p:txBody>
          <a:bodyPr>
            <a:normAutofit/>
          </a:bodyPr>
          <a:lstStyle/>
          <a:p>
            <a:r>
              <a:rPr lang="pt-BR" sz="2400"/>
              <a:t>Look-ahead e aprendizado por reforço</a:t>
            </a:r>
            <a:endParaRPr lang="en-US" sz="2400"/>
          </a:p>
        </p:txBody>
      </p:sp>
      <p:sp>
        <p:nvSpPr>
          <p:cNvPr id="3" name="Text Placeholder 2">
            <a:extLst>
              <a:ext uri="{FF2B5EF4-FFF2-40B4-BE49-F238E27FC236}">
                <a16:creationId xmlns:a16="http://schemas.microsoft.com/office/drawing/2014/main" id="{3BD7D9C2-6C80-F479-44A6-C286BD4AAED2}"/>
              </a:ext>
            </a:extLst>
          </p:cNvPr>
          <p:cNvSpPr>
            <a:spLocks noGrp="1"/>
          </p:cNvSpPr>
          <p:nvPr>
            <p:ph type="body" idx="1"/>
          </p:nvPr>
        </p:nvSpPr>
        <p:spPr/>
        <p:txBody>
          <a:bodyPr wrap="square">
            <a:normAutofit/>
          </a:bodyPr>
          <a:lstStyle/>
          <a:p>
            <a:r>
              <a:rPr lang="pt-BR" sz="1600"/>
              <a:t>• LAS: GEBV esperado do melhor descendente na geração terminal T</a:t>
            </a:r>
          </a:p>
          <a:p>
            <a:r>
              <a:rPr lang="pt-BR" sz="1600"/>
              <a:t>• Inclui frequências de recombinação e prazo restante T − t (Moeinizade 2019, G3)</a:t>
            </a:r>
          </a:p>
          <a:p>
            <a:r>
              <a:rPr lang="pt-BR" sz="1600"/>
              <a:t>• Caso de estudo: 369 linhagens de milho, 1.406.757 SNPs</a:t>
            </a:r>
          </a:p>
          <a:p>
            <a:r>
              <a:rPr lang="pt-BR" sz="1600"/>
              <a:t>• RL (Moeinizade 2022, ISWA): MDP + aproximação da função valor + política gulosa</a:t>
            </a:r>
          </a:p>
          <a:p>
            <a:r>
              <a:rPr lang="pt-BR" sz="1600"/>
              <a:t>• Decide quanto orçamento gastar em cada geração — cedo ou distribuído?</a:t>
            </a:r>
          </a:p>
          <a:p>
            <a:r>
              <a:rPr lang="pt-BR" sz="1600"/>
              <a:t>• Não é bandit: é RL baseado em valor para alocação sequencial</a:t>
            </a:r>
          </a:p>
          <a:p>
            <a:r>
              <a:rPr lang="pt-BR" sz="1600"/>
              <a:t>• Ponte com OCS (Sessão 09): diversidade via horizonte, não via restrição</a:t>
            </a:r>
            <a:endParaRPr lang="en-US" sz="1600"/>
          </a:p>
        </p:txBody>
      </p:sp>
    </p:spTree>
    <p:extLst>
      <p:ext uri="{BB962C8B-B14F-4D97-AF65-F5344CB8AC3E}">
        <p14:creationId xmlns:p14="http://schemas.microsoft.com/office/powerpoint/2010/main" val="30329887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44A8-C561-E87F-7A26-0F68AE8417D4}"/>
              </a:ext>
            </a:extLst>
          </p:cNvPr>
          <p:cNvSpPr>
            <a:spLocks noGrp="1"/>
          </p:cNvSpPr>
          <p:nvPr>
            <p:ph type="title"/>
          </p:nvPr>
        </p:nvSpPr>
        <p:spPr/>
        <p:txBody>
          <a:bodyPr>
            <a:normAutofit/>
          </a:bodyPr>
          <a:lstStyle/>
          <a:p>
            <a:r>
              <a:rPr lang="pt-BR" sz="2400"/>
              <a:t>CGM-WGP: fisiologia dentro da predição</a:t>
            </a:r>
            <a:endParaRPr lang="en-US" sz="2400"/>
          </a:p>
        </p:txBody>
      </p:sp>
      <p:sp>
        <p:nvSpPr>
          <p:cNvPr id="3" name="Text Placeholder 2">
            <a:extLst>
              <a:ext uri="{FF2B5EF4-FFF2-40B4-BE49-F238E27FC236}">
                <a16:creationId xmlns:a16="http://schemas.microsoft.com/office/drawing/2014/main" id="{C5D857D2-DF5C-8B02-6E26-9B64C33C5D17}"/>
              </a:ext>
            </a:extLst>
          </p:cNvPr>
          <p:cNvSpPr>
            <a:spLocks noGrp="1"/>
          </p:cNvSpPr>
          <p:nvPr>
            <p:ph type="body" idx="1"/>
          </p:nvPr>
        </p:nvSpPr>
        <p:spPr/>
        <p:txBody>
          <a:bodyPr wrap="square">
            <a:normAutofit/>
          </a:bodyPr>
          <a:lstStyle/>
          <a:p>
            <a:r>
              <a:rPr lang="pt-BR" sz="1600"/>
              <a:t>• Marcadores → parâmetros fisiológicos → modelo de cultura integra no tempo</a:t>
            </a:r>
          </a:p>
          <a:p>
            <a:r>
              <a:rPr lang="pt-BR" sz="1600"/>
              <a:t>• Messina 2022: 2.367 híbridos, 17 locais + 6 estresses manejados, 2017–2019</a:t>
            </a:r>
          </a:p>
          <a:p>
            <a:r>
              <a:rPr lang="pt-BR" sz="1600"/>
              <a:t>• G e E não testados: r = 0,43 (CGM-WGP) vs 0,27 (BayesA)</a:t>
            </a:r>
          </a:p>
          <a:p>
            <a:r>
              <a:rPr lang="pt-BR" sz="1600"/>
              <a:t>• Sob G×E: CGM-WGP 0,61 → 0,58; WGP 0,62 → 0,42</a:t>
            </a:r>
          </a:p>
          <a:p>
            <a:r>
              <a:rPr lang="pt-BR" sz="1600"/>
              <a:t>• rG(irrigado, TPE) = 0,68; rG(déficit hídrico, TPE) = 0,0003</a:t>
            </a:r>
          </a:p>
          <a:p>
            <a:r>
              <a:rPr lang="pt-BR" sz="1600"/>
              <a:t>• Seca: ganho de 6,2 → 7,5 g m⁻² ano⁻¹ vs 8,6 com água (Cooper 2023)</a:t>
            </a:r>
          </a:p>
          <a:p>
            <a:r>
              <a:rPr lang="pt-BR" sz="1600"/>
              <a:t>• Prova de conceito 2016: 5 traits componentes escolhidos a priori</a:t>
            </a:r>
            <a:endParaRPr lang="en-US" sz="1600"/>
          </a:p>
        </p:txBody>
      </p:sp>
    </p:spTree>
    <p:extLst>
      <p:ext uri="{BB962C8B-B14F-4D97-AF65-F5344CB8AC3E}">
        <p14:creationId xmlns:p14="http://schemas.microsoft.com/office/powerpoint/2010/main" val="36379448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91E8-B1A9-C280-A0E5-11C5C7173E75}"/>
              </a:ext>
            </a:extLst>
          </p:cNvPr>
          <p:cNvSpPr>
            <a:spLocks noGrp="1"/>
          </p:cNvSpPr>
          <p:nvPr>
            <p:ph type="title"/>
          </p:nvPr>
        </p:nvSpPr>
        <p:spPr/>
        <p:txBody>
          <a:bodyPr>
            <a:normAutofit/>
          </a:bodyPr>
          <a:lstStyle/>
          <a:p>
            <a:r>
              <a:rPr lang="en-US" sz="2400"/>
              <a:t>Enviromics: a contribuição brasileira</a:t>
            </a:r>
          </a:p>
        </p:txBody>
      </p:sp>
      <p:sp>
        <p:nvSpPr>
          <p:cNvPr id="3" name="Text Placeholder 2">
            <a:extLst>
              <a:ext uri="{FF2B5EF4-FFF2-40B4-BE49-F238E27FC236}">
                <a16:creationId xmlns:a16="http://schemas.microsoft.com/office/drawing/2014/main" id="{9004FBD6-F7FA-4F5C-A691-D14AAF9B6DF3}"/>
              </a:ext>
            </a:extLst>
          </p:cNvPr>
          <p:cNvSpPr>
            <a:spLocks noGrp="1"/>
          </p:cNvSpPr>
          <p:nvPr>
            <p:ph type="body" idx="1"/>
          </p:nvPr>
        </p:nvSpPr>
        <p:spPr/>
        <p:txBody>
          <a:bodyPr wrap="square">
            <a:normAutofit/>
          </a:bodyPr>
          <a:lstStyle/>
          <a:p>
            <a:r>
              <a:rPr lang="pt-BR" sz="1600"/>
              <a:t>• Resende et al. (TAG 2021): local descrito por envirótipos, como genótipo por SNPs</a:t>
            </a:r>
          </a:p>
          <a:p>
            <a:r>
              <a:rPr lang="pt-BR" sz="1600"/>
              <a:t>• EnvRtype (Costa-Neto 2021, G3): NASA POWER → W_matrix → kernels enviromicos</a:t>
            </a:r>
          </a:p>
          <a:p>
            <a:r>
              <a:rPr lang="pt-BR" sz="1600"/>
              <a:t>• E-GP (Front Plant Sci 2021): mediana r 0,17 (GBLUP) → 0,83 por genótipo</a:t>
            </a:r>
          </a:p>
          <a:p>
            <a:r>
              <a:rPr lang="pt-BR" sz="1600"/>
              <a:t>• GBLUP: 45% dos genótipos mal preditos; E-GP: até 60% muito bem preditos</a:t>
            </a:r>
          </a:p>
          <a:p>
            <a:r>
              <a:rPr lang="pt-BR" sz="1600"/>
              <a:t>• Representatividade G×E importa mais que o tamanho do MET</a:t>
            </a:r>
          </a:p>
          <a:p>
            <a:r>
              <a:rPr lang="pt-BR" sz="1600"/>
              <a:t>• Desenhar in silico quais combinações G×E precisam ir a campo</a:t>
            </a:r>
          </a:p>
          <a:p>
            <a:r>
              <a:rPr lang="pt-BR" sz="1600"/>
              <a:t>• Gêmeo de ensaio = kernel que torna predizível um ambiente não testado</a:t>
            </a:r>
            <a:endParaRPr lang="en-US" sz="1600"/>
          </a:p>
        </p:txBody>
      </p:sp>
    </p:spTree>
    <p:extLst>
      <p:ext uri="{BB962C8B-B14F-4D97-AF65-F5344CB8AC3E}">
        <p14:creationId xmlns:p14="http://schemas.microsoft.com/office/powerpoint/2010/main" val="12992536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9DBBC-84B5-DEE0-C7CD-E5D363FAADD4}"/>
              </a:ext>
            </a:extLst>
          </p:cNvPr>
          <p:cNvSpPr>
            <a:spLocks noGrp="1"/>
          </p:cNvSpPr>
          <p:nvPr>
            <p:ph type="title"/>
          </p:nvPr>
        </p:nvSpPr>
        <p:spPr/>
        <p:txBody>
          <a:bodyPr>
            <a:normAutofit/>
          </a:bodyPr>
          <a:lstStyle/>
          <a:p>
            <a:r>
              <a:rPr lang="pt-BR" sz="2400"/>
              <a:t>DT-FieldPheno e o viveiro virtual</a:t>
            </a:r>
            <a:endParaRPr lang="en-US" sz="2400"/>
          </a:p>
        </p:txBody>
      </p:sp>
      <p:sp>
        <p:nvSpPr>
          <p:cNvPr id="3" name="Text Placeholder 2">
            <a:extLst>
              <a:ext uri="{FF2B5EF4-FFF2-40B4-BE49-F238E27FC236}">
                <a16:creationId xmlns:a16="http://schemas.microsoft.com/office/drawing/2014/main" id="{2242A30D-40FA-DFAD-A63B-4EE6FF9611E3}"/>
              </a:ext>
            </a:extLst>
          </p:cNvPr>
          <p:cNvSpPr>
            <a:spLocks noGrp="1"/>
          </p:cNvSpPr>
          <p:nvPr>
            <p:ph type="body" idx="1"/>
          </p:nvPr>
        </p:nvSpPr>
        <p:spPr/>
        <p:txBody>
          <a:bodyPr wrap="square">
            <a:normAutofit/>
          </a:bodyPr>
          <a:lstStyle/>
          <a:p>
            <a:r>
              <a:rPr lang="pt-BR" sz="1600"/>
              <a:t>• Plataforma sobre trilhos em milho — não é VANT (Liu et al. 2025, Agriculture)</a:t>
            </a:r>
          </a:p>
          <a:p>
            <a:r>
              <a:rPr lang="pt-BR" sz="1600"/>
              <a:t>• Laço fechado: conexão → computação → predição → decisão → execução</a:t>
            </a:r>
          </a:p>
          <a:p>
            <a:r>
              <a:rPr lang="pt-BR" sz="1600"/>
              <a:t>• Risco meteorológico: AHP + lógica fuzzy com previsão e dados em tempo real</a:t>
            </a:r>
          </a:p>
          <a:p>
            <a:r>
              <a:rPr lang="pt-BR" sz="1600"/>
              <a:t>• 27 dias contínuos: −50% de inspeção manual</a:t>
            </a:r>
          </a:p>
          <a:p>
            <a:r>
              <a:rPr lang="pt-BR" sz="1600"/>
              <a:t>• 2 tarefas canceladas por vento, 2 otimizadas por rajada/chuva</a:t>
            </a:r>
          </a:p>
          <a:p>
            <a:r>
              <a:rPr lang="pt-BR" sz="1600"/>
              <a:t>• Alerta de trilho em 1,8 ± 0,2 s; heartbeat de comunicação de 5 s</a:t>
            </a:r>
          </a:p>
          <a:p>
            <a:r>
              <a:rPr lang="pt-BR" sz="1600"/>
              <a:t>• Viveiro VR (PORTAL, ACM SUI 2024): robô + laser 3D + multiespectral em VR</a:t>
            </a:r>
            <a:endParaRPr lang="en-US" sz="1600"/>
          </a:p>
        </p:txBody>
      </p:sp>
    </p:spTree>
    <p:extLst>
      <p:ext uri="{BB962C8B-B14F-4D97-AF65-F5344CB8AC3E}">
        <p14:creationId xmlns:p14="http://schemas.microsoft.com/office/powerpoint/2010/main" val="23212922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60190-A7C8-4629-095D-4B969E6EBB04}"/>
              </a:ext>
            </a:extLst>
          </p:cNvPr>
          <p:cNvSpPr>
            <a:spLocks noGrp="1"/>
          </p:cNvSpPr>
          <p:nvPr>
            <p:ph type="title"/>
          </p:nvPr>
        </p:nvSpPr>
        <p:spPr/>
        <p:txBody>
          <a:bodyPr>
            <a:normAutofit/>
          </a:bodyPr>
          <a:lstStyle/>
          <a:p>
            <a:r>
              <a:rPr lang="pt-BR" sz="2400"/>
              <a:t>Padrões de dados: a camada que decide tudo</a:t>
            </a:r>
            <a:endParaRPr lang="en-US" sz="2400"/>
          </a:p>
        </p:txBody>
      </p:sp>
      <p:sp>
        <p:nvSpPr>
          <p:cNvPr id="3" name="Text Placeholder 2">
            <a:extLst>
              <a:ext uri="{FF2B5EF4-FFF2-40B4-BE49-F238E27FC236}">
                <a16:creationId xmlns:a16="http://schemas.microsoft.com/office/drawing/2014/main" id="{79FF5C44-D9F4-D4C2-5426-C8C2CFBED5CA}"/>
              </a:ext>
            </a:extLst>
          </p:cNvPr>
          <p:cNvSpPr>
            <a:spLocks noGrp="1"/>
          </p:cNvSpPr>
          <p:nvPr>
            <p:ph type="body" idx="1"/>
          </p:nvPr>
        </p:nvSpPr>
        <p:spPr/>
        <p:txBody>
          <a:bodyPr wrap="square">
            <a:normAutofit/>
          </a:bodyPr>
          <a:lstStyle/>
          <a:p>
            <a:r>
              <a:rPr lang="en-US" sz="1600"/>
              <a:t>• BrAPI: API REST compatível com MCPD, MIAPPE, GA4GH, GeoJSON, Crop Ontology</a:t>
            </a:r>
          </a:p>
          <a:p>
            <a:r>
              <a:rPr lang="en-US" sz="1600"/>
              <a:t>• MIAPPE 1.1 (New Phytol 2020): de checklist a modelo de dados formal</a:t>
            </a:r>
          </a:p>
          <a:p>
            <a:r>
              <a:rPr lang="en-US" sz="1600"/>
              <a:t>• Breedbase (G3 2022): Postgres/Chado; genótipos em JSONb no modelo VCF</a:t>
            </a:r>
          </a:p>
          <a:p>
            <a:r>
              <a:rPr lang="en-US" sz="1600"/>
              <a:t>• EBS (CGIAR/EiB): integra Field Book e QBMS via BrAPI</a:t>
            </a:r>
          </a:p>
          <a:p>
            <a:r>
              <a:rPr lang="en-US" sz="1600"/>
              <a:t>• FACT-AI Clemson (USDA-NIFA): edge/fog reduz dados antes de transmitir</a:t>
            </a:r>
          </a:p>
          <a:p>
            <a:r>
              <a:rPr lang="en-US" sz="1600"/>
              <a:t>• Sem fluxo automático físico → virtual, não existe digital shadow</a:t>
            </a:r>
          </a:p>
          <a:p>
            <a:r>
              <a:rPr lang="en-US" sz="1600"/>
              <a:t>• Sessão 04: o QC em DuckDB é a versão local deste papel</a:t>
            </a:r>
          </a:p>
        </p:txBody>
      </p:sp>
    </p:spTree>
    <p:extLst>
      <p:ext uri="{BB962C8B-B14F-4D97-AF65-F5344CB8AC3E}">
        <p14:creationId xmlns:p14="http://schemas.microsoft.com/office/powerpoint/2010/main" val="39727504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4B2C3-4CD4-DE92-04D7-E38A2045E490}"/>
              </a:ext>
            </a:extLst>
          </p:cNvPr>
          <p:cNvSpPr>
            <a:spLocks noGrp="1"/>
          </p:cNvSpPr>
          <p:nvPr>
            <p:ph type="title"/>
          </p:nvPr>
        </p:nvSpPr>
        <p:spPr/>
        <p:txBody>
          <a:bodyPr>
            <a:normAutofit/>
          </a:bodyPr>
          <a:lstStyle/>
          <a:p>
            <a:r>
              <a:rPr lang="en-US" sz="2400"/>
              <a:t>Arquitetura em quatro camadas</a:t>
            </a:r>
          </a:p>
        </p:txBody>
      </p:sp>
      <p:sp>
        <p:nvSpPr>
          <p:cNvPr id="3" name="Text Placeholder 2">
            <a:extLst>
              <a:ext uri="{FF2B5EF4-FFF2-40B4-BE49-F238E27FC236}">
                <a16:creationId xmlns:a16="http://schemas.microsoft.com/office/drawing/2014/main" id="{4F8D2919-3DBE-0509-4CA4-C5F070F02746}"/>
              </a:ext>
            </a:extLst>
          </p:cNvPr>
          <p:cNvSpPr>
            <a:spLocks noGrp="1"/>
          </p:cNvSpPr>
          <p:nvPr>
            <p:ph type="body" idx="1"/>
          </p:nvPr>
        </p:nvSpPr>
        <p:spPr/>
        <p:txBody>
          <a:bodyPr wrap="square">
            <a:normAutofit/>
          </a:bodyPr>
          <a:lstStyle/>
          <a:p>
            <a:r>
              <a:rPr lang="en-US" sz="1600"/>
              <a:t>• FÍSICA: nurseries, METs, estufas, seed chipping, robôs, trilhos, VANTs, estações</a:t>
            </a:r>
          </a:p>
          <a:p>
            <a:r>
              <a:rPr lang="en-US" sz="1600"/>
              <a:t>• ↓ corte DM/DS: a ingestão é automática ou é planilha?</a:t>
            </a:r>
          </a:p>
          <a:p>
            <a:r>
              <a:rPr lang="en-US" sz="1600"/>
              <a:t>• DADOS: BrAPI · MIAPPE · Crop Ontology · Breedbase/EBS · edge/fog · QC</a:t>
            </a:r>
          </a:p>
          <a:p>
            <a:r>
              <a:rPr lang="en-US" sz="1600"/>
              <a:t>• MODELOS: GBLUP/normas de reação · EnvRtype · APSIM/DSSAT · CGM-WGP · AlphaSimR</a:t>
            </a:r>
          </a:p>
          <a:p>
            <a:r>
              <a:rPr lang="en-US" sz="1600"/>
              <a:t>• DECISÃO: OCS · LAS · RL/MDP · otimização de esquema · BPAT · humano no circuito</a:t>
            </a:r>
          </a:p>
          <a:p>
            <a:r>
              <a:rPr lang="en-US" sz="1600"/>
              <a:t>• ↑ corte DS/DT: plantio prescrito, cancelamento de coleta, reagendamento</a:t>
            </a:r>
          </a:p>
          <a:p>
            <a:r>
              <a:rPr lang="en-US" sz="1600"/>
              <a:t>• Hoje a seta de volta fecha para equipamento (DT-FieldPheno), não para seleção</a:t>
            </a:r>
          </a:p>
        </p:txBody>
      </p:sp>
    </p:spTree>
    <p:extLst>
      <p:ext uri="{BB962C8B-B14F-4D97-AF65-F5344CB8AC3E}">
        <p14:creationId xmlns:p14="http://schemas.microsoft.com/office/powerpoint/2010/main" val="20418977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039B-6DFA-225A-F8C6-306AA1D15370}"/>
              </a:ext>
            </a:extLst>
          </p:cNvPr>
          <p:cNvSpPr>
            <a:spLocks noGrp="1"/>
          </p:cNvSpPr>
          <p:nvPr>
            <p:ph type="title"/>
          </p:nvPr>
        </p:nvSpPr>
        <p:spPr/>
        <p:txBody>
          <a:bodyPr>
            <a:normAutofit/>
          </a:bodyPr>
          <a:lstStyle/>
          <a:p>
            <a:r>
              <a:rPr lang="pt-BR" sz="2400"/>
              <a:t>O que a indústria publica — e a patente da Pioneer</a:t>
            </a:r>
            <a:endParaRPr lang="en-US" sz="2400"/>
          </a:p>
        </p:txBody>
      </p:sp>
      <p:sp>
        <p:nvSpPr>
          <p:cNvPr id="3" name="Text Placeholder 2">
            <a:extLst>
              <a:ext uri="{FF2B5EF4-FFF2-40B4-BE49-F238E27FC236}">
                <a16:creationId xmlns:a16="http://schemas.microsoft.com/office/drawing/2014/main" id="{D0129024-7AAE-81EA-CB7E-729AE9192DD7}"/>
              </a:ext>
            </a:extLst>
          </p:cNvPr>
          <p:cNvSpPr>
            <a:spLocks noGrp="1"/>
          </p:cNvSpPr>
          <p:nvPr>
            <p:ph type="body" idx="1"/>
          </p:nvPr>
        </p:nvSpPr>
        <p:spPr/>
        <p:txBody>
          <a:bodyPr wrap="square">
            <a:normAutofit/>
          </a:bodyPr>
          <a:lstStyle/>
          <a:p>
            <a:r>
              <a:rPr lang="pt-BR" sz="1600"/>
              <a:t>• Corteva: 1 bilhão de marcadores e 15 milhões de parcelas/ano (fala a investidores)</a:t>
            </a:r>
          </a:p>
          <a:p>
            <a:r>
              <a:rPr lang="pt-BR" sz="1600"/>
              <a:t>• Corteva: 80–100 mi imagens de drone no último ano; drones desde 2012 (Seed World)</a:t>
            </a:r>
          </a:p>
          <a:p>
            <a:r>
              <a:rPr lang="pt-BR" sz="1600"/>
              <a:t>• Corteva: &gt;10 bi pontos de dados; &gt;5 Pb de sequência genômica (Investor Day 2026)</a:t>
            </a:r>
          </a:p>
          <a:p>
            <a:r>
              <a:rPr lang="pt-BR" sz="1600"/>
              <a:t>• Bayer: seed chipping = 10–15 mi pontos de dados por semente (DEKALB)</a:t>
            </a:r>
          </a:p>
          <a:p>
            <a:r>
              <a:rPr lang="pt-BR" sz="1600"/>
              <a:t>• Bayer Marana/AZ: ~7 acres de estufa, 3–4 ciclos de milho/ano</a:t>
            </a:r>
          </a:p>
          <a:p>
            <a:r>
              <a:rPr lang="pt-BR" sz="1600"/>
              <a:t>• WO/2025/080804: Pioneer Hi-Bred (Corteva), depositada em 10/10/2024</a:t>
            </a:r>
          </a:p>
          <a:p>
            <a:r>
              <a:rPr lang="pt-BR" sz="1600"/>
              <a:t>• Patente reivindica RL sobre MDP que recompensa ganho genético no gêmeo</a:t>
            </a:r>
            <a:endParaRPr lang="en-US" sz="1600"/>
          </a:p>
        </p:txBody>
      </p:sp>
    </p:spTree>
    <p:extLst>
      <p:ext uri="{BB962C8B-B14F-4D97-AF65-F5344CB8AC3E}">
        <p14:creationId xmlns:p14="http://schemas.microsoft.com/office/powerpoint/2010/main" val="42741286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0711F-5EE7-DDFA-A420-6882889F61DB}"/>
              </a:ext>
            </a:extLst>
          </p:cNvPr>
          <p:cNvSpPr>
            <a:spLocks noGrp="1"/>
          </p:cNvSpPr>
          <p:nvPr>
            <p:ph type="title"/>
          </p:nvPr>
        </p:nvSpPr>
        <p:spPr/>
        <p:txBody>
          <a:bodyPr>
            <a:normAutofit/>
          </a:bodyPr>
          <a:lstStyle/>
          <a:p>
            <a:r>
              <a:rPr lang="pt-BR" sz="2400"/>
              <a:t>Tempo real ou lote sazonal: valor da informação</a:t>
            </a:r>
            <a:endParaRPr lang="en-US" sz="2400"/>
          </a:p>
        </p:txBody>
      </p:sp>
      <p:sp>
        <p:nvSpPr>
          <p:cNvPr id="3" name="Text Placeholder 2">
            <a:extLst>
              <a:ext uri="{FF2B5EF4-FFF2-40B4-BE49-F238E27FC236}">
                <a16:creationId xmlns:a16="http://schemas.microsoft.com/office/drawing/2014/main" id="{FF2E59E7-8A95-F893-0CD3-33C6B002D87C}"/>
              </a:ext>
            </a:extLst>
          </p:cNvPr>
          <p:cNvSpPr>
            <a:spLocks noGrp="1"/>
          </p:cNvSpPr>
          <p:nvPr>
            <p:ph type="body" idx="1"/>
          </p:nvPr>
        </p:nvSpPr>
        <p:spPr/>
        <p:txBody>
          <a:bodyPr wrap="square">
            <a:normAutofit/>
          </a:bodyPr>
          <a:lstStyle/>
          <a:p>
            <a:r>
              <a:rPr lang="pt-BR" sz="1600"/>
              <a:t>• ΔG = i · r · σA / L: toda tecnologia entra por um desses termos</a:t>
            </a:r>
          </a:p>
          <a:p>
            <a:r>
              <a:rPr lang="pt-BR" sz="1600"/>
              <a:t>• Altura em arroz: 45 parcelas/h manual vs 3.000/h com phenomobile (Araus 2018)</a:t>
            </a:r>
          </a:p>
          <a:p>
            <a:r>
              <a:rPr lang="pt-BR" sz="1600"/>
              <a:t>• Minutos: cancelar coleta por vento · horas–dias: irrigar estresse manejado</a:t>
            </a:r>
          </a:p>
          <a:p>
            <a:r>
              <a:rPr lang="pt-BR" sz="1600"/>
              <a:t>• Dias: falha de estande · sazonal: avanço, descarte e escolha de cruzamentos</a:t>
            </a:r>
          </a:p>
          <a:p>
            <a:r>
              <a:rPr lang="pt-BR" sz="1600"/>
              <a:t>• Tempo real vale onde a janela é curta e a perda é irreversível</a:t>
            </a:r>
          </a:p>
          <a:p>
            <a:r>
              <a:rPr lang="pt-BR" sz="1600"/>
              <a:t>• VoI baixo: refinar orçamento perto do ótimo (superfície plana, Jannink)</a:t>
            </a:r>
          </a:p>
          <a:p>
            <a:r>
              <a:rPr lang="pt-BR" sz="1600"/>
              <a:t>• VoI alto: informação ambiental, r 0,17 → 0,83 (Costa-Neto 2021)</a:t>
            </a:r>
            <a:endParaRPr lang="en-US" sz="1600"/>
          </a:p>
        </p:txBody>
      </p:sp>
    </p:spTree>
    <p:extLst>
      <p:ext uri="{BB962C8B-B14F-4D97-AF65-F5344CB8AC3E}">
        <p14:creationId xmlns:p14="http://schemas.microsoft.com/office/powerpoint/2010/main" val="11749314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33A1A-5D43-658F-7D18-1FF53EBCF664}"/>
              </a:ext>
            </a:extLst>
          </p:cNvPr>
          <p:cNvSpPr>
            <a:spLocks noGrp="1"/>
          </p:cNvSpPr>
          <p:nvPr>
            <p:ph type="title"/>
          </p:nvPr>
        </p:nvSpPr>
        <p:spPr/>
        <p:txBody>
          <a:bodyPr>
            <a:normAutofit/>
          </a:bodyPr>
          <a:lstStyle/>
          <a:p>
            <a:r>
              <a:rPr lang="pt-BR" sz="2400"/>
              <a:t>Limites: o que ainda não sabemos</a:t>
            </a:r>
            <a:endParaRPr lang="en-US" sz="2400"/>
          </a:p>
        </p:txBody>
      </p:sp>
      <p:sp>
        <p:nvSpPr>
          <p:cNvPr id="3" name="Text Placeholder 2">
            <a:extLst>
              <a:ext uri="{FF2B5EF4-FFF2-40B4-BE49-F238E27FC236}">
                <a16:creationId xmlns:a16="http://schemas.microsoft.com/office/drawing/2014/main" id="{38B235B4-7BBD-F9A1-9D4C-97164934FF55}"/>
              </a:ext>
            </a:extLst>
          </p:cNvPr>
          <p:cNvSpPr>
            <a:spLocks noGrp="1"/>
          </p:cNvSpPr>
          <p:nvPr>
            <p:ph type="body" idx="1"/>
          </p:nvPr>
        </p:nvSpPr>
        <p:spPr/>
        <p:txBody>
          <a:bodyPr wrap="square">
            <a:normAutofit/>
          </a:bodyPr>
          <a:lstStyle/>
          <a:p>
            <a:r>
              <a:rPr lang="pt-BR" sz="1600"/>
              <a:t>• Modelo calibrado no corn belt não descreve Viçosa: recalibrar é custo real</a:t>
            </a:r>
          </a:p>
          <a:p>
            <a:r>
              <a:rPr lang="pt-BR" sz="1600"/>
              <a:t>• rG ≈ 0 entre ambiente de seleção e TPE é invisível para o GBLUP</a:t>
            </a:r>
          </a:p>
          <a:p>
            <a:r>
              <a:rPr lang="pt-BR" sz="1600"/>
              <a:t>• Otimizar contra AlphaSimR = otimizar contra as próprias suposições</a:t>
            </a:r>
          </a:p>
          <a:p>
            <a:r>
              <a:rPr lang="pt-BR" sz="1600"/>
              <a:t>• Edge computing embute decisão irreversível do que nunca será armazenado</a:t>
            </a:r>
          </a:p>
          <a:p>
            <a:r>
              <a:rPr lang="pt-BR" sz="1600"/>
              <a:t>• Integração é cara: Breedbase e EBS existem por isso (Morales 2022)</a:t>
            </a:r>
          </a:p>
          <a:p>
            <a:r>
              <a:rPr lang="pt-BR" sz="1600"/>
              <a:t>• Garbage in, garbage out: milhões de imagens não corrigem mapa de parcelas errado</a:t>
            </a:r>
          </a:p>
          <a:p>
            <a:r>
              <a:rPr lang="pt-BR" sz="1600"/>
              <a:t>• Validação prospectiva em ciclos completos: praticamente ausente</a:t>
            </a:r>
            <a:endParaRPr lang="en-US" sz="1600"/>
          </a:p>
        </p:txBody>
      </p:sp>
    </p:spTree>
    <p:extLst>
      <p:ext uri="{BB962C8B-B14F-4D97-AF65-F5344CB8AC3E}">
        <p14:creationId xmlns:p14="http://schemas.microsoft.com/office/powerpoint/2010/main" val="27555777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D560-2F69-5ECF-84DF-A6733463938F}"/>
              </a:ext>
            </a:extLst>
          </p:cNvPr>
          <p:cNvSpPr>
            <a:spLocks noGrp="1"/>
          </p:cNvSpPr>
          <p:nvPr>
            <p:ph type="title"/>
          </p:nvPr>
        </p:nvSpPr>
        <p:spPr/>
        <p:txBody>
          <a:bodyPr>
            <a:normAutofit/>
          </a:bodyPr>
          <a:lstStyle/>
          <a:p>
            <a:r>
              <a:rPr lang="en-US" sz="2400"/>
              <a:t>Bloco 4 — Take-home</a:t>
            </a:r>
          </a:p>
        </p:txBody>
      </p:sp>
      <p:sp>
        <p:nvSpPr>
          <p:cNvPr id="3" name="Text Placeholder 2">
            <a:extLst>
              <a:ext uri="{FF2B5EF4-FFF2-40B4-BE49-F238E27FC236}">
                <a16:creationId xmlns:a16="http://schemas.microsoft.com/office/drawing/2014/main" id="{1DC8A102-BAB6-D7C6-5044-4D4A489AF1B7}"/>
              </a:ext>
            </a:extLst>
          </p:cNvPr>
          <p:cNvSpPr>
            <a:spLocks noGrp="1"/>
          </p:cNvSpPr>
          <p:nvPr>
            <p:ph type="body" idx="1"/>
          </p:nvPr>
        </p:nvSpPr>
        <p:spPr/>
        <p:txBody>
          <a:bodyPr wrap="square">
            <a:normAutofit/>
          </a:bodyPr>
          <a:lstStyle/>
          <a:p>
            <a:r>
              <a:rPr lang="pt-BR" sz="1600"/>
              <a:t>• Classifique antes de comprar: modelo, sombra ou gêmeo (Kritzinger 2018)</a:t>
            </a:r>
          </a:p>
          <a:p>
            <a:r>
              <a:rPr lang="pt-BR" sz="1600"/>
              <a:t>• Simulação desenha o programa; gêmeo opera o programa — ferramentas distintas</a:t>
            </a:r>
          </a:p>
          <a:p>
            <a:r>
              <a:rPr lang="pt-BR" sz="1600"/>
              <a:t>• Custo constante: duas partes rendeu 2,36–2,47× o convencional (Gaynor 2017)</a:t>
            </a:r>
          </a:p>
          <a:p>
            <a:r>
              <a:rPr lang="pt-BR" sz="1600"/>
              <a:t>• Otimizar o esquema custou €67,65 em nuvem; o gargalo é organizacional</a:t>
            </a:r>
          </a:p>
          <a:p>
            <a:r>
              <a:rPr lang="pt-BR" sz="1600"/>
              <a:t>• Fisiologia e ambiente ganham onde G×E domina: r 0,43 vs 0,27; 0,17 → 0,83</a:t>
            </a:r>
          </a:p>
          <a:p>
            <a:r>
              <a:rPr lang="pt-BR" sz="1600"/>
              <a:t>• BrAPI + MIAPPE transformam planilha em digital shadow</a:t>
            </a:r>
          </a:p>
          <a:p>
            <a:r>
              <a:rPr lang="pt-BR" sz="1600"/>
              <a:t>• Tempo real só onde a janela é curta; humano no circuito na seleção</a:t>
            </a:r>
            <a:endParaRPr lang="en-US" sz="1600"/>
          </a:p>
        </p:txBody>
      </p:sp>
    </p:spTree>
    <p:extLst>
      <p:ext uri="{BB962C8B-B14F-4D97-AF65-F5344CB8AC3E}">
        <p14:creationId xmlns:p14="http://schemas.microsoft.com/office/powerpoint/2010/main" val="32928849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0698-6970-CD48-BFB6-9BBD2E03DC6E}"/>
              </a:ext>
            </a:extLst>
          </p:cNvPr>
          <p:cNvSpPr>
            <a:spLocks noGrp="1"/>
          </p:cNvSpPr>
          <p:nvPr>
            <p:ph type="title"/>
          </p:nvPr>
        </p:nvSpPr>
        <p:spPr/>
        <p:txBody>
          <a:bodyPr>
            <a:normAutofit/>
          </a:bodyPr>
          <a:lstStyle/>
          <a:p>
            <a:r>
              <a:rPr lang="pt-BR" sz="2400"/>
              <a:t>Bloco 5 — Breeder aumentado: agentes, governança, ética e IP</a:t>
            </a:r>
            <a:endParaRPr lang="en-US" sz="2400"/>
          </a:p>
        </p:txBody>
      </p:sp>
      <p:sp>
        <p:nvSpPr>
          <p:cNvPr id="3" name="Text Placeholder 2">
            <a:extLst>
              <a:ext uri="{FF2B5EF4-FFF2-40B4-BE49-F238E27FC236}">
                <a16:creationId xmlns:a16="http://schemas.microsoft.com/office/drawing/2014/main" id="{B10D2410-EAED-D675-83FA-25C5111C5228}"/>
              </a:ext>
            </a:extLst>
          </p:cNvPr>
          <p:cNvSpPr>
            <a:spLocks noGrp="1"/>
          </p:cNvSpPr>
          <p:nvPr>
            <p:ph type="body" idx="1"/>
          </p:nvPr>
        </p:nvSpPr>
        <p:spPr/>
        <p:txBody>
          <a:bodyPr wrap="square">
            <a:normAutofit/>
          </a:bodyPr>
          <a:lstStyle/>
          <a:p>
            <a:r>
              <a:rPr lang="pt-BR" sz="1600"/>
              <a:t>• Palestrantes: Todos · duração ~25 min</a:t>
            </a:r>
          </a:p>
          <a:p>
            <a:r>
              <a:rPr lang="pt-BR" sz="1600"/>
              <a:t>• Âncoras: Sessão 05 (governança), 08 (alucinações), 09 (humano decide θ/ΔF), 10 (DSS)</a:t>
            </a:r>
          </a:p>
          <a:p>
            <a:r>
              <a:rPr lang="pt-BR" sz="1600"/>
              <a:t>• Pergunta-guia: o agente acelera — quem assina?</a:t>
            </a:r>
          </a:p>
          <a:p>
            <a:r>
              <a:rPr lang="pt-BR" sz="1600"/>
              <a:t>• Roteiro: agentes → evidência de erro → governança → IP/DSI → dados → responsabilidade</a:t>
            </a:r>
          </a:p>
          <a:p>
            <a:r>
              <a:rPr lang="pt-BR" sz="1600"/>
              <a:t>• Fecho: regras de engajamento, 5 dilemas para o painel e take-home</a:t>
            </a:r>
            <a:endParaRPr lang="en-US" sz="1600"/>
          </a:p>
        </p:txBody>
      </p:sp>
    </p:spTree>
    <p:extLst>
      <p:ext uri="{BB962C8B-B14F-4D97-AF65-F5344CB8AC3E}">
        <p14:creationId xmlns:p14="http://schemas.microsoft.com/office/powerpoint/2010/main" val="37052759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E24D6-A693-7923-01A1-D8889BBB1B97}"/>
              </a:ext>
            </a:extLst>
          </p:cNvPr>
          <p:cNvSpPr>
            <a:spLocks noGrp="1"/>
          </p:cNvSpPr>
          <p:nvPr>
            <p:ph type="title"/>
          </p:nvPr>
        </p:nvSpPr>
        <p:spPr/>
        <p:txBody>
          <a:bodyPr>
            <a:normAutofit/>
          </a:bodyPr>
          <a:lstStyle/>
          <a:p>
            <a:r>
              <a:rPr lang="pt-BR" sz="2400"/>
              <a:t>De assistente a agente: o que já funciona</a:t>
            </a:r>
            <a:endParaRPr lang="en-US" sz="2400"/>
          </a:p>
        </p:txBody>
      </p:sp>
      <p:sp>
        <p:nvSpPr>
          <p:cNvPr id="3" name="Text Placeholder 2">
            <a:extLst>
              <a:ext uri="{FF2B5EF4-FFF2-40B4-BE49-F238E27FC236}">
                <a16:creationId xmlns:a16="http://schemas.microsoft.com/office/drawing/2014/main" id="{CBBADE7D-8105-C6BE-40B6-0ADF14B2676E}"/>
              </a:ext>
            </a:extLst>
          </p:cNvPr>
          <p:cNvSpPr>
            <a:spLocks noGrp="1"/>
          </p:cNvSpPr>
          <p:nvPr>
            <p:ph type="body" idx="1"/>
          </p:nvPr>
        </p:nvSpPr>
        <p:spPr/>
        <p:txBody>
          <a:bodyPr wrap="square">
            <a:normAutofit/>
          </a:bodyPr>
          <a:lstStyle/>
          <a:p>
            <a:r>
              <a:rPr lang="en-US" sz="1600"/>
              <a:t>• Co-Scientist (Gemini 2.0): Supervisor + 6 agentes; validado in vitro em LMA [Nature 2026]</a:t>
            </a:r>
          </a:p>
          <a:p>
            <a:r>
              <a:rPr lang="en-US" sz="1600"/>
              <a:t>• Robin: ripasudil para DMRI seca, validado em ciclo lab-in-the-loop [FutureHouse 2025]</a:t>
            </a:r>
          </a:p>
          <a:p>
            <a:r>
              <a:rPr lang="en-US" sz="1600"/>
              <a:t>• CRISPR-GPT: nocaute de 4 genes (Cas12a, A549); 288 casos de teste [Nat Biomed Eng 2025]</a:t>
            </a:r>
          </a:p>
          <a:p>
            <a:r>
              <a:rPr lang="en-US" sz="1600"/>
              <a:t>• BioDiscoveryAgent: +21% acertos; +46% em genes não essenciais vs. OB [ICLR 2025]</a:t>
            </a:r>
          </a:p>
          <a:p>
            <a:r>
              <a:rPr lang="en-US" sz="1600"/>
              <a:t>• GeneGPT: 0,83 no GeneTuring vs. 0,12 do ChatGPT, chamando APIs do NCBI [Bioinf 2024]</a:t>
            </a:r>
          </a:p>
          <a:p>
            <a:r>
              <a:rPr lang="en-US" sz="1600"/>
              <a:t>• Padrão comum: o LLM orquestra ferramentas — quem calcula é o código</a:t>
            </a:r>
          </a:p>
        </p:txBody>
      </p:sp>
    </p:spTree>
    <p:extLst>
      <p:ext uri="{BB962C8B-B14F-4D97-AF65-F5344CB8AC3E}">
        <p14:creationId xmlns:p14="http://schemas.microsoft.com/office/powerpoint/2010/main" val="14591673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59F8-A5B7-D72C-F653-B40F324BCB03}"/>
              </a:ext>
            </a:extLst>
          </p:cNvPr>
          <p:cNvSpPr>
            <a:spLocks noGrp="1"/>
          </p:cNvSpPr>
          <p:nvPr>
            <p:ph type="title"/>
          </p:nvPr>
        </p:nvSpPr>
        <p:spPr/>
        <p:txBody>
          <a:bodyPr>
            <a:normAutofit/>
          </a:bodyPr>
          <a:lstStyle/>
          <a:p>
            <a:r>
              <a:rPr lang="pt-BR" sz="2400"/>
              <a:t>Germoplasma: Chat-RGIE e o colapso fora do benchmark</a:t>
            </a:r>
            <a:endParaRPr lang="en-US" sz="2400"/>
          </a:p>
        </p:txBody>
      </p:sp>
      <p:sp>
        <p:nvSpPr>
          <p:cNvPr id="3" name="Text Placeholder 2">
            <a:extLst>
              <a:ext uri="{FF2B5EF4-FFF2-40B4-BE49-F238E27FC236}">
                <a16:creationId xmlns:a16="http://schemas.microsoft.com/office/drawing/2014/main" id="{F5717D40-9468-75D0-C193-22D0D2A98677}"/>
              </a:ext>
            </a:extLst>
          </p:cNvPr>
          <p:cNvSpPr>
            <a:spLocks noGrp="1"/>
          </p:cNvSpPr>
          <p:nvPr>
            <p:ph type="body" idx="1"/>
          </p:nvPr>
        </p:nvSpPr>
        <p:spPr/>
        <p:txBody>
          <a:bodyPr wrap="square">
            <a:normAutofit/>
          </a:bodyPr>
          <a:lstStyle/>
          <a:p>
            <a:r>
              <a:rPr lang="pt-BR" sz="1600"/>
              <a:t>• Extração zero-shot de passaporte de arroz: parentais, agronômicos, resistências [JBD 2025]</a:t>
            </a:r>
          </a:p>
          <a:p>
            <a:r>
              <a:rPr lang="pt-BR" sz="1600"/>
              <a:t>• Votação entre múltiplas respostas + calibração para conter alucinação</a:t>
            </a:r>
          </a:p>
          <a:p>
            <a:r>
              <a:rPr lang="pt-BR" sz="1600"/>
              <a:t>• Benchmark controlado: precisão 0,9102 · revocação 0,9941 · acurácia 0,9554</a:t>
            </a:r>
          </a:p>
          <a:p>
            <a:r>
              <a:rPr lang="pt-BR" sz="1600"/>
              <a:t>• Dados reais: precisão 0,6351 · revocação 1,0 · acurácia 0,8225</a:t>
            </a:r>
          </a:p>
          <a:p>
            <a:r>
              <a:rPr lang="pt-BR" sz="1600"/>
              <a:t>• Taxa de alucinação medida: 0,0015 (controle) e 0,005 (real)</a:t>
            </a:r>
          </a:p>
          <a:p>
            <a:r>
              <a:rPr lang="pt-BR" sz="1600"/>
              <a:t>• Lição: IA para varredura exaustiva, humano para filtrar — benchmark não é produção</a:t>
            </a:r>
            <a:endParaRPr lang="en-US" sz="1600"/>
          </a:p>
        </p:txBody>
      </p:sp>
    </p:spTree>
    <p:extLst>
      <p:ext uri="{BB962C8B-B14F-4D97-AF65-F5344CB8AC3E}">
        <p14:creationId xmlns:p14="http://schemas.microsoft.com/office/powerpoint/2010/main" val="42238819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58818-6E6F-76CC-2C3E-0EB96B17BC66}"/>
              </a:ext>
            </a:extLst>
          </p:cNvPr>
          <p:cNvSpPr>
            <a:spLocks noGrp="1"/>
          </p:cNvSpPr>
          <p:nvPr>
            <p:ph type="title"/>
          </p:nvPr>
        </p:nvSpPr>
        <p:spPr/>
        <p:txBody>
          <a:bodyPr>
            <a:normAutofit/>
          </a:bodyPr>
          <a:lstStyle/>
          <a:p>
            <a:r>
              <a:rPr lang="pt-BR" sz="2400"/>
              <a:t>LLM + otimização bayesiana para germoplasma (2026)</a:t>
            </a:r>
            <a:endParaRPr lang="en-US" sz="2400"/>
          </a:p>
        </p:txBody>
      </p:sp>
      <p:sp>
        <p:nvSpPr>
          <p:cNvPr id="3" name="Text Placeholder 2">
            <a:extLst>
              <a:ext uri="{FF2B5EF4-FFF2-40B4-BE49-F238E27FC236}">
                <a16:creationId xmlns:a16="http://schemas.microsoft.com/office/drawing/2014/main" id="{2094B01F-0926-8D5C-1091-0A57BEC109E0}"/>
              </a:ext>
            </a:extLst>
          </p:cNvPr>
          <p:cNvSpPr>
            <a:spLocks noGrp="1"/>
          </p:cNvSpPr>
          <p:nvPr>
            <p:ph type="body" idx="1"/>
          </p:nvPr>
        </p:nvSpPr>
        <p:spPr/>
        <p:txBody>
          <a:bodyPr wrap="square">
            <a:normAutofit/>
          </a:bodyPr>
          <a:lstStyle/>
          <a:p>
            <a:r>
              <a:rPr lang="pt-BR" sz="1600"/>
              <a:t>• Hamazaki &amp; Tsuda, bioRxiv 2026 — pré-print, sem revisão por pares</a:t>
            </a:r>
          </a:p>
          <a:p>
            <a:r>
              <a:rPr lang="pt-BR" sz="1600"/>
              <a:t>• LLM em 2 pontos da OB: warmstart zero-shot e substituto por in-context learning</a:t>
            </a:r>
          </a:p>
          <a:p>
            <a:r>
              <a:rPr lang="pt-BR" sz="1600"/>
              <a:t>• Entrada: passaporte (cultivar, país, subpopulação) ± PCs de SNPs; painel de arroz</a:t>
            </a:r>
          </a:p>
          <a:p>
            <a:r>
              <a:rPr lang="pt-BR" sz="1600"/>
              <a:t>• Sementes/panícula: menos genótipos avaliados até o melhor; proteína: ganho pequeno</a:t>
            </a:r>
          </a:p>
          <a:p>
            <a:r>
              <a:rPr lang="pt-BR" sz="1600"/>
              <a:t>• Com genômica, OB com processo gaussiano segue vencendo</a:t>
            </a:r>
          </a:p>
          <a:p>
            <a:r>
              <a:rPr lang="pt-BR" sz="1600"/>
              <a:t>• Ganho do LLM: fase inicial e coleções sem marcadores — o LLM não define θ nem ΔF</a:t>
            </a:r>
            <a:endParaRPr lang="en-US" sz="1600"/>
          </a:p>
        </p:txBody>
      </p:sp>
    </p:spTree>
    <p:extLst>
      <p:ext uri="{BB962C8B-B14F-4D97-AF65-F5344CB8AC3E}">
        <p14:creationId xmlns:p14="http://schemas.microsoft.com/office/powerpoint/2010/main" val="2078059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0510-C3FB-6429-2CE9-CE33F3022105}"/>
              </a:ext>
            </a:extLst>
          </p:cNvPr>
          <p:cNvSpPr>
            <a:spLocks noGrp="1"/>
          </p:cNvSpPr>
          <p:nvPr>
            <p:ph type="title"/>
          </p:nvPr>
        </p:nvSpPr>
        <p:spPr/>
        <p:txBody>
          <a:bodyPr>
            <a:normAutofit/>
          </a:bodyPr>
          <a:lstStyle/>
          <a:p>
            <a:r>
              <a:rPr lang="pt-BR" sz="2400"/>
              <a:t>Evidência dura: produtividade e alucinação</a:t>
            </a:r>
            <a:endParaRPr lang="en-US" sz="2400"/>
          </a:p>
        </p:txBody>
      </p:sp>
      <p:sp>
        <p:nvSpPr>
          <p:cNvPr id="3" name="Text Placeholder 2">
            <a:extLst>
              <a:ext uri="{FF2B5EF4-FFF2-40B4-BE49-F238E27FC236}">
                <a16:creationId xmlns:a16="http://schemas.microsoft.com/office/drawing/2014/main" id="{E2C9289B-BB17-AFD3-59DE-9840E9A305C7}"/>
              </a:ext>
            </a:extLst>
          </p:cNvPr>
          <p:cNvSpPr>
            <a:spLocks noGrp="1"/>
          </p:cNvSpPr>
          <p:nvPr>
            <p:ph type="body" idx="1"/>
          </p:nvPr>
        </p:nvSpPr>
        <p:spPr/>
        <p:txBody>
          <a:bodyPr wrap="square">
            <a:normAutofit/>
          </a:bodyPr>
          <a:lstStyle/>
          <a:p>
            <a:r>
              <a:rPr lang="pt-BR" sz="1600"/>
              <a:t>• METR RCT: 16 devs, 246 tarefas; previam −24%, sentiram −20%, mediram +19% de tempo</a:t>
            </a:r>
          </a:p>
          <a:p>
            <a:r>
              <a:rPr lang="pt-BR" sz="1600"/>
              <a:t>• METR (fev/2026): resultado de início de 2025 declarado desatualizado</a:t>
            </a:r>
          </a:p>
          <a:p>
            <a:r>
              <a:rPr lang="pt-BR" sz="1600"/>
              <a:t>• Citações fabricadas: GPT-3.5 55% · GPT-4 18%; 24% das reais com erro [Sci Rep 2023]</a:t>
            </a:r>
          </a:p>
          <a:p>
            <a:r>
              <a:rPr lang="pt-BR" sz="1600"/>
              <a:t>• GPT-4o: 19,9% fabricadas (35/176); 45,4% das reais com erros [JMIR MH 2025]</a:t>
            </a:r>
          </a:p>
          <a:p>
            <a:r>
              <a:rPr lang="pt-BR" sz="1600"/>
              <a:t>• Tópico pouco visível: 28–29% fabricadas vs. 6% em tópico popular [JMIR MH 2025]</a:t>
            </a:r>
          </a:p>
          <a:p>
            <a:r>
              <a:rPr lang="pt-BR" sz="1600"/>
              <a:t>• DOIs de citações falsas: 64% válidos, mas apontando para artigo não relacionado</a:t>
            </a:r>
            <a:endParaRPr lang="en-US" sz="1600"/>
          </a:p>
        </p:txBody>
      </p:sp>
    </p:spTree>
    <p:extLst>
      <p:ext uri="{BB962C8B-B14F-4D97-AF65-F5344CB8AC3E}">
        <p14:creationId xmlns:p14="http://schemas.microsoft.com/office/powerpoint/2010/main" val="33968725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C872-2E54-F41C-F73E-CBC7DC18C692}"/>
              </a:ext>
            </a:extLst>
          </p:cNvPr>
          <p:cNvSpPr>
            <a:spLocks noGrp="1"/>
          </p:cNvSpPr>
          <p:nvPr>
            <p:ph type="title"/>
          </p:nvPr>
        </p:nvSpPr>
        <p:spPr/>
        <p:txBody>
          <a:bodyPr>
            <a:normAutofit/>
          </a:bodyPr>
          <a:lstStyle/>
          <a:p>
            <a:r>
              <a:rPr lang="pt-BR" sz="2400"/>
              <a:t>Mapa de governança: o que vale, onde e desde quando</a:t>
            </a:r>
            <a:endParaRPr lang="en-US" sz="2400"/>
          </a:p>
        </p:txBody>
      </p:sp>
      <p:sp>
        <p:nvSpPr>
          <p:cNvPr id="3" name="Text Placeholder 2">
            <a:extLst>
              <a:ext uri="{FF2B5EF4-FFF2-40B4-BE49-F238E27FC236}">
                <a16:creationId xmlns:a16="http://schemas.microsoft.com/office/drawing/2014/main" id="{8110342E-4600-18D1-8856-E85C3125EDE1}"/>
              </a:ext>
            </a:extLst>
          </p:cNvPr>
          <p:cNvSpPr>
            <a:spLocks noGrp="1"/>
          </p:cNvSpPr>
          <p:nvPr>
            <p:ph type="body" idx="1"/>
          </p:nvPr>
        </p:nvSpPr>
        <p:spPr/>
        <p:txBody>
          <a:bodyPr wrap="square">
            <a:normAutofit/>
          </a:bodyPr>
          <a:lstStyle/>
          <a:p>
            <a:r>
              <a:rPr lang="pt-BR" sz="1600"/>
              <a:t>• NIST AI RMF 1.0 (jan/2023) + GenAI Profile AI 600-1 (jul/2024): voluntários</a:t>
            </a:r>
          </a:p>
          <a:p>
            <a:r>
              <a:rPr lang="pt-BR" sz="1600"/>
              <a:t>• EU AI Act: GPAI ago/2025 · maioria das regras 02/ago/2026 [AI Act Service Desk]</a:t>
            </a:r>
          </a:p>
          <a:p>
            <a:r>
              <a:rPr lang="pt-BR" sz="1600"/>
              <a:t>• Alto risco: Anexo III 02/dez/2027 · Anexo I 02/ago/2028 (AI Omnibus, jul/2026)</a:t>
            </a:r>
          </a:p>
          <a:p>
            <a:r>
              <a:rPr lang="pt-BR" sz="1600"/>
              <a:t>• Agricultura fora do Anexo III; pulverização que ignora pessoas = componente de segurança</a:t>
            </a:r>
          </a:p>
          <a:p>
            <a:r>
              <a:rPr lang="pt-BR" sz="1600"/>
              <a:t>• ISO/IEC 42001:2023: AIMS certificável, 38 controles no Anexo A</a:t>
            </a:r>
          </a:p>
          <a:p>
            <a:r>
              <a:rPr lang="pt-BR" sz="1600"/>
              <a:t>• Brasil: PL 2338/2023 aguardando parecer na Câmara (out/2026); vale a LGPD art. 20</a:t>
            </a:r>
          </a:p>
          <a:p>
            <a:r>
              <a:rPr lang="pt-BR" sz="1600"/>
              <a:t>• FAO: a IA explica, o modelo estatístico estima; CARE complementa FAIR</a:t>
            </a:r>
            <a:endParaRPr lang="en-US" sz="1600"/>
          </a:p>
        </p:txBody>
      </p:sp>
    </p:spTree>
    <p:extLst>
      <p:ext uri="{BB962C8B-B14F-4D97-AF65-F5344CB8AC3E}">
        <p14:creationId xmlns:p14="http://schemas.microsoft.com/office/powerpoint/2010/main" val="2697549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DE7CE-A404-876B-B524-CB7AC59A4E1F}"/>
              </a:ext>
            </a:extLst>
          </p:cNvPr>
          <p:cNvSpPr>
            <a:spLocks noGrp="1"/>
          </p:cNvSpPr>
          <p:nvPr>
            <p:ph type="title"/>
          </p:nvPr>
        </p:nvSpPr>
        <p:spPr/>
        <p:txBody>
          <a:bodyPr>
            <a:normAutofit/>
          </a:bodyPr>
          <a:lstStyle/>
          <a:p>
            <a:r>
              <a:rPr lang="pt-BR" sz="2400"/>
              <a:t>Propriedade intelectual: as camadas sobre uma cultivar</a:t>
            </a:r>
            <a:endParaRPr lang="en-US" sz="2400"/>
          </a:p>
        </p:txBody>
      </p:sp>
      <p:sp>
        <p:nvSpPr>
          <p:cNvPr id="3" name="Text Placeholder 2">
            <a:extLst>
              <a:ext uri="{FF2B5EF4-FFF2-40B4-BE49-F238E27FC236}">
                <a16:creationId xmlns:a16="http://schemas.microsoft.com/office/drawing/2014/main" id="{7E4C8B5A-F549-24A5-7C9C-11638D291DD8}"/>
              </a:ext>
            </a:extLst>
          </p:cNvPr>
          <p:cNvSpPr>
            <a:spLocks noGrp="1"/>
          </p:cNvSpPr>
          <p:nvPr>
            <p:ph type="body" idx="1"/>
          </p:nvPr>
        </p:nvSpPr>
        <p:spPr/>
        <p:txBody>
          <a:bodyPr wrap="square">
            <a:normAutofit/>
          </a:bodyPr>
          <a:lstStyle/>
          <a:p>
            <a:r>
              <a:rPr lang="pt-BR" sz="1600"/>
              <a:t>• Lei 9.456/1997: proteção de 15 anos; 18 para videiras, fruteiras, florestais, ornamentais</a:t>
            </a:r>
          </a:p>
          <a:p>
            <a:r>
              <a:rPr lang="pt-BR" sz="1600"/>
              <a:t>• UPOV Ata 1978 via Decreto 3.109/1999 — o Brasil não aderiu à Ata de 1991</a:t>
            </a:r>
          </a:p>
          <a:p>
            <a:r>
              <a:rPr lang="pt-BR" sz="1600"/>
              <a:t>• Patentes (LPI 9.279/1996) para eventos, genes e métodos; planta per se não</a:t>
            </a:r>
          </a:p>
          <a:p>
            <a:r>
              <a:rPr lang="pt-BR" sz="1600"/>
              <a:t>• Segredo de negócio: germoplasma elite, pedigrees, BLUPs — a camada que a IA ameaça</a:t>
            </a:r>
          </a:p>
          <a:p>
            <a:r>
              <a:rPr lang="pt-BR" sz="1600"/>
              <a:t>• Lei 13.123/2015: cadastro SisGen antes de remessa, PI, venda ou divulgação de resultados</a:t>
            </a:r>
          </a:p>
          <a:p>
            <a:r>
              <a:rPr lang="pt-BR" sz="1600"/>
              <a:t>• Repartição monetária: 1% da receita líquida, redutível a 0,1% por acordo setorial</a:t>
            </a:r>
            <a:endParaRPr lang="en-US" sz="1600"/>
          </a:p>
        </p:txBody>
      </p:sp>
    </p:spTree>
    <p:extLst>
      <p:ext uri="{BB962C8B-B14F-4D97-AF65-F5344CB8AC3E}">
        <p14:creationId xmlns:p14="http://schemas.microsoft.com/office/powerpoint/2010/main" val="15161726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92242-148F-4296-CC62-5E27ECD65C07}"/>
              </a:ext>
            </a:extLst>
          </p:cNvPr>
          <p:cNvSpPr>
            <a:spLocks noGrp="1"/>
          </p:cNvSpPr>
          <p:nvPr>
            <p:ph type="title"/>
          </p:nvPr>
        </p:nvSpPr>
        <p:spPr/>
        <p:txBody>
          <a:bodyPr>
            <a:normAutofit/>
          </a:bodyPr>
          <a:lstStyle/>
          <a:p>
            <a:r>
              <a:rPr lang="pt-BR" sz="2400"/>
              <a:t>DSI: Fundo de Cali e Sistema Multilateral</a:t>
            </a:r>
            <a:endParaRPr lang="en-US" sz="2400"/>
          </a:p>
        </p:txBody>
      </p:sp>
      <p:sp>
        <p:nvSpPr>
          <p:cNvPr id="3" name="Text Placeholder 2">
            <a:extLst>
              <a:ext uri="{FF2B5EF4-FFF2-40B4-BE49-F238E27FC236}">
                <a16:creationId xmlns:a16="http://schemas.microsoft.com/office/drawing/2014/main" id="{4D97037C-8D6A-D6E2-67C8-2859E0EA4E35}"/>
              </a:ext>
            </a:extLst>
          </p:cNvPr>
          <p:cNvSpPr>
            <a:spLocks noGrp="1"/>
          </p:cNvSpPr>
          <p:nvPr>
            <p:ph type="body" idx="1"/>
          </p:nvPr>
        </p:nvSpPr>
        <p:spPr/>
        <p:txBody>
          <a:bodyPr wrap="square">
            <a:normAutofit/>
          </a:bodyPr>
          <a:lstStyle/>
          <a:p>
            <a:r>
              <a:rPr lang="pt-BR" sz="1600"/>
              <a:t>• CDB COP16, Decisão 16/2 (nov/2024): cria o Fundo de Cali para DSI</a:t>
            </a:r>
          </a:p>
          <a:p>
            <a:r>
              <a:rPr lang="pt-BR" sz="1600"/>
              <a:t>• Taxa indicativa: 1% do lucro ou 0,1% da receita anual</a:t>
            </a:r>
          </a:p>
          <a:p>
            <a:r>
              <a:rPr lang="pt-BR" sz="1600"/>
              <a:t>• Entidade grande = 2 de 3: ativos ≥ US$ 20 mi · vendas ≥ US$ 50 mi · lucro ≥ US$ 5 mi</a:t>
            </a:r>
          </a:p>
          <a:p>
            <a:r>
              <a:rPr lang="pt-BR" sz="1600"/>
              <a:t>• Pesquisa pública e academia sem benefício comercial: isentas</a:t>
            </a:r>
          </a:p>
          <a:p>
            <a:r>
              <a:rPr lang="pt-BR" sz="1600"/>
              <a:t>• ≥ 50% do fundo para povos indígenas e comunidades locais; taxas finais na COP17</a:t>
            </a:r>
          </a:p>
          <a:p>
            <a:r>
              <a:rPr lang="pt-BR" sz="1600"/>
              <a:t>• TIRFAA GB-11 (nov/2025): pacote do Sistema Multilateral adiado à GB-12; DSI em grupo ad hoc</a:t>
            </a:r>
            <a:endParaRPr lang="en-US" sz="1600"/>
          </a:p>
        </p:txBody>
      </p:sp>
    </p:spTree>
    <p:extLst>
      <p:ext uri="{BB962C8B-B14F-4D97-AF65-F5344CB8AC3E}">
        <p14:creationId xmlns:p14="http://schemas.microsoft.com/office/powerpoint/2010/main" val="3865469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106B-778F-1319-4695-AC59472A9E07}"/>
              </a:ext>
            </a:extLst>
          </p:cNvPr>
          <p:cNvSpPr>
            <a:spLocks noGrp="1"/>
          </p:cNvSpPr>
          <p:nvPr>
            <p:ph type="title"/>
          </p:nvPr>
        </p:nvSpPr>
        <p:spPr/>
        <p:txBody>
          <a:bodyPr>
            <a:normAutofit/>
          </a:bodyPr>
          <a:lstStyle/>
          <a:p>
            <a:r>
              <a:rPr lang="pt-BR" sz="2400"/>
              <a:t>Quem inventa um alelo projetado por IA?</a:t>
            </a:r>
            <a:endParaRPr lang="en-US" sz="2400"/>
          </a:p>
        </p:txBody>
      </p:sp>
      <p:sp>
        <p:nvSpPr>
          <p:cNvPr id="3" name="Text Placeholder 2">
            <a:extLst>
              <a:ext uri="{FF2B5EF4-FFF2-40B4-BE49-F238E27FC236}">
                <a16:creationId xmlns:a16="http://schemas.microsoft.com/office/drawing/2014/main" id="{B338EBCA-19EB-852D-A379-055BF9F6AA15}"/>
              </a:ext>
            </a:extLst>
          </p:cNvPr>
          <p:cNvSpPr>
            <a:spLocks noGrp="1"/>
          </p:cNvSpPr>
          <p:nvPr>
            <p:ph type="body" idx="1"/>
          </p:nvPr>
        </p:nvSpPr>
        <p:spPr/>
        <p:txBody>
          <a:bodyPr wrap="square">
            <a:normAutofit/>
          </a:bodyPr>
          <a:lstStyle/>
          <a:p>
            <a:r>
              <a:rPr lang="pt-BR" sz="1600"/>
              <a:t>• UKSC 49/2023 (Thaler/DABUS): inventor deve ser pessoa natural — decisão unânime</a:t>
            </a:r>
          </a:p>
          <a:p>
            <a:r>
              <a:rPr lang="pt-BR" sz="1600"/>
              <a:t>• USPTO (fev/2024): IA-assistida é patenteável se humano contribui em cada reivindicação</a:t>
            </a:r>
          </a:p>
          <a:p>
            <a:r>
              <a:rPr lang="pt-BR" sz="1600"/>
              <a:t>• Fatores Pannu: concepção significativa · qualidade não trivial · mais que estado da técnica</a:t>
            </a:r>
          </a:p>
          <a:p>
            <a:r>
              <a:rPr lang="pt-BR" sz="1600"/>
              <a:t>• Só formular prompt ou reconhecer bom resultado: em geral insuficiente [USPTO 2024]</a:t>
            </a:r>
          </a:p>
          <a:p>
            <a:r>
              <a:rPr lang="pt-BR" sz="1600"/>
              <a:t>• Copyright EUA: autoria humana obrigatória (Thaler v. Perlmutter, D.C. Cir., mar/2025)</a:t>
            </a:r>
          </a:p>
          <a:p>
            <a:r>
              <a:rPr lang="pt-BR" sz="1600"/>
              <a:t>• Copyright Office (jan/2025): prompts, por si sós, não dão controle suficiente</a:t>
            </a:r>
          </a:p>
          <a:p>
            <a:r>
              <a:rPr lang="pt-BR" sz="1600"/>
              <a:t>• Caderno de lab agora inclui prompt, versão do modelo, seed e candidatos descartados</a:t>
            </a:r>
            <a:endParaRPr lang="en-US" sz="1600"/>
          </a:p>
        </p:txBody>
      </p:sp>
    </p:spTree>
    <p:extLst>
      <p:ext uri="{BB962C8B-B14F-4D97-AF65-F5344CB8AC3E}">
        <p14:creationId xmlns:p14="http://schemas.microsoft.com/office/powerpoint/2010/main" val="1867033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106A5-B74D-256E-B5C6-866F27AE5EDB}"/>
              </a:ext>
            </a:extLst>
          </p:cNvPr>
          <p:cNvSpPr>
            <a:spLocks noGrp="1"/>
          </p:cNvSpPr>
          <p:nvPr>
            <p:ph type="title"/>
          </p:nvPr>
        </p:nvSpPr>
        <p:spPr/>
        <p:txBody>
          <a:bodyPr>
            <a:normAutofit/>
          </a:bodyPr>
          <a:lstStyle/>
          <a:p>
            <a:r>
              <a:rPr lang="pt-BR" sz="2400"/>
              <a:t>Confidencialidade: Samsung e as três camadas</a:t>
            </a:r>
            <a:endParaRPr lang="en-US" sz="2400"/>
          </a:p>
        </p:txBody>
      </p:sp>
      <p:sp>
        <p:nvSpPr>
          <p:cNvPr id="3" name="Text Placeholder 2">
            <a:extLst>
              <a:ext uri="{FF2B5EF4-FFF2-40B4-BE49-F238E27FC236}">
                <a16:creationId xmlns:a16="http://schemas.microsoft.com/office/drawing/2014/main" id="{6A27C093-A548-4301-640C-4FFB15180BE4}"/>
              </a:ext>
            </a:extLst>
          </p:cNvPr>
          <p:cNvSpPr>
            <a:spLocks noGrp="1"/>
          </p:cNvSpPr>
          <p:nvPr>
            <p:ph type="body" idx="1"/>
          </p:nvPr>
        </p:nvSpPr>
        <p:spPr/>
        <p:txBody>
          <a:bodyPr wrap="square">
            <a:normAutofit/>
          </a:bodyPr>
          <a:lstStyle/>
          <a:p>
            <a:r>
              <a:rPr lang="pt-BR" sz="1600"/>
              <a:t>• Samsung liberou ChatGPT em 11/mar/2023; 3 vazamentos em menos de 20 dias</a:t>
            </a:r>
          </a:p>
          <a:p>
            <a:r>
              <a:rPr lang="pt-BR" sz="1600"/>
              <a:t>• Código de metrologia, código de rendimento/defeito e transcrição de reunião colados</a:t>
            </a:r>
          </a:p>
          <a:p>
            <a:r>
              <a:rPr lang="pt-BR" sz="1600"/>
              <a:t>• Resposta: limite de 1.024 bytes/prompt; proibição temporária em 01/mai/2023</a:t>
            </a:r>
          </a:p>
          <a:p>
            <a:r>
              <a:rPr lang="pt-BR" sz="1600"/>
              <a:t>• Consumidor: nunca com dados do programa</a:t>
            </a:r>
          </a:p>
          <a:p>
            <a:r>
              <a:rPr lang="pt-BR" sz="1600"/>
              <a:t>• API/Enterprise: sem treino por padrão; ZDR sob contrato, cobertura parcial [OpenAI/Anthropic]</a:t>
            </a:r>
          </a:p>
          <a:p>
            <a:r>
              <a:rPr lang="pt-BR" sz="1600"/>
              <a:t>• Pesos abertos on-premise: padrão-ouro — levar o modelo até o dado [FAO Data Lab]</a:t>
            </a:r>
          </a:p>
          <a:p>
            <a:r>
              <a:rPr lang="pt-BR" sz="1600"/>
              <a:t>• Federado: Fed-LSH acha similaridade genômica em tomate sem expor dados [Front Plant Sci 2025]</a:t>
            </a:r>
            <a:endParaRPr lang="en-US" sz="1600"/>
          </a:p>
        </p:txBody>
      </p:sp>
    </p:spTree>
    <p:extLst>
      <p:ext uri="{BB962C8B-B14F-4D97-AF65-F5344CB8AC3E}">
        <p14:creationId xmlns:p14="http://schemas.microsoft.com/office/powerpoint/2010/main" val="31089989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74E6-4126-F4E0-0D32-7672F3DD2874}"/>
              </a:ext>
            </a:extLst>
          </p:cNvPr>
          <p:cNvSpPr>
            <a:spLocks noGrp="1"/>
          </p:cNvSpPr>
          <p:nvPr>
            <p:ph type="title"/>
          </p:nvPr>
        </p:nvSpPr>
        <p:spPr/>
        <p:txBody>
          <a:bodyPr>
            <a:normAutofit/>
          </a:bodyPr>
          <a:lstStyle/>
          <a:p>
            <a:r>
              <a:rPr lang="pt-BR" sz="2400"/>
              <a:t>Agentes com ferramentas: a superfície de ataque</a:t>
            </a:r>
            <a:endParaRPr lang="en-US" sz="2400"/>
          </a:p>
        </p:txBody>
      </p:sp>
      <p:sp>
        <p:nvSpPr>
          <p:cNvPr id="3" name="Text Placeholder 2">
            <a:extLst>
              <a:ext uri="{FF2B5EF4-FFF2-40B4-BE49-F238E27FC236}">
                <a16:creationId xmlns:a16="http://schemas.microsoft.com/office/drawing/2014/main" id="{86B53AA1-FA3C-2672-53C8-1230B3A15BA6}"/>
              </a:ext>
            </a:extLst>
          </p:cNvPr>
          <p:cNvSpPr>
            <a:spLocks noGrp="1"/>
          </p:cNvSpPr>
          <p:nvPr>
            <p:ph type="body" idx="1"/>
          </p:nvPr>
        </p:nvSpPr>
        <p:spPr/>
        <p:txBody>
          <a:bodyPr wrap="square">
            <a:normAutofit/>
          </a:bodyPr>
          <a:lstStyle/>
          <a:p>
            <a:r>
              <a:rPr lang="pt-BR" sz="1600"/>
              <a:t>• OWASP MCP Top 10 (2025): tool poisoning, rug pull, shadowing, confused deputy</a:t>
            </a:r>
          </a:p>
          <a:p>
            <a:r>
              <a:rPr lang="pt-BR" sz="1600"/>
              <a:t>• Ferramenta revisada uma vez na conexão; respostas entram no contexto sem checagem</a:t>
            </a:r>
          </a:p>
          <a:p>
            <a:r>
              <a:rPr lang="pt-BR" sz="1600"/>
              <a:t>• Exfiltração por canal legítimo: o log mostra chamadas válidas conforme o contrato</a:t>
            </a:r>
          </a:p>
          <a:p>
            <a:r>
              <a:rPr lang="pt-BR" sz="1600"/>
              <a:t>• Allowlist de servidores MCP + saída estruturada validada por esquema</a:t>
            </a:r>
          </a:p>
          <a:p>
            <a:r>
              <a:rPr lang="pt-BR" sz="1600"/>
              <a:t>• Controle de acesso no servidor, nunca só no system prompt</a:t>
            </a:r>
          </a:p>
          <a:p>
            <a:r>
              <a:rPr lang="pt-BR" sz="1600"/>
              <a:t>• Ação irreversível: confirmação humana fora do contexto do LLM + log imutável</a:t>
            </a:r>
          </a:p>
          <a:p>
            <a:r>
              <a:rPr lang="pt-BR" sz="1600"/>
              <a:t>• Vocês já praticaram: deny-list em dados brutos e fluxo plan-first</a:t>
            </a:r>
            <a:endParaRPr lang="en-US" sz="1600"/>
          </a:p>
        </p:txBody>
      </p:sp>
    </p:spTree>
    <p:extLst>
      <p:ext uri="{BB962C8B-B14F-4D97-AF65-F5344CB8AC3E}">
        <p14:creationId xmlns:p14="http://schemas.microsoft.com/office/powerpoint/2010/main" val="38373443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2B1C4-1534-B561-C6A9-FFD4BF971D42}"/>
              </a:ext>
            </a:extLst>
          </p:cNvPr>
          <p:cNvSpPr>
            <a:spLocks noGrp="1"/>
          </p:cNvSpPr>
          <p:nvPr>
            <p:ph type="title"/>
          </p:nvPr>
        </p:nvSpPr>
        <p:spPr/>
        <p:txBody>
          <a:bodyPr>
            <a:normAutofit/>
          </a:bodyPr>
          <a:lstStyle/>
          <a:p>
            <a:r>
              <a:rPr lang="pt-BR" sz="2400"/>
              <a:t>Viés de automação e a crítica da caixa-preta</a:t>
            </a:r>
            <a:endParaRPr lang="en-US" sz="2400"/>
          </a:p>
        </p:txBody>
      </p:sp>
      <p:sp>
        <p:nvSpPr>
          <p:cNvPr id="3" name="Text Placeholder 2">
            <a:extLst>
              <a:ext uri="{FF2B5EF4-FFF2-40B4-BE49-F238E27FC236}">
                <a16:creationId xmlns:a16="http://schemas.microsoft.com/office/drawing/2014/main" id="{A877924D-CFD7-1CD2-EFDC-596FE33E36CC}"/>
              </a:ext>
            </a:extLst>
          </p:cNvPr>
          <p:cNvSpPr>
            <a:spLocks noGrp="1"/>
          </p:cNvSpPr>
          <p:nvPr>
            <p:ph type="body" idx="1"/>
          </p:nvPr>
        </p:nvSpPr>
        <p:spPr/>
        <p:txBody>
          <a:bodyPr wrap="square">
            <a:normAutofit/>
          </a:bodyPr>
          <a:lstStyle/>
          <a:p>
            <a:r>
              <a:rPr lang="pt-BR" sz="1600"/>
              <a:t>• DSS com conselho errado: +26% de decisões erradas (RR 1,26; IC 1,11–1,44) [JAMIA 2011]</a:t>
            </a:r>
          </a:p>
          <a:p>
            <a:r>
              <a:rPr lang="pt-BR" sz="1600"/>
              <a:t>• Viés em 81% dos estudos (omissão) e 91% (comissão) [JAMIA 2016]</a:t>
            </a:r>
          </a:p>
          <a:p>
            <a:r>
              <a:rPr lang="pt-BR" sz="1600"/>
              <a:t>• O viés cresce quando verificar é caro — mesmo em tarefa única [JAMIA 2016]</a:t>
            </a:r>
          </a:p>
          <a:p>
            <a:r>
              <a:rPr lang="pt-BR" sz="1600"/>
              <a:t>• Meta-análise: OR 10,19 conselho certo vs. errado; 26,6% dos erros não corrigidos [npj 2026]</a:t>
            </a:r>
          </a:p>
          <a:p>
            <a:r>
              <a:rPr lang="pt-BR" sz="1600"/>
              <a:t>• Supervisão humana = capacidade de interceptação, não garantia [npj Digit Med 2026]</a:t>
            </a:r>
          </a:p>
          <a:p>
            <a:r>
              <a:rPr lang="pt-BR" sz="1600"/>
              <a:t>• Save Our Seeds (2025): caixa-preta, alucinação e ausência de causalidade em NGTs</a:t>
            </a:r>
          </a:p>
          <a:p>
            <a:r>
              <a:rPr lang="pt-BR" sz="1600"/>
              <a:t>• Contramedidas: model cards, datasheets, logs e trilhas de auditoria reproduzíveis</a:t>
            </a:r>
            <a:endParaRPr lang="en-US" sz="1600"/>
          </a:p>
        </p:txBody>
      </p:sp>
    </p:spTree>
    <p:extLst>
      <p:ext uri="{BB962C8B-B14F-4D97-AF65-F5344CB8AC3E}">
        <p14:creationId xmlns:p14="http://schemas.microsoft.com/office/powerpoint/2010/main" val="8323927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06C5B-3BBF-844D-9414-0D4B24910AD7}"/>
              </a:ext>
            </a:extLst>
          </p:cNvPr>
          <p:cNvSpPr>
            <a:spLocks noGrp="1"/>
          </p:cNvSpPr>
          <p:nvPr>
            <p:ph type="title"/>
          </p:nvPr>
        </p:nvSpPr>
        <p:spPr/>
        <p:txBody>
          <a:bodyPr>
            <a:normAutofit/>
          </a:bodyPr>
          <a:lstStyle/>
          <a:p>
            <a:r>
              <a:rPr lang="pt-BR" sz="2400"/>
              <a:t>Equidade e carreiras: quem fica de fora, quem entra</a:t>
            </a:r>
            <a:endParaRPr lang="en-US" sz="2400"/>
          </a:p>
        </p:txBody>
      </p:sp>
      <p:sp>
        <p:nvSpPr>
          <p:cNvPr id="3" name="Text Placeholder 2">
            <a:extLst>
              <a:ext uri="{FF2B5EF4-FFF2-40B4-BE49-F238E27FC236}">
                <a16:creationId xmlns:a16="http://schemas.microsoft.com/office/drawing/2014/main" id="{09432AE3-D8E6-FC5E-489F-14457E0F2197}"/>
              </a:ext>
            </a:extLst>
          </p:cNvPr>
          <p:cNvSpPr>
            <a:spLocks noGrp="1"/>
          </p:cNvSpPr>
          <p:nvPr>
            <p:ph type="body" idx="1"/>
          </p:nvPr>
        </p:nvSpPr>
        <p:spPr/>
        <p:txBody>
          <a:bodyPr wrap="square">
            <a:normAutofit/>
          </a:bodyPr>
          <a:lstStyle/>
          <a:p>
            <a:r>
              <a:rPr lang="pt-BR" sz="1600"/>
              <a:t>• Top 4 em sementes: 50% do mercado global; top 10: 63% (vendas 2024) [ETC/GRAIN 2026]</a:t>
            </a:r>
          </a:p>
          <a:p>
            <a:r>
              <a:rPr lang="pt-BR" sz="1600"/>
              <a:t>• Países de alta renda: 86% dos top-500 HPC e 97% da capacidade [World Bank 2025]</a:t>
            </a:r>
          </a:p>
          <a:p>
            <a:r>
              <a:rPr lang="pt-BR" sz="1600"/>
              <a:t>• Brasil hospeda 9 dos top-500 HPC: polo regional, longe da fronteira [World Bank 2025]</a:t>
            </a:r>
          </a:p>
          <a:p>
            <a:r>
              <a:rPr lang="pt-BR" sz="1600"/>
              <a:t>• Commodities principais: 3–4,5× mais verba que culturas menores, USDA 2008–19 [FSFS 2021]</a:t>
            </a:r>
          </a:p>
          <a:p>
            <a:r>
              <a:rPr lang="pt-BR" sz="1600"/>
              <a:t>• Contrapeso aberto: BrAPI, Breedbase, AlphaSimR; Embrapa I/O já expõe MCP/WebMCP</a:t>
            </a:r>
          </a:p>
          <a:p>
            <a:r>
              <a:rPr lang="pt-BR" sz="1600"/>
              <a:t>• EUA: 22.298 vagas/ano em C&amp;E agro, com prioridade para IA e automação [USDA/Purdue]</a:t>
            </a:r>
            <a:endParaRPr lang="en-US" sz="1600"/>
          </a:p>
        </p:txBody>
      </p:sp>
    </p:spTree>
    <p:extLst>
      <p:ext uri="{BB962C8B-B14F-4D97-AF65-F5344CB8AC3E}">
        <p14:creationId xmlns:p14="http://schemas.microsoft.com/office/powerpoint/2010/main" val="12831836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12CDD-3301-F19C-FC3E-396A972CC105}"/>
              </a:ext>
            </a:extLst>
          </p:cNvPr>
          <p:cNvSpPr>
            <a:spLocks noGrp="1"/>
          </p:cNvSpPr>
          <p:nvPr>
            <p:ph type="title"/>
          </p:nvPr>
        </p:nvSpPr>
        <p:spPr/>
        <p:txBody>
          <a:bodyPr>
            <a:normAutofit/>
          </a:bodyPr>
          <a:lstStyle/>
          <a:p>
            <a:r>
              <a:rPr lang="en-US" sz="2400"/>
              <a:t>Regras de engajamento</a:t>
            </a:r>
          </a:p>
        </p:txBody>
      </p:sp>
      <p:sp>
        <p:nvSpPr>
          <p:cNvPr id="3" name="Text Placeholder 2">
            <a:extLst>
              <a:ext uri="{FF2B5EF4-FFF2-40B4-BE49-F238E27FC236}">
                <a16:creationId xmlns:a16="http://schemas.microsoft.com/office/drawing/2014/main" id="{6AA5ECC8-62E4-860D-D7BD-953D917BF160}"/>
              </a:ext>
            </a:extLst>
          </p:cNvPr>
          <p:cNvSpPr>
            <a:spLocks noGrp="1"/>
          </p:cNvSpPr>
          <p:nvPr>
            <p:ph type="body" idx="1"/>
          </p:nvPr>
        </p:nvSpPr>
        <p:spPr/>
        <p:txBody>
          <a:bodyPr wrap="square">
            <a:normAutofit/>
          </a:bodyPr>
          <a:lstStyle/>
          <a:p>
            <a:r>
              <a:rPr lang="pt-BR" sz="1600"/>
              <a:t>• Classifique o dado: público · interno · restrito (elite, pedigrees, BLUPs, produtores)</a:t>
            </a:r>
          </a:p>
          <a:p>
            <a:r>
              <a:rPr lang="pt-BR" sz="1600"/>
              <a:t>• Restrito só em pesos abertos on-premise ou API com DPA + ZDR — nunca chat de consumidor</a:t>
            </a:r>
          </a:p>
          <a:p>
            <a:r>
              <a:rPr lang="pt-BR" sz="1600"/>
              <a:t>• SisGen antes de divulgar; confira SMTA/TIRFAA e CPI/ARB da Lei 13.123/2015</a:t>
            </a:r>
          </a:p>
          <a:p>
            <a:r>
              <a:rPr lang="pt-BR" sz="1600"/>
              <a:t>• Deny-list em dados brutos, allowlist de MCP, plan-first, log imutável de ferramentas</a:t>
            </a:r>
          </a:p>
          <a:p>
            <a:r>
              <a:rPr lang="pt-BR" sz="1600"/>
              <a:t>• Toda referência checada no DOI; todo número reproduzido por código com seed fixa</a:t>
            </a:r>
          </a:p>
          <a:p>
            <a:r>
              <a:rPr lang="pt-BR" sz="1600"/>
              <a:t>• θ, ΔF, descarte e avanço: revisor nomeado e justificativa escrita independente da IA</a:t>
            </a:r>
          </a:p>
          <a:p>
            <a:r>
              <a:rPr lang="pt-BR" sz="1600"/>
              <a:t>• Documente prompt, modelo, data e escolhas humanas — sustenta inventoria (Pannu)</a:t>
            </a:r>
            <a:endParaRPr lang="en-US" sz="1600"/>
          </a:p>
        </p:txBody>
      </p:sp>
    </p:spTree>
    <p:extLst>
      <p:ext uri="{BB962C8B-B14F-4D97-AF65-F5344CB8AC3E}">
        <p14:creationId xmlns:p14="http://schemas.microsoft.com/office/powerpoint/2010/main" val="29949647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3736-92A4-463A-9C31-D655BC243325}"/>
              </a:ext>
            </a:extLst>
          </p:cNvPr>
          <p:cNvSpPr>
            <a:spLocks noGrp="1"/>
          </p:cNvSpPr>
          <p:nvPr>
            <p:ph type="title"/>
          </p:nvPr>
        </p:nvSpPr>
        <p:spPr/>
        <p:txBody>
          <a:bodyPr>
            <a:normAutofit/>
          </a:bodyPr>
          <a:lstStyle/>
          <a:p>
            <a:r>
              <a:rPr lang="en-US" sz="2400"/>
              <a:t>Dilemas para o painel</a:t>
            </a:r>
          </a:p>
        </p:txBody>
      </p:sp>
      <p:sp>
        <p:nvSpPr>
          <p:cNvPr id="3" name="Text Placeholder 2">
            <a:extLst>
              <a:ext uri="{FF2B5EF4-FFF2-40B4-BE49-F238E27FC236}">
                <a16:creationId xmlns:a16="http://schemas.microsoft.com/office/drawing/2014/main" id="{B41EAE1C-3E98-2B71-BD07-5EEB85FFC568}"/>
              </a:ext>
            </a:extLst>
          </p:cNvPr>
          <p:cNvSpPr>
            <a:spLocks noGrp="1"/>
          </p:cNvSpPr>
          <p:nvPr>
            <p:ph type="body" idx="1"/>
          </p:nvPr>
        </p:nvSpPr>
        <p:spPr/>
        <p:txBody>
          <a:bodyPr wrap="square">
            <a:normAutofit/>
          </a:bodyPr>
          <a:lstStyle/>
          <a:p>
            <a:r>
              <a:rPr lang="pt-BR" sz="1600"/>
              <a:t>• 1. Linhagem descartada pelo DSS era a única resistente: quem responde? (S09/S10)</a:t>
            </a:r>
          </a:p>
          <a:p>
            <a:r>
              <a:rPr lang="pt-BR" sz="1600"/>
              <a:t>• 2. Prompt genérico + triagem automática viraram patente: Pannu satisfeito? (IP)</a:t>
            </a:r>
          </a:p>
          <a:p>
            <a:r>
              <a:rPr lang="pt-BR" sz="1600"/>
              <a:t>• 3. Estagiária cola 1.800 BLUPs elite em chat de consumidor: o que é recuperável?</a:t>
            </a:r>
          </a:p>
          <a:p>
            <a:r>
              <a:rPr lang="pt-BR" sz="1600"/>
              <a:t>• 4. Servidor MCP muda após aprovação e exfiltra ensaios: que controle detectaria? (S05)</a:t>
            </a:r>
          </a:p>
          <a:p>
            <a:r>
              <a:rPr lang="pt-BR" sz="1600"/>
              <a:t>• 5. Alelo treinado em DSI de silvestre brasileira: SisGen, Fundo de Cali, ambos?</a:t>
            </a:r>
            <a:endParaRPr lang="en-US" sz="1600"/>
          </a:p>
        </p:txBody>
      </p:sp>
    </p:spTree>
    <p:extLst>
      <p:ext uri="{BB962C8B-B14F-4D97-AF65-F5344CB8AC3E}">
        <p14:creationId xmlns:p14="http://schemas.microsoft.com/office/powerpoint/2010/main" val="21547914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E322C-70DA-ACE0-594F-75E572B1B377}"/>
              </a:ext>
            </a:extLst>
          </p:cNvPr>
          <p:cNvSpPr>
            <a:spLocks noGrp="1"/>
          </p:cNvSpPr>
          <p:nvPr>
            <p:ph type="title"/>
          </p:nvPr>
        </p:nvSpPr>
        <p:spPr/>
        <p:txBody>
          <a:bodyPr>
            <a:normAutofit/>
          </a:bodyPr>
          <a:lstStyle/>
          <a:p>
            <a:r>
              <a:rPr lang="en-US" sz="2400"/>
              <a:t>Bloco 5 — Take-home</a:t>
            </a:r>
          </a:p>
        </p:txBody>
      </p:sp>
      <p:sp>
        <p:nvSpPr>
          <p:cNvPr id="3" name="Text Placeholder 2">
            <a:extLst>
              <a:ext uri="{FF2B5EF4-FFF2-40B4-BE49-F238E27FC236}">
                <a16:creationId xmlns:a16="http://schemas.microsoft.com/office/drawing/2014/main" id="{391B5048-8072-D22C-97F2-B237972E46BB}"/>
              </a:ext>
            </a:extLst>
          </p:cNvPr>
          <p:cNvSpPr>
            <a:spLocks noGrp="1"/>
          </p:cNvSpPr>
          <p:nvPr>
            <p:ph type="body" idx="1"/>
          </p:nvPr>
        </p:nvSpPr>
        <p:spPr/>
        <p:txBody>
          <a:bodyPr wrap="square">
            <a:normAutofit/>
          </a:bodyPr>
          <a:lstStyle/>
          <a:p>
            <a:r>
              <a:rPr lang="pt-BR" sz="1600"/>
              <a:t>• Agentes já descobrem e validam — mas benchmark não é produção (0,91 → 0,64) [JBD 2025]</a:t>
            </a:r>
          </a:p>
          <a:p>
            <a:r>
              <a:rPr lang="pt-BR" sz="1600"/>
              <a:t>• Percepção de ganho não é ganho: METR mediu +19% de tempo sob sensação de aceleração</a:t>
            </a:r>
          </a:p>
          <a:p>
            <a:r>
              <a:rPr lang="pt-BR" sz="1600"/>
              <a:t>• Brasil sem lei de IA, mas não sem regras: LGPD, Leis 13.123 e 9.456, contratos</a:t>
            </a:r>
          </a:p>
          <a:p>
            <a:r>
              <a:rPr lang="pt-BR" sz="1600"/>
              <a:t>• A máquina não inventa nem é autora: seu rastro documentado é o seu título</a:t>
            </a:r>
          </a:p>
          <a:p>
            <a:r>
              <a:rPr lang="pt-BR" sz="1600"/>
              <a:t>• Hábito 1 — preveja antes de perguntar: sinal, magnitude e incerteza por escrito</a:t>
            </a:r>
          </a:p>
          <a:p>
            <a:r>
              <a:rPr lang="pt-BR" sz="1600"/>
              <a:t>• Hábito 2 — verifique o caro, não o fácil · Hábito 3 — mantenha um caderno adversarial</a:t>
            </a:r>
          </a:p>
          <a:p>
            <a:r>
              <a:rPr lang="pt-BR" sz="1600"/>
              <a:t>• O agente acelera; quem assina é você</a:t>
            </a:r>
            <a:endParaRPr lang="en-US" sz="1600"/>
          </a:p>
        </p:txBody>
      </p:sp>
    </p:spTree>
    <p:extLst>
      <p:ext uri="{BB962C8B-B14F-4D97-AF65-F5344CB8AC3E}">
        <p14:creationId xmlns:p14="http://schemas.microsoft.com/office/powerpoint/2010/main" val="5249951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712A1-248A-E3DE-2948-BAC1E112EDCE}"/>
              </a:ext>
            </a:extLst>
          </p:cNvPr>
          <p:cNvSpPr>
            <a:spLocks noGrp="1"/>
          </p:cNvSpPr>
          <p:nvPr>
            <p:ph type="title"/>
          </p:nvPr>
        </p:nvSpPr>
        <p:spPr/>
        <p:txBody>
          <a:bodyPr>
            <a:normAutofit/>
          </a:bodyPr>
          <a:lstStyle/>
          <a:p>
            <a:r>
              <a:rPr lang="en-US" sz="2400"/>
              <a:t>Síntese dos três dias</a:t>
            </a:r>
          </a:p>
        </p:txBody>
      </p:sp>
      <p:sp>
        <p:nvSpPr>
          <p:cNvPr id="3" name="Text Placeholder 2">
            <a:extLst>
              <a:ext uri="{FF2B5EF4-FFF2-40B4-BE49-F238E27FC236}">
                <a16:creationId xmlns:a16="http://schemas.microsoft.com/office/drawing/2014/main" id="{88C5B85B-A7D7-A521-A6E0-B3165B7B69E9}"/>
              </a:ext>
            </a:extLst>
          </p:cNvPr>
          <p:cNvSpPr>
            <a:spLocks noGrp="1"/>
          </p:cNvSpPr>
          <p:nvPr>
            <p:ph type="body" idx="1"/>
          </p:nvPr>
        </p:nvSpPr>
        <p:spPr/>
        <p:txBody>
          <a:bodyPr wrap="square">
            <a:normAutofit/>
          </a:bodyPr>
          <a:lstStyle/>
          <a:p>
            <a:r>
              <a:rPr lang="pt-BR" sz="1600"/>
              <a:t>• Sem dado limpo e governado, não há modelo útil</a:t>
            </a:r>
          </a:p>
          <a:p>
            <a:r>
              <a:rPr lang="pt-BR" sz="1600"/>
              <a:t>• Agente acelera; regra científica e permissão limitam</a:t>
            </a:r>
          </a:p>
          <a:p>
            <a:r>
              <a:rPr lang="pt-BR" sz="1600"/>
              <a:t>• Predição sem validação fora da amostra engana, em GBLUP e em gLM</a:t>
            </a:r>
          </a:p>
          <a:p>
            <a:r>
              <a:rPr lang="pt-BR" sz="1600"/>
              <a:t>• Otimização sem diversidade, prazo e custo quebra o programa</a:t>
            </a:r>
          </a:p>
          <a:p>
            <a:r>
              <a:rPr lang="pt-BR" sz="1600"/>
              <a:t>• Event, edição e molécula ampliam o menu; não substituem a seleção</a:t>
            </a:r>
          </a:p>
          <a:p>
            <a:r>
              <a:rPr lang="pt-BR" sz="1600"/>
              <a:t>• A assinatura do avanço continua humana</a:t>
            </a:r>
            <a:endParaRPr lang="en-US" sz="1600"/>
          </a:p>
        </p:txBody>
      </p:sp>
    </p:spTree>
    <p:extLst>
      <p:ext uri="{BB962C8B-B14F-4D97-AF65-F5344CB8AC3E}">
        <p14:creationId xmlns:p14="http://schemas.microsoft.com/office/powerpoint/2010/main" val="4566751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9F47F-808E-3B23-1333-261A4A765EAD}"/>
              </a:ext>
            </a:extLst>
          </p:cNvPr>
          <p:cNvSpPr>
            <a:spLocks noGrp="1"/>
          </p:cNvSpPr>
          <p:nvPr>
            <p:ph type="title"/>
          </p:nvPr>
        </p:nvSpPr>
        <p:spPr/>
        <p:txBody>
          <a:bodyPr>
            <a:normAutofit/>
          </a:bodyPr>
          <a:lstStyle/>
          <a:p>
            <a:r>
              <a:rPr lang="pt-BR" sz="2400"/>
              <a:t>O que perguntar no próximo estágio ou emprego</a:t>
            </a:r>
            <a:endParaRPr lang="en-US" sz="2400"/>
          </a:p>
        </p:txBody>
      </p:sp>
      <p:sp>
        <p:nvSpPr>
          <p:cNvPr id="3" name="Text Placeholder 2">
            <a:extLst>
              <a:ext uri="{FF2B5EF4-FFF2-40B4-BE49-F238E27FC236}">
                <a16:creationId xmlns:a16="http://schemas.microsoft.com/office/drawing/2014/main" id="{4A0DC361-A053-B51B-8CBB-FD96C308C2D7}"/>
              </a:ext>
            </a:extLst>
          </p:cNvPr>
          <p:cNvSpPr>
            <a:spLocks noGrp="1"/>
          </p:cNvSpPr>
          <p:nvPr>
            <p:ph type="body" idx="1"/>
          </p:nvPr>
        </p:nvSpPr>
        <p:spPr/>
        <p:txBody>
          <a:bodyPr wrap="square">
            <a:normAutofit/>
          </a:bodyPr>
          <a:lstStyle/>
          <a:p>
            <a:r>
              <a:rPr lang="pt-BR" sz="1600"/>
              <a:t>• Qual é a unidade de decisão: parcela, linhagem, híbrido ou event?</a:t>
            </a:r>
          </a:p>
          <a:p>
            <a:r>
              <a:rPr lang="pt-BR" sz="1600"/>
              <a:t>• Como validam: por ano, por família, por ambiente não testado?</a:t>
            </a:r>
          </a:p>
          <a:p>
            <a:r>
              <a:rPr lang="pt-BR" sz="1600"/>
              <a:t>• Onde roda o modelo, e o que é proibido colar num chat?</a:t>
            </a:r>
          </a:p>
          <a:p>
            <a:r>
              <a:rPr lang="pt-BR" sz="1600"/>
              <a:t>• Quem é dono do dossiê de event ou de edição, e qual o calendário?</a:t>
            </a:r>
          </a:p>
          <a:p>
            <a:r>
              <a:rPr lang="pt-BR" sz="1600"/>
              <a:t>• O simulador é pedagógico ou está acoplado à operação?</a:t>
            </a:r>
          </a:p>
          <a:p>
            <a:r>
              <a:rPr lang="pt-BR" sz="1600"/>
              <a:t>• Quem assina o go/no-go quando o score é alto e o CV é ruim?</a:t>
            </a:r>
            <a:endParaRPr lang="en-US" sz="1600"/>
          </a:p>
        </p:txBody>
      </p:sp>
    </p:spTree>
    <p:extLst>
      <p:ext uri="{BB962C8B-B14F-4D97-AF65-F5344CB8AC3E}">
        <p14:creationId xmlns:p14="http://schemas.microsoft.com/office/powerpoint/2010/main" val="4363613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F7F57-E6E4-2268-37E5-0A013D5ADE2A}"/>
              </a:ext>
            </a:extLst>
          </p:cNvPr>
          <p:cNvSpPr>
            <a:spLocks noGrp="1"/>
          </p:cNvSpPr>
          <p:nvPr>
            <p:ph type="title"/>
          </p:nvPr>
        </p:nvSpPr>
        <p:spPr/>
        <p:txBody>
          <a:bodyPr>
            <a:normAutofit/>
          </a:bodyPr>
          <a:lstStyle/>
          <a:p>
            <a:r>
              <a:rPr lang="en-US" sz="2400"/>
              <a:t>Próximos passos</a:t>
            </a:r>
          </a:p>
        </p:txBody>
      </p:sp>
      <p:sp>
        <p:nvSpPr>
          <p:cNvPr id="3" name="Text Placeholder 2">
            <a:extLst>
              <a:ext uri="{FF2B5EF4-FFF2-40B4-BE49-F238E27FC236}">
                <a16:creationId xmlns:a16="http://schemas.microsoft.com/office/drawing/2014/main" id="{9A2FAAD1-5745-F12E-B48F-2E93A9FC1AD7}"/>
              </a:ext>
            </a:extLst>
          </p:cNvPr>
          <p:cNvSpPr>
            <a:spLocks noGrp="1"/>
          </p:cNvSpPr>
          <p:nvPr>
            <p:ph type="body" idx="1"/>
          </p:nvPr>
        </p:nvSpPr>
        <p:spPr/>
        <p:txBody>
          <a:bodyPr wrap="square">
            <a:normAutofit/>
          </a:bodyPr>
          <a:lstStyle/>
          <a:p>
            <a:r>
              <a:rPr lang="pt-BR" sz="1600"/>
              <a:t>• Dossiês desta pasta: cinco textos com tabela, número e DOI</a:t>
            </a:r>
          </a:p>
          <a:p>
            <a:r>
              <a:rPr lang="pt-BR" sz="1600"/>
              <a:t>• leitura_rapida.md: uma leitura por bloco, não o dossiê inteiro</a:t>
            </a:r>
          </a:p>
          <a:p>
            <a:r>
              <a:rPr lang="pt-BR" sz="1600"/>
              <a:t>• Borém e Bhering (2026), Inteligência Artificial no Agro, Editora UFV</a:t>
            </a:r>
          </a:p>
          <a:p>
            <a:r>
              <a:rPr lang="pt-BR" sz="1600"/>
              <a:t>• Revisitar 04–09 com o mapa desta tarde, não para repetir o lab</a:t>
            </a:r>
          </a:p>
          <a:p>
            <a:r>
              <a:rPr lang="pt-BR" sz="1600"/>
              <a:t>• Caminhos: pesquisa, indústria de sementes, data science no agro</a:t>
            </a:r>
            <a:endParaRPr lang="en-US" sz="1600"/>
          </a:p>
        </p:txBody>
      </p:sp>
    </p:spTree>
    <p:extLst>
      <p:ext uri="{BB962C8B-B14F-4D97-AF65-F5344CB8AC3E}">
        <p14:creationId xmlns:p14="http://schemas.microsoft.com/office/powerpoint/2010/main" val="39301256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1102A-ED97-D777-11C8-7866980140DC}"/>
              </a:ext>
            </a:extLst>
          </p:cNvPr>
          <p:cNvSpPr>
            <a:spLocks noGrp="1"/>
          </p:cNvSpPr>
          <p:nvPr>
            <p:ph type="title"/>
          </p:nvPr>
        </p:nvSpPr>
        <p:spPr/>
        <p:txBody>
          <a:bodyPr>
            <a:normAutofit/>
          </a:bodyPr>
          <a:lstStyle/>
          <a:p>
            <a:r>
              <a:rPr lang="en-US" sz="2400"/>
              <a:t>Perguntas e painel</a:t>
            </a:r>
          </a:p>
        </p:txBody>
      </p:sp>
      <p:sp>
        <p:nvSpPr>
          <p:cNvPr id="3" name="Text Placeholder 2">
            <a:extLst>
              <a:ext uri="{FF2B5EF4-FFF2-40B4-BE49-F238E27FC236}">
                <a16:creationId xmlns:a16="http://schemas.microsoft.com/office/drawing/2014/main" id="{520405A2-22EF-7371-F667-5B9BDB1EE7F9}"/>
              </a:ext>
            </a:extLst>
          </p:cNvPr>
          <p:cNvSpPr>
            <a:spLocks noGrp="1"/>
          </p:cNvSpPr>
          <p:nvPr>
            <p:ph type="body" idx="1"/>
          </p:nvPr>
        </p:nvSpPr>
        <p:spPr/>
        <p:txBody>
          <a:bodyPr wrap="square">
            <a:normAutofit/>
          </a:bodyPr>
          <a:lstStyle/>
          <a:p>
            <a:r>
              <a:rPr lang="pt-BR" sz="1600"/>
              <a:t>• Uma pergunta da plateia antes de o instrutor fechar</a:t>
            </a:r>
          </a:p>
          <a:p>
            <a:r>
              <a:rPr lang="pt-BR" sz="1600"/>
              <a:t>• Se a sala estiver quieta: roteiro_qa.md, dez perguntas-guia</a:t>
            </a:r>
          </a:p>
          <a:p>
            <a:r>
              <a:rPr lang="pt-BR" sz="1600"/>
              <a:t>• Regra: implicação para o programa, não tutorial de ferramenta</a:t>
            </a:r>
          </a:p>
          <a:p>
            <a:r>
              <a:rPr lang="pt-BR" sz="1600"/>
              <a:t>• Cinco dilemas do bloco 5 cabem aqui se o tempo permitir</a:t>
            </a:r>
            <a:endParaRPr lang="en-US" sz="1600"/>
          </a:p>
        </p:txBody>
      </p:sp>
    </p:spTree>
    <p:extLst>
      <p:ext uri="{BB962C8B-B14F-4D97-AF65-F5344CB8AC3E}">
        <p14:creationId xmlns:p14="http://schemas.microsoft.com/office/powerpoint/2010/main" val="40798925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B07DA-E35C-2458-74AE-DC1B68ECBA79}"/>
              </a:ext>
            </a:extLst>
          </p:cNvPr>
          <p:cNvSpPr>
            <a:spLocks noGrp="1"/>
          </p:cNvSpPr>
          <p:nvPr>
            <p:ph type="title"/>
          </p:nvPr>
        </p:nvSpPr>
        <p:spPr/>
        <p:txBody>
          <a:bodyPr>
            <a:normAutofit/>
          </a:bodyPr>
          <a:lstStyle/>
          <a:p>
            <a:r>
              <a:rPr lang="en-US" sz="2400"/>
              <a:t>Encerramento</a:t>
            </a:r>
          </a:p>
        </p:txBody>
      </p:sp>
      <p:sp>
        <p:nvSpPr>
          <p:cNvPr id="3" name="Text Placeholder 2">
            <a:extLst>
              <a:ext uri="{FF2B5EF4-FFF2-40B4-BE49-F238E27FC236}">
                <a16:creationId xmlns:a16="http://schemas.microsoft.com/office/drawing/2014/main" id="{4CCE6228-24E2-CE72-69E0-2795E3D63A5D}"/>
              </a:ext>
            </a:extLst>
          </p:cNvPr>
          <p:cNvSpPr>
            <a:spLocks noGrp="1"/>
          </p:cNvSpPr>
          <p:nvPr>
            <p:ph type="body" idx="1"/>
          </p:nvPr>
        </p:nvSpPr>
        <p:spPr/>
        <p:txBody>
          <a:bodyPr wrap="square">
            <a:normAutofit/>
          </a:bodyPr>
          <a:lstStyle/>
          <a:p>
            <a:r>
              <a:rPr lang="pt-BR" sz="1600"/>
              <a:t>• Obrigado pela intensidade dos três dias</a:t>
            </a:r>
          </a:p>
          <a:p>
            <a:r>
              <a:rPr lang="pt-BR" sz="1600"/>
              <a:t>• UFV · Bayer · Instituto IDATA</a:t>
            </a:r>
          </a:p>
          <a:p>
            <a:r>
              <a:rPr lang="pt-BR" sz="1600"/>
              <a:t>• FIT 796 — AI in Plant Breeding</a:t>
            </a:r>
          </a:p>
          <a:p>
            <a:r>
              <a:rPr lang="pt-BR" sz="1600"/>
              <a:t>• borem@ufv.br · gen@ufv.br</a:t>
            </a:r>
          </a:p>
          <a:p>
            <a:r>
              <a:rPr lang="pt-BR" sz="1600"/>
              <a:t>• +55 31 3612-2354 · +55 31 3612-2355</a:t>
            </a:r>
            <a:endParaRPr lang="en-US" sz="1600"/>
          </a:p>
        </p:txBody>
      </p:sp>
    </p:spTree>
    <p:extLst>
      <p:ext uri="{BB962C8B-B14F-4D97-AF65-F5344CB8AC3E}">
        <p14:creationId xmlns:p14="http://schemas.microsoft.com/office/powerpoint/2010/main" val="3372289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28961</Words>
  <Application>Microsoft Office PowerPoint</Application>
  <PresentationFormat>Custom</PresentationFormat>
  <Paragraphs>775</Paragraphs>
  <Slides>83</Slides>
  <Notes>83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Aptos</vt:lpstr>
      <vt:lpstr>Aptos Display</vt:lpstr>
      <vt:lpstr>Arial</vt:lpstr>
      <vt:lpstr>Office Theme</vt:lpstr>
      <vt:lpstr>Tendências futuras, perguntas e fechamento</vt:lpstr>
      <vt:lpstr>O arco dos três dias</vt:lpstr>
      <vt:lpstr>O que esta sessão não repete</vt:lpstr>
      <vt:lpstr>Mapa: já visto, tendência</vt:lpstr>
      <vt:lpstr>Bloco 1 — Foundation models além do chatbot</vt:lpstr>
      <vt:lpstr>Anatomia de um modelo de linguagem de DNA (gLM)</vt:lpstr>
      <vt:lpstr>Escore zero-shot de variantes: a razão de log-verossimilhança</vt:lpstr>
      <vt:lpstr>Panorama: modelos de DNA e RNA para plantas</vt:lpstr>
      <vt:lpstr>Estudo de caso: PlantCaduceus</vt:lpstr>
      <vt:lpstr>gLMs na seleção genômica: o veredito honesto</vt:lpstr>
      <vt:lpstr>Modelos de proteína: da estrutura à função</vt:lpstr>
      <vt:lpstr>Alerta: o benchmark de 417 genes de milho</vt:lpstr>
      <vt:lpstr>Desenho de proteínas e resistência sob encomenda (Pikobodies)</vt:lpstr>
      <vt:lpstr>Modelos de fundação de visão para fenotipagem (HTP)</vt:lpstr>
      <vt:lpstr>Agentes LLM e modelos multimodais na genômica</vt:lpstr>
      <vt:lpstr>Limitações que todo melhorista deve conhecer</vt:lpstr>
      <vt:lpstr>Como começar amanhã + perguntas para discussão</vt:lpstr>
      <vt:lpstr>Bloco 1 — Take-home</vt:lpstr>
      <vt:lpstr>Bloco 2 — Moléculas, peptídeos, proteínas e events</vt:lpstr>
      <vt:lpstr>A economia da descoberta: o paradoxo</vt:lpstr>
      <vt:lpstr>Onde a IA atua no pipeline</vt:lpstr>
      <vt:lpstr>Bayer CropKey: o paradigma fechadura-chave</vt:lpstr>
      <vt:lpstr>Ecossistema de startups: o playbook da farma no campo</vt:lpstr>
      <vt:lpstr>Peptídeos antimicrobianos priorizados por ML</vt:lpstr>
      <vt:lpstr>Peptídeo inseticida no mercado: Vestaron Spear</vt:lpstr>
      <vt:lpstr>Proteínas Bt: vencer resistência redesenhando o receptor</vt:lpstr>
      <vt:lpstr>RNAi e enzimas: o trait como molécula desenhada</vt:lpstr>
      <vt:lpstr>Pikobodies: imunidade programável</vt:lpstr>
      <vt:lpstr>Event não é gene: seleção e caracterização</vt:lpstr>
      <vt:lpstr>Stacking é otimização de pipeline</vt:lpstr>
      <vt:lpstr>Brasil, e o que a farma não transfere</vt:lpstr>
      <vt:lpstr>Bloco 2 — Take-home</vt:lpstr>
      <vt:lpstr>Bloco 3 — IA + edição gênica</vt:lpstr>
      <vt:lpstr>Caixa de ferramentas: nucleases, base, prime</vt:lpstr>
      <vt:lpstr>Edição cis-regulatória e variação quantitativa</vt:lpstr>
      <vt:lpstr>Domesticação de novo + HI-Edit</vt:lpstr>
      <vt:lpstr>Gargalo real: entrega e regeneração</vt:lpstr>
      <vt:lpstr>IA para desenhar a edição</vt:lpstr>
      <vt:lpstr>OpenCRISPR-1 + CRISPR-GPT</vt:lpstr>
      <vt:lpstr>Descoberta do alvo: qual alelo escrever</vt:lpstr>
      <vt:lpstr>Integração com GS: PAGE (Jenko 2015)</vt:lpstr>
      <vt:lpstr>Produtos reais no mercado</vt:lpstr>
      <vt:lpstr>Regulação e cronograma do programa</vt:lpstr>
      <vt:lpstr>Off-targets e propriedade intelectual</vt:lpstr>
      <vt:lpstr>Quadro de decisão: editar vs selecionar</vt:lpstr>
      <vt:lpstr>Bloco 3 — Take-home</vt:lpstr>
      <vt:lpstr>Intervalo</vt:lpstr>
      <vt:lpstr>Bloco 4 — Plataforma, tempo real e digital twin</vt:lpstr>
      <vt:lpstr>Modelo, sombra e gêmeo digital — e seis níveis</vt:lpstr>
      <vt:lpstr>Simulação estocástica ≠ gêmeo operacional</vt:lpstr>
      <vt:lpstr>Estratégia em duas partes: ganho com custo constante</vt:lpstr>
      <vt:lpstr>Simulação rápida e otimização do esquema</vt:lpstr>
      <vt:lpstr>Look-ahead e aprendizado por reforço</vt:lpstr>
      <vt:lpstr>CGM-WGP: fisiologia dentro da predição</vt:lpstr>
      <vt:lpstr>Enviromics: a contribuição brasileira</vt:lpstr>
      <vt:lpstr>DT-FieldPheno e o viveiro virtual</vt:lpstr>
      <vt:lpstr>Padrões de dados: a camada que decide tudo</vt:lpstr>
      <vt:lpstr>Arquitetura em quatro camadas</vt:lpstr>
      <vt:lpstr>O que a indústria publica — e a patente da Pioneer</vt:lpstr>
      <vt:lpstr>Tempo real ou lote sazonal: valor da informação</vt:lpstr>
      <vt:lpstr>Limites: o que ainda não sabemos</vt:lpstr>
      <vt:lpstr>Bloco 4 — Take-home</vt:lpstr>
      <vt:lpstr>Bloco 5 — Breeder aumentado: agentes, governança, ética e IP</vt:lpstr>
      <vt:lpstr>De assistente a agente: o que já funciona</vt:lpstr>
      <vt:lpstr>Germoplasma: Chat-RGIE e o colapso fora do benchmark</vt:lpstr>
      <vt:lpstr>LLM + otimização bayesiana para germoplasma (2026)</vt:lpstr>
      <vt:lpstr>Evidência dura: produtividade e alucinação</vt:lpstr>
      <vt:lpstr>Mapa de governança: o que vale, onde e desde quando</vt:lpstr>
      <vt:lpstr>Propriedade intelectual: as camadas sobre uma cultivar</vt:lpstr>
      <vt:lpstr>DSI: Fundo de Cali e Sistema Multilateral</vt:lpstr>
      <vt:lpstr>Quem inventa um alelo projetado por IA?</vt:lpstr>
      <vt:lpstr>Confidencialidade: Samsung e as três camadas</vt:lpstr>
      <vt:lpstr>Agentes com ferramentas: a superfície de ataque</vt:lpstr>
      <vt:lpstr>Viés de automação e a crítica da caixa-preta</vt:lpstr>
      <vt:lpstr>Equidade e carreiras: quem fica de fora, quem entra</vt:lpstr>
      <vt:lpstr>Regras de engajamento</vt:lpstr>
      <vt:lpstr>Dilemas para o painel</vt:lpstr>
      <vt:lpstr>Bloco 5 — Take-home</vt:lpstr>
      <vt:lpstr>Síntese dos três dias</vt:lpstr>
      <vt:lpstr>O que perguntar no próximo estágio ou emprego</vt:lpstr>
      <vt:lpstr>Próximos passos</vt:lpstr>
      <vt:lpstr>Perguntas e painel</vt:lpstr>
      <vt:lpstr>Encerramento</vt:lpstr>
    </vt:vector>
  </TitlesOfParts>
  <Company>Bayer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Eder Silva</dc:creator>
  <cp:lastModifiedBy>Eder Silva</cp:lastModifiedBy>
  <cp:revision>1</cp:revision>
  <dcterms:created xsi:type="dcterms:W3CDTF">2026-10-26T17:32:29Z</dcterms:created>
  <dcterms:modified xsi:type="dcterms:W3CDTF">2026-10-26T18:03:08Z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c76c141-ac86-40e5-abf2-c6f60e474cee_Enabled">
    <vt:lpwstr>true</vt:lpwstr>
  </property>
  <property fmtid="{D5CDD505-2E9C-101B-9397-08002B2CF9AE}" pid="3" name="MSIP_Label_2c76c141-ac86-40e5-abf2-c6f60e474cee_SetDate">
    <vt:lpwstr>2026-10-26T17:32:29Z</vt:lpwstr>
  </property>
  <property fmtid="{D5CDD505-2E9C-101B-9397-08002B2CF9AE}" pid="4" name="MSIP_Label_2c76c141-ac86-40e5-abf2-c6f60e474cee_Method">
    <vt:lpwstr>Standard</vt:lpwstr>
  </property>
  <property fmtid="{D5CDD505-2E9C-101B-9397-08002B2CF9AE}" pid="5" name="MSIP_Label_2c76c141-ac86-40e5-abf2-c6f60e474cee_Name">
    <vt:lpwstr>2c76c141-ac86-40e5-abf2-c6f60e474cee</vt:lpwstr>
  </property>
  <property fmtid="{D5CDD505-2E9C-101B-9397-08002B2CF9AE}" pid="6" name="MSIP_Label_2c76c141-ac86-40e5-abf2-c6f60e474cee_SiteId">
    <vt:lpwstr>fcb2b37b-5da0-466b-9b83-0014b67a7c78</vt:lpwstr>
  </property>
  <property fmtid="{D5CDD505-2E9C-101B-9397-08002B2CF9AE}" pid="7" name="MSIP_Label_2c76c141-ac86-40e5-abf2-c6f60e474cee_ActionId">
    <vt:lpwstr>2ffae759-2af4-4b92-9b0e-1375f8860fca</vt:lpwstr>
  </property>
  <property fmtid="{D5CDD505-2E9C-101B-9397-08002B2CF9AE}" pid="8" name="MSIP_Label_2c76c141-ac86-40e5-abf2-c6f60e474cee_ContentBits">
    <vt:lpwstr>2</vt:lpwstr>
  </property>
  <property fmtid="{D5CDD505-2E9C-101B-9397-08002B2CF9AE}" pid="9" name="MSIP_Label_2c76c141-ac86-40e5-abf2-c6f60e474ce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RESTRICTED</vt:lpwstr>
  </property>
</Properties>
</file>